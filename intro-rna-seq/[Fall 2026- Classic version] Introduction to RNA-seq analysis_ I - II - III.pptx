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4" r:id="rId6"/>
    <p:sldMasterId id="2147483705" r:id="rId7"/>
    <p:sldMasterId id="2147483706" r:id="rId8"/>
    <p:sldMasterId id="2147483707"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 id="350" r:id="rId105"/>
    <p:sldId id="351" r:id="rId106"/>
    <p:sldId id="352" r:id="rId107"/>
    <p:sldId id="353" r:id="rId108"/>
    <p:sldId id="354" r:id="rId109"/>
    <p:sldId id="355" r:id="rId110"/>
    <p:sldId id="356" r:id="rId111"/>
    <p:sldId id="357" r:id="rId112"/>
    <p:sldId id="358" r:id="rId113"/>
    <p:sldId id="359" r:id="rId114"/>
    <p:sldId id="360" r:id="rId115"/>
    <p:sldId id="361" r:id="rId116"/>
    <p:sldId id="362" r:id="rId117"/>
    <p:sldId id="363" r:id="rId118"/>
    <p:sldId id="364" r:id="rId119"/>
    <p:sldId id="365" r:id="rId120"/>
    <p:sldId id="366" r:id="rId121"/>
    <p:sldId id="367" r:id="rId122"/>
    <p:sldId id="368" r:id="rId123"/>
    <p:sldId id="369" r:id="rId124"/>
    <p:sldId id="370" r:id="rId125"/>
    <p:sldId id="371" r:id="rId126"/>
    <p:sldId id="372" r:id="rId127"/>
    <p:sldId id="373" r:id="rId128"/>
    <p:sldId id="374" r:id="rId129"/>
    <p:sldId id="375" r:id="rId130"/>
    <p:sldId id="376" r:id="rId131"/>
    <p:sldId id="377" r:id="rId132"/>
    <p:sldId id="378" r:id="rId133"/>
    <p:sldId id="379" r:id="rId134"/>
    <p:sldId id="380" r:id="rId135"/>
    <p:sldId id="381" r:id="rId136"/>
    <p:sldId id="382" r:id="rId137"/>
    <p:sldId id="383" r:id="rId138"/>
    <p:sldId id="384" r:id="rId139"/>
    <p:sldId id="385" r:id="rId140"/>
    <p:sldId id="386" r:id="rId141"/>
    <p:sldId id="387" r:id="rId142"/>
    <p:sldId id="388" r:id="rId143"/>
    <p:sldId id="389" r:id="rId144"/>
    <p:sldId id="390" r:id="rId145"/>
    <p:sldId id="391" r:id="rId146"/>
    <p:sldId id="392" r:id="rId147"/>
    <p:sldId id="393" r:id="rId148"/>
    <p:sldId id="394" r:id="rId149"/>
    <p:sldId id="395" r:id="rId150"/>
    <p:sldId id="396" r:id="rId151"/>
    <p:sldId id="397" r:id="rId152"/>
    <p:sldId id="398" r:id="rId153"/>
    <p:sldId id="399" r:id="rId154"/>
    <p:sldId id="400" r:id="rId155"/>
    <p:sldId id="401" r:id="rId156"/>
    <p:sldId id="402" r:id="rId157"/>
    <p:sldId id="403" r:id="rId158"/>
    <p:sldId id="404" r:id="rId159"/>
    <p:sldId id="405" r:id="rId160"/>
    <p:sldId id="406" r:id="rId161"/>
    <p:sldId id="407" r:id="rId162"/>
    <p:sldId id="408" r:id="rId163"/>
    <p:sldId id="409" r:id="rId164"/>
    <p:sldId id="410" r:id="rId165"/>
    <p:sldId id="411" r:id="rId166"/>
    <p:sldId id="412" r:id="rId167"/>
    <p:sldId id="413" r:id="rId168"/>
  </p:sldIdLst>
  <p:sldSz cy="5143500" cx="9144000"/>
  <p:notesSz cx="6858000" cy="9144000"/>
  <p:embeddedFontLst>
    <p:embeddedFont>
      <p:font typeface="Merriweather Sans"/>
      <p:regular r:id="rId169"/>
      <p:bold r:id="rId170"/>
      <p:italic r:id="rId171"/>
      <p:boldItalic r:id="rId172"/>
    </p:embeddedFont>
    <p:embeddedFont>
      <p:font typeface="Roboto"/>
      <p:regular r:id="rId173"/>
      <p:bold r:id="rId174"/>
      <p:italic r:id="rId175"/>
      <p:boldItalic r:id="rId176"/>
    </p:embeddedFont>
    <p:embeddedFont>
      <p:font typeface="Helvetica Neue"/>
      <p:regular r:id="rId177"/>
      <p:bold r:id="rId178"/>
      <p:italic r:id="rId179"/>
      <p:boldItalic r:id="rId180"/>
    </p:embeddedFont>
    <p:embeddedFont>
      <p:font typeface="Helvetica Neue Light"/>
      <p:regular r:id="rId181"/>
      <p:bold r:id="rId182"/>
      <p:italic r:id="rId183"/>
      <p:boldItalic r:id="rId184"/>
    </p:embeddedFont>
    <p:embeddedFont>
      <p:font typeface="Lemon"/>
      <p:regular r:id="rId185"/>
    </p:embeddedFont>
    <p:embeddedFont>
      <p:font typeface="Cambria Math"/>
      <p:regular r:id="rId18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Michela Tragli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C27299E-4DA1-4E46-9203-94E8517C1BA5}">
  <a:tblStyle styleId="{6C27299E-4DA1-4E46-9203-94E8517C1BA5}"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7E8"/>
          </a:solidFill>
        </a:fill>
      </a:tcStyle>
    </a:wholeTbl>
    <a:band1H>
      <a:tcTxStyle b="off" i="off"/>
      <a:tcStyle>
        <a:fill>
          <a:solidFill>
            <a:srgbClr val="CACBCD"/>
          </a:solidFill>
        </a:fill>
      </a:tcStyle>
    </a:band1H>
    <a:band2H>
      <a:tcTxStyle b="off" i="off"/>
    </a:band2H>
    <a:band1V>
      <a:tcTxStyle b="off" i="off"/>
      <a:tcStyle>
        <a:fill>
          <a:solidFill>
            <a:srgbClr val="CACBCD"/>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0.xml"/><Relationship Id="rId42" Type="http://schemas.openxmlformats.org/officeDocument/2006/relationships/slide" Target="slides/slide32.xml"/><Relationship Id="rId41" Type="http://schemas.openxmlformats.org/officeDocument/2006/relationships/slide" Target="slides/slide31.xml"/><Relationship Id="rId44" Type="http://schemas.openxmlformats.org/officeDocument/2006/relationships/slide" Target="slides/slide34.xml"/><Relationship Id="rId43" Type="http://schemas.openxmlformats.org/officeDocument/2006/relationships/slide" Target="slides/slide33.xml"/><Relationship Id="rId46" Type="http://schemas.openxmlformats.org/officeDocument/2006/relationships/slide" Target="slides/slide36.xml"/><Relationship Id="rId45" Type="http://schemas.openxmlformats.org/officeDocument/2006/relationships/slide" Target="slides/slide35.xml"/><Relationship Id="rId107" Type="http://schemas.openxmlformats.org/officeDocument/2006/relationships/slide" Target="slides/slide97.xml"/><Relationship Id="rId106" Type="http://schemas.openxmlformats.org/officeDocument/2006/relationships/slide" Target="slides/slide96.xml"/><Relationship Id="rId105" Type="http://schemas.openxmlformats.org/officeDocument/2006/relationships/slide" Target="slides/slide95.xml"/><Relationship Id="rId104" Type="http://schemas.openxmlformats.org/officeDocument/2006/relationships/slide" Target="slides/slide94.xml"/><Relationship Id="rId109" Type="http://schemas.openxmlformats.org/officeDocument/2006/relationships/slide" Target="slides/slide99.xml"/><Relationship Id="rId108" Type="http://schemas.openxmlformats.org/officeDocument/2006/relationships/slide" Target="slides/slide98.xml"/><Relationship Id="rId48" Type="http://schemas.openxmlformats.org/officeDocument/2006/relationships/slide" Target="slides/slide38.xml"/><Relationship Id="rId47" Type="http://schemas.openxmlformats.org/officeDocument/2006/relationships/slide" Target="slides/slide37.xml"/><Relationship Id="rId186" Type="http://schemas.openxmlformats.org/officeDocument/2006/relationships/font" Target="fonts/CambriaMath-regular.fntdata"/><Relationship Id="rId185" Type="http://schemas.openxmlformats.org/officeDocument/2006/relationships/font" Target="fonts/Lemon-regular.fntdata"/><Relationship Id="rId49" Type="http://schemas.openxmlformats.org/officeDocument/2006/relationships/slide" Target="slides/slide39.xml"/><Relationship Id="rId184" Type="http://schemas.openxmlformats.org/officeDocument/2006/relationships/font" Target="fonts/HelveticaNeueLight-boldItalic.fntdata"/><Relationship Id="rId103" Type="http://schemas.openxmlformats.org/officeDocument/2006/relationships/slide" Target="slides/slide93.xml"/><Relationship Id="rId102" Type="http://schemas.openxmlformats.org/officeDocument/2006/relationships/slide" Target="slides/slide92.xml"/><Relationship Id="rId101" Type="http://schemas.openxmlformats.org/officeDocument/2006/relationships/slide" Target="slides/slide91.xml"/><Relationship Id="rId100" Type="http://schemas.openxmlformats.org/officeDocument/2006/relationships/slide" Target="slides/slide90.xml"/><Relationship Id="rId31" Type="http://schemas.openxmlformats.org/officeDocument/2006/relationships/slide" Target="slides/slide21.xml"/><Relationship Id="rId30" Type="http://schemas.openxmlformats.org/officeDocument/2006/relationships/slide" Target="slides/slide20.xml"/><Relationship Id="rId33" Type="http://schemas.openxmlformats.org/officeDocument/2006/relationships/slide" Target="slides/slide23.xml"/><Relationship Id="rId183" Type="http://schemas.openxmlformats.org/officeDocument/2006/relationships/font" Target="fonts/HelveticaNeueLight-italic.fntdata"/><Relationship Id="rId32" Type="http://schemas.openxmlformats.org/officeDocument/2006/relationships/slide" Target="slides/slide22.xml"/><Relationship Id="rId182" Type="http://schemas.openxmlformats.org/officeDocument/2006/relationships/font" Target="fonts/HelveticaNeueLight-bold.fntdata"/><Relationship Id="rId35" Type="http://schemas.openxmlformats.org/officeDocument/2006/relationships/slide" Target="slides/slide25.xml"/><Relationship Id="rId181" Type="http://schemas.openxmlformats.org/officeDocument/2006/relationships/font" Target="fonts/HelveticaNeueLight-regular.fntdata"/><Relationship Id="rId34" Type="http://schemas.openxmlformats.org/officeDocument/2006/relationships/slide" Target="slides/slide24.xml"/><Relationship Id="rId180" Type="http://schemas.openxmlformats.org/officeDocument/2006/relationships/font" Target="fonts/HelveticaNeue-boldItalic.fntdata"/><Relationship Id="rId37" Type="http://schemas.openxmlformats.org/officeDocument/2006/relationships/slide" Target="slides/slide27.xml"/><Relationship Id="rId176" Type="http://schemas.openxmlformats.org/officeDocument/2006/relationships/font" Target="fonts/Roboto-boldItalic.fntdata"/><Relationship Id="rId36" Type="http://schemas.openxmlformats.org/officeDocument/2006/relationships/slide" Target="slides/slide26.xml"/><Relationship Id="rId175" Type="http://schemas.openxmlformats.org/officeDocument/2006/relationships/font" Target="fonts/Roboto-italic.fntdata"/><Relationship Id="rId39" Type="http://schemas.openxmlformats.org/officeDocument/2006/relationships/slide" Target="slides/slide29.xml"/><Relationship Id="rId174" Type="http://schemas.openxmlformats.org/officeDocument/2006/relationships/font" Target="fonts/Roboto-bold.fntdata"/><Relationship Id="rId38" Type="http://schemas.openxmlformats.org/officeDocument/2006/relationships/slide" Target="slides/slide28.xml"/><Relationship Id="rId173" Type="http://schemas.openxmlformats.org/officeDocument/2006/relationships/font" Target="fonts/Roboto-regular.fntdata"/><Relationship Id="rId179" Type="http://schemas.openxmlformats.org/officeDocument/2006/relationships/font" Target="fonts/HelveticaNeue-italic.fntdata"/><Relationship Id="rId178" Type="http://schemas.openxmlformats.org/officeDocument/2006/relationships/font" Target="fonts/HelveticaNeue-bold.fntdata"/><Relationship Id="rId177" Type="http://schemas.openxmlformats.org/officeDocument/2006/relationships/font" Target="fonts/HelveticaNeue-regular.fntdata"/><Relationship Id="rId20" Type="http://schemas.openxmlformats.org/officeDocument/2006/relationships/slide" Target="slides/slide10.xml"/><Relationship Id="rId22" Type="http://schemas.openxmlformats.org/officeDocument/2006/relationships/slide" Target="slides/slide12.xml"/><Relationship Id="rId21" Type="http://schemas.openxmlformats.org/officeDocument/2006/relationships/slide" Target="slides/slide11.xml"/><Relationship Id="rId24" Type="http://schemas.openxmlformats.org/officeDocument/2006/relationships/slide" Target="slides/slide14.xml"/><Relationship Id="rId23" Type="http://schemas.openxmlformats.org/officeDocument/2006/relationships/slide" Target="slides/slide13.xml"/><Relationship Id="rId129" Type="http://schemas.openxmlformats.org/officeDocument/2006/relationships/slide" Target="slides/slide119.xml"/><Relationship Id="rId128" Type="http://schemas.openxmlformats.org/officeDocument/2006/relationships/slide" Target="slides/slide118.xml"/><Relationship Id="rId127" Type="http://schemas.openxmlformats.org/officeDocument/2006/relationships/slide" Target="slides/slide117.xml"/><Relationship Id="rId126" Type="http://schemas.openxmlformats.org/officeDocument/2006/relationships/slide" Target="slides/slide116.xml"/><Relationship Id="rId26" Type="http://schemas.openxmlformats.org/officeDocument/2006/relationships/slide" Target="slides/slide16.xml"/><Relationship Id="rId121" Type="http://schemas.openxmlformats.org/officeDocument/2006/relationships/slide" Target="slides/slide111.xml"/><Relationship Id="rId25" Type="http://schemas.openxmlformats.org/officeDocument/2006/relationships/slide" Target="slides/slide15.xml"/><Relationship Id="rId120" Type="http://schemas.openxmlformats.org/officeDocument/2006/relationships/slide" Target="slides/slide110.xml"/><Relationship Id="rId28" Type="http://schemas.openxmlformats.org/officeDocument/2006/relationships/slide" Target="slides/slide18.xml"/><Relationship Id="rId27" Type="http://schemas.openxmlformats.org/officeDocument/2006/relationships/slide" Target="slides/slide17.xml"/><Relationship Id="rId125" Type="http://schemas.openxmlformats.org/officeDocument/2006/relationships/slide" Target="slides/slide115.xml"/><Relationship Id="rId29" Type="http://schemas.openxmlformats.org/officeDocument/2006/relationships/slide" Target="slides/slide19.xml"/><Relationship Id="rId124" Type="http://schemas.openxmlformats.org/officeDocument/2006/relationships/slide" Target="slides/slide114.xml"/><Relationship Id="rId123" Type="http://schemas.openxmlformats.org/officeDocument/2006/relationships/slide" Target="slides/slide113.xml"/><Relationship Id="rId122" Type="http://schemas.openxmlformats.org/officeDocument/2006/relationships/slide" Target="slides/slide112.xml"/><Relationship Id="rId95" Type="http://schemas.openxmlformats.org/officeDocument/2006/relationships/slide" Target="slides/slide85.xml"/><Relationship Id="rId94" Type="http://schemas.openxmlformats.org/officeDocument/2006/relationships/slide" Target="slides/slide84.xml"/><Relationship Id="rId97" Type="http://schemas.openxmlformats.org/officeDocument/2006/relationships/slide" Target="slides/slide87.xml"/><Relationship Id="rId96" Type="http://schemas.openxmlformats.org/officeDocument/2006/relationships/slide" Target="slides/slide86.xml"/><Relationship Id="rId11" Type="http://schemas.openxmlformats.org/officeDocument/2006/relationships/slide" Target="slides/slide1.xml"/><Relationship Id="rId99" Type="http://schemas.openxmlformats.org/officeDocument/2006/relationships/slide" Target="slides/slide89.xml"/><Relationship Id="rId10" Type="http://schemas.openxmlformats.org/officeDocument/2006/relationships/notesMaster" Target="notesMasters/notesMaster1.xml"/><Relationship Id="rId98" Type="http://schemas.openxmlformats.org/officeDocument/2006/relationships/slide" Target="slides/slide88.xml"/><Relationship Id="rId13" Type="http://schemas.openxmlformats.org/officeDocument/2006/relationships/slide" Target="slides/slide3.xml"/><Relationship Id="rId12" Type="http://schemas.openxmlformats.org/officeDocument/2006/relationships/slide" Target="slides/slide2.xml"/><Relationship Id="rId91" Type="http://schemas.openxmlformats.org/officeDocument/2006/relationships/slide" Target="slides/slide81.xml"/><Relationship Id="rId90" Type="http://schemas.openxmlformats.org/officeDocument/2006/relationships/slide" Target="slides/slide80.xml"/><Relationship Id="rId93" Type="http://schemas.openxmlformats.org/officeDocument/2006/relationships/slide" Target="slides/slide83.xml"/><Relationship Id="rId92" Type="http://schemas.openxmlformats.org/officeDocument/2006/relationships/slide" Target="slides/slide82.xml"/><Relationship Id="rId118" Type="http://schemas.openxmlformats.org/officeDocument/2006/relationships/slide" Target="slides/slide108.xml"/><Relationship Id="rId117" Type="http://schemas.openxmlformats.org/officeDocument/2006/relationships/slide" Target="slides/slide107.xml"/><Relationship Id="rId116" Type="http://schemas.openxmlformats.org/officeDocument/2006/relationships/slide" Target="slides/slide106.xml"/><Relationship Id="rId115" Type="http://schemas.openxmlformats.org/officeDocument/2006/relationships/slide" Target="slides/slide105.xml"/><Relationship Id="rId119" Type="http://schemas.openxmlformats.org/officeDocument/2006/relationships/slide" Target="slides/slide109.xml"/><Relationship Id="rId15" Type="http://schemas.openxmlformats.org/officeDocument/2006/relationships/slide" Target="slides/slide5.xml"/><Relationship Id="rId110" Type="http://schemas.openxmlformats.org/officeDocument/2006/relationships/slide" Target="slides/slide100.xml"/><Relationship Id="rId14" Type="http://schemas.openxmlformats.org/officeDocument/2006/relationships/slide" Target="slides/slide4.xml"/><Relationship Id="rId17" Type="http://schemas.openxmlformats.org/officeDocument/2006/relationships/slide" Target="slides/slide7.xml"/><Relationship Id="rId16" Type="http://schemas.openxmlformats.org/officeDocument/2006/relationships/slide" Target="slides/slide6.xml"/><Relationship Id="rId19" Type="http://schemas.openxmlformats.org/officeDocument/2006/relationships/slide" Target="slides/slide9.xml"/><Relationship Id="rId114" Type="http://schemas.openxmlformats.org/officeDocument/2006/relationships/slide" Target="slides/slide104.xml"/><Relationship Id="rId18" Type="http://schemas.openxmlformats.org/officeDocument/2006/relationships/slide" Target="slides/slide8.xml"/><Relationship Id="rId113" Type="http://schemas.openxmlformats.org/officeDocument/2006/relationships/slide" Target="slides/slide103.xml"/><Relationship Id="rId112" Type="http://schemas.openxmlformats.org/officeDocument/2006/relationships/slide" Target="slides/slide102.xml"/><Relationship Id="rId111" Type="http://schemas.openxmlformats.org/officeDocument/2006/relationships/slide" Target="slides/slide101.xml"/><Relationship Id="rId84" Type="http://schemas.openxmlformats.org/officeDocument/2006/relationships/slide" Target="slides/slide74.xml"/><Relationship Id="rId83" Type="http://schemas.openxmlformats.org/officeDocument/2006/relationships/slide" Target="slides/slide73.xml"/><Relationship Id="rId86" Type="http://schemas.openxmlformats.org/officeDocument/2006/relationships/slide" Target="slides/slide76.xml"/><Relationship Id="rId85" Type="http://schemas.openxmlformats.org/officeDocument/2006/relationships/slide" Target="slides/slide75.xml"/><Relationship Id="rId88" Type="http://schemas.openxmlformats.org/officeDocument/2006/relationships/slide" Target="slides/slide78.xml"/><Relationship Id="rId150" Type="http://schemas.openxmlformats.org/officeDocument/2006/relationships/slide" Target="slides/slide140.xml"/><Relationship Id="rId87" Type="http://schemas.openxmlformats.org/officeDocument/2006/relationships/slide" Target="slides/slide77.xml"/><Relationship Id="rId89" Type="http://schemas.openxmlformats.org/officeDocument/2006/relationships/slide" Target="slides/slide79.xml"/><Relationship Id="rId80" Type="http://schemas.openxmlformats.org/officeDocument/2006/relationships/slide" Target="slides/slide70.xml"/><Relationship Id="rId82" Type="http://schemas.openxmlformats.org/officeDocument/2006/relationships/slide" Target="slides/slide72.xml"/><Relationship Id="rId81" Type="http://schemas.openxmlformats.org/officeDocument/2006/relationships/slide" Target="slides/slide71.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39.xml"/><Relationship Id="rId4" Type="http://schemas.openxmlformats.org/officeDocument/2006/relationships/tableStyles" Target="tableStyles.xml"/><Relationship Id="rId148" Type="http://schemas.openxmlformats.org/officeDocument/2006/relationships/slide" Target="slides/slide138.xml"/><Relationship Id="rId9" Type="http://schemas.openxmlformats.org/officeDocument/2006/relationships/slideMaster" Target="slideMasters/slideMaster4.xml"/><Relationship Id="rId143" Type="http://schemas.openxmlformats.org/officeDocument/2006/relationships/slide" Target="slides/slide133.xml"/><Relationship Id="rId142" Type="http://schemas.openxmlformats.org/officeDocument/2006/relationships/slide" Target="slides/slide132.xml"/><Relationship Id="rId141" Type="http://schemas.openxmlformats.org/officeDocument/2006/relationships/slide" Target="slides/slide131.xml"/><Relationship Id="rId140" Type="http://schemas.openxmlformats.org/officeDocument/2006/relationships/slide" Target="slides/slide130.xml"/><Relationship Id="rId5" Type="http://schemas.openxmlformats.org/officeDocument/2006/relationships/commentAuthors" Target="commentAuthors.xml"/><Relationship Id="rId147" Type="http://schemas.openxmlformats.org/officeDocument/2006/relationships/slide" Target="slides/slide137.xml"/><Relationship Id="rId6" Type="http://schemas.openxmlformats.org/officeDocument/2006/relationships/slideMaster" Target="slideMasters/slideMaster1.xml"/><Relationship Id="rId146" Type="http://schemas.openxmlformats.org/officeDocument/2006/relationships/slide" Target="slides/slide136.xml"/><Relationship Id="rId7" Type="http://schemas.openxmlformats.org/officeDocument/2006/relationships/slideMaster" Target="slideMasters/slideMaster2.xml"/><Relationship Id="rId145" Type="http://schemas.openxmlformats.org/officeDocument/2006/relationships/slide" Target="slides/slide135.xml"/><Relationship Id="rId8" Type="http://schemas.openxmlformats.org/officeDocument/2006/relationships/slideMaster" Target="slideMasters/slideMaster3.xml"/><Relationship Id="rId144" Type="http://schemas.openxmlformats.org/officeDocument/2006/relationships/slide" Target="slides/slide134.xml"/><Relationship Id="rId73" Type="http://schemas.openxmlformats.org/officeDocument/2006/relationships/slide" Target="slides/slide63.xml"/><Relationship Id="rId72" Type="http://schemas.openxmlformats.org/officeDocument/2006/relationships/slide" Target="slides/slide62.xml"/><Relationship Id="rId75" Type="http://schemas.openxmlformats.org/officeDocument/2006/relationships/slide" Target="slides/slide65.xml"/><Relationship Id="rId74" Type="http://schemas.openxmlformats.org/officeDocument/2006/relationships/slide" Target="slides/slide64.xml"/><Relationship Id="rId77" Type="http://schemas.openxmlformats.org/officeDocument/2006/relationships/slide" Target="slides/slide67.xml"/><Relationship Id="rId76" Type="http://schemas.openxmlformats.org/officeDocument/2006/relationships/slide" Target="slides/slide66.xml"/><Relationship Id="rId79" Type="http://schemas.openxmlformats.org/officeDocument/2006/relationships/slide" Target="slides/slide69.xml"/><Relationship Id="rId78" Type="http://schemas.openxmlformats.org/officeDocument/2006/relationships/slide" Target="slides/slide68.xml"/><Relationship Id="rId71" Type="http://schemas.openxmlformats.org/officeDocument/2006/relationships/slide" Target="slides/slide61.xml"/><Relationship Id="rId70" Type="http://schemas.openxmlformats.org/officeDocument/2006/relationships/slide" Target="slides/slide60.xml"/><Relationship Id="rId139" Type="http://schemas.openxmlformats.org/officeDocument/2006/relationships/slide" Target="slides/slide129.xml"/><Relationship Id="rId138" Type="http://schemas.openxmlformats.org/officeDocument/2006/relationships/slide" Target="slides/slide128.xml"/><Relationship Id="rId137" Type="http://schemas.openxmlformats.org/officeDocument/2006/relationships/slide" Target="slides/slide127.xml"/><Relationship Id="rId132" Type="http://schemas.openxmlformats.org/officeDocument/2006/relationships/slide" Target="slides/slide122.xml"/><Relationship Id="rId131" Type="http://schemas.openxmlformats.org/officeDocument/2006/relationships/slide" Target="slides/slide121.xml"/><Relationship Id="rId130" Type="http://schemas.openxmlformats.org/officeDocument/2006/relationships/slide" Target="slides/slide120.xml"/><Relationship Id="rId136" Type="http://schemas.openxmlformats.org/officeDocument/2006/relationships/slide" Target="slides/slide126.xml"/><Relationship Id="rId135" Type="http://schemas.openxmlformats.org/officeDocument/2006/relationships/slide" Target="slides/slide125.xml"/><Relationship Id="rId134" Type="http://schemas.openxmlformats.org/officeDocument/2006/relationships/slide" Target="slides/slide124.xml"/><Relationship Id="rId133" Type="http://schemas.openxmlformats.org/officeDocument/2006/relationships/slide" Target="slides/slide123.xml"/><Relationship Id="rId62" Type="http://schemas.openxmlformats.org/officeDocument/2006/relationships/slide" Target="slides/slide52.xml"/><Relationship Id="rId61" Type="http://schemas.openxmlformats.org/officeDocument/2006/relationships/slide" Target="slides/slide51.xml"/><Relationship Id="rId64" Type="http://schemas.openxmlformats.org/officeDocument/2006/relationships/slide" Target="slides/slide54.xml"/><Relationship Id="rId63" Type="http://schemas.openxmlformats.org/officeDocument/2006/relationships/slide" Target="slides/slide53.xml"/><Relationship Id="rId66" Type="http://schemas.openxmlformats.org/officeDocument/2006/relationships/slide" Target="slides/slide56.xml"/><Relationship Id="rId172" Type="http://schemas.openxmlformats.org/officeDocument/2006/relationships/font" Target="fonts/MerriweatherSans-boldItalic.fntdata"/><Relationship Id="rId65" Type="http://schemas.openxmlformats.org/officeDocument/2006/relationships/slide" Target="slides/slide55.xml"/><Relationship Id="rId171" Type="http://schemas.openxmlformats.org/officeDocument/2006/relationships/font" Target="fonts/MerriweatherSans-italic.fntdata"/><Relationship Id="rId68" Type="http://schemas.openxmlformats.org/officeDocument/2006/relationships/slide" Target="slides/slide58.xml"/><Relationship Id="rId170" Type="http://schemas.openxmlformats.org/officeDocument/2006/relationships/font" Target="fonts/MerriweatherSans-bold.fntdata"/><Relationship Id="rId67" Type="http://schemas.openxmlformats.org/officeDocument/2006/relationships/slide" Target="slides/slide57.xml"/><Relationship Id="rId60" Type="http://schemas.openxmlformats.org/officeDocument/2006/relationships/slide" Target="slides/slide50.xml"/><Relationship Id="rId165" Type="http://schemas.openxmlformats.org/officeDocument/2006/relationships/slide" Target="slides/slide155.xml"/><Relationship Id="rId69" Type="http://schemas.openxmlformats.org/officeDocument/2006/relationships/slide" Target="slides/slide59.xml"/><Relationship Id="rId164" Type="http://schemas.openxmlformats.org/officeDocument/2006/relationships/slide" Target="slides/slide154.xml"/><Relationship Id="rId163" Type="http://schemas.openxmlformats.org/officeDocument/2006/relationships/slide" Target="slides/slide153.xml"/><Relationship Id="rId162" Type="http://schemas.openxmlformats.org/officeDocument/2006/relationships/slide" Target="slides/slide152.xml"/><Relationship Id="rId169" Type="http://schemas.openxmlformats.org/officeDocument/2006/relationships/font" Target="fonts/MerriweatherSans-regular.fntdata"/><Relationship Id="rId168" Type="http://schemas.openxmlformats.org/officeDocument/2006/relationships/slide" Target="slides/slide158.xml"/><Relationship Id="rId167" Type="http://schemas.openxmlformats.org/officeDocument/2006/relationships/slide" Target="slides/slide157.xml"/><Relationship Id="rId166" Type="http://schemas.openxmlformats.org/officeDocument/2006/relationships/slide" Target="slides/slide156.xml"/><Relationship Id="rId51" Type="http://schemas.openxmlformats.org/officeDocument/2006/relationships/slide" Target="slides/slide41.xml"/><Relationship Id="rId50" Type="http://schemas.openxmlformats.org/officeDocument/2006/relationships/slide" Target="slides/slide40.xml"/><Relationship Id="rId53" Type="http://schemas.openxmlformats.org/officeDocument/2006/relationships/slide" Target="slides/slide43.xml"/><Relationship Id="rId52" Type="http://schemas.openxmlformats.org/officeDocument/2006/relationships/slide" Target="slides/slide42.xml"/><Relationship Id="rId55" Type="http://schemas.openxmlformats.org/officeDocument/2006/relationships/slide" Target="slides/slide45.xml"/><Relationship Id="rId161" Type="http://schemas.openxmlformats.org/officeDocument/2006/relationships/slide" Target="slides/slide151.xml"/><Relationship Id="rId54" Type="http://schemas.openxmlformats.org/officeDocument/2006/relationships/slide" Target="slides/slide44.xml"/><Relationship Id="rId160" Type="http://schemas.openxmlformats.org/officeDocument/2006/relationships/slide" Target="slides/slide150.xml"/><Relationship Id="rId57" Type="http://schemas.openxmlformats.org/officeDocument/2006/relationships/slide" Target="slides/slide47.xml"/><Relationship Id="rId56" Type="http://schemas.openxmlformats.org/officeDocument/2006/relationships/slide" Target="slides/slide46.xml"/><Relationship Id="rId159" Type="http://schemas.openxmlformats.org/officeDocument/2006/relationships/slide" Target="slides/slide149.xml"/><Relationship Id="rId59" Type="http://schemas.openxmlformats.org/officeDocument/2006/relationships/slide" Target="slides/slide49.xml"/><Relationship Id="rId154" Type="http://schemas.openxmlformats.org/officeDocument/2006/relationships/slide" Target="slides/slide144.xml"/><Relationship Id="rId58" Type="http://schemas.openxmlformats.org/officeDocument/2006/relationships/slide" Target="slides/slide48.xml"/><Relationship Id="rId153" Type="http://schemas.openxmlformats.org/officeDocument/2006/relationships/slide" Target="slides/slide143.xml"/><Relationship Id="rId152" Type="http://schemas.openxmlformats.org/officeDocument/2006/relationships/slide" Target="slides/slide142.xml"/><Relationship Id="rId151" Type="http://schemas.openxmlformats.org/officeDocument/2006/relationships/slide" Target="slides/slide141.xml"/><Relationship Id="rId158" Type="http://schemas.openxmlformats.org/officeDocument/2006/relationships/slide" Target="slides/slide148.xml"/><Relationship Id="rId157" Type="http://schemas.openxmlformats.org/officeDocument/2006/relationships/slide" Target="slides/slide147.xml"/><Relationship Id="rId156" Type="http://schemas.openxmlformats.org/officeDocument/2006/relationships/slide" Target="slides/slide146.xml"/><Relationship Id="rId155" Type="http://schemas.openxmlformats.org/officeDocument/2006/relationships/slide" Target="slides/slide145.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9-03T23:19:59.593">
    <p:pos x="236" y="421"/>
    <p:text>to be updated</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9-03T23:19:59.593">
    <p:pos x="236" y="421"/>
    <p:text>to be updated</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rockefelleruniversity.github.io/RU_RNAseq/"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rockefelleruniversity.github.io/RU_RNAseq/"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illumina.com/science/technology/next-generation-sequencing/plan-experiments/quality-scores.html"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journals.plos.org/plosone/article/file?id=10.1371/journal.pone.0177459&amp;type=printable" TargetMode="Externa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cbi.nlm.nih.gov/pmc/articles/PMC3530905/" TargetMode="Externa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cbi.nlm.nih.gov/pmc/articles/PMC3005310/" TargetMode="Externa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martech.gatech.edu/bitstream/handle/1853/35125/efron_videostream.html?sequence=8&amp;isAllowed=y" TargetMode="External"/><Relationship Id="rId3" Type="http://schemas.openxmlformats.org/officeDocument/2006/relationships/hyperlink" Target="http://dx.doi.org/10.1371/journal.pone.0119254" TargetMode="Externa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martech.gatech.edu/bitstream/handle/1853/35125/efron_videostream.html?sequence=8&amp;isAllowed=y" TargetMode="External"/><Relationship Id="rId3" Type="http://schemas.openxmlformats.org/officeDocument/2006/relationships/hyperlink" Target="http://dx.doi.org/10.1371/journal.pone.0119254" TargetMode="Externa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martech.gatech.edu/bitstream/handle/1853/35125/efron_videostream.html?sequence=8&amp;isAllowed=y" TargetMode="External"/><Relationship Id="rId3" Type="http://schemas.openxmlformats.org/officeDocument/2006/relationships/hyperlink" Target="http://dx.doi.org/10.1371/journal.pone.0119254" TargetMode="Externa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3b300e55dd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23b300e55dd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171450" lvl="0" marL="171450" marR="0" rtl="0" algn="l">
              <a:lnSpc>
                <a:spcPct val="100000"/>
              </a:lnSpc>
              <a:spcBef>
                <a:spcPts val="0"/>
              </a:spcBef>
              <a:spcAft>
                <a:spcPts val="0"/>
              </a:spcAft>
              <a:buClr>
                <a:schemeClr val="dk1"/>
              </a:buClr>
              <a:buSzPts val="1200"/>
              <a:buFont typeface="Arial"/>
              <a:buNone/>
            </a:pPr>
            <a:r>
              <a:t/>
            </a:r>
            <a:endParaRPr/>
          </a:p>
        </p:txBody>
      </p:sp>
      <p:sp>
        <p:nvSpPr>
          <p:cNvPr id="221" name="Google Shape;221;g23b300e55dd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3b300e55dd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23b300e55dd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3b300e55dd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3b300e55d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0000"/>
              </a:lnSpc>
              <a:spcBef>
                <a:spcPts val="800"/>
              </a:spcBef>
              <a:spcAft>
                <a:spcPts val="0"/>
              </a:spcAft>
              <a:buClr>
                <a:schemeClr val="dk1"/>
              </a:buClr>
              <a:buSzPts val="1100"/>
              <a:buFont typeface="Arial"/>
              <a:buNone/>
            </a:pPr>
            <a:r>
              <a:rPr lang="en" sz="1000">
                <a:solidFill>
                  <a:schemeClr val="dk1"/>
                </a:solidFill>
              </a:rPr>
              <a:t>From </a:t>
            </a:r>
            <a:r>
              <a:rPr lang="en" sz="1000">
                <a:solidFill>
                  <a:schemeClr val="dk1"/>
                </a:solidFill>
                <a:highlight>
                  <a:srgbClr val="FFFFFF"/>
                </a:highlight>
                <a:uFill>
                  <a:noFill/>
                </a:uFill>
                <a:latin typeface="Helvetica Neue"/>
                <a:ea typeface="Helvetica Neue"/>
                <a:cs typeface="Helvetica Neue"/>
                <a:sym typeface="Helvetica Neue"/>
                <a:hlinkClick r:id="rId2">
                  <a:extLst>
                    <a:ext uri="{A12FA001-AC4F-418D-AE19-62706E023703}">
                      <ahyp:hlinkClr val="tx"/>
                    </a:ext>
                  </a:extLst>
                </a:hlinkClick>
              </a:rPr>
              <a:t>http://rockefelleruniversity.github.io/RU_RNAseq/</a:t>
            </a:r>
            <a:endParaRPr sz="1000">
              <a:solidFill>
                <a:schemeClr val="dk1"/>
              </a:solidFill>
              <a:highlight>
                <a:srgbClr val="FFFFFF"/>
              </a:highlight>
              <a:latin typeface="Helvetica Neue"/>
              <a:ea typeface="Helvetica Neue"/>
              <a:cs typeface="Helvetica Neue"/>
              <a:sym typeface="Helvetica Neue"/>
            </a:endParaRPr>
          </a:p>
          <a:p>
            <a:pPr indent="0" lvl="0" marL="0" rtl="0" algn="l">
              <a:lnSpc>
                <a:spcPct val="110000"/>
              </a:lnSpc>
              <a:spcBef>
                <a:spcPts val="800"/>
              </a:spcBef>
              <a:spcAft>
                <a:spcPts val="0"/>
              </a:spcAft>
              <a:buClr>
                <a:schemeClr val="dk1"/>
              </a:buClr>
              <a:buSzPts val="1100"/>
              <a:buFont typeface="Arial"/>
              <a:buNone/>
            </a:pPr>
            <a:r>
              <a:rPr lang="en" sz="1000">
                <a:solidFill>
                  <a:schemeClr val="dk1"/>
                </a:solidFill>
                <a:highlight>
                  <a:srgbClr val="FFFFFF"/>
                </a:highlight>
                <a:latin typeface="Helvetica Neue"/>
                <a:ea typeface="Helvetica Neue"/>
                <a:cs typeface="Helvetica Neue"/>
                <a:sym typeface="Helvetica Neue"/>
              </a:rPr>
              <a:t>More details here: https://rnaseq.uoregon.edu/#rna-prep-overview</a:t>
            </a:r>
            <a:endParaRPr sz="1000">
              <a:solidFill>
                <a:schemeClr val="dk1"/>
              </a:solidFill>
              <a:highlight>
                <a:srgbClr val="FFFFFF"/>
              </a:highlight>
              <a:latin typeface="Helvetica Neue"/>
              <a:ea typeface="Helvetica Neue"/>
              <a:cs typeface="Helvetica Neue"/>
              <a:sym typeface="Helvetica Neue"/>
            </a:endParaRPr>
          </a:p>
          <a:p>
            <a:pPr indent="0" lvl="0" marL="0" rtl="0" algn="l">
              <a:spcBef>
                <a:spcPts val="8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3b300e55d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3b300e55d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From https://www.broadinstitute.org/files/shared/illuminavids/sequencingSlides.pdf</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3b300e55dd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23b300e55d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0000"/>
              </a:lnSpc>
              <a:spcBef>
                <a:spcPts val="800"/>
              </a:spcBef>
              <a:spcAft>
                <a:spcPts val="0"/>
              </a:spcAft>
              <a:buClr>
                <a:schemeClr val="dk1"/>
              </a:buClr>
              <a:buSzPts val="1100"/>
              <a:buFont typeface="Arial"/>
              <a:buNone/>
            </a:pPr>
            <a:r>
              <a:rPr lang="en" sz="1000">
                <a:solidFill>
                  <a:schemeClr val="dk1"/>
                </a:solidFill>
              </a:rPr>
              <a:t>From </a:t>
            </a:r>
            <a:r>
              <a:rPr lang="en" sz="1000">
                <a:solidFill>
                  <a:schemeClr val="dk1"/>
                </a:solidFill>
                <a:highlight>
                  <a:srgbClr val="FFFFFF"/>
                </a:highlight>
                <a:uFill>
                  <a:noFill/>
                </a:uFill>
                <a:latin typeface="Helvetica Neue"/>
                <a:ea typeface="Helvetica Neue"/>
                <a:cs typeface="Helvetica Neue"/>
                <a:sym typeface="Helvetica Neue"/>
                <a:hlinkClick r:id="rId2">
                  <a:extLst>
                    <a:ext uri="{A12FA001-AC4F-418D-AE19-62706E023703}">
                      <ahyp:hlinkClr val="tx"/>
                    </a:ext>
                  </a:extLst>
                </a:hlinkClick>
              </a:rPr>
              <a:t>http://rockefelleruniversity.github.io/RU_RNAseq/</a:t>
            </a:r>
            <a:endParaRPr sz="1000">
              <a:solidFill>
                <a:schemeClr val="dk1"/>
              </a:solidFill>
              <a:highlight>
                <a:srgbClr val="FFFFFF"/>
              </a:highlight>
              <a:latin typeface="Helvetica Neue"/>
              <a:ea typeface="Helvetica Neue"/>
              <a:cs typeface="Helvetica Neue"/>
              <a:sym typeface="Helvetica Neue"/>
            </a:endParaRPr>
          </a:p>
          <a:p>
            <a:pPr indent="0" lvl="0" marL="0" rtl="0" algn="l">
              <a:lnSpc>
                <a:spcPct val="110000"/>
              </a:lnSpc>
              <a:spcBef>
                <a:spcPts val="800"/>
              </a:spcBef>
              <a:spcAft>
                <a:spcPts val="0"/>
              </a:spcAft>
              <a:buClr>
                <a:schemeClr val="dk1"/>
              </a:buClr>
              <a:buSzPts val="1100"/>
              <a:buFont typeface="Arial"/>
              <a:buNone/>
            </a:pPr>
            <a:r>
              <a:rPr lang="en" sz="1000">
                <a:solidFill>
                  <a:schemeClr val="dk1"/>
                </a:solidFill>
                <a:highlight>
                  <a:srgbClr val="FFFFFF"/>
                </a:highlight>
                <a:latin typeface="Helvetica Neue"/>
                <a:ea typeface="Helvetica Neue"/>
                <a:cs typeface="Helvetica Neue"/>
                <a:sym typeface="Helvetica Neue"/>
              </a:rPr>
              <a:t>More details here: https://rnaseq.uoregon.edu/#rna-prep-working-with-rna</a:t>
            </a:r>
            <a:endParaRPr sz="1000">
              <a:solidFill>
                <a:schemeClr val="dk1"/>
              </a:solidFill>
              <a:highlight>
                <a:srgbClr val="FFFFFF"/>
              </a:highlight>
              <a:latin typeface="Helvetica Neue"/>
              <a:ea typeface="Helvetica Neue"/>
              <a:cs typeface="Helvetica Neue"/>
              <a:sym typeface="Helvetica Neue"/>
            </a:endParaRPr>
          </a:p>
          <a:p>
            <a:pPr indent="0" lvl="0" marL="0" rtl="0" algn="l">
              <a:spcBef>
                <a:spcPts val="8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3b300e55dd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3b300e55d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Cluster amplification: https://youtu.be/3URxJD5k3T8</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3b300e55dd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23b300e55dd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Suggesting reading https://bmcbioinformatics.biomedcentral.com/articles/10.1186/s12859-020-3484-z</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3b300e55dd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23b300e55dd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3b300e55dd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23b300e55dd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f55060ad82_0_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gf55060ad82_0_1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171450" lvl="0" marL="171450" marR="0" rtl="0" algn="l">
              <a:lnSpc>
                <a:spcPct val="100000"/>
              </a:lnSpc>
              <a:spcBef>
                <a:spcPts val="0"/>
              </a:spcBef>
              <a:spcAft>
                <a:spcPts val="0"/>
              </a:spcAft>
              <a:buClr>
                <a:schemeClr val="dk1"/>
              </a:buClr>
              <a:buSzPts val="1200"/>
              <a:buFont typeface="Arial"/>
              <a:buNone/>
            </a:pPr>
            <a:r>
              <a:t/>
            </a:r>
            <a:endParaRPr/>
          </a:p>
        </p:txBody>
      </p:sp>
      <p:sp>
        <p:nvSpPr>
          <p:cNvPr id="297" name="Google Shape;297;gf55060ad82_0_1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bc184fa67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bc184fa67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bc184fa67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bc184fa67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f9f940f050_1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f9f940f050_1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27e8042fb8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27e8042fb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f5c349cb21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f5c349cb21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f55060ad82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f55060ad82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rPr lang="en" sz="1200">
                <a:solidFill>
                  <a:schemeClr val="dk1"/>
                </a:solidFill>
              </a:rPr>
              <a:t>This slide deck gives an overview of the tools and tech underlying RNA-seq. </a:t>
            </a:r>
            <a:endParaRPr sz="1200">
              <a:solidFill>
                <a:schemeClr val="dk1"/>
              </a:solidFill>
            </a:endParaRPr>
          </a:p>
          <a:p>
            <a:pPr indent="0" lvl="0" marL="0" rtl="0" algn="l">
              <a:spcBef>
                <a:spcPts val="0"/>
              </a:spcBef>
              <a:spcAft>
                <a:spcPts val="0"/>
              </a:spcAft>
              <a:buClr>
                <a:schemeClr val="dk1"/>
              </a:buClr>
              <a:buSzPts val="1200"/>
              <a:buFont typeface="Arial"/>
              <a:buNone/>
            </a:pPr>
            <a:r>
              <a:t/>
            </a:r>
            <a:endParaRPr b="1" sz="1200">
              <a:solidFill>
                <a:schemeClr val="dk1"/>
              </a:solidFill>
            </a:endParaRPr>
          </a:p>
          <a:p>
            <a:pPr indent="0" lvl="0" marL="0" rtl="0" algn="l">
              <a:spcBef>
                <a:spcPts val="0"/>
              </a:spcBef>
              <a:spcAft>
                <a:spcPts val="0"/>
              </a:spcAft>
              <a:buClr>
                <a:schemeClr val="dk1"/>
              </a:buClr>
              <a:buSzPts val="1200"/>
              <a:buFont typeface="Arial"/>
              <a:buNone/>
            </a:pPr>
            <a:r>
              <a:rPr b="1" lang="en" sz="1200">
                <a:solidFill>
                  <a:schemeClr val="dk1"/>
                </a:solidFill>
              </a:rPr>
              <a:t>Docker </a:t>
            </a:r>
            <a:r>
              <a:rPr lang="en" sz="1200">
                <a:solidFill>
                  <a:schemeClr val="dk1"/>
                </a:solidFill>
              </a:rPr>
              <a:t>(https://www.docker.com/)</a:t>
            </a:r>
            <a:r>
              <a:rPr b="1" lang="en" sz="1200">
                <a:solidFill>
                  <a:schemeClr val="dk1"/>
                </a:solidFill>
              </a:rPr>
              <a:t> </a:t>
            </a:r>
            <a:r>
              <a:rPr lang="en" sz="1200">
                <a:solidFill>
                  <a:schemeClr val="dk1"/>
                </a:solidFill>
              </a:rPr>
              <a:t>is a software platform that allows you to build, test, and deploy applications quickly. Docker packages software into standardized units called containers that have everything the software needs to run including libraries, system tools, code, and runtime. Using Docker, you can quickly deploy and scale applications into any environment and know your code will run.</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b="1" lang="en" sz="1200">
                <a:solidFill>
                  <a:schemeClr val="dk1"/>
                </a:solidFill>
              </a:rPr>
              <a:t>What is an HPC? </a:t>
            </a:r>
            <a:r>
              <a:rPr lang="en" sz="1200">
                <a:solidFill>
                  <a:schemeClr val="dk1"/>
                </a:solidFill>
              </a:rPr>
              <a:t>https://insidehpc.com/hpc-basic-training/what-is-hpc/</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7cc7b61e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7cc7b61e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27e8042fb8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27e8042fb8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f9f940f050_1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f9f940f050_1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117e9417e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117e9417e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bd9a0e4e6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bd9a0e4e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bd9a0e4e6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bd9a0e4e6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f003bd6f09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f003bd6f09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f56fc7a34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f56fc7a34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Sequencing centers often provide reads in the FASTQ format. The raw reads contain sequences of adapters added during library preparation, which are trimmed to start with. Then, the reads are typically mapped to a reference genome sequence. Counts of reads mapping to genes are tallied and used for differential gene expression analysis. At all stages, it is important to perform quality control of the data. All the tools mentioned in the subsequent slides for these steps are available via docker or can be installed locally. </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Please download and install Docker Desktop from: https://docs.docker.com/get-docker/</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All UCSF/Gladstone affiliates can request access to Wynton. Visit https://wynton.ucsf.edu/hpc/about/join.html</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f9f940f050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f9f940f050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Sequencing centers often provide reads in the FASTQ format. The raw reads contain sequences of adapters added during library preparation, which are trimmed to start with. Then, the reads are typically mapped to a reference genome sequence. Counts of reads mapping to genes are tallied and used for differential gene expression analysis. At all stages, it is important to perform quality control of the data. All the tools mentioned in the subsequent slides for these steps are available via docker or can be installed locally. </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Please download and install Docker Desktop from: https://docs.docker.com/get-docker/</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All UCSF/Gladstone affiliates can request access to Wynton. Visit https://wynton.ucsf.edu/hpc/about/join.html</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f56fc7a349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f56fc7a349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f9f940f050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f9f940f050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Sequencing centers often provide reads in the FASTQ format. The raw reads contain sequences of adapters added during library preparation, which are trimmed to start with. Then, the reads are typically mapped to a reference genome sequence. Counts of reads mapping to genes are tallied and used for differential gene expression analysis. At all stages, it is important to perform quality control of the data. All the tools mentioned in the subsequent slides for these steps are available via docker or can be installed locally. </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Please download and install Docker Desktop from: https://docs.docker.com/get-docker/</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All UCSF/Gladstone affiliates can request access to Wynton. Visit https://wynton.ucsf.edu/hpc/about/join.html</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f1b540f585_4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f1b540f585_4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800"/>
              </a:spcBef>
              <a:spcAft>
                <a:spcPts val="0"/>
              </a:spcAft>
              <a:buClr>
                <a:schemeClr val="dk1"/>
              </a:buClr>
              <a:buSzPts val="1100"/>
              <a:buFont typeface="Arial"/>
              <a:buNone/>
            </a:pPr>
            <a:r>
              <a:rPr lang="en">
                <a:solidFill>
                  <a:srgbClr val="002B42"/>
                </a:solidFill>
              </a:rPr>
              <a:t>File names samplename_S1_L001_R1_001.fastq.gz</a:t>
            </a:r>
            <a:endParaRPr>
              <a:solidFill>
                <a:srgbClr val="002B42"/>
              </a:solidFill>
            </a:endParaRPr>
          </a:p>
          <a:p>
            <a:pPr indent="0" lvl="0" marL="0" rtl="0" algn="l">
              <a:lnSpc>
                <a:spcPct val="90000"/>
              </a:lnSpc>
              <a:spcBef>
                <a:spcPts val="800"/>
              </a:spcBef>
              <a:spcAft>
                <a:spcPts val="0"/>
              </a:spcAft>
              <a:buClr>
                <a:schemeClr val="dk1"/>
              </a:buClr>
              <a:buSzPts val="1100"/>
              <a:buFont typeface="Arial"/>
              <a:buNone/>
            </a:pPr>
            <a:r>
              <a:t/>
            </a:r>
            <a:endParaRPr>
              <a:solidFill>
                <a:srgbClr val="002B42"/>
              </a:solidFill>
            </a:endParaRPr>
          </a:p>
          <a:p>
            <a:pPr indent="0" lvl="0" marL="0" rtl="0" algn="l">
              <a:lnSpc>
                <a:spcPct val="90000"/>
              </a:lnSpc>
              <a:spcBef>
                <a:spcPts val="800"/>
              </a:spcBef>
              <a:spcAft>
                <a:spcPts val="0"/>
              </a:spcAft>
              <a:buClr>
                <a:schemeClr val="dk1"/>
              </a:buClr>
              <a:buSzPts val="1100"/>
              <a:buFont typeface="Arial"/>
              <a:buNone/>
            </a:pPr>
            <a:r>
              <a:rPr lang="en">
                <a:solidFill>
                  <a:srgbClr val="002B42"/>
                </a:solidFill>
              </a:rPr>
              <a:t>samplename—The sample name provided in the sample sheet. If a sample name is not provided, the file name includes the sample ID, which is a required field in the sample sheet and must be unique.</a:t>
            </a:r>
            <a:endParaRPr>
              <a:solidFill>
                <a:srgbClr val="002B42"/>
              </a:solidFill>
            </a:endParaRPr>
          </a:p>
          <a:p>
            <a:pPr indent="0" lvl="0" marL="0" rtl="0" algn="l">
              <a:lnSpc>
                <a:spcPct val="90000"/>
              </a:lnSpc>
              <a:spcBef>
                <a:spcPts val="800"/>
              </a:spcBef>
              <a:spcAft>
                <a:spcPts val="0"/>
              </a:spcAft>
              <a:buClr>
                <a:schemeClr val="dk1"/>
              </a:buClr>
              <a:buSzPts val="1100"/>
              <a:buFont typeface="Arial"/>
              <a:buNone/>
            </a:pPr>
            <a:r>
              <a:rPr lang="en">
                <a:solidFill>
                  <a:srgbClr val="002B42"/>
                </a:solidFill>
              </a:rPr>
              <a:t>S1—The sample number based on the order that samples are listed in the sample sheet starting with 1. In this example, S1 indicates that this sample is the first sample listed in the sample sheet.</a:t>
            </a:r>
            <a:endParaRPr>
              <a:solidFill>
                <a:srgbClr val="002B42"/>
              </a:solidFill>
            </a:endParaRPr>
          </a:p>
          <a:p>
            <a:pPr indent="0" lvl="0" marL="0" rtl="0" algn="l">
              <a:lnSpc>
                <a:spcPct val="90000"/>
              </a:lnSpc>
              <a:spcBef>
                <a:spcPts val="800"/>
              </a:spcBef>
              <a:spcAft>
                <a:spcPts val="0"/>
              </a:spcAft>
              <a:buClr>
                <a:schemeClr val="dk1"/>
              </a:buClr>
              <a:buSzPts val="1100"/>
              <a:buFont typeface="Arial"/>
              <a:buNone/>
            </a:pPr>
            <a:r>
              <a:rPr lang="en">
                <a:solidFill>
                  <a:srgbClr val="002B42"/>
                </a:solidFill>
              </a:rPr>
              <a:t>L001—The lane number.</a:t>
            </a:r>
            <a:endParaRPr>
              <a:solidFill>
                <a:srgbClr val="002B42"/>
              </a:solidFill>
            </a:endParaRPr>
          </a:p>
          <a:p>
            <a:pPr indent="0" lvl="0" marL="0" rtl="0" algn="l">
              <a:lnSpc>
                <a:spcPct val="90000"/>
              </a:lnSpc>
              <a:spcBef>
                <a:spcPts val="800"/>
              </a:spcBef>
              <a:spcAft>
                <a:spcPts val="0"/>
              </a:spcAft>
              <a:buClr>
                <a:schemeClr val="dk1"/>
              </a:buClr>
              <a:buSzPts val="1100"/>
              <a:buFont typeface="Arial"/>
              <a:buNone/>
            </a:pPr>
            <a:r>
              <a:rPr lang="en">
                <a:solidFill>
                  <a:srgbClr val="002B42"/>
                </a:solidFill>
              </a:rPr>
              <a:t>R1—The read. In this example, R1 means Read 1. For a paired-end run, there is at least one file with R2 in the file name for Read 2.</a:t>
            </a:r>
            <a:endParaRPr>
              <a:solidFill>
                <a:srgbClr val="002B42"/>
              </a:solidFill>
            </a:endParaRPr>
          </a:p>
          <a:p>
            <a:pPr indent="0" lvl="0" marL="0" rtl="0" algn="l">
              <a:lnSpc>
                <a:spcPct val="90000"/>
              </a:lnSpc>
              <a:spcBef>
                <a:spcPts val="800"/>
              </a:spcBef>
              <a:spcAft>
                <a:spcPts val="0"/>
              </a:spcAft>
              <a:buClr>
                <a:schemeClr val="dk1"/>
              </a:buClr>
              <a:buSzPts val="1100"/>
              <a:buFont typeface="Arial"/>
              <a:buNone/>
            </a:pPr>
            <a:r>
              <a:rPr lang="en">
                <a:solidFill>
                  <a:srgbClr val="002B42"/>
                </a:solidFill>
              </a:rPr>
              <a:t>001—The last segment is always 001</a:t>
            </a:r>
            <a:endParaRPr>
              <a:solidFill>
                <a:srgbClr val="002B42"/>
              </a:solidFill>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1182e846ea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1182e846ea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f56fc7a349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f56fc7a349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https://www.illumina.com/science/technology/next-generation-sequencing/plan-experiments/quality-scores.html</a:t>
            </a:r>
            <a:endParaRPr/>
          </a:p>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2414d519a17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2414d519a17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f5fc3ef981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f5fc3ef981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f56fc7a349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f56fc7a349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https://www.youtube.com/watch?v=U4QnpciIJhM</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f56fc7a349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f56fc7a349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1000"/>
              </a:spcBef>
              <a:spcAft>
                <a:spcPts val="0"/>
              </a:spcAft>
              <a:buClr>
                <a:schemeClr val="dk1"/>
              </a:buClr>
              <a:buSzPts val="1100"/>
              <a:buFont typeface="Arial"/>
              <a:buNone/>
            </a:pPr>
            <a:r>
              <a:rPr lang="en" sz="1200">
                <a:solidFill>
                  <a:srgbClr val="002B42"/>
                </a:solidFill>
              </a:rPr>
              <a:t>For more: https://rtsf.natsci.msu.edu/genomics/tech-notes/fastqc-tutorial-and-faq/</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f5fc3ef981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f5fc3ef981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40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f5fc3ef981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f5fc3ef981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solidFill>
                  <a:schemeClr val="dk1"/>
                </a:solidFill>
              </a:rPr>
              <a:t>https://sequencing.qcfail.com/articles/positional-sequence-bias-in-random-primed-libraries/</a:t>
            </a:r>
            <a:endParaRPr sz="1000">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c6b4f99ef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c6b4f99ef7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Sequencing centers often provide reads in the FASTQ format. The raw reads contain sequences of adapters added during library preparation, which are trimmed to start with. Then, the reads are typically mapped to a reference genome sequence. Counts of reads mapping to genes are tallied and used for differential gene expression analysis. At all stages, it is important to perform quality control of the data. All the tools mentioned in the subsequent slides for these steps are available via docker or can be installed locally. </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Please download and install Docker Desktop from: https://docs.docker.com/get-docker/</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All UCSF/Gladstone affiliates can request access to Wynton. Visit https://wynton.ucsf.edu/hpc/about/join.html</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23b300e55dd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23b300e55dd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https://www.ecseq.com/support/ngs/trimming-adapter-sequences-is-it-necessary</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23b300e55dd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23b300e55dd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rPr>
              <a:t>https://cutadapt.readthedocs.io/en/stable/guide.html</a:t>
            </a:r>
            <a:endParaRPr sz="1200">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27e8042fb8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27e8042fb8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2475531b703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2475531b703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c6b4f99ef7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3c6b4f99ef7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Sequencing centers often provide reads in the FASTQ format. The raw reads contain sequences of adapters added during library preparation, which are trimmed to start with. Then, the reads are typically mapped to a reference genome sequence. Counts of reads mapping to genes are tallied and used for differential gene expression analysis. At all stages, it is important to perform quality control of the data. All the tools mentioned in the subsequent slides for these steps are available via docker or can be installed locally. </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Please download and install Docker Desktop from: https://docs.docker.com/get-docker/</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All UCSF/Gladstone affiliates can request access to Wynton. Visit https://wynton.ucsf.edu/hpc/about/join.html</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23b300e55dd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23b300e55dd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rPr lang="en" sz="1200">
                <a:solidFill>
                  <a:schemeClr val="dk1"/>
                </a:solidFill>
              </a:rPr>
              <a:t>Login to a Wynton dev node and search for the tools using module spider</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23b300e55dd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4" name="Google Shape;644;g23b300e55dd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23b300e55dd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23b300e55dd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Galaxy provides a collection of tools to analyze variety of biomedical data </a:t>
            </a:r>
            <a:endParaRPr/>
          </a:p>
          <a:p>
            <a:pPr indent="0" lvl="0" marL="0" rtl="0" algn="l">
              <a:spcBef>
                <a:spcPts val="0"/>
              </a:spcBef>
              <a:spcAft>
                <a:spcPts val="0"/>
              </a:spcAft>
              <a:buNone/>
            </a:pPr>
            <a:r>
              <a:rPr lang="en"/>
              <a:t>https://usegalaxy.org/</a:t>
            </a:r>
            <a:endParaRPr/>
          </a:p>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23b300e55dd_0_89:notes"/>
          <p:cNvSpPr txBox="1"/>
          <p:nvPr>
            <p:ph idx="1" type="body"/>
          </p:nvPr>
        </p:nvSpPr>
        <p:spPr>
          <a:xfrm>
            <a:off x="685800" y="4400549"/>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g23b300e55dd_0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23b300e55dd_0_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2" name="Google Shape;662;g23b300e55dd_0_94: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Image taken from https://hpc.rtu.lv/introduction-to-hpc/?lang=en</a:t>
            </a:r>
            <a:endParaRPr/>
          </a:p>
        </p:txBody>
      </p:sp>
      <p:sp>
        <p:nvSpPr>
          <p:cNvPr id="663" name="Google Shape;663;g23b300e55dd_0_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23b300e55dd_0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2" name="Google Shape;672;g23b300e55dd_0_103: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3" name="Google Shape;673;g23b300e55dd_0_1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23b300e55dd_0_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1" name="Google Shape;681;g23b300e55dd_0_111: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Image source: https://gigascience.biomedcentral.com/track/pdf/10.1186/s13742-016-0135-4</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Paper introducing Singularity: </a:t>
            </a:r>
            <a:r>
              <a:rPr lang="en" u="sng">
                <a:solidFill>
                  <a:schemeClr val="hlink"/>
                </a:solidFill>
                <a:hlinkClick r:id="rId2"/>
              </a:rPr>
              <a:t>https://journals.plos.org/plosone/article/file?id=10.1371/journal.pone.0177459&amp;type=printable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https://phoenixnap.com/kb/docker-image-vs-container</a:t>
            </a:r>
            <a:endParaRPr/>
          </a:p>
        </p:txBody>
      </p:sp>
      <p:sp>
        <p:nvSpPr>
          <p:cNvPr id="682" name="Google Shape;682;g23b300e55dd_0_1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2444f79365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2444f79365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c6b4f99ef7_0_164:notes"/>
          <p:cNvSpPr txBox="1"/>
          <p:nvPr>
            <p:ph idx="1" type="body"/>
          </p:nvPr>
        </p:nvSpPr>
        <p:spPr>
          <a:xfrm>
            <a:off x="685800" y="4400549"/>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g3c6b4f99ef7_0_1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3c6b4f99ef7_0_174:notes"/>
          <p:cNvSpPr txBox="1"/>
          <p:nvPr>
            <p:ph idx="1" type="body"/>
          </p:nvPr>
        </p:nvSpPr>
        <p:spPr>
          <a:xfrm>
            <a:off x="685800" y="4400549"/>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g3c6b4f99ef7_0_1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c6b4f99ef7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3c6b4f99ef7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400"/>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24547ca9061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24547ca9061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23cd6a728b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23cd6a728b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f9f940f050_1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4" name="Google Shape;734;g3f9f940f050_1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f9f940f050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3f9f940f050_1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3f9f940f050_5_8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5" name="Google Shape;745;g3f9f940f050_5_8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Helvetica Neue"/>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f9f940f050_1_1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g3f9f940f050_1_1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171450" lvl="0" marL="171450" marR="0" rtl="0" algn="l">
              <a:lnSpc>
                <a:spcPct val="100000"/>
              </a:lnSpc>
              <a:spcBef>
                <a:spcPts val="0"/>
              </a:spcBef>
              <a:spcAft>
                <a:spcPts val="0"/>
              </a:spcAft>
              <a:buClr>
                <a:schemeClr val="dk1"/>
              </a:buClr>
              <a:buSzPts val="1200"/>
              <a:buFont typeface="Arial"/>
              <a:buNone/>
            </a:pPr>
            <a:r>
              <a:t/>
            </a:r>
            <a:endParaRPr/>
          </a:p>
        </p:txBody>
      </p:sp>
      <p:sp>
        <p:nvSpPr>
          <p:cNvPr id="751" name="Google Shape;751;g3f9f940f050_1_1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3f9f940f050_1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7" name="Google Shape;757;g3f9f940f050_1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f56fc7a349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f56fc7a349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c6b4f99ef7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3c6b4f99ef7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Sequencing centers often provide reads in the FASTQ format. The raw reads contain sequences of adapters added during library preparation, which are trimmed to start with. Then, the reads are typically mapped to a reference genome sequence. Counts of reads mapping to genes are tallied and used for differential gene expression analysis. At all stages, it is important to perform quality control of the data. All the tools mentioned in the subsequent slides for these steps are available via docker or can be installed locally. </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Please download and install Docker Desktop from: https://docs.docker.com/get-docker/</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All UCSF/Gladstone affiliates can request access to Wynton. Visit https://wynton.ucsf.edu/hpc/about/join.html</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f354a93d4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f354a93d4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c6b4f99ef7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9" name="Google Shape;799;g3c6b4f99ef7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dk1"/>
                </a:solidFill>
              </a:rPr>
              <a:t>Suggested reading:</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https://www.ncbi.nlm.nih.gov/pmc/articles/PMC3322381/pdf/nihms-366740.pdf</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https://academic.oup.com/bioinformatics/article/29/1/15/272537</a:t>
            </a:r>
            <a:endParaRPr sz="1200">
              <a:solidFill>
                <a:schemeClr val="dk1"/>
              </a:solidFill>
            </a:endParaRPr>
          </a:p>
          <a:p>
            <a:pPr indent="0" lvl="0" marL="0" rtl="0" algn="l">
              <a:lnSpc>
                <a:spcPct val="115000"/>
              </a:lnSpc>
              <a:spcBef>
                <a:spcPts val="0"/>
              </a:spcBef>
              <a:spcAft>
                <a:spcPts val="0"/>
              </a:spcAft>
              <a:buNone/>
            </a:pPr>
            <a:r>
              <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rPr>
              <a:t>Video lectures on how these mapping tools work:</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https://www.youtube.com/watch?v=hpb-mH-yjLc&amp;list=PL2mpR0RYFQsBiCWVJSvVAO3OJ2t7DzoHA</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c6b4f99ef7_0_3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6" name="Google Shape;806;g3c6b4f99ef7_0_321: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Suggested reading: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https://www.ncbi.nlm.nih.gov/pmc/articles/PMC3322381/pdf/nihms-366740.pdf</a:t>
            </a:r>
            <a:endParaRPr/>
          </a:p>
        </p:txBody>
      </p:sp>
      <p:sp>
        <p:nvSpPr>
          <p:cNvPr id="807" name="Google Shape;807;g3c6b4f99ef7_0_3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3c6b4f99ef7_0_2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3" name="Google Shape;813;g3c6b4f99ef7_0_269: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Suggested reading: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https://www.ncbi.nlm.nih.gov/pmc/articles/PMC3322381/pdf/nihms-366740.pdf</a:t>
            </a:r>
            <a:endParaRPr/>
          </a:p>
        </p:txBody>
      </p:sp>
      <p:sp>
        <p:nvSpPr>
          <p:cNvPr id="814" name="Google Shape;814;g3c6b4f99ef7_0_2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3c6b4f99ef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0" name="Google Shape;820;g3c6b4f99ef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3c6b4f99ef7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8" name="Google Shape;828;g3c6b4f99ef7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https://www.ncbi.nlm.nih.gov/pmc/articles/PMC3530905/</a:t>
            </a:r>
            <a:endParaRPr/>
          </a:p>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3c6b4f99ef7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3c6b4f99ef7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400"/>
              </a:spcBef>
              <a:spcAft>
                <a:spcPts val="0"/>
              </a:spcAft>
              <a:buNone/>
            </a:pPr>
            <a:r>
              <a:rPr lang="en" sz="1200">
                <a:solidFill>
                  <a:srgbClr val="002B42"/>
                </a:solidFill>
              </a:rPr>
              <a:t>Examples of acceptable genome sequence files:</a:t>
            </a:r>
            <a:endParaRPr sz="1200">
              <a:solidFill>
                <a:srgbClr val="002B42"/>
              </a:solidFill>
            </a:endParaRPr>
          </a:p>
          <a:p>
            <a:pPr indent="-304800" lvl="0" marL="457200" rtl="0" algn="l">
              <a:lnSpc>
                <a:spcPct val="90000"/>
              </a:lnSpc>
              <a:spcBef>
                <a:spcPts val="400"/>
              </a:spcBef>
              <a:spcAft>
                <a:spcPts val="0"/>
              </a:spcAft>
              <a:buClr>
                <a:srgbClr val="002B42"/>
              </a:buClr>
              <a:buSzPts val="1200"/>
              <a:buChar char="●"/>
            </a:pPr>
            <a:r>
              <a:rPr lang="en" sz="1200">
                <a:solidFill>
                  <a:srgbClr val="002B42"/>
                </a:solidFill>
              </a:rPr>
              <a:t>ENSEMBL: files marked with .dna.primary.assembly, such as: ftp://ftp.ensembl. org/pub/release-77/fasta/homo_sapiens/dna/Homo_sapiens.GRCh38.dna.primary_ assembly.fa.gz</a:t>
            </a:r>
            <a:endParaRPr sz="1200">
              <a:solidFill>
                <a:srgbClr val="002B42"/>
              </a:solidFill>
            </a:endParaRPr>
          </a:p>
          <a:p>
            <a:pPr indent="-304800" lvl="0" marL="457200" rtl="0" algn="l">
              <a:lnSpc>
                <a:spcPct val="90000"/>
              </a:lnSpc>
              <a:spcBef>
                <a:spcPts val="0"/>
              </a:spcBef>
              <a:spcAft>
                <a:spcPts val="0"/>
              </a:spcAft>
              <a:buClr>
                <a:srgbClr val="002B42"/>
              </a:buClr>
              <a:buSzPts val="1200"/>
              <a:buChar char="●"/>
            </a:pPr>
            <a:r>
              <a:rPr lang="en" sz="1200">
                <a:solidFill>
                  <a:srgbClr val="002B42"/>
                </a:solidFill>
              </a:rPr>
              <a:t>GENCODE: files marked with PRI (primary). Strongly recommended for mouse and human: http://www.gencodegenes.org/.</a:t>
            </a:r>
            <a:endParaRPr sz="1200"/>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3c6b4f99ef7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9" name="Google Shape;849;g3c6b4f99ef7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chrome-extension://efaidnbmnnnibpcajpcglclefindmkaj/https://samtools.github.io/hts-specs/SAMv1.pdf</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3c6b4f99ef7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2" name="Google Shape;862;g3c6b4f99ef7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Suggested reading:</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https://samtools.github.io/hts-specs/SAMv1.pdf</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3c6b4f99ef7_0_3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8" name="Google Shape;868;g3c6b4f99ef7_0_351: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
              <a:t>Kallisto: https://www.nature.com/articles/nbt.3519</a:t>
            </a:r>
            <a:endParaRPr/>
          </a:p>
          <a:p>
            <a:pPr indent="0" lvl="0" marL="0" rtl="0" algn="l">
              <a:lnSpc>
                <a:spcPct val="115000"/>
              </a:lnSpc>
              <a:spcBef>
                <a:spcPts val="0"/>
              </a:spcBef>
              <a:spcAft>
                <a:spcPts val="0"/>
              </a:spcAft>
              <a:buSzPts val="1100"/>
              <a:buNone/>
            </a:pPr>
            <a:r>
              <a:rPr lang="en"/>
              <a:t>Salmon: https://www.ncbi.nlm.nih.gov/pmc/articles/PMC5600148/</a:t>
            </a:r>
            <a:endParaRPr/>
          </a:p>
        </p:txBody>
      </p:sp>
      <p:sp>
        <p:nvSpPr>
          <p:cNvPr id="869" name="Google Shape;869;g3c6b4f99ef7_0_3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c6b4f99ef7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5" name="Google Shape;875;g3c6b4f99ef7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Sequencing centers often provide reads in the FASTQ format. The raw reads contain sequences of adapters added during library preparation, which are trimmed to start with. Then, the reads are typically mapped to a reference genome sequence. Counts of reads mapping to genes are tallied and used for differential gene expression analysis. At all stages, it is important to perform quality control of the data. All the tools mentioned in the subsequent slides for these steps are available via docker or can be installed locally. </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Please download and install Docker Desktop from: https://docs.docker.com/get-docker/</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All UCSF/Gladstone affiliates can request access to Wynton. Visit https://wynton.ucsf.edu/hpc/about/join.html</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330a7193ebe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9" name="Google Shape;899;g330a7193ebe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330a7193ebe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9" name="Google Shape;909;g330a7193ebe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Suggested reading:</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https://academic.oup.com/bioinformatics/article/30/7/923/232889</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330a7193ebe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8" name="Google Shape;918;g330a7193ebe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Suggested reading:</a:t>
            </a:r>
            <a:endParaRPr sz="1200"/>
          </a:p>
          <a:p>
            <a:pPr indent="0" lvl="0" marL="0" rtl="0" algn="l">
              <a:spcBef>
                <a:spcPts val="0"/>
              </a:spcBef>
              <a:spcAft>
                <a:spcPts val="0"/>
              </a:spcAft>
              <a:buNone/>
            </a:pPr>
            <a:r>
              <a:rPr lang="en" sz="1200" u="sng">
                <a:solidFill>
                  <a:schemeClr val="hlink"/>
                </a:solidFill>
                <a:hlinkClick r:id="rId2"/>
              </a:rPr>
              <a:t>https://www.ncbi.nlm.nih.gov/pmc/articles/PMC3005310/</a:t>
            </a:r>
            <a:endParaRPr sz="1200"/>
          </a:p>
          <a:p>
            <a:pPr indent="0" lvl="0" marL="0" rtl="0" algn="l">
              <a:spcBef>
                <a:spcPts val="0"/>
              </a:spcBef>
              <a:spcAft>
                <a:spcPts val="0"/>
              </a:spcAft>
              <a:buNone/>
            </a:pPr>
            <a:r>
              <a:rPr lang="en" sz="1200"/>
              <a:t>https://blog.genewiz.com/stranded-vs-non-stranded-rna-seq</a:t>
            </a:r>
            <a:endParaRPr sz="1200"/>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330a7193ebe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7" name="Google Shape;927;g330a7193ebe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23dbece6a7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4" name="Google Shape;934;g23dbece6a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3c6b4f99ef7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9" name="Google Shape;939;g3c6b4f99ef7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Sequencing centers often provide reads in the FASTQ format. The raw reads contain sequences of adapters added during library preparation, which are trimmed to start with. Then, the reads are typically mapped to a reference genome sequence. Counts of reads mapping to genes are tallied and used for differential gene expression analysis. At all stages, it is important to perform quality control of the data. All the tools mentioned in the subsequent slides for these steps are available via docker or can be installed locally. </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Please download and install Docker Desktop from: https://docs.docker.com/get-docker/</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All UCSF/Gladstone affiliates can request access to Wynton. Visit https://wynton.ucsf.edu/hpc/about/join.html</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23dbece6a76_1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4" name="Google Shape;964;g23dbece6a76_1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f5c41af1a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0" name="Google Shape;970;gf5c41af1a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E.g: The argument choices available for STAR</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3be7dc6c97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6" name="Google Shape;976;g3be7dc6c97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gf56fc7a349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3" name="Google Shape;983;gf56fc7a349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f9f940f050_1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1" name="Google Shape;991;g3f9f940f050_1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g23b300e55dd_0_2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7" name="Google Shape;997;g23b300e55dd_0_2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171450" lvl="0" marL="171450" marR="0" rtl="0" algn="l">
              <a:lnSpc>
                <a:spcPct val="100000"/>
              </a:lnSpc>
              <a:spcBef>
                <a:spcPts val="0"/>
              </a:spcBef>
              <a:spcAft>
                <a:spcPts val="0"/>
              </a:spcAft>
              <a:buClr>
                <a:schemeClr val="dk1"/>
              </a:buClr>
              <a:buSzPts val="1200"/>
              <a:buFont typeface="Arial"/>
              <a:buNone/>
            </a:pPr>
            <a:r>
              <a:t/>
            </a:r>
            <a:endParaRPr/>
          </a:p>
        </p:txBody>
      </p:sp>
      <p:sp>
        <p:nvSpPr>
          <p:cNvPr id="998" name="Google Shape;998;g23b300e55dd_0_2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3f9f940f050_1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4" name="Google Shape;1004;g3f9f940f050_1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f9f940f050_5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0" name="Google Shape;1010;g3f9f940f050_5_75: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011" name="Google Shape;1011;g3f9f940f050_5_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f9f940f050_1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6" name="Google Shape;1016;g3f9f940f050_1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f9f940f050_5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1" name="Google Shape;1021;g3f9f940f050_5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3f9f940f050_1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9" name="Google Shape;1029;g3f9f940f050_1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f9f940f050_1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6" name="Google Shape;1036;g3f9f940f050_1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Sequencing centers often provide reads in the FASTQ format. The raw reads contain sequences of adapters added during library preparation, which are trimmed to start with. Then, the reads are typically mapped to a reference genome sequence. Counts of reads mapping to genes are tallied and used for differential gene expression analysis. At all stages, it is important to perform quality control of the data. All the tools mentioned in the subsequent slides for these steps are available via docker or can be installed locally. </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Please download and install Docker Desktop from: https://docs.docker.com/get-docker/</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All UCSF/Gladstone affiliates can request access to Wynton. Visit https://wynton.ucsf.edu/hpc/about/join.html</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3f9f940f050_5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9" name="Google Shape;1049;g3f9f940f050_5_81: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Relevant reading for theory: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1. Chen, Yunshun, Aaron TL Lun, and Gordon K. Smyth. "Differential expression analysis of complex RNA-seq experiments using edgeR." </a:t>
            </a:r>
            <a:r>
              <a:rPr i="1" lang="en"/>
              <a:t>Statistical analysis of next generation sequencing data</a:t>
            </a:r>
            <a:r>
              <a:rPr lang="en"/>
              <a:t>. Springer, Cham, 2014. 51-74.</a:t>
            </a:r>
            <a:endParaRPr/>
          </a:p>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050" name="Google Shape;1050;g3f9f940f050_5_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3f9f940f050_5_2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6" name="Google Shape;1056;g3f9f940f050_5_235: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057" name="Google Shape;1057;g3f9f940f050_5_2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3f9f940f050_1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8" name="Google Shape;1068;g3f9f940f050_1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Sequencing centers often provide reads in the FASTQ format. The raw reads contain sequences of adapters added during library preparation, which are trimmed to start with. Then, the reads are typically mapped to a reference genome sequence. Counts of reads mapping to genes are tallied and used for differential gene expression analysis. At all stages, it is important to perform quality control of the data. All the tools mentioned in the subsequent slides for these steps are available via docker or can be installed locally. </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Please download and install Docker Desktop from: https://docs.docker.com/get-docker/</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All UCSF/Gladstone affiliates can request access to Wynton. Visit https://wynton.ucsf.edu/hpc/about/join.html</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f9f940f050_1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1" name="Google Shape;1081;g3f9f940f050_1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f9f940f050_5_2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6" name="Google Shape;1086;g3f9f940f050_5_247: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087" name="Google Shape;1087;g3f9f940f050_5_2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g3f9f940f050_5_2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8" name="Google Shape;1098;g3f9f940f050_5_276:notes"/>
          <p:cNvSpPr txBox="1"/>
          <p:nvPr>
            <p:ph idx="1" type="body"/>
          </p:nvPr>
        </p:nvSpPr>
        <p:spPr>
          <a:xfrm>
            <a:off x="685800" y="4400549"/>
            <a:ext cx="5486400" cy="3600451"/>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099" name="Google Shape;1099;g3f9f940f050_5_2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f9f940f050_5_2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1" name="Google Shape;1111;g3f9f940f050_5_288: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112" name="Google Shape;1112;g3f9f940f050_5_2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3f9f940f050_5_3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5" name="Google Shape;1125;g3f9f940f050_5_301:notes"/>
          <p:cNvSpPr txBox="1"/>
          <p:nvPr>
            <p:ph idx="1" type="body"/>
          </p:nvPr>
        </p:nvSpPr>
        <p:spPr>
          <a:xfrm>
            <a:off x="685800" y="4400549"/>
            <a:ext cx="5486400" cy="3600451"/>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126" name="Google Shape;1126;g3f9f940f050_5_30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3f9f940f050_5_3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7" name="Google Shape;1137;g3f9f940f050_5_312: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138" name="Google Shape;1138;g3f9f940f050_5_3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3f9f940f050_1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4" name="Google Shape;1144;g3f9f940f050_1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Sequencing centers often provide reads in the FASTQ format. The raw reads contain sequences of adapters added during library preparation, which are trimmed to start with. Then, the reads are typically mapped to a reference genome sequence. Counts of reads mapping to genes are tallied and used for differential gene expression analysis. At all stages, it is important to perform quality control of the data. All the tools mentioned in the subsequent slides for these steps are available via docker or can be installed locally. </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Please download and install Docker Desktop from: https://docs.docker.com/get-docker/</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All UCSF/Gladstone affiliates can request access to Wynton. Visit https://wynton.ucsf.edu/hpc/about/join.html</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g3f9f940f050_5_3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7" name="Google Shape;1157;g3f9f940f050_5_336: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158" name="Google Shape;1158;g3f9f940f050_5_3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g3f9f940f050_5_3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5" name="Google Shape;1165;g3f9f940f050_5_343: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166" name="Google Shape;1166;g3f9f940f050_5_3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1" name="Shape 1171"/>
        <p:cNvGrpSpPr/>
        <p:nvPr/>
      </p:nvGrpSpPr>
      <p:grpSpPr>
        <a:xfrm>
          <a:off x="0" y="0"/>
          <a:ext cx="0" cy="0"/>
          <a:chOff x="0" y="0"/>
          <a:chExt cx="0" cy="0"/>
        </a:xfrm>
      </p:grpSpPr>
      <p:sp>
        <p:nvSpPr>
          <p:cNvPr id="1172" name="Google Shape;1172;g3f9f940f050_5_3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3" name="Google Shape;1173;g3f9f940f050_5_350: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174" name="Google Shape;1174;g3f9f940f050_5_3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3f9f940f050_5_3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4" name="Google Shape;1184;g3f9f940f050_5_360: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185" name="Google Shape;1185;g3f9f940f050_5_3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f9f940f050_1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1" name="Google Shape;1191;g3f9f940f050_1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Sequencing centers often provide reads in the FASTQ format. The raw reads contain sequences of adapters added during library preparation, which are trimmed to start with. Then, the reads are typically mapped to a reference genome sequence. Counts of reads mapping to genes are tallied and used for differential gene expression analysis. At all stages, it is important to perform quality control of the data. All the tools mentioned in the subsequent slides for these steps are available via docker or can be installed locally. </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Please download and install Docker Desktop from: https://docs.docker.com/get-docker/</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All UCSF/Gladstone affiliates can request access to Wynton. Visit https://wynton.ucsf.edu/hpc/about/join.html</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g3f9f940f050_5_3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4" name="Google Shape;1204;g3f9f940f050_5_384:notes"/>
          <p:cNvSpPr txBox="1"/>
          <p:nvPr>
            <p:ph idx="1" type="body"/>
          </p:nvPr>
        </p:nvSpPr>
        <p:spPr>
          <a:xfrm>
            <a:off x="685800" y="4400549"/>
            <a:ext cx="5486400" cy="3600451"/>
          </a:xfrm>
          <a:prstGeom prst="rect">
            <a:avLst/>
          </a:prstGeom>
          <a:noFill/>
          <a:ln>
            <a:noFill/>
          </a:ln>
        </p:spPr>
        <p:txBody>
          <a:bodyPr anchorCtr="0" anchor="t" bIns="45700" lIns="91425" spcFirstLastPara="1" rIns="91425" wrap="square" tIns="45700">
            <a:noAutofit/>
          </a:bodyPr>
          <a:lstStyle/>
          <a:p>
            <a:pPr indent="-419100" lvl="0" marL="457200" rtl="0" algn="l">
              <a:lnSpc>
                <a:spcPct val="90000"/>
              </a:lnSpc>
              <a:spcBef>
                <a:spcPts val="0"/>
              </a:spcBef>
              <a:spcAft>
                <a:spcPts val="0"/>
              </a:spcAft>
              <a:buClr>
                <a:srgbClr val="002B42"/>
              </a:buClr>
              <a:buSzPts val="1000"/>
              <a:buChar char="●"/>
            </a:pPr>
            <a:r>
              <a:rPr lang="en" sz="1000">
                <a:solidFill>
                  <a:srgbClr val="002B42"/>
                </a:solidFill>
              </a:rPr>
              <a:t>Biological phenomena more likely driven by sets of genes than individual genes</a:t>
            </a:r>
            <a:endParaRPr sz="1000">
              <a:solidFill>
                <a:srgbClr val="002B42"/>
              </a:solidFill>
            </a:endParaRPr>
          </a:p>
          <a:p>
            <a:pPr indent="0" lvl="0" marL="457200" rtl="0" algn="l">
              <a:lnSpc>
                <a:spcPct val="90000"/>
              </a:lnSpc>
              <a:spcBef>
                <a:spcPts val="0"/>
              </a:spcBef>
              <a:spcAft>
                <a:spcPts val="0"/>
              </a:spcAft>
              <a:buClr>
                <a:schemeClr val="dk1"/>
              </a:buClr>
              <a:buSzPts val="1100"/>
              <a:buFont typeface="Arial"/>
              <a:buNone/>
            </a:pPr>
            <a:r>
              <a:t/>
            </a:r>
            <a:endParaRPr sz="1000">
              <a:solidFill>
                <a:srgbClr val="002B42"/>
              </a:solidFill>
            </a:endParaRPr>
          </a:p>
          <a:p>
            <a:pPr indent="0" lvl="0" marL="457200" rtl="0" algn="l">
              <a:lnSpc>
                <a:spcPct val="90000"/>
              </a:lnSpc>
              <a:spcBef>
                <a:spcPts val="0"/>
              </a:spcBef>
              <a:spcAft>
                <a:spcPts val="0"/>
              </a:spcAft>
              <a:buClr>
                <a:schemeClr val="dk1"/>
              </a:buClr>
              <a:buSzPts val="1100"/>
              <a:buFont typeface="Arial"/>
              <a:buNone/>
            </a:pPr>
            <a:r>
              <a:t/>
            </a:r>
            <a:endParaRPr sz="1000">
              <a:solidFill>
                <a:srgbClr val="002B42"/>
              </a:solidFill>
            </a:endParaRPr>
          </a:p>
          <a:p>
            <a:pPr indent="-419100" lvl="0" marL="457200" rtl="0" algn="l">
              <a:lnSpc>
                <a:spcPct val="90000"/>
              </a:lnSpc>
              <a:spcBef>
                <a:spcPts val="0"/>
              </a:spcBef>
              <a:spcAft>
                <a:spcPts val="0"/>
              </a:spcAft>
              <a:buClr>
                <a:srgbClr val="002B42"/>
              </a:buClr>
              <a:buSzPts val="1000"/>
              <a:buChar char="●"/>
            </a:pPr>
            <a:r>
              <a:rPr lang="en" sz="1000">
                <a:solidFill>
                  <a:srgbClr val="002B42"/>
                </a:solidFill>
              </a:rPr>
              <a:t>Dimensions = Number of coordinates of data points = Number of genes</a:t>
            </a:r>
            <a:endParaRPr sz="1000">
              <a:solidFill>
                <a:srgbClr val="002B42"/>
              </a:solidFill>
            </a:endParaRPr>
          </a:p>
          <a:p>
            <a:pPr indent="0" lvl="0" marL="0" rtl="0" algn="l">
              <a:lnSpc>
                <a:spcPct val="90000"/>
              </a:lnSpc>
              <a:spcBef>
                <a:spcPts val="1000"/>
              </a:spcBef>
              <a:spcAft>
                <a:spcPts val="0"/>
              </a:spcAft>
              <a:buClr>
                <a:srgbClr val="002B42"/>
              </a:buClr>
              <a:buSzPts val="1600"/>
              <a:buFont typeface="Arial"/>
              <a:buNone/>
            </a:pPr>
            <a:r>
              <a:rPr lang="en" sz="1000">
                <a:solidFill>
                  <a:srgbClr val="002B42"/>
                </a:solidFill>
              </a:rPr>
              <a:t>       =&gt; Too many to visualize</a:t>
            </a:r>
            <a:endParaRPr sz="1000">
              <a:solidFill>
                <a:srgbClr val="002B42"/>
              </a:solidFill>
            </a:endParaRPr>
          </a:p>
          <a:p>
            <a:pPr indent="0" lvl="0" marL="0" rtl="0" algn="l">
              <a:lnSpc>
                <a:spcPct val="90000"/>
              </a:lnSpc>
              <a:spcBef>
                <a:spcPts val="1000"/>
              </a:spcBef>
              <a:spcAft>
                <a:spcPts val="0"/>
              </a:spcAft>
              <a:buClr>
                <a:srgbClr val="002B42"/>
              </a:buClr>
              <a:buSzPts val="1600"/>
              <a:buFont typeface="Arial"/>
              <a:buNone/>
            </a:pPr>
            <a:r>
              <a:t/>
            </a:r>
            <a:endParaRPr sz="1000">
              <a:solidFill>
                <a:srgbClr val="002B42"/>
              </a:solidFill>
            </a:endParaRPr>
          </a:p>
          <a:p>
            <a:pPr indent="-292100" lvl="0" marL="457200" rtl="0" algn="l">
              <a:lnSpc>
                <a:spcPct val="90000"/>
              </a:lnSpc>
              <a:spcBef>
                <a:spcPts val="1000"/>
              </a:spcBef>
              <a:spcAft>
                <a:spcPts val="0"/>
              </a:spcAft>
              <a:buClr>
                <a:srgbClr val="002B42"/>
              </a:buClr>
              <a:buSzPts val="1000"/>
              <a:buChar char="●"/>
            </a:pPr>
            <a:r>
              <a:rPr lang="en" sz="1000">
                <a:solidFill>
                  <a:srgbClr val="002B42"/>
                </a:solidFill>
              </a:rPr>
              <a:t>Cells may be separated in the          	direction of hidden “factors”	</a:t>
            </a:r>
            <a:endParaRPr sz="1000">
              <a:solidFill>
                <a:srgbClr val="002B42"/>
              </a:solidFill>
            </a:endParaRPr>
          </a:p>
          <a:p>
            <a:pPr indent="0" lvl="0" marL="457200" rtl="0" algn="l">
              <a:lnSpc>
                <a:spcPct val="90000"/>
              </a:lnSpc>
              <a:spcBef>
                <a:spcPts val="1000"/>
              </a:spcBef>
              <a:spcAft>
                <a:spcPts val="0"/>
              </a:spcAft>
              <a:buClr>
                <a:schemeClr val="dk1"/>
              </a:buClr>
              <a:buSzPts val="1100"/>
              <a:buFont typeface="Arial"/>
              <a:buNone/>
            </a:pPr>
            <a:r>
              <a:rPr lang="en" sz="1000">
                <a:solidFill>
                  <a:srgbClr val="002B42"/>
                </a:solidFill>
              </a:rPr>
              <a:t>=&gt;1</a:t>
            </a:r>
            <a:r>
              <a:rPr baseline="30000" lang="en" sz="1000">
                <a:solidFill>
                  <a:srgbClr val="002B42"/>
                </a:solidFill>
              </a:rPr>
              <a:t>st</a:t>
            </a:r>
            <a:r>
              <a:rPr lang="en" sz="1000">
                <a:solidFill>
                  <a:srgbClr val="002B42"/>
                </a:solidFill>
              </a:rPr>
              <a:t> dimension: disease-associated pathway</a:t>
            </a:r>
            <a:endParaRPr sz="1000">
              <a:solidFill>
                <a:srgbClr val="002B42"/>
              </a:solidFill>
            </a:endParaRPr>
          </a:p>
          <a:p>
            <a:pPr indent="0" lvl="0" marL="457200" rtl="0" algn="l">
              <a:lnSpc>
                <a:spcPct val="90000"/>
              </a:lnSpc>
              <a:spcBef>
                <a:spcPts val="1000"/>
              </a:spcBef>
              <a:spcAft>
                <a:spcPts val="0"/>
              </a:spcAft>
              <a:buClr>
                <a:schemeClr val="dk1"/>
              </a:buClr>
              <a:buSzPts val="1100"/>
              <a:buFont typeface="Arial"/>
              <a:buNone/>
            </a:pPr>
            <a:r>
              <a:rPr lang="en" sz="1000">
                <a:solidFill>
                  <a:srgbClr val="002B42"/>
                </a:solidFill>
              </a:rPr>
              <a:t> =&gt;2</a:t>
            </a:r>
            <a:r>
              <a:rPr baseline="30000" lang="en" sz="1000">
                <a:solidFill>
                  <a:srgbClr val="002B42"/>
                </a:solidFill>
              </a:rPr>
              <a:t>nd</a:t>
            </a:r>
            <a:r>
              <a:rPr lang="en" sz="1000">
                <a:solidFill>
                  <a:srgbClr val="002B42"/>
                </a:solidFill>
              </a:rPr>
              <a:t> dimension another hidden factor, e.g., batch effect</a:t>
            </a:r>
            <a:endParaRPr sz="1000">
              <a:solidFill>
                <a:srgbClr val="002B42"/>
              </a:solidFill>
            </a:endParaRPr>
          </a:p>
          <a:p>
            <a:pPr indent="0" lvl="0" marL="0" rtl="0" algn="l">
              <a:spcBef>
                <a:spcPts val="0"/>
              </a:spcBef>
              <a:spcAft>
                <a:spcPts val="0"/>
              </a:spcAft>
              <a:buClr>
                <a:schemeClr val="dk1"/>
              </a:buClr>
              <a:buSzPts val="1100"/>
              <a:buFont typeface="Arial"/>
              <a:buNone/>
            </a:pPr>
            <a:r>
              <a:rPr lang="en" sz="1000">
                <a:solidFill>
                  <a:srgbClr val="002A40"/>
                </a:solidFill>
              </a:rPr>
              <a:t>PC1 is the projection direction that maximizes the variance of the projected data</a:t>
            </a:r>
            <a:endParaRPr sz="1000">
              <a:solidFill>
                <a:srgbClr val="002A40"/>
              </a:solidFill>
            </a:endParaRPr>
          </a:p>
          <a:p>
            <a:pPr indent="0" lvl="0" marL="0" rtl="0" algn="l">
              <a:spcBef>
                <a:spcPts val="0"/>
              </a:spcBef>
              <a:spcAft>
                <a:spcPts val="0"/>
              </a:spcAft>
              <a:buClr>
                <a:schemeClr val="dk1"/>
              </a:buClr>
              <a:buSzPts val="1100"/>
              <a:buFont typeface="Arial"/>
              <a:buNone/>
            </a:pPr>
            <a:r>
              <a:rPr lang="en" sz="1000">
                <a:solidFill>
                  <a:srgbClr val="002A40"/>
                </a:solidFill>
              </a:rPr>
              <a:t>PC2 is the projection direction that is orthogonal to PC1 and maximizes variance of the projected data</a:t>
            </a:r>
            <a:endParaRPr sz="1000">
              <a:solidFill>
                <a:srgbClr val="002A40"/>
              </a:solidFill>
            </a:endParaRPr>
          </a:p>
          <a:p>
            <a:pPr indent="-95250" lvl="0" marL="171450" rtl="0" algn="l">
              <a:lnSpc>
                <a:spcPct val="100000"/>
              </a:lnSpc>
              <a:spcBef>
                <a:spcPts val="0"/>
              </a:spcBef>
              <a:spcAft>
                <a:spcPts val="0"/>
              </a:spcAft>
              <a:buClr>
                <a:schemeClr val="dk1"/>
              </a:buClr>
              <a:buSzPts val="1200"/>
              <a:buFont typeface="Helvetica Neue"/>
              <a:buNone/>
            </a:pPr>
            <a:r>
              <a:t/>
            </a:r>
            <a:endParaRPr sz="1000"/>
          </a:p>
        </p:txBody>
      </p:sp>
      <p:sp>
        <p:nvSpPr>
          <p:cNvPr id="1205" name="Google Shape;1205;g3f9f940f050_5_3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g3f9f940f050_5_3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3" name="Google Shape;1213;g3f9f940f050_5_392:notes"/>
          <p:cNvSpPr txBox="1"/>
          <p:nvPr>
            <p:ph idx="1" type="body"/>
          </p:nvPr>
        </p:nvSpPr>
        <p:spPr>
          <a:xfrm>
            <a:off x="685800" y="4400549"/>
            <a:ext cx="5486400" cy="3600451"/>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214" name="Google Shape;1214;g3f9f940f050_5_39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3f9f940f050_5_3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1" name="Google Shape;1221;g3f9f940f050_5_399:notes"/>
          <p:cNvSpPr txBox="1"/>
          <p:nvPr>
            <p:ph idx="1" type="body"/>
          </p:nvPr>
        </p:nvSpPr>
        <p:spPr>
          <a:xfrm>
            <a:off x="685800" y="4400549"/>
            <a:ext cx="5486400" cy="3600451"/>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222" name="Google Shape;1222;g3f9f940f050_5_39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g3f9f940f050_1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0" name="Google Shape;1230;g3f9f940f050_1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Sequencing centers often provide reads in the FASTQ format. The raw reads contain sequences of adapters added during library preparation, which are trimmed to start with. Then, the reads are typically mapped to a reference genome sequence. Counts of reads mapping to genes are tallied and used for differential gene expression analysis. At all stages, it is important to perform quality control of the data. All the tools mentioned in the subsequent slides for these steps are available via docker or can be installed locally. </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Please download and install Docker Desktop from: https://docs.docker.com/get-docker/</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All UCSF/Gladstone affiliates can request access to Wynton. Visit https://wynton.ucsf.edu/hpc/about/join.html</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1" name="Shape 1241"/>
        <p:cNvGrpSpPr/>
        <p:nvPr/>
      </p:nvGrpSpPr>
      <p:grpSpPr>
        <a:xfrm>
          <a:off x="0" y="0"/>
          <a:ext cx="0" cy="0"/>
          <a:chOff x="0" y="0"/>
          <a:chExt cx="0" cy="0"/>
        </a:xfrm>
      </p:grpSpPr>
      <p:sp>
        <p:nvSpPr>
          <p:cNvPr id="1242" name="Google Shape;1242;g3f9f940f050_5_4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3" name="Google Shape;1243;g3f9f940f050_5_425: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171450" lvl="0" marL="171450" marR="0" rtl="0" algn="l">
              <a:lnSpc>
                <a:spcPct val="100000"/>
              </a:lnSpc>
              <a:spcBef>
                <a:spcPts val="0"/>
              </a:spcBef>
              <a:spcAft>
                <a:spcPts val="0"/>
              </a:spcAft>
              <a:buClr>
                <a:schemeClr val="dk1"/>
              </a:buClr>
              <a:buSzPts val="1200"/>
              <a:buFont typeface="Helvetica Neue"/>
              <a:buChar char="-"/>
            </a:pPr>
            <a:r>
              <a:rPr lang="en"/>
              <a:t>p-value is the probability of an observed (or more extreme) result assuming that the null hypothesis is true</a:t>
            </a:r>
            <a:endParaRPr/>
          </a:p>
          <a:p>
            <a:pPr indent="-95250" lvl="0" marL="171450" marR="0" rtl="0" algn="l">
              <a:lnSpc>
                <a:spcPct val="100000"/>
              </a:lnSpc>
              <a:spcBef>
                <a:spcPts val="0"/>
              </a:spcBef>
              <a:spcAft>
                <a:spcPts val="0"/>
              </a:spcAft>
              <a:buClr>
                <a:schemeClr val="dk1"/>
              </a:buClr>
              <a:buSzPts val="1200"/>
              <a:buFont typeface="Helvetica Neue"/>
              <a:buNone/>
            </a:pPr>
            <a:r>
              <a:t/>
            </a:r>
            <a:endParaRPr/>
          </a:p>
          <a:p>
            <a:pPr indent="-171450" lvl="0" marL="171450" marR="0" rtl="0" algn="l">
              <a:lnSpc>
                <a:spcPct val="100000"/>
              </a:lnSpc>
              <a:spcBef>
                <a:spcPts val="0"/>
              </a:spcBef>
              <a:spcAft>
                <a:spcPts val="0"/>
              </a:spcAft>
              <a:buClr>
                <a:schemeClr val="dk1"/>
              </a:buClr>
              <a:buSzPts val="1200"/>
              <a:buFont typeface="Helvetica Neue"/>
              <a:buChar char="-"/>
            </a:pPr>
            <a:r>
              <a:rPr lang="en"/>
              <a:t>For all the details see: http://bioconductor.org/packages/devel/bioc/vignettes/edgeR/inst/doc/edgeRUsersGuide.pdf</a:t>
            </a:r>
            <a:endParaRPr/>
          </a:p>
        </p:txBody>
      </p:sp>
      <p:sp>
        <p:nvSpPr>
          <p:cNvPr id="1244" name="Google Shape;1244;g3f9f940f050_5_4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8" name="Shape 1248"/>
        <p:cNvGrpSpPr/>
        <p:nvPr/>
      </p:nvGrpSpPr>
      <p:grpSpPr>
        <a:xfrm>
          <a:off x="0" y="0"/>
          <a:ext cx="0" cy="0"/>
          <a:chOff x="0" y="0"/>
          <a:chExt cx="0" cy="0"/>
        </a:xfrm>
      </p:grpSpPr>
      <p:sp>
        <p:nvSpPr>
          <p:cNvPr id="1249" name="Google Shape;1249;g3f9f940f050_5_4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0" name="Google Shape;1250;g3f9f940f050_5_431: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251" name="Google Shape;1251;g3f9f940f050_5_4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g3f9f940f050_5_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0" name="Google Shape;1260;g3f9f940f050_5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8" name="Shape 1268"/>
        <p:cNvGrpSpPr/>
        <p:nvPr/>
      </p:nvGrpSpPr>
      <p:grpSpPr>
        <a:xfrm>
          <a:off x="0" y="0"/>
          <a:ext cx="0" cy="0"/>
          <a:chOff x="0" y="0"/>
          <a:chExt cx="0" cy="0"/>
        </a:xfrm>
      </p:grpSpPr>
      <p:sp>
        <p:nvSpPr>
          <p:cNvPr id="1269" name="Google Shape;1269;g3f9f940f050_5_4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0" name="Google Shape;1270;g3f9f940f050_5_449: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271" name="Google Shape;1271;g3f9f940f050_5_4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6" name="Shape 1276"/>
        <p:cNvGrpSpPr/>
        <p:nvPr/>
      </p:nvGrpSpPr>
      <p:grpSpPr>
        <a:xfrm>
          <a:off x="0" y="0"/>
          <a:ext cx="0" cy="0"/>
          <a:chOff x="0" y="0"/>
          <a:chExt cx="0" cy="0"/>
        </a:xfrm>
      </p:grpSpPr>
      <p:sp>
        <p:nvSpPr>
          <p:cNvPr id="1277" name="Google Shape;1277;g3f9f940f050_5_4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8" name="Google Shape;1278;g3f9f940f050_5_456: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279" name="Google Shape;1279;g3f9f940f050_5_4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g3f9f940f050_5_4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6" name="Google Shape;1286;g3f9f940f050_5_463: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sz="1200"/>
              <a:t>Another approach is TMM˜[15], which measures the trimmed mean of M and A values (M values are the log fold change in the number of reads aligning to a region of interest measured relative to an average or arbitrary sample, A is the average count of a gene; the trimmed mean discards regions of interest that have extreme M or A values and calculates the mean M value of the remainder); the inverse of this mean is used to weight samples. </a:t>
            </a:r>
            <a:endParaRPr sz="1200"/>
          </a:p>
          <a:p>
            <a:pPr indent="0" lvl="0" marL="0" rtl="0" algn="l">
              <a:lnSpc>
                <a:spcPct val="100000"/>
              </a:lnSpc>
              <a:spcBef>
                <a:spcPts val="0"/>
              </a:spcBef>
              <a:spcAft>
                <a:spcPts val="0"/>
              </a:spcAft>
              <a:buSzPts val="1100"/>
              <a:buNone/>
            </a:pPr>
            <a:r>
              <a:t/>
            </a:r>
            <a:endParaRPr sz="1200"/>
          </a:p>
          <a:p>
            <a:pPr indent="0" lvl="0" marL="0" rtl="0" algn="l">
              <a:lnSpc>
                <a:spcPct val="100000"/>
              </a:lnSpc>
              <a:spcBef>
                <a:spcPts val="0"/>
              </a:spcBef>
              <a:spcAft>
                <a:spcPts val="0"/>
              </a:spcAft>
              <a:buSzPts val="1100"/>
              <a:buNone/>
            </a:pPr>
            <a:r>
              <a:t/>
            </a:r>
            <a:endParaRPr sz="1200"/>
          </a:p>
          <a:p>
            <a:pPr indent="0" lvl="0" marL="0" rtl="0" algn="l">
              <a:lnSpc>
                <a:spcPct val="100000"/>
              </a:lnSpc>
              <a:spcBef>
                <a:spcPts val="0"/>
              </a:spcBef>
              <a:spcAft>
                <a:spcPts val="0"/>
              </a:spcAft>
              <a:buSzPts val="1100"/>
              <a:buNone/>
            </a:pPr>
            <a:r>
              <a:rPr lang="en" sz="1200"/>
              <a:t>To see how the weights are calculated:</a:t>
            </a:r>
            <a:endParaRPr sz="1200"/>
          </a:p>
          <a:p>
            <a:pPr indent="0" lvl="0" marL="0" rtl="0" algn="l">
              <a:lnSpc>
                <a:spcPct val="100000"/>
              </a:lnSpc>
              <a:spcBef>
                <a:spcPts val="0"/>
              </a:spcBef>
              <a:spcAft>
                <a:spcPts val="0"/>
              </a:spcAft>
              <a:buSzPts val="1100"/>
              <a:buNone/>
            </a:pPr>
            <a:r>
              <a:t/>
            </a:r>
            <a:endParaRPr sz="1200"/>
          </a:p>
          <a:p>
            <a:pPr indent="-406400" lvl="0" marL="457200" rtl="0" algn="l">
              <a:lnSpc>
                <a:spcPct val="100000"/>
              </a:lnSpc>
              <a:spcBef>
                <a:spcPts val="0"/>
              </a:spcBef>
              <a:spcAft>
                <a:spcPts val="0"/>
              </a:spcAft>
              <a:buClr>
                <a:schemeClr val="dk1"/>
              </a:buClr>
              <a:buSzPts val="1200"/>
              <a:buFont typeface="Cambria Math"/>
              <a:buAutoNum type="arabicPeriod"/>
            </a:pPr>
            <a:r>
              <a:rPr b="0" i="0" lang="en" sz="1200">
                <a:latin typeface="Cambria Math"/>
                <a:ea typeface="Cambria Math"/>
                <a:cs typeface="Cambria Math"/>
                <a:sym typeface="Cambria Math"/>
              </a:rPr>
              <a:t>𝑀=log_2⁡(𝑋_2/𝑁_2 )−log_2⁡(𝑋_𝑟𝑒𝑓/𝑁_𝑟𝑒𝑓 )</a:t>
            </a:r>
            <a:endParaRPr sz="1200"/>
          </a:p>
          <a:p>
            <a:pPr indent="-406400" lvl="0" marL="457200" rtl="0" algn="l">
              <a:lnSpc>
                <a:spcPct val="100000"/>
              </a:lnSpc>
              <a:spcBef>
                <a:spcPts val="0"/>
              </a:spcBef>
              <a:spcAft>
                <a:spcPts val="0"/>
              </a:spcAft>
              <a:buClr>
                <a:schemeClr val="dk1"/>
              </a:buClr>
              <a:buSzPts val="1200"/>
              <a:buFont typeface="Cambria Math"/>
              <a:buAutoNum type="arabicPeriod"/>
            </a:pPr>
            <a:r>
              <a:rPr b="0" i="0" lang="en" sz="1200">
                <a:latin typeface="Cambria Math"/>
                <a:ea typeface="Cambria Math"/>
                <a:cs typeface="Cambria Math"/>
                <a:sym typeface="Cambria Math"/>
              </a:rPr>
              <a:t>⇒𝑉𝑎𝑟(𝑀)=𝑉𝑎𝑟_2+𝑉𝑎𝑟_𝑟𝑒𝑓,              </a:t>
            </a:r>
            <a:r>
              <a:rPr lang="en" sz="1200"/>
              <a:t>where     </a:t>
            </a:r>
            <a:r>
              <a:rPr b="0" i="0" lang="en" sz="1200">
                <a:latin typeface="Cambria Math"/>
                <a:ea typeface="Cambria Math"/>
                <a:cs typeface="Cambria Math"/>
                <a:sym typeface="Cambria Math"/>
              </a:rPr>
              <a:t>𝑉𝑎𝑟_𝑟𝑒𝑓=𝑉𝑎𝑟(log_2⁡(𝑋_𝑟𝑒𝑓/𝑁_𝑟𝑒𝑓 ) )</a:t>
            </a:r>
            <a:endParaRPr b="0" sz="1200"/>
          </a:p>
          <a:p>
            <a:pPr indent="0" lvl="6" marL="2743200" rtl="0" algn="l">
              <a:lnSpc>
                <a:spcPct val="100000"/>
              </a:lnSpc>
              <a:spcBef>
                <a:spcPts val="0"/>
              </a:spcBef>
              <a:spcAft>
                <a:spcPts val="0"/>
              </a:spcAft>
              <a:buClr>
                <a:schemeClr val="dk1"/>
              </a:buClr>
              <a:buSzPts val="2000"/>
              <a:buFont typeface="Calibri"/>
              <a:buNone/>
            </a:pPr>
            <a:r>
              <a:rPr b="0" lang="en" sz="1200"/>
              <a:t>   </a:t>
            </a:r>
            <a:r>
              <a:rPr lang="en" sz="1200"/>
              <a:t>and	</a:t>
            </a:r>
            <a:r>
              <a:rPr b="0" i="0" lang="en" sz="1200">
                <a:latin typeface="Cambria Math"/>
                <a:ea typeface="Cambria Math"/>
                <a:cs typeface="Cambria Math"/>
                <a:sym typeface="Cambria Math"/>
              </a:rPr>
              <a:t>𝑉𝑎𝑟_2=𝑉𝑎𝑟(log_2⁡(𝑋_2/𝑁_2 ) )</a:t>
            </a:r>
            <a:r>
              <a:rPr lang="en" sz="1200"/>
              <a:t>.</a:t>
            </a:r>
            <a:endParaRPr sz="1200"/>
          </a:p>
          <a:p>
            <a:pPr indent="0" lvl="0" marL="0" rtl="0" algn="l">
              <a:lnSpc>
                <a:spcPct val="100000"/>
              </a:lnSpc>
              <a:spcBef>
                <a:spcPts val="0"/>
              </a:spcBef>
              <a:spcAft>
                <a:spcPts val="0"/>
              </a:spcAft>
              <a:buClr>
                <a:schemeClr val="dk1"/>
              </a:buClr>
              <a:buSzPts val="2000"/>
              <a:buFont typeface="Helvetica Neue"/>
              <a:buNone/>
            </a:pPr>
            <a:r>
              <a:rPr lang="en" sz="1200"/>
              <a:t>Assume </a:t>
            </a:r>
            <a:r>
              <a:rPr b="0" i="0" lang="en" sz="1200">
                <a:latin typeface="Cambria Math"/>
                <a:ea typeface="Cambria Math"/>
                <a:cs typeface="Cambria Math"/>
                <a:sym typeface="Cambria Math"/>
              </a:rPr>
              <a:t>𝑁_2</a:t>
            </a:r>
            <a:r>
              <a:rPr lang="en" sz="1200"/>
              <a:t> and </a:t>
            </a:r>
            <a:r>
              <a:rPr b="0" i="0" lang="en" sz="1200">
                <a:latin typeface="Cambria Math"/>
                <a:ea typeface="Cambria Math"/>
                <a:cs typeface="Cambria Math"/>
                <a:sym typeface="Cambria Math"/>
              </a:rPr>
              <a:t>𝑁_𝑟𝑒𝑓</a:t>
            </a:r>
            <a:r>
              <a:rPr lang="en" sz="1200"/>
              <a:t> are constant. </a:t>
            </a:r>
            <a:endParaRPr sz="1200"/>
          </a:p>
          <a:p>
            <a:pPr indent="0" lvl="0" marL="0" rtl="0" algn="l">
              <a:lnSpc>
                <a:spcPct val="100000"/>
              </a:lnSpc>
              <a:spcBef>
                <a:spcPts val="0"/>
              </a:spcBef>
              <a:spcAft>
                <a:spcPts val="0"/>
              </a:spcAft>
              <a:buClr>
                <a:schemeClr val="dk1"/>
              </a:buClr>
              <a:buSzPts val="2000"/>
              <a:buFont typeface="Helvetica Neue"/>
              <a:buNone/>
            </a:pPr>
            <a:r>
              <a:t/>
            </a:r>
            <a:endParaRPr sz="1200"/>
          </a:p>
          <a:p>
            <a:pPr indent="0" lvl="0" marL="0" rtl="0" algn="l">
              <a:lnSpc>
                <a:spcPct val="100000"/>
              </a:lnSpc>
              <a:spcBef>
                <a:spcPts val="0"/>
              </a:spcBef>
              <a:spcAft>
                <a:spcPts val="0"/>
              </a:spcAft>
              <a:buClr>
                <a:schemeClr val="dk1"/>
              </a:buClr>
              <a:buSzPts val="2000"/>
              <a:buFont typeface="Cambria Math"/>
              <a:buNone/>
            </a:pPr>
            <a:r>
              <a:rPr i="0" lang="en" sz="1200">
                <a:latin typeface="Cambria Math"/>
                <a:ea typeface="Cambria Math"/>
                <a:cs typeface="Cambria Math"/>
                <a:sym typeface="Cambria Math"/>
              </a:rPr>
              <a:t>⇒</a:t>
            </a:r>
            <a:r>
              <a:rPr b="0" i="0" lang="en" sz="1200">
                <a:latin typeface="Cambria Math"/>
                <a:ea typeface="Cambria Math"/>
                <a:cs typeface="Cambria Math"/>
                <a:sym typeface="Cambria Math"/>
              </a:rPr>
              <a:t>𝑉𝑎𝑟_2=𝑉𝑎𝑟(log_2⁡(𝑋_2 ) )</a:t>
            </a:r>
            <a:endParaRPr sz="1200"/>
          </a:p>
          <a:p>
            <a:pPr indent="0" lvl="0" marL="0" rtl="0" algn="l">
              <a:lnSpc>
                <a:spcPct val="100000"/>
              </a:lnSpc>
              <a:spcBef>
                <a:spcPts val="0"/>
              </a:spcBef>
              <a:spcAft>
                <a:spcPts val="0"/>
              </a:spcAft>
              <a:buClr>
                <a:schemeClr val="dk1"/>
              </a:buClr>
              <a:buSzPts val="2000"/>
              <a:buFont typeface="Cambria Math"/>
              <a:buNone/>
            </a:pPr>
            <a:r>
              <a:rPr b="0" i="0" lang="en" sz="1200">
                <a:latin typeface="Cambria Math"/>
                <a:ea typeface="Cambria Math"/>
                <a:cs typeface="Cambria Math"/>
                <a:sym typeface="Cambria Math"/>
              </a:rPr>
              <a:t>and, 𝑉𝑎𝑟_𝑟𝑒𝑓=𝑉𝑎𝑟(log_2⁡(𝑋_𝑟𝑒𝑓 ) )</a:t>
            </a:r>
            <a:endParaRPr sz="1200"/>
          </a:p>
          <a:p>
            <a:pPr indent="0" lvl="0" marL="0" rtl="0" algn="l">
              <a:lnSpc>
                <a:spcPct val="100000"/>
              </a:lnSpc>
              <a:spcBef>
                <a:spcPts val="0"/>
              </a:spcBef>
              <a:spcAft>
                <a:spcPts val="0"/>
              </a:spcAft>
              <a:buClr>
                <a:schemeClr val="dk1"/>
              </a:buClr>
              <a:buSzPts val="2000"/>
              <a:buFont typeface="Helvetica Neue"/>
              <a:buNone/>
            </a:pPr>
            <a:r>
              <a:t/>
            </a:r>
            <a:endParaRPr sz="1200"/>
          </a:p>
          <a:p>
            <a:pPr indent="0" lvl="0" marL="0" rtl="0" algn="l">
              <a:lnSpc>
                <a:spcPct val="100000"/>
              </a:lnSpc>
              <a:spcBef>
                <a:spcPts val="0"/>
              </a:spcBef>
              <a:spcAft>
                <a:spcPts val="0"/>
              </a:spcAft>
              <a:buClr>
                <a:schemeClr val="dk1"/>
              </a:buClr>
              <a:buSzPts val="2000"/>
              <a:buFont typeface="Helvetica Neue"/>
              <a:buNone/>
            </a:pPr>
            <a:r>
              <a:rPr lang="en" sz="1200"/>
              <a:t>Note:</a:t>
            </a:r>
            <a:endParaRPr sz="1200"/>
          </a:p>
          <a:p>
            <a:pPr indent="0" lvl="0" marL="0" rtl="0" algn="l">
              <a:lnSpc>
                <a:spcPct val="100000"/>
              </a:lnSpc>
              <a:spcBef>
                <a:spcPts val="0"/>
              </a:spcBef>
              <a:spcAft>
                <a:spcPts val="0"/>
              </a:spcAft>
              <a:buClr>
                <a:schemeClr val="dk1"/>
              </a:buClr>
              <a:buSzPts val="2000"/>
              <a:buFont typeface="Helvetica Neue"/>
              <a:buNone/>
            </a:pPr>
            <a:r>
              <a:t/>
            </a:r>
            <a:endParaRPr sz="1200"/>
          </a:p>
          <a:p>
            <a:pPr indent="0" lvl="0" marL="0" rtl="0" algn="l">
              <a:lnSpc>
                <a:spcPct val="100000"/>
              </a:lnSpc>
              <a:spcBef>
                <a:spcPts val="0"/>
              </a:spcBef>
              <a:spcAft>
                <a:spcPts val="0"/>
              </a:spcAft>
              <a:buClr>
                <a:schemeClr val="dk1"/>
              </a:buClr>
              <a:buSzPts val="2000"/>
              <a:buFont typeface="Helvetica Neue"/>
              <a:buNone/>
            </a:pPr>
            <a:r>
              <a:rPr lang="en" sz="1200"/>
              <a:t>a. </a:t>
            </a:r>
            <a:r>
              <a:rPr b="0" i="0" lang="en" sz="1200">
                <a:latin typeface="Cambria Math"/>
                <a:ea typeface="Cambria Math"/>
                <a:cs typeface="Cambria Math"/>
                <a:sym typeface="Cambria Math"/>
              </a:rPr>
              <a:t>𝑉𝑎𝑟(𝑋)=𝑋(1−𝑋/𝑁)</a:t>
            </a:r>
            <a:r>
              <a:rPr lang="en" sz="1200"/>
              <a:t> if </a:t>
            </a:r>
            <a:r>
              <a:rPr b="0" i="0" lang="en" sz="1200">
                <a:latin typeface="Cambria Math"/>
                <a:ea typeface="Cambria Math"/>
                <a:cs typeface="Cambria Math"/>
                <a:sym typeface="Cambria Math"/>
              </a:rPr>
              <a:t>𝑋</a:t>
            </a:r>
            <a:r>
              <a:rPr lang="en" sz="1200"/>
              <a:t> is binomially distributed.</a:t>
            </a:r>
            <a:endParaRPr sz="1200"/>
          </a:p>
          <a:p>
            <a:pPr indent="0" lvl="0" marL="0" rtl="0" algn="l">
              <a:lnSpc>
                <a:spcPct val="100000"/>
              </a:lnSpc>
              <a:spcBef>
                <a:spcPts val="0"/>
              </a:spcBef>
              <a:spcAft>
                <a:spcPts val="0"/>
              </a:spcAft>
              <a:buClr>
                <a:schemeClr val="dk1"/>
              </a:buClr>
              <a:buSzPts val="2000"/>
              <a:buFont typeface="Helvetica Neue"/>
              <a:buNone/>
            </a:pPr>
            <a:r>
              <a:rPr lang="en" sz="1200"/>
              <a:t>b. In general, if </a:t>
            </a:r>
            <a:r>
              <a:rPr b="0" i="0" lang="en" sz="1200">
                <a:latin typeface="Cambria Math"/>
                <a:ea typeface="Cambria Math"/>
                <a:cs typeface="Cambria Math"/>
                <a:sym typeface="Cambria Math"/>
              </a:rPr>
              <a:t>𝑌=𝑎𝑋</a:t>
            </a:r>
            <a:r>
              <a:rPr lang="en" sz="1200"/>
              <a:t>, then </a:t>
            </a:r>
            <a:r>
              <a:rPr b="0" i="0" lang="en" sz="1200">
                <a:latin typeface="Cambria Math"/>
                <a:ea typeface="Cambria Math"/>
                <a:cs typeface="Cambria Math"/>
                <a:sym typeface="Cambria Math"/>
              </a:rPr>
              <a:t>𝑉𝑎𝑟(𝑌)=𝑎^2 𝑉𝑎𝑟(𝑋)</a:t>
            </a:r>
            <a:r>
              <a:rPr lang="en" sz="1200"/>
              <a:t>.</a:t>
            </a:r>
            <a:endParaRPr sz="1200"/>
          </a:p>
          <a:p>
            <a:pPr indent="0" lvl="0" marL="0" rtl="0" algn="l">
              <a:lnSpc>
                <a:spcPct val="100000"/>
              </a:lnSpc>
              <a:spcBef>
                <a:spcPts val="0"/>
              </a:spcBef>
              <a:spcAft>
                <a:spcPts val="0"/>
              </a:spcAft>
              <a:buClr>
                <a:schemeClr val="dk1"/>
              </a:buClr>
              <a:buSzPts val="2000"/>
              <a:buFont typeface="Helvetica Neue"/>
              <a:buNone/>
            </a:pPr>
            <a:r>
              <a:rPr lang="en" sz="1200"/>
              <a:t>c. The slope of </a:t>
            </a:r>
            <a:r>
              <a:rPr b="0" i="0" lang="en" sz="1200">
                <a:latin typeface="Cambria Math"/>
                <a:ea typeface="Cambria Math"/>
                <a:cs typeface="Cambria Math"/>
                <a:sym typeface="Cambria Math"/>
              </a:rPr>
              <a:t>log_2⁡〖(𝑥)〗</a:t>
            </a:r>
            <a:r>
              <a:rPr lang="en" sz="1200"/>
              <a:t> at some </a:t>
            </a:r>
            <a:r>
              <a:rPr b="0" i="0" lang="en" sz="1200">
                <a:latin typeface="Cambria Math"/>
                <a:ea typeface="Cambria Math"/>
                <a:cs typeface="Cambria Math"/>
                <a:sym typeface="Cambria Math"/>
              </a:rPr>
              <a:t>𝑥_0</a:t>
            </a:r>
            <a:r>
              <a:rPr lang="en" sz="1200"/>
              <a:t> is proportional to </a:t>
            </a:r>
            <a:r>
              <a:rPr b="0" i="0" lang="en" sz="1200">
                <a:latin typeface="Cambria Math"/>
                <a:ea typeface="Cambria Math"/>
                <a:cs typeface="Cambria Math"/>
                <a:sym typeface="Cambria Math"/>
              </a:rPr>
              <a:t>1/𝑥_0 </a:t>
            </a:r>
            <a:r>
              <a:rPr lang="en" sz="1200"/>
              <a:t>.</a:t>
            </a:r>
            <a:endParaRPr sz="1200"/>
          </a:p>
          <a:p>
            <a:pPr indent="0" lvl="0" marL="0" rtl="0" algn="l">
              <a:lnSpc>
                <a:spcPct val="100000"/>
              </a:lnSpc>
              <a:spcBef>
                <a:spcPts val="0"/>
              </a:spcBef>
              <a:spcAft>
                <a:spcPts val="0"/>
              </a:spcAft>
              <a:buClr>
                <a:schemeClr val="dk1"/>
              </a:buClr>
              <a:buSzPts val="2000"/>
              <a:buFont typeface="Helvetica Neue"/>
              <a:buNone/>
            </a:pPr>
            <a:r>
              <a:t/>
            </a:r>
            <a:endParaRPr sz="1200"/>
          </a:p>
          <a:p>
            <a:pPr indent="0" lvl="0" marL="0" rtl="0" algn="l">
              <a:lnSpc>
                <a:spcPct val="100000"/>
              </a:lnSpc>
              <a:spcBef>
                <a:spcPts val="0"/>
              </a:spcBef>
              <a:spcAft>
                <a:spcPts val="0"/>
              </a:spcAft>
              <a:buClr>
                <a:schemeClr val="dk1"/>
              </a:buClr>
              <a:buSzPts val="2000"/>
              <a:buFont typeface="Cambria Math"/>
              <a:buNone/>
            </a:pPr>
            <a:r>
              <a:rPr i="0" lang="en" sz="1200">
                <a:latin typeface="Cambria Math"/>
                <a:ea typeface="Cambria Math"/>
                <a:cs typeface="Cambria Math"/>
                <a:sym typeface="Cambria Math"/>
              </a:rPr>
              <a:t>⇒</a:t>
            </a:r>
            <a:r>
              <a:rPr b="0" i="0" lang="en" sz="1200">
                <a:latin typeface="Cambria Math"/>
                <a:ea typeface="Cambria Math"/>
                <a:cs typeface="Cambria Math"/>
                <a:sym typeface="Cambria Math"/>
              </a:rPr>
              <a:t>𝑉𝑎𝑟∝(1/𝑋)^2.𝑋(1−𝑋/𝑁)</a:t>
            </a:r>
            <a:endParaRPr b="0" sz="1200"/>
          </a:p>
          <a:p>
            <a:pPr indent="0" lvl="0" marL="0" rtl="0" algn="l">
              <a:lnSpc>
                <a:spcPct val="100000"/>
              </a:lnSpc>
              <a:spcBef>
                <a:spcPts val="0"/>
              </a:spcBef>
              <a:spcAft>
                <a:spcPts val="0"/>
              </a:spcAft>
              <a:buClr>
                <a:schemeClr val="dk1"/>
              </a:buClr>
              <a:buSzPts val="2000"/>
              <a:buFont typeface="Helvetica Neue"/>
              <a:buNone/>
            </a:pPr>
            <a:r>
              <a:rPr lang="en" sz="1200"/>
              <a:t>			</a:t>
            </a:r>
            <a:r>
              <a:rPr b="0" i="0" lang="en" sz="1200">
                <a:latin typeface="Cambria Math"/>
                <a:ea typeface="Cambria Math"/>
                <a:cs typeface="Cambria Math"/>
                <a:sym typeface="Cambria Math"/>
              </a:rPr>
              <a:t>=(𝑁−𝑋)/𝑁𝑋</a:t>
            </a:r>
            <a:endParaRPr sz="1200"/>
          </a:p>
          <a:p>
            <a:pPr indent="0" lvl="0" marL="0" rtl="0" algn="l">
              <a:lnSpc>
                <a:spcPct val="100000"/>
              </a:lnSpc>
              <a:spcBef>
                <a:spcPts val="0"/>
              </a:spcBef>
              <a:spcAft>
                <a:spcPts val="0"/>
              </a:spcAft>
              <a:buClr>
                <a:schemeClr val="dk1"/>
              </a:buClr>
              <a:buSzPts val="2000"/>
              <a:buFont typeface="Helvetica Neue"/>
              <a:buNone/>
            </a:pPr>
            <a:r>
              <a:t/>
            </a:r>
            <a:endParaRPr sz="1200"/>
          </a:p>
          <a:p>
            <a:pPr indent="0" lvl="0" marL="0" rtl="0" algn="l">
              <a:lnSpc>
                <a:spcPct val="100000"/>
              </a:lnSpc>
              <a:spcBef>
                <a:spcPts val="0"/>
              </a:spcBef>
              <a:spcAft>
                <a:spcPts val="0"/>
              </a:spcAft>
              <a:buClr>
                <a:schemeClr val="dk1"/>
              </a:buClr>
              <a:buSzPts val="2000"/>
              <a:buFont typeface="Helvetica Neue"/>
              <a:buNone/>
            </a:pPr>
            <a:r>
              <a:t/>
            </a:r>
            <a:endParaRPr sz="1200"/>
          </a:p>
          <a:p>
            <a:pPr indent="-95250" lvl="0" marL="171450" rtl="0" algn="l">
              <a:lnSpc>
                <a:spcPct val="100000"/>
              </a:lnSpc>
              <a:spcBef>
                <a:spcPts val="0"/>
              </a:spcBef>
              <a:spcAft>
                <a:spcPts val="0"/>
              </a:spcAft>
              <a:buClr>
                <a:schemeClr val="dk1"/>
              </a:buClr>
              <a:buSzPts val="1200"/>
              <a:buFont typeface="Helvetica Neue"/>
              <a:buNone/>
            </a:pPr>
            <a:r>
              <a:t/>
            </a:r>
            <a:endParaRPr sz="1200"/>
          </a:p>
        </p:txBody>
      </p:sp>
      <p:sp>
        <p:nvSpPr>
          <p:cNvPr id="1287" name="Google Shape;1287;g3f9f940f050_5_4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g3f9f940f050_5_4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8" name="Google Shape;1298;g3f9f940f050_5_474: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0" i="0" lang="en" sz="1200" u="none" strike="noStrike">
                <a:solidFill>
                  <a:schemeClr val="dk1"/>
                </a:solidFill>
                <a:latin typeface="Helvetica Neue"/>
                <a:ea typeface="Helvetica Neue"/>
                <a:cs typeface="Helvetica Neue"/>
                <a:sym typeface="Helvetica Neue"/>
              </a:rPr>
              <a:t>More about normalization methods: https://bmcgenomics.biomedcentral.com/articles/10.1186/s12864-020-6502-7</a:t>
            </a:r>
            <a:endParaRPr/>
          </a:p>
          <a:p>
            <a:pPr indent="0" lvl="0" marL="0" rtl="0" algn="l">
              <a:lnSpc>
                <a:spcPct val="100000"/>
              </a:lnSpc>
              <a:spcBef>
                <a:spcPts val="0"/>
              </a:spcBef>
              <a:spcAft>
                <a:spcPts val="0"/>
              </a:spcAft>
              <a:buSzPts val="1100"/>
              <a:buNone/>
            </a:pPr>
            <a:r>
              <a:t/>
            </a:r>
            <a:endParaRPr b="0" i="0" sz="1200" u="none" strike="noStrike">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SzPts val="1100"/>
              <a:buNone/>
            </a:pPr>
            <a:r>
              <a:rPr b="0" i="0" lang="en" sz="1200" u="none" strike="noStrike">
                <a:solidFill>
                  <a:schemeClr val="dk1"/>
                </a:solidFill>
                <a:latin typeface="Helvetica Neue"/>
                <a:ea typeface="Helvetica Neue"/>
                <a:cs typeface="Helvetica Neue"/>
                <a:sym typeface="Helvetica Neue"/>
              </a:rPr>
              <a:t>Relative Log Expression - Anders, S, Huber, W (2010). Differential expression analysis for sequence count data. </a:t>
            </a:r>
            <a:r>
              <a:rPr b="0" i="1" lang="en" sz="1200" u="none" strike="noStrike">
                <a:solidFill>
                  <a:schemeClr val="dk1"/>
                </a:solidFill>
                <a:latin typeface="Helvetica Neue"/>
                <a:ea typeface="Helvetica Neue"/>
                <a:cs typeface="Helvetica Neue"/>
                <a:sym typeface="Helvetica Neue"/>
              </a:rPr>
              <a:t>Genome Biology</a:t>
            </a:r>
            <a:r>
              <a:rPr b="0" i="0" lang="en" sz="1200" u="none" strike="noStrike">
                <a:solidFill>
                  <a:schemeClr val="dk1"/>
                </a:solidFill>
                <a:latin typeface="Helvetica Neue"/>
                <a:ea typeface="Helvetica Neue"/>
                <a:cs typeface="Helvetica Neue"/>
                <a:sym typeface="Helvetica Neue"/>
              </a:rPr>
              <a:t> 11, R106.</a:t>
            </a:r>
            <a:endParaRPr/>
          </a:p>
          <a:p>
            <a:pPr indent="0" lvl="0" marL="0" rtl="0" algn="l">
              <a:lnSpc>
                <a:spcPct val="100000"/>
              </a:lnSpc>
              <a:spcBef>
                <a:spcPts val="0"/>
              </a:spcBef>
              <a:spcAft>
                <a:spcPts val="0"/>
              </a:spcAft>
              <a:buSzPts val="1100"/>
              <a:buNone/>
            </a:pPr>
            <a:r>
              <a:t/>
            </a:r>
            <a:endParaRPr b="0" i="0" sz="1200" u="none" strike="noStrike">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SzPts val="1100"/>
              <a:buNone/>
            </a:pPr>
            <a:r>
              <a:rPr b="0" i="0" lang="en" sz="1200" u="none" strike="noStrike">
                <a:solidFill>
                  <a:schemeClr val="dk1"/>
                </a:solidFill>
                <a:latin typeface="Helvetica Neue"/>
                <a:ea typeface="Helvetica Neue"/>
                <a:cs typeface="Helvetica Neue"/>
                <a:sym typeface="Helvetica Neue"/>
              </a:rPr>
              <a:t>Bullard JH, Purdom E, Hansen KD, Dudoit S. (2010) Evaluation of statistical methods for normalization and differential expression in mRNA-Seq experiments. </a:t>
            </a:r>
            <a:r>
              <a:rPr b="0" i="1" lang="en" sz="1200" u="none" strike="noStrike">
                <a:solidFill>
                  <a:schemeClr val="dk1"/>
                </a:solidFill>
                <a:latin typeface="Helvetica Neue"/>
                <a:ea typeface="Helvetica Neue"/>
                <a:cs typeface="Helvetica Neue"/>
                <a:sym typeface="Helvetica Neue"/>
              </a:rPr>
              <a:t>BMC Bioinformatics</a:t>
            </a:r>
            <a:r>
              <a:rPr b="0" i="0" lang="en" sz="1200" u="none" strike="noStrike">
                <a:solidFill>
                  <a:schemeClr val="dk1"/>
                </a:solidFill>
                <a:latin typeface="Helvetica Neue"/>
                <a:ea typeface="Helvetica Neue"/>
                <a:cs typeface="Helvetica Neue"/>
                <a:sym typeface="Helvetica Neue"/>
              </a:rPr>
              <a:t> 11, 94.</a:t>
            </a:r>
            <a:endParaRPr/>
          </a:p>
          <a:p>
            <a:pPr indent="0" lvl="0" marL="0" rtl="0" algn="l">
              <a:lnSpc>
                <a:spcPct val="100000"/>
              </a:lnSpc>
              <a:spcBef>
                <a:spcPts val="0"/>
              </a:spcBef>
              <a:spcAft>
                <a:spcPts val="0"/>
              </a:spcAft>
              <a:buSzPts val="1100"/>
              <a:buNone/>
            </a:pPr>
            <a:r>
              <a:t/>
            </a:r>
            <a:endParaRPr b="0" i="0" sz="1200" u="none" strike="noStrike">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SzPts val="1100"/>
              <a:buNone/>
            </a:pPr>
            <a:r>
              <a:rPr lang="en"/>
              <a:t>RUVSeq https://bioconductor.org/packages/devel/bioc/manuals/RUVSeq/man/RUVSeq.pdf</a:t>
            </a:r>
            <a:endParaRPr/>
          </a:p>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299" name="Google Shape;1299;g3f9f940f050_5_4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g3f9f940f050_1_2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5" name="Google Shape;1305;g3f9f940f050_1_266: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306" name="Google Shape;1306;g3f9f940f050_1_2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g3f9f940f050_5_4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1" name="Google Shape;1311;g3f9f940f050_5_485: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312" name="Google Shape;1312;g3f9f940f050_5_4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6" name="Shape 1316"/>
        <p:cNvGrpSpPr/>
        <p:nvPr/>
      </p:nvGrpSpPr>
      <p:grpSpPr>
        <a:xfrm>
          <a:off x="0" y="0"/>
          <a:ext cx="0" cy="0"/>
          <a:chOff x="0" y="0"/>
          <a:chExt cx="0" cy="0"/>
        </a:xfrm>
      </p:grpSpPr>
      <p:sp>
        <p:nvSpPr>
          <p:cNvPr id="1317" name="Google Shape;1317;g3f9f940f050_1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8" name="Google Shape;1318;g3f9f940f050_1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Sequencing centers often provide reads in the FASTQ format. The raw reads contain sequences of adapters added during library preparation, which are trimmed to start with. Then, the reads are typically mapped to a reference genome sequence. Counts of reads mapping to genes are tallied and used for differential gene expression analysis. At all stages, it is important to perform quality control of the data. All the tools mentioned in the subsequent slides for these steps are available via docker or can be installed locally. </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Please download and install Docker Desktop from: https://docs.docker.com/get-docker/</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All UCSF/Gladstone affiliates can request access to Wynton. Visit https://wynton.ucsf.edu/hpc/about/join.html</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9" name="Shape 1329"/>
        <p:cNvGrpSpPr/>
        <p:nvPr/>
      </p:nvGrpSpPr>
      <p:grpSpPr>
        <a:xfrm>
          <a:off x="0" y="0"/>
          <a:ext cx="0" cy="0"/>
          <a:chOff x="0" y="0"/>
          <a:chExt cx="0" cy="0"/>
        </a:xfrm>
      </p:grpSpPr>
      <p:sp>
        <p:nvSpPr>
          <p:cNvPr id="1330" name="Google Shape;1330;g3f9f940f050_5_5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1" name="Google Shape;1331;g3f9f940f050_5_546:notes"/>
          <p:cNvSpPr txBox="1"/>
          <p:nvPr>
            <p:ph idx="1" type="body"/>
          </p:nvPr>
        </p:nvSpPr>
        <p:spPr>
          <a:xfrm>
            <a:off x="685800" y="4400549"/>
            <a:ext cx="5486400" cy="3600451"/>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332" name="Google Shape;1332;g3f9f940f050_5_5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g3f9f940f050_5_5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0" name="Google Shape;1340;g3f9f940f050_5_554:notes"/>
          <p:cNvSpPr txBox="1"/>
          <p:nvPr>
            <p:ph idx="1" type="body"/>
          </p:nvPr>
        </p:nvSpPr>
        <p:spPr>
          <a:xfrm>
            <a:off x="685800" y="4400549"/>
            <a:ext cx="5486400" cy="3600451"/>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341" name="Google Shape;1341;g3f9f940f050_5_5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1" name="Shape 1351"/>
        <p:cNvGrpSpPr/>
        <p:nvPr/>
      </p:nvGrpSpPr>
      <p:grpSpPr>
        <a:xfrm>
          <a:off x="0" y="0"/>
          <a:ext cx="0" cy="0"/>
          <a:chOff x="0" y="0"/>
          <a:chExt cx="0" cy="0"/>
        </a:xfrm>
      </p:grpSpPr>
      <p:sp>
        <p:nvSpPr>
          <p:cNvPr id="1352" name="Google Shape;1352;g3f9f940f050_5_5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3" name="Google Shape;1353;g3f9f940f050_5_566: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354" name="Google Shape;1354;g3f9f940f050_5_5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g3f9f940f050_5_5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3" name="Google Shape;1363;g3f9f940f050_5_575: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Helvetica Neue"/>
              <a:buNone/>
            </a:pPr>
            <a:r>
              <a:rPr lang="en"/>
              <a:t>plotBCV()</a:t>
            </a:r>
            <a:r>
              <a:rPr lang="en">
                <a:solidFill>
                  <a:srgbClr val="000000"/>
                </a:solidFill>
                <a:latin typeface="Arial"/>
                <a:ea typeface="Arial"/>
                <a:cs typeface="Arial"/>
                <a:sym typeface="Arial"/>
              </a:rPr>
              <a:t> plots the tagwise biological coefficient of variation (square root of dispersions) against log2-CPM.</a:t>
            </a:r>
            <a:endParaRPr/>
          </a:p>
          <a:p>
            <a:pPr indent="0" lvl="0" marL="0" rtl="0" algn="l">
              <a:lnSpc>
                <a:spcPct val="100000"/>
              </a:lnSpc>
              <a:spcBef>
                <a:spcPts val="0"/>
              </a:spcBef>
              <a:spcAft>
                <a:spcPts val="0"/>
              </a:spcAft>
              <a:buSzPts val="1100"/>
              <a:buNone/>
            </a:pPr>
            <a:r>
              <a:t/>
            </a:r>
            <a:endParaRPr/>
          </a:p>
          <a:p>
            <a:pPr indent="0" lvl="0" marL="0" marR="0" rtl="0" algn="l">
              <a:lnSpc>
                <a:spcPct val="100000"/>
              </a:lnSpc>
              <a:spcBef>
                <a:spcPts val="0"/>
              </a:spcBef>
              <a:spcAft>
                <a:spcPts val="0"/>
              </a:spcAft>
              <a:buClr>
                <a:schemeClr val="dk1"/>
              </a:buClr>
              <a:buSzPts val="1200"/>
              <a:buFont typeface="Helvetica Neue"/>
              <a:buNone/>
            </a:pPr>
            <a:r>
              <a:rPr lang="en" u="sng">
                <a:solidFill>
                  <a:schemeClr val="hlink"/>
                </a:solidFill>
                <a:hlinkClick r:id="rId2"/>
              </a:rPr>
              <a:t>https://smartech.gatech.edu/bitstream/handle/1853/35125/efron_videostream.html?sequence=8&amp;isAllowed=y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Robbins, Herbert. </a:t>
            </a:r>
            <a:r>
              <a:rPr i="1" lang="en"/>
              <a:t>An Empirical Bayes Approach to Statistics.</a:t>
            </a:r>
            <a:r>
              <a:rPr lang="en"/>
              <a:t> Proceedings of the Third Berkeley Symposium on Mathematical Statistics and Probability, Volume 1: Contributions to the Theory of Statistics, 157--163, University of California Press, Berkeley, Calif., 1956. https://projecteuclid.org/euclid.bsmsp/1200501653</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http://seqanswers.com/forums/showthread.php?t=5591</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See other example of  tagwise dispersion </a:t>
            </a:r>
            <a:r>
              <a:rPr b="0" i="0" lang="en">
                <a:solidFill>
                  <a:srgbClr val="555555"/>
                </a:solidFill>
                <a:latin typeface="Roboto"/>
                <a:ea typeface="Roboto"/>
                <a:cs typeface="Roboto"/>
                <a:sym typeface="Roboto"/>
              </a:rPr>
              <a:t>DOI:</a:t>
            </a:r>
            <a:r>
              <a:rPr b="0" i="0" lang="en" u="sng">
                <a:solidFill>
                  <a:schemeClr val="hlink"/>
                </a:solidFill>
                <a:latin typeface="Roboto"/>
                <a:ea typeface="Roboto"/>
                <a:cs typeface="Roboto"/>
                <a:sym typeface="Roboto"/>
                <a:hlinkClick r:id="rId3"/>
              </a:rPr>
              <a:t>10.1371/journal.pone.0119254</a:t>
            </a:r>
            <a:endParaRPr/>
          </a:p>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364" name="Google Shape;1364;g3f9f940f050_5_5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9" name="Shape 1369"/>
        <p:cNvGrpSpPr/>
        <p:nvPr/>
      </p:nvGrpSpPr>
      <p:grpSpPr>
        <a:xfrm>
          <a:off x="0" y="0"/>
          <a:ext cx="0" cy="0"/>
          <a:chOff x="0" y="0"/>
          <a:chExt cx="0" cy="0"/>
        </a:xfrm>
      </p:grpSpPr>
      <p:sp>
        <p:nvSpPr>
          <p:cNvPr id="1370" name="Google Shape;1370;g3f9f940f050_5_5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1" name="Google Shape;1371;g3f9f940f050_5_582: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Helvetica Neue"/>
              <a:buNone/>
            </a:pPr>
            <a:r>
              <a:rPr lang="en"/>
              <a:t>plotBCV()</a:t>
            </a:r>
            <a:r>
              <a:rPr lang="en">
                <a:solidFill>
                  <a:srgbClr val="000000"/>
                </a:solidFill>
                <a:latin typeface="Arial"/>
                <a:ea typeface="Arial"/>
                <a:cs typeface="Arial"/>
                <a:sym typeface="Arial"/>
              </a:rPr>
              <a:t> plots the tagwise biological coefficient of variation (square root of dispersions) against log2-CPM.</a:t>
            </a:r>
            <a:endParaRPr/>
          </a:p>
          <a:p>
            <a:pPr indent="0" lvl="0" marL="0" rtl="0" algn="l">
              <a:lnSpc>
                <a:spcPct val="100000"/>
              </a:lnSpc>
              <a:spcBef>
                <a:spcPts val="0"/>
              </a:spcBef>
              <a:spcAft>
                <a:spcPts val="0"/>
              </a:spcAft>
              <a:buSzPts val="1100"/>
              <a:buNone/>
            </a:pPr>
            <a:r>
              <a:t/>
            </a:r>
            <a:endParaRPr/>
          </a:p>
          <a:p>
            <a:pPr indent="0" lvl="0" marL="0" marR="0" rtl="0" algn="l">
              <a:lnSpc>
                <a:spcPct val="100000"/>
              </a:lnSpc>
              <a:spcBef>
                <a:spcPts val="0"/>
              </a:spcBef>
              <a:spcAft>
                <a:spcPts val="0"/>
              </a:spcAft>
              <a:buClr>
                <a:schemeClr val="dk1"/>
              </a:buClr>
              <a:buSzPts val="1200"/>
              <a:buFont typeface="Helvetica Neue"/>
              <a:buNone/>
            </a:pPr>
            <a:r>
              <a:rPr lang="en" u="sng">
                <a:solidFill>
                  <a:schemeClr val="hlink"/>
                </a:solidFill>
                <a:hlinkClick r:id="rId2"/>
              </a:rPr>
              <a:t>https://smartech.gatech.edu/bitstream/handle/1853/35125/efron_videostream.html?sequence=8&amp;isAllowed=y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Robbins, Herbert. </a:t>
            </a:r>
            <a:r>
              <a:rPr i="1" lang="en"/>
              <a:t>An Empirical Bayes Approach to Statistics.</a:t>
            </a:r>
            <a:r>
              <a:rPr lang="en"/>
              <a:t> Proceedings of the Third Berkeley Symposium on Mathematical Statistics and Probability, Volume 1: Contributions to the Theory of Statistics, 157--163, University of California Press, Berkeley, Calif., 1956. https://projecteuclid.org/euclid.bsmsp/1200501653</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http://seqanswers.com/forums/showthread.php?t=5591</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See other example of  tagwise dispersion </a:t>
            </a:r>
            <a:r>
              <a:rPr b="0" i="0" lang="en">
                <a:solidFill>
                  <a:srgbClr val="555555"/>
                </a:solidFill>
                <a:latin typeface="Roboto"/>
                <a:ea typeface="Roboto"/>
                <a:cs typeface="Roboto"/>
                <a:sym typeface="Roboto"/>
              </a:rPr>
              <a:t>DOI:</a:t>
            </a:r>
            <a:r>
              <a:rPr b="0" i="0" lang="en" u="sng">
                <a:solidFill>
                  <a:schemeClr val="hlink"/>
                </a:solidFill>
                <a:latin typeface="Roboto"/>
                <a:ea typeface="Roboto"/>
                <a:cs typeface="Roboto"/>
                <a:sym typeface="Roboto"/>
                <a:hlinkClick r:id="rId3"/>
              </a:rPr>
              <a:t>10.1371/journal.pone.0119254</a:t>
            </a:r>
            <a:endParaRPr/>
          </a:p>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372" name="Google Shape;1372;g3f9f940f050_5_5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6" name="Shape 1376"/>
        <p:cNvGrpSpPr/>
        <p:nvPr/>
      </p:nvGrpSpPr>
      <p:grpSpPr>
        <a:xfrm>
          <a:off x="0" y="0"/>
          <a:ext cx="0" cy="0"/>
          <a:chOff x="0" y="0"/>
          <a:chExt cx="0" cy="0"/>
        </a:xfrm>
      </p:grpSpPr>
      <p:sp>
        <p:nvSpPr>
          <p:cNvPr id="1377" name="Google Shape;1377;g3f9f940f050_5_5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8" name="Google Shape;1378;g3f9f940f050_5_588: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Helvetica Neue"/>
              <a:buNone/>
            </a:pPr>
            <a:r>
              <a:rPr lang="en"/>
              <a:t>plotBCV()</a:t>
            </a:r>
            <a:r>
              <a:rPr lang="en">
                <a:solidFill>
                  <a:srgbClr val="000000"/>
                </a:solidFill>
                <a:latin typeface="Arial"/>
                <a:ea typeface="Arial"/>
                <a:cs typeface="Arial"/>
                <a:sym typeface="Arial"/>
              </a:rPr>
              <a:t> plots the tagwise biological coefficient of variation (square root of dispersions) against log2-CPM.</a:t>
            </a:r>
            <a:endParaRPr/>
          </a:p>
          <a:p>
            <a:pPr indent="0" lvl="0" marL="0" rtl="0" algn="l">
              <a:lnSpc>
                <a:spcPct val="100000"/>
              </a:lnSpc>
              <a:spcBef>
                <a:spcPts val="0"/>
              </a:spcBef>
              <a:spcAft>
                <a:spcPts val="0"/>
              </a:spcAft>
              <a:buSzPts val="1100"/>
              <a:buNone/>
            </a:pPr>
            <a:r>
              <a:t/>
            </a:r>
            <a:endParaRPr/>
          </a:p>
          <a:p>
            <a:pPr indent="0" lvl="0" marL="0" marR="0" rtl="0" algn="l">
              <a:lnSpc>
                <a:spcPct val="100000"/>
              </a:lnSpc>
              <a:spcBef>
                <a:spcPts val="0"/>
              </a:spcBef>
              <a:spcAft>
                <a:spcPts val="0"/>
              </a:spcAft>
              <a:buClr>
                <a:schemeClr val="dk1"/>
              </a:buClr>
              <a:buSzPts val="1200"/>
              <a:buFont typeface="Helvetica Neue"/>
              <a:buNone/>
            </a:pPr>
            <a:r>
              <a:rPr lang="en" u="sng">
                <a:solidFill>
                  <a:schemeClr val="hlink"/>
                </a:solidFill>
                <a:hlinkClick r:id="rId2"/>
              </a:rPr>
              <a:t>https://smartech.gatech.edu/bitstream/handle/1853/35125/efron_videostream.html?sequence=8&amp;isAllowed=y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Robbins, Herbert. </a:t>
            </a:r>
            <a:r>
              <a:rPr i="1" lang="en"/>
              <a:t>An Empirical Bayes Approach to Statistics.</a:t>
            </a:r>
            <a:r>
              <a:rPr lang="en"/>
              <a:t> Proceedings of the Third Berkeley Symposium on Mathematical Statistics and Probability, Volume 1: Contributions to the Theory of Statistics, 157--163, University of California Press, Berkeley, Calif., 1956. https://projecteuclid.org/euclid.bsmsp/1200501653</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http://seqanswers.com/forums/showthread.php?t=5591</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See other example of  tagwise dispersion </a:t>
            </a:r>
            <a:r>
              <a:rPr b="0" i="0" lang="en">
                <a:solidFill>
                  <a:srgbClr val="555555"/>
                </a:solidFill>
                <a:latin typeface="Roboto"/>
                <a:ea typeface="Roboto"/>
                <a:cs typeface="Roboto"/>
                <a:sym typeface="Roboto"/>
              </a:rPr>
              <a:t>DOI:</a:t>
            </a:r>
            <a:r>
              <a:rPr b="0" i="0" lang="en" u="sng">
                <a:solidFill>
                  <a:schemeClr val="hlink"/>
                </a:solidFill>
                <a:latin typeface="Roboto"/>
                <a:ea typeface="Roboto"/>
                <a:cs typeface="Roboto"/>
                <a:sym typeface="Roboto"/>
                <a:hlinkClick r:id="rId3"/>
              </a:rPr>
              <a:t>10.1371/journal.pone.0119254</a:t>
            </a:r>
            <a:endParaRPr/>
          </a:p>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379" name="Google Shape;1379;g3f9f940f050_5_5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7" name="Shape 1387"/>
        <p:cNvGrpSpPr/>
        <p:nvPr/>
      </p:nvGrpSpPr>
      <p:grpSpPr>
        <a:xfrm>
          <a:off x="0" y="0"/>
          <a:ext cx="0" cy="0"/>
          <a:chOff x="0" y="0"/>
          <a:chExt cx="0" cy="0"/>
        </a:xfrm>
      </p:grpSpPr>
      <p:sp>
        <p:nvSpPr>
          <p:cNvPr id="1388" name="Google Shape;1388;g3f9f940f050_5_5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9" name="Google Shape;1389;g3f9f940f050_5_598:notes"/>
          <p:cNvSpPr txBox="1"/>
          <p:nvPr>
            <p:ph idx="1" type="body"/>
          </p:nvPr>
        </p:nvSpPr>
        <p:spPr>
          <a:xfrm>
            <a:off x="685800" y="4400549"/>
            <a:ext cx="5486400" cy="3600451"/>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390" name="Google Shape;1390;g3f9f940f050_5_59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6" name="Shape 1396"/>
        <p:cNvGrpSpPr/>
        <p:nvPr/>
      </p:nvGrpSpPr>
      <p:grpSpPr>
        <a:xfrm>
          <a:off x="0" y="0"/>
          <a:ext cx="0" cy="0"/>
          <a:chOff x="0" y="0"/>
          <a:chExt cx="0" cy="0"/>
        </a:xfrm>
      </p:grpSpPr>
      <p:sp>
        <p:nvSpPr>
          <p:cNvPr id="1397" name="Google Shape;1397;g3f9f940f050_5_6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8" name="Google Shape;1398;g3f9f940f050_5_606: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Helvetica Neue"/>
              <a:buNone/>
            </a:pPr>
            <a:r>
              <a:rPr lang="en"/>
              <a:t>https://www.bioconductor.org/packages/release/bioc/vignettes/edgeR/inst/doc/edgeRUsersGuide.pdf</a:t>
            </a:r>
            <a:endParaRPr/>
          </a:p>
          <a:p>
            <a:pPr indent="0" lvl="0" marL="0" marR="0" rtl="0" algn="l">
              <a:lnSpc>
                <a:spcPct val="100000"/>
              </a:lnSpc>
              <a:spcBef>
                <a:spcPts val="0"/>
              </a:spcBef>
              <a:spcAft>
                <a:spcPts val="0"/>
              </a:spcAft>
              <a:buClr>
                <a:schemeClr val="dk1"/>
              </a:buClr>
              <a:buSzPts val="1200"/>
              <a:buFont typeface="Helvetica Neue"/>
              <a:buNone/>
            </a:pPr>
            <a:r>
              <a:rPr lang="en"/>
              <a:t>Quasi likelihood https://pubmed.ncbi.nlm.nih.gov/23104842/ </a:t>
            </a:r>
            <a:endParaRPr/>
          </a:p>
          <a:p>
            <a:pPr indent="0" lvl="0" marL="0" marR="0" rtl="0" algn="l">
              <a:lnSpc>
                <a:spcPct val="100000"/>
              </a:lnSpc>
              <a:spcBef>
                <a:spcPts val="0"/>
              </a:spcBef>
              <a:spcAft>
                <a:spcPts val="0"/>
              </a:spcAft>
              <a:buClr>
                <a:schemeClr val="dk1"/>
              </a:buClr>
              <a:buSzPts val="1200"/>
              <a:buFont typeface="Helvetica Neue"/>
              <a:buNone/>
            </a:pPr>
            <a:r>
              <a:rPr lang="en"/>
              <a:t>About limma /edgeR / Deseq2 differenceS: chrome-extension://efaidnbmnnnibpcajpcglclefindmkaj/https://www.e3s-conferences.org/articles/e3sconf/pdf/2021/47/e3sconf_icepe2021_03058.pdf</a:t>
            </a:r>
            <a:endParaRPr/>
          </a:p>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399" name="Google Shape;1399;g3f9f940f050_5_6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3" name="Shape 1403"/>
        <p:cNvGrpSpPr/>
        <p:nvPr/>
      </p:nvGrpSpPr>
      <p:grpSpPr>
        <a:xfrm>
          <a:off x="0" y="0"/>
          <a:ext cx="0" cy="0"/>
          <a:chOff x="0" y="0"/>
          <a:chExt cx="0" cy="0"/>
        </a:xfrm>
      </p:grpSpPr>
      <p:sp>
        <p:nvSpPr>
          <p:cNvPr id="1404" name="Google Shape;1404;g3f9f940f050_5_6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5" name="Google Shape;1405;g3f9f940f050_5_612: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406" name="Google Shape;1406;g3f9f940f050_5_6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0" name="Shape 1410"/>
        <p:cNvGrpSpPr/>
        <p:nvPr/>
      </p:nvGrpSpPr>
      <p:grpSpPr>
        <a:xfrm>
          <a:off x="0" y="0"/>
          <a:ext cx="0" cy="0"/>
          <a:chOff x="0" y="0"/>
          <a:chExt cx="0" cy="0"/>
        </a:xfrm>
      </p:grpSpPr>
      <p:sp>
        <p:nvSpPr>
          <p:cNvPr id="1411" name="Google Shape;1411;g3f9f940f050_1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2" name="Google Shape;1412;g3f9f940f050_1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Sequencing centers often provide reads in the FASTQ format. The raw reads contain sequences of adapters added during library preparation, which are trimmed to start with. Then, the reads are typically mapped to a reference genome sequence. Counts of reads mapping to genes are tallied and used for differential gene expression analysis. At all stages, it is important to perform quality control of the data. All the tools mentioned in the subsequent slides for these steps are available via docker or can be installed locally. </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Please download and install Docker Desktop from: https://docs.docker.com/get-docker/</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All UCSF/Gladstone affiliates can request access to Wynton. Visit https://wynton.ucsf.edu/hpc/about/join.html</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g3f9f940f050_5_6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5" name="Google Shape;1425;g3f9f940f050_5_636:notes"/>
          <p:cNvSpPr txBox="1"/>
          <p:nvPr>
            <p:ph idx="1" type="body"/>
          </p:nvPr>
        </p:nvSpPr>
        <p:spPr>
          <a:xfrm>
            <a:off x="685800" y="4400549"/>
            <a:ext cx="5486400" cy="3600451"/>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426" name="Google Shape;1426;g3f9f940f050_5_6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g3f9f940f050_5_6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2" name="Google Shape;1432;g3f9f940f050_5_642:notes"/>
          <p:cNvSpPr txBox="1"/>
          <p:nvPr>
            <p:ph idx="1" type="body"/>
          </p:nvPr>
        </p:nvSpPr>
        <p:spPr>
          <a:xfrm>
            <a:off x="685800" y="4400549"/>
            <a:ext cx="5486400" cy="3600451"/>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433" name="Google Shape;1433;g3f9f940f050_5_6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8" name="Shape 1438"/>
        <p:cNvGrpSpPr/>
        <p:nvPr/>
      </p:nvGrpSpPr>
      <p:grpSpPr>
        <a:xfrm>
          <a:off x="0" y="0"/>
          <a:ext cx="0" cy="0"/>
          <a:chOff x="0" y="0"/>
          <a:chExt cx="0" cy="0"/>
        </a:xfrm>
      </p:grpSpPr>
      <p:sp>
        <p:nvSpPr>
          <p:cNvPr id="1439" name="Google Shape;1439;g3f9f940f050_5_7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0" name="Google Shape;1440;g3f9f940f050_5_704: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171450" lvl="0" marL="171450" rtl="0" algn="l">
              <a:lnSpc>
                <a:spcPct val="100000"/>
              </a:lnSpc>
              <a:spcBef>
                <a:spcPts val="0"/>
              </a:spcBef>
              <a:spcAft>
                <a:spcPts val="0"/>
              </a:spcAft>
              <a:buClr>
                <a:schemeClr val="dk1"/>
              </a:buClr>
              <a:buSzPts val="1200"/>
              <a:buFont typeface="Helvetica Neue"/>
              <a:buChar char="-"/>
            </a:pPr>
            <a:r>
              <a:rPr lang="en"/>
              <a:t>Ma plot from https://rpkgs.datanovia.com/ggpubr/reference/ggmaplot.html</a:t>
            </a:r>
            <a:endParaRPr/>
          </a:p>
          <a:p>
            <a:pPr indent="-171450" lvl="0" marL="171450" rtl="0" algn="l">
              <a:lnSpc>
                <a:spcPct val="100000"/>
              </a:lnSpc>
              <a:spcBef>
                <a:spcPts val="0"/>
              </a:spcBef>
              <a:spcAft>
                <a:spcPts val="0"/>
              </a:spcAft>
              <a:buClr>
                <a:srgbClr val="333333"/>
              </a:buClr>
              <a:buSzPts val="1200"/>
              <a:buFont typeface="Helvetica Neue"/>
              <a:buChar char="-"/>
            </a:pPr>
            <a:r>
              <a:rPr b="0" i="0" lang="en">
                <a:solidFill>
                  <a:srgbClr val="333333"/>
                </a:solidFill>
                <a:latin typeface="Helvetica Neue"/>
                <a:ea typeface="Helvetica Neue"/>
                <a:cs typeface="Helvetica Neue"/>
                <a:sym typeface="Helvetica Neue"/>
              </a:rPr>
              <a:t>MA-plot is a scatter plot of log2 fold changes (M, on the y-axis) versus the average expression signal (A, on the x-axis). </a:t>
            </a:r>
            <a:r>
              <a:rPr lang="en"/>
              <a:t>M = log2(x/y)</a:t>
            </a:r>
            <a:r>
              <a:rPr b="0" i="0" lang="en">
                <a:solidFill>
                  <a:srgbClr val="333333"/>
                </a:solidFill>
                <a:latin typeface="Helvetica Neue"/>
                <a:ea typeface="Helvetica Neue"/>
                <a:cs typeface="Helvetica Neue"/>
                <a:sym typeface="Helvetica Neue"/>
              </a:rPr>
              <a:t> and </a:t>
            </a:r>
            <a:r>
              <a:rPr lang="en"/>
              <a:t>A = (log2(x) + log2(y))/2 = log2(xy)*1/2</a:t>
            </a:r>
            <a:r>
              <a:rPr b="0" i="0" lang="en">
                <a:solidFill>
                  <a:srgbClr val="333333"/>
                </a:solidFill>
                <a:latin typeface="Helvetica Neue"/>
                <a:ea typeface="Helvetica Neue"/>
                <a:cs typeface="Helvetica Neue"/>
                <a:sym typeface="Helvetica Neue"/>
              </a:rPr>
              <a:t>, where x and y are respectively the mean of the two groups being compared.</a:t>
            </a:r>
            <a:endParaRPr/>
          </a:p>
        </p:txBody>
      </p:sp>
      <p:sp>
        <p:nvSpPr>
          <p:cNvPr id="1441" name="Google Shape;1441;g3f9f940f050_5_7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4" name="Shape 1454"/>
        <p:cNvGrpSpPr/>
        <p:nvPr/>
      </p:nvGrpSpPr>
      <p:grpSpPr>
        <a:xfrm>
          <a:off x="0" y="0"/>
          <a:ext cx="0" cy="0"/>
          <a:chOff x="0" y="0"/>
          <a:chExt cx="0" cy="0"/>
        </a:xfrm>
      </p:grpSpPr>
      <p:sp>
        <p:nvSpPr>
          <p:cNvPr id="1455" name="Google Shape;1455;g3f9f940f050_1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6" name="Google Shape;1456;g3f9f940f050_1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 sz="1200">
                <a:solidFill>
                  <a:schemeClr val="dk1"/>
                </a:solidFill>
              </a:rPr>
              <a:t>Sequencing centers often provide reads in the FASTQ format. The raw reads contain sequences of adapters added during library preparation, which are trimmed to start with. Then, the reads are typically mapped to a reference genome sequence. Counts of reads mapping to genes are tallied and used for differential gene expression analysis. At all stages, it is important to perform quality control of the data. All the tools mentioned in the subsequent slides for these steps are available via docker or can be installed locally. </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Please download and install Docker Desktop from: https://docs.docker.com/get-docker/</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 sz="1200">
                <a:solidFill>
                  <a:schemeClr val="dk1"/>
                </a:solidFill>
              </a:rPr>
              <a:t>All UCSF/Gladstone affiliates can request access to Wynton. Visit https://wynton.ucsf.edu/hpc/about/join.html</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g3f9f940f050_1_3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9" name="Google Shape;1469;g3f9f940f050_1_300: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470" name="Google Shape;1470;g3f9f940f050_1_3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0" name="Shape 1480"/>
        <p:cNvGrpSpPr/>
        <p:nvPr/>
      </p:nvGrpSpPr>
      <p:grpSpPr>
        <a:xfrm>
          <a:off x="0" y="0"/>
          <a:ext cx="0" cy="0"/>
          <a:chOff x="0" y="0"/>
          <a:chExt cx="0" cy="0"/>
        </a:xfrm>
      </p:grpSpPr>
      <p:sp>
        <p:nvSpPr>
          <p:cNvPr id="1481" name="Google Shape;1481;g3f9f940f050_1_3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2" name="Google Shape;1482;g3f9f940f050_1_312: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483" name="Google Shape;1483;g3f9f940f050_1_3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0" name="Shape 1490"/>
        <p:cNvGrpSpPr/>
        <p:nvPr/>
      </p:nvGrpSpPr>
      <p:grpSpPr>
        <a:xfrm>
          <a:off x="0" y="0"/>
          <a:ext cx="0" cy="0"/>
          <a:chOff x="0" y="0"/>
          <a:chExt cx="0" cy="0"/>
        </a:xfrm>
      </p:grpSpPr>
      <p:sp>
        <p:nvSpPr>
          <p:cNvPr id="1491" name="Google Shape;1491;g3f9f940f050_1_3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2" name="Google Shape;1492;g3f9f940f050_1_321: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493" name="Google Shape;1493;g3f9f940f050_1_3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7" name="Shape 1497"/>
        <p:cNvGrpSpPr/>
        <p:nvPr/>
      </p:nvGrpSpPr>
      <p:grpSpPr>
        <a:xfrm>
          <a:off x="0" y="0"/>
          <a:ext cx="0" cy="0"/>
          <a:chOff x="0" y="0"/>
          <a:chExt cx="0" cy="0"/>
        </a:xfrm>
      </p:grpSpPr>
      <p:sp>
        <p:nvSpPr>
          <p:cNvPr id="1498" name="Google Shape;1498;g3f9f940f050_5_7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9" name="Google Shape;1499;g3f9f940f050_5_743:notes"/>
          <p:cNvSpPr txBox="1"/>
          <p:nvPr>
            <p:ph idx="1" type="body"/>
          </p:nvPr>
        </p:nvSpPr>
        <p:spPr>
          <a:xfrm>
            <a:off x="685800" y="4400549"/>
            <a:ext cx="5486400" cy="3600451"/>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500" name="Google Shape;1500;g3f9f940f050_5_7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4" name="Shape 1504"/>
        <p:cNvGrpSpPr/>
        <p:nvPr/>
      </p:nvGrpSpPr>
      <p:grpSpPr>
        <a:xfrm>
          <a:off x="0" y="0"/>
          <a:ext cx="0" cy="0"/>
          <a:chOff x="0" y="0"/>
          <a:chExt cx="0" cy="0"/>
        </a:xfrm>
      </p:grpSpPr>
      <p:sp>
        <p:nvSpPr>
          <p:cNvPr id="1505" name="Google Shape;1505;g3f9f940f050_5_7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6" name="Google Shape;1506;g3f9f940f050_5_749: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507" name="Google Shape;1507;g3f9f940f050_5_7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2" name="Shape 1512"/>
        <p:cNvGrpSpPr/>
        <p:nvPr/>
      </p:nvGrpSpPr>
      <p:grpSpPr>
        <a:xfrm>
          <a:off x="0" y="0"/>
          <a:ext cx="0" cy="0"/>
          <a:chOff x="0" y="0"/>
          <a:chExt cx="0" cy="0"/>
        </a:xfrm>
      </p:grpSpPr>
      <p:sp>
        <p:nvSpPr>
          <p:cNvPr id="1513" name="Google Shape;1513;g38b9f22a140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4" name="Google Shape;1514;g38b9f22a140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8" name="Shape 1518"/>
        <p:cNvGrpSpPr/>
        <p:nvPr/>
      </p:nvGrpSpPr>
      <p:grpSpPr>
        <a:xfrm>
          <a:off x="0" y="0"/>
          <a:ext cx="0" cy="0"/>
          <a:chOff x="0" y="0"/>
          <a:chExt cx="0" cy="0"/>
        </a:xfrm>
      </p:grpSpPr>
      <p:sp>
        <p:nvSpPr>
          <p:cNvPr id="1519" name="Google Shape;1519;g3f9f940f050_5_8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0" name="Google Shape;1520;g3f9f940f050_5_813:notes"/>
          <p:cNvSpPr txBox="1"/>
          <p:nvPr>
            <p:ph idx="1" type="body"/>
          </p:nvPr>
        </p:nvSpPr>
        <p:spPr>
          <a:xfrm>
            <a:off x="685800" y="4400549"/>
            <a:ext cx="5486400" cy="3600451"/>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521" name="Google Shape;1521;g3f9f940f050_5_8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5" name="Shape 1525"/>
        <p:cNvGrpSpPr/>
        <p:nvPr/>
      </p:nvGrpSpPr>
      <p:grpSpPr>
        <a:xfrm>
          <a:off x="0" y="0"/>
          <a:ext cx="0" cy="0"/>
          <a:chOff x="0" y="0"/>
          <a:chExt cx="0" cy="0"/>
        </a:xfrm>
      </p:grpSpPr>
      <p:sp>
        <p:nvSpPr>
          <p:cNvPr id="1526" name="Google Shape;1526;g3f9f940f050_5_8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7" name="Google Shape;1527;g3f9f940f050_5_8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Helvetica Neue"/>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0" name="Shape 1530"/>
        <p:cNvGrpSpPr/>
        <p:nvPr/>
      </p:nvGrpSpPr>
      <p:grpSpPr>
        <a:xfrm>
          <a:off x="0" y="0"/>
          <a:ext cx="0" cy="0"/>
          <a:chOff x="0" y="0"/>
          <a:chExt cx="0" cy="0"/>
        </a:xfrm>
      </p:grpSpPr>
      <p:sp>
        <p:nvSpPr>
          <p:cNvPr id="1531" name="Google Shape;1531;g3f9f940f050_1_148:notes"/>
          <p:cNvSpPr txBox="1"/>
          <p:nvPr>
            <p:ph idx="1" type="body"/>
          </p:nvPr>
        </p:nvSpPr>
        <p:spPr>
          <a:xfrm>
            <a:off x="685800" y="4400549"/>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g3f9f940f050_1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5" name="Shape 1535"/>
        <p:cNvGrpSpPr/>
        <p:nvPr/>
      </p:nvGrpSpPr>
      <p:grpSpPr>
        <a:xfrm>
          <a:off x="0" y="0"/>
          <a:ext cx="0" cy="0"/>
          <a:chOff x="0" y="0"/>
          <a:chExt cx="0" cy="0"/>
        </a:xfrm>
      </p:grpSpPr>
      <p:sp>
        <p:nvSpPr>
          <p:cNvPr id="1536" name="Google Shape;1536;g3f9f940f050_1_143:notes"/>
          <p:cNvSpPr txBox="1"/>
          <p:nvPr>
            <p:ph idx="1" type="body"/>
          </p:nvPr>
        </p:nvSpPr>
        <p:spPr>
          <a:xfrm>
            <a:off x="685800" y="4400549"/>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g3f9f940f050_1_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1" name="Shape 1541"/>
        <p:cNvGrpSpPr/>
        <p:nvPr/>
      </p:nvGrpSpPr>
      <p:grpSpPr>
        <a:xfrm>
          <a:off x="0" y="0"/>
          <a:ext cx="0" cy="0"/>
          <a:chOff x="0" y="0"/>
          <a:chExt cx="0" cy="0"/>
        </a:xfrm>
      </p:grpSpPr>
      <p:sp>
        <p:nvSpPr>
          <p:cNvPr id="1542" name="Google Shape;1542;g3f9f940f050_1_117:notes"/>
          <p:cNvSpPr txBox="1"/>
          <p:nvPr>
            <p:ph idx="1" type="body"/>
          </p:nvPr>
        </p:nvSpPr>
        <p:spPr>
          <a:xfrm>
            <a:off x="685800" y="4400549"/>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g3f9f940f050_1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7" name="Shape 1547"/>
        <p:cNvGrpSpPr/>
        <p:nvPr/>
      </p:nvGrpSpPr>
      <p:grpSpPr>
        <a:xfrm>
          <a:off x="0" y="0"/>
          <a:ext cx="0" cy="0"/>
          <a:chOff x="0" y="0"/>
          <a:chExt cx="0" cy="0"/>
        </a:xfrm>
      </p:grpSpPr>
      <p:sp>
        <p:nvSpPr>
          <p:cNvPr id="1548" name="Google Shape;1548;g3f9f940f050_1_122:notes"/>
          <p:cNvSpPr txBox="1"/>
          <p:nvPr>
            <p:ph idx="1" type="body"/>
          </p:nvPr>
        </p:nvSpPr>
        <p:spPr>
          <a:xfrm>
            <a:off x="685800" y="4400549"/>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g3f9f940f050_1_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3" name="Shape 1553"/>
        <p:cNvGrpSpPr/>
        <p:nvPr/>
      </p:nvGrpSpPr>
      <p:grpSpPr>
        <a:xfrm>
          <a:off x="0" y="0"/>
          <a:ext cx="0" cy="0"/>
          <a:chOff x="0" y="0"/>
          <a:chExt cx="0" cy="0"/>
        </a:xfrm>
      </p:grpSpPr>
      <p:sp>
        <p:nvSpPr>
          <p:cNvPr id="1554" name="Google Shape;1554;g3f9f940f050_1_127:notes"/>
          <p:cNvSpPr txBox="1"/>
          <p:nvPr>
            <p:ph idx="1" type="body"/>
          </p:nvPr>
        </p:nvSpPr>
        <p:spPr>
          <a:xfrm>
            <a:off x="685800" y="4400549"/>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g3f9f940f050_1_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0" name="Shape 1560"/>
        <p:cNvGrpSpPr/>
        <p:nvPr/>
      </p:nvGrpSpPr>
      <p:grpSpPr>
        <a:xfrm>
          <a:off x="0" y="0"/>
          <a:ext cx="0" cy="0"/>
          <a:chOff x="0" y="0"/>
          <a:chExt cx="0" cy="0"/>
        </a:xfrm>
      </p:grpSpPr>
      <p:sp>
        <p:nvSpPr>
          <p:cNvPr id="1561" name="Google Shape;1561;g3f9f940f050_1_133:notes"/>
          <p:cNvSpPr txBox="1"/>
          <p:nvPr>
            <p:ph idx="1" type="body"/>
          </p:nvPr>
        </p:nvSpPr>
        <p:spPr>
          <a:xfrm>
            <a:off x="685800" y="4400549"/>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g3f9f940f050_1_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6" name="Shape 1566"/>
        <p:cNvGrpSpPr/>
        <p:nvPr/>
      </p:nvGrpSpPr>
      <p:grpSpPr>
        <a:xfrm>
          <a:off x="0" y="0"/>
          <a:ext cx="0" cy="0"/>
          <a:chOff x="0" y="0"/>
          <a:chExt cx="0" cy="0"/>
        </a:xfrm>
      </p:grpSpPr>
      <p:sp>
        <p:nvSpPr>
          <p:cNvPr id="1567" name="Google Shape;1567;g3f9f940f050_1_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8" name="Google Shape;1568;g3f9f940f050_1_153: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https://www.git-tower.com/blog/command-line-cheat-sheet/</a:t>
            </a:r>
            <a:endParaRPr/>
          </a:p>
        </p:txBody>
      </p:sp>
      <p:sp>
        <p:nvSpPr>
          <p:cNvPr id="1569" name="Google Shape;1569;g3f9f940f050_1_1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3" name="Shape 1573"/>
        <p:cNvGrpSpPr/>
        <p:nvPr/>
      </p:nvGrpSpPr>
      <p:grpSpPr>
        <a:xfrm>
          <a:off x="0" y="0"/>
          <a:ext cx="0" cy="0"/>
          <a:chOff x="0" y="0"/>
          <a:chExt cx="0" cy="0"/>
        </a:xfrm>
      </p:grpSpPr>
      <p:sp>
        <p:nvSpPr>
          <p:cNvPr id="1574" name="Google Shape;1574;g3f9f940f050_1_4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5" name="Google Shape;1575;g3f9f940f050_1_442: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https://www.git-tower.com/blog/command-line-cheat-sheet/</a:t>
            </a:r>
            <a:endParaRPr/>
          </a:p>
        </p:txBody>
      </p:sp>
      <p:sp>
        <p:nvSpPr>
          <p:cNvPr id="1576" name="Google Shape;1576;g3f9f940f050_1_4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9" name="Shape 1579"/>
        <p:cNvGrpSpPr/>
        <p:nvPr/>
      </p:nvGrpSpPr>
      <p:grpSpPr>
        <a:xfrm>
          <a:off x="0" y="0"/>
          <a:ext cx="0" cy="0"/>
          <a:chOff x="0" y="0"/>
          <a:chExt cx="0" cy="0"/>
        </a:xfrm>
      </p:grpSpPr>
      <p:sp>
        <p:nvSpPr>
          <p:cNvPr id="1580" name="Google Shape;1580;g3f9f940f050_1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1" name="Google Shape;1581;g3f9f940f050_1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7" name="Shape 1587"/>
        <p:cNvGrpSpPr/>
        <p:nvPr/>
      </p:nvGrpSpPr>
      <p:grpSpPr>
        <a:xfrm>
          <a:off x="0" y="0"/>
          <a:ext cx="0" cy="0"/>
          <a:chOff x="0" y="0"/>
          <a:chExt cx="0" cy="0"/>
        </a:xfrm>
      </p:grpSpPr>
      <p:sp>
        <p:nvSpPr>
          <p:cNvPr id="1588" name="Google Shape;1588;g3f9f940f050_1_3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9" name="Google Shape;1589;g3f9f940f050_1_388: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590" name="Google Shape;1590;g3f9f940f050_1_3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6" name="Shape 1596"/>
        <p:cNvGrpSpPr/>
        <p:nvPr/>
      </p:nvGrpSpPr>
      <p:grpSpPr>
        <a:xfrm>
          <a:off x="0" y="0"/>
          <a:ext cx="0" cy="0"/>
          <a:chOff x="0" y="0"/>
          <a:chExt cx="0" cy="0"/>
        </a:xfrm>
      </p:grpSpPr>
      <p:sp>
        <p:nvSpPr>
          <p:cNvPr id="1597" name="Google Shape;1597;g3f9f940f050_1_3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8" name="Google Shape;1598;g3f9f940f050_1_396: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599" name="Google Shape;1599;g3f9f940f050_1_3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7" name="Shape 1607"/>
        <p:cNvGrpSpPr/>
        <p:nvPr/>
      </p:nvGrpSpPr>
      <p:grpSpPr>
        <a:xfrm>
          <a:off x="0" y="0"/>
          <a:ext cx="0" cy="0"/>
          <a:chOff x="0" y="0"/>
          <a:chExt cx="0" cy="0"/>
        </a:xfrm>
      </p:grpSpPr>
      <p:sp>
        <p:nvSpPr>
          <p:cNvPr id="1608" name="Google Shape;1608;g3f9f940f050_1_4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9" name="Google Shape;1609;g3f9f940f050_1_406: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610" name="Google Shape;1610;g3f9f940f050_1_4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6" name="Shape 1616"/>
        <p:cNvGrpSpPr/>
        <p:nvPr/>
      </p:nvGrpSpPr>
      <p:grpSpPr>
        <a:xfrm>
          <a:off x="0" y="0"/>
          <a:ext cx="0" cy="0"/>
          <a:chOff x="0" y="0"/>
          <a:chExt cx="0" cy="0"/>
        </a:xfrm>
      </p:grpSpPr>
      <p:sp>
        <p:nvSpPr>
          <p:cNvPr id="1617" name="Google Shape;1617;g3f9f940f050_1_4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8" name="Google Shape;1618;g3f9f940f050_1_414: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171450" lvl="0" marL="171450" marR="0" rtl="0" algn="l">
              <a:lnSpc>
                <a:spcPct val="100000"/>
              </a:lnSpc>
              <a:spcBef>
                <a:spcPts val="0"/>
              </a:spcBef>
              <a:spcAft>
                <a:spcPts val="0"/>
              </a:spcAft>
              <a:buClr>
                <a:schemeClr val="dk1"/>
              </a:buClr>
              <a:buSzPts val="1200"/>
              <a:buFont typeface="Helvetica Neue"/>
              <a:buChar char="-"/>
            </a:pPr>
            <a:r>
              <a:rPr lang="en"/>
              <a:t>https://www.rna-seqblog.com/rpkm-fpkm-and-tpm-clearly-explained/</a:t>
            </a:r>
            <a:endParaRPr/>
          </a:p>
          <a:p>
            <a:pPr indent="0" lvl="0" marL="0" rtl="0" algn="l">
              <a:lnSpc>
                <a:spcPct val="100000"/>
              </a:lnSpc>
              <a:spcBef>
                <a:spcPts val="0"/>
              </a:spcBef>
              <a:spcAft>
                <a:spcPts val="0"/>
              </a:spcAft>
              <a:buSzPts val="1100"/>
              <a:buNone/>
            </a:pPr>
            <a:r>
              <a:rPr b="0" i="0" lang="en" sz="1200">
                <a:solidFill>
                  <a:schemeClr val="dk1"/>
                </a:solidFill>
                <a:latin typeface="Helvetica Neue"/>
                <a:ea typeface="Helvetica Neue"/>
                <a:cs typeface="Helvetica Neue"/>
                <a:sym typeface="Helvetica Neue"/>
              </a:rPr>
              <a:t>RPKM:</a:t>
            </a:r>
            <a:endParaRPr/>
          </a:p>
          <a:p>
            <a:pPr indent="0" lvl="0" marL="0" rtl="0" algn="l">
              <a:lnSpc>
                <a:spcPct val="100000"/>
              </a:lnSpc>
              <a:spcBef>
                <a:spcPts val="0"/>
              </a:spcBef>
              <a:spcAft>
                <a:spcPts val="0"/>
              </a:spcAft>
              <a:buSzPts val="1100"/>
              <a:buNone/>
            </a:pPr>
            <a:r>
              <a:rPr b="0" i="0" lang="en" sz="1200">
                <a:solidFill>
                  <a:schemeClr val="dk1"/>
                </a:solidFill>
                <a:latin typeface="Helvetica Neue"/>
                <a:ea typeface="Helvetica Neue"/>
                <a:cs typeface="Helvetica Neue"/>
                <a:sym typeface="Helvetica Neue"/>
              </a:rPr>
              <a:t>Count up the total reads in a sample and divide that number by 1,000,000 – this is our “per million” scaling factor.</a:t>
            </a:r>
            <a:endParaRPr/>
          </a:p>
          <a:p>
            <a:pPr indent="0" lvl="0" marL="0" rtl="0" algn="l">
              <a:lnSpc>
                <a:spcPct val="100000"/>
              </a:lnSpc>
              <a:spcBef>
                <a:spcPts val="0"/>
              </a:spcBef>
              <a:spcAft>
                <a:spcPts val="0"/>
              </a:spcAft>
              <a:buSzPts val="1100"/>
              <a:buNone/>
            </a:pPr>
            <a:r>
              <a:rPr b="0" i="0" lang="en" sz="1200">
                <a:solidFill>
                  <a:schemeClr val="dk1"/>
                </a:solidFill>
                <a:latin typeface="Helvetica Neue"/>
                <a:ea typeface="Helvetica Neue"/>
                <a:cs typeface="Helvetica Neue"/>
                <a:sym typeface="Helvetica Neue"/>
              </a:rPr>
              <a:t>Divide the read counts by the “per million” scaling factor. This normalizes for sequencing depth, giving you reads per million (RPM)</a:t>
            </a:r>
            <a:endParaRPr/>
          </a:p>
          <a:p>
            <a:pPr indent="0" lvl="0" marL="0" rtl="0" algn="l">
              <a:lnSpc>
                <a:spcPct val="100000"/>
              </a:lnSpc>
              <a:spcBef>
                <a:spcPts val="0"/>
              </a:spcBef>
              <a:spcAft>
                <a:spcPts val="0"/>
              </a:spcAft>
              <a:buSzPts val="1100"/>
              <a:buNone/>
            </a:pPr>
            <a:r>
              <a:rPr b="0" i="0" lang="en" sz="1200">
                <a:solidFill>
                  <a:schemeClr val="dk1"/>
                </a:solidFill>
                <a:latin typeface="Helvetica Neue"/>
                <a:ea typeface="Helvetica Neue"/>
                <a:cs typeface="Helvetica Neue"/>
                <a:sym typeface="Helvetica Neue"/>
              </a:rPr>
              <a:t>Divide the RPM values by the length of the gene, in kilobases. This gives you RPKM.</a:t>
            </a:r>
            <a:endParaRPr/>
          </a:p>
          <a:p>
            <a:pPr indent="0" lvl="0" marL="0" rtl="0" algn="l">
              <a:lnSpc>
                <a:spcPct val="100000"/>
              </a:lnSpc>
              <a:spcBef>
                <a:spcPts val="0"/>
              </a:spcBef>
              <a:spcAft>
                <a:spcPts val="0"/>
              </a:spcAft>
              <a:buSzPts val="1100"/>
              <a:buNone/>
            </a:pPr>
            <a:r>
              <a:t/>
            </a:r>
            <a:endParaRPr b="0" i="0" sz="12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SzPts val="1100"/>
              <a:buNone/>
            </a:pPr>
            <a:r>
              <a:rPr b="0" i="0" lang="en" sz="1200">
                <a:solidFill>
                  <a:schemeClr val="dk1"/>
                </a:solidFill>
                <a:latin typeface="Helvetica Neue"/>
                <a:ea typeface="Helvetica Neue"/>
                <a:cs typeface="Helvetica Neue"/>
                <a:sym typeface="Helvetica Neue"/>
              </a:rPr>
              <a:t>FPKM is used especially for normalizing counts for paired-end RNA-seq data in which two (left and right) reads are sequenced from the same DNA fragment. Generally, the higher the FPKM of a gene, the higher the expression of that gene.</a:t>
            </a:r>
            <a:endParaRPr/>
          </a:p>
          <a:p>
            <a:pPr indent="-95250" lvl="0" marL="171450" rtl="0" algn="l">
              <a:lnSpc>
                <a:spcPct val="100000"/>
              </a:lnSpc>
              <a:spcBef>
                <a:spcPts val="0"/>
              </a:spcBef>
              <a:spcAft>
                <a:spcPts val="0"/>
              </a:spcAft>
              <a:buClr>
                <a:schemeClr val="dk1"/>
              </a:buClr>
              <a:buSzPts val="1200"/>
              <a:buFont typeface="Helvetica Neue"/>
              <a:buNone/>
            </a:pPr>
            <a:r>
              <a:t/>
            </a:r>
            <a:endParaRPr/>
          </a:p>
        </p:txBody>
      </p:sp>
      <p:sp>
        <p:nvSpPr>
          <p:cNvPr id="1619" name="Google Shape;1619;g3f9f940f050_1_4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8" name="Shape 1628"/>
        <p:cNvGrpSpPr/>
        <p:nvPr/>
      </p:nvGrpSpPr>
      <p:grpSpPr>
        <a:xfrm>
          <a:off x="0" y="0"/>
          <a:ext cx="0" cy="0"/>
          <a:chOff x="0" y="0"/>
          <a:chExt cx="0" cy="0"/>
        </a:xfrm>
      </p:grpSpPr>
      <p:sp>
        <p:nvSpPr>
          <p:cNvPr id="1629" name="Google Shape;1629;g3f9f940f050_1_4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0" name="Google Shape;1630;g3f9f940f050_1_425: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0" i="0" lang="en" sz="1200">
                <a:solidFill>
                  <a:schemeClr val="dk1"/>
                </a:solidFill>
                <a:latin typeface="Helvetica Neue"/>
                <a:ea typeface="Helvetica Neue"/>
                <a:cs typeface="Helvetica Neue"/>
                <a:sym typeface="Helvetica Neue"/>
              </a:rPr>
              <a:t>https://translational-medicine.biomedcentral.com/articles/10.1186/s12967-021-02936-w</a:t>
            </a:r>
            <a:endParaRPr/>
          </a:p>
          <a:p>
            <a:pPr indent="0" lvl="0" marL="0" rtl="0" algn="l">
              <a:lnSpc>
                <a:spcPct val="100000"/>
              </a:lnSpc>
              <a:spcBef>
                <a:spcPts val="0"/>
              </a:spcBef>
              <a:spcAft>
                <a:spcPts val="0"/>
              </a:spcAft>
              <a:buSzPts val="1100"/>
              <a:buNone/>
            </a:pPr>
            <a:r>
              <a:rPr b="0" i="0" lang="en" sz="1200">
                <a:solidFill>
                  <a:schemeClr val="dk1"/>
                </a:solidFill>
                <a:latin typeface="Helvetica Neue"/>
                <a:ea typeface="Helvetica Neue"/>
                <a:cs typeface="Helvetica Neue"/>
                <a:sym typeface="Helvetica Neue"/>
              </a:rPr>
              <a:t>https://www.biostars.org/p/273537/</a:t>
            </a:r>
            <a:endParaRPr/>
          </a:p>
          <a:p>
            <a:pPr indent="0" lvl="0" marL="0" rtl="0" algn="l">
              <a:lnSpc>
                <a:spcPct val="100000"/>
              </a:lnSpc>
              <a:spcBef>
                <a:spcPts val="0"/>
              </a:spcBef>
              <a:spcAft>
                <a:spcPts val="0"/>
              </a:spcAft>
              <a:buSzPts val="1100"/>
              <a:buNone/>
            </a:pPr>
            <a:r>
              <a:rPr b="0" i="0" lang="en" sz="1200">
                <a:solidFill>
                  <a:schemeClr val="dk1"/>
                </a:solidFill>
                <a:latin typeface="Helvetica Neue"/>
                <a:ea typeface="Helvetica Neue"/>
                <a:cs typeface="Helvetica Neue"/>
                <a:sym typeface="Helvetica Neue"/>
              </a:rPr>
              <a:t>https://www.ncbi.nlm.nih.gov/pmc/articles/PMC7373998/</a:t>
            </a:r>
            <a:endParaRPr/>
          </a:p>
          <a:p>
            <a:pPr indent="0" lvl="0" marL="0" rtl="0" algn="l">
              <a:lnSpc>
                <a:spcPct val="100000"/>
              </a:lnSpc>
              <a:spcBef>
                <a:spcPts val="0"/>
              </a:spcBef>
              <a:spcAft>
                <a:spcPts val="0"/>
              </a:spcAft>
              <a:buSzPts val="1100"/>
              <a:buNone/>
            </a:pPr>
            <a:r>
              <a:rPr b="0" i="0" lang="en" sz="1200">
                <a:solidFill>
                  <a:schemeClr val="dk1"/>
                </a:solidFill>
                <a:latin typeface="Helvetica Neue"/>
                <a:ea typeface="Helvetica Neue"/>
                <a:cs typeface="Helvetica Neue"/>
                <a:sym typeface="Helvetica Neue"/>
              </a:rPr>
              <a:t>TPM:</a:t>
            </a:r>
            <a:endParaRPr/>
          </a:p>
          <a:p>
            <a:pPr indent="0" lvl="0" marL="0" rtl="0" algn="l">
              <a:lnSpc>
                <a:spcPct val="100000"/>
              </a:lnSpc>
              <a:spcBef>
                <a:spcPts val="0"/>
              </a:spcBef>
              <a:spcAft>
                <a:spcPts val="0"/>
              </a:spcAft>
              <a:buSzPts val="1100"/>
              <a:buNone/>
            </a:pPr>
            <a:r>
              <a:rPr b="0" i="0" lang="en" sz="1200">
                <a:solidFill>
                  <a:schemeClr val="dk1"/>
                </a:solidFill>
                <a:latin typeface="Helvetica Neue"/>
                <a:ea typeface="Helvetica Neue"/>
                <a:cs typeface="Helvetica Neue"/>
                <a:sym typeface="Helvetica Neue"/>
              </a:rPr>
              <a:t>Divide the read counts by the length of each gene in kilobases. This gives you reads per kilobase (RPK).</a:t>
            </a:r>
            <a:endParaRPr/>
          </a:p>
          <a:p>
            <a:pPr indent="0" lvl="0" marL="0" rtl="0" algn="l">
              <a:lnSpc>
                <a:spcPct val="100000"/>
              </a:lnSpc>
              <a:spcBef>
                <a:spcPts val="0"/>
              </a:spcBef>
              <a:spcAft>
                <a:spcPts val="0"/>
              </a:spcAft>
              <a:buSzPts val="1100"/>
              <a:buNone/>
            </a:pPr>
            <a:r>
              <a:rPr b="0" i="0" lang="en" sz="1200">
                <a:solidFill>
                  <a:schemeClr val="dk1"/>
                </a:solidFill>
                <a:latin typeface="Helvetica Neue"/>
                <a:ea typeface="Helvetica Neue"/>
                <a:cs typeface="Helvetica Neue"/>
                <a:sym typeface="Helvetica Neue"/>
              </a:rPr>
              <a:t>Count up all the RPK values in a sample and divide this number by 1,000,000. This is your “per million” scaling factor.</a:t>
            </a:r>
            <a:endParaRPr/>
          </a:p>
          <a:p>
            <a:pPr indent="0" lvl="0" marL="0" rtl="0" algn="l">
              <a:lnSpc>
                <a:spcPct val="100000"/>
              </a:lnSpc>
              <a:spcBef>
                <a:spcPts val="0"/>
              </a:spcBef>
              <a:spcAft>
                <a:spcPts val="0"/>
              </a:spcAft>
              <a:buSzPts val="1100"/>
              <a:buNone/>
            </a:pPr>
            <a:r>
              <a:rPr b="0" i="0" lang="en" sz="1200">
                <a:solidFill>
                  <a:schemeClr val="dk1"/>
                </a:solidFill>
                <a:latin typeface="Helvetica Neue"/>
                <a:ea typeface="Helvetica Neue"/>
                <a:cs typeface="Helvetica Neue"/>
                <a:sym typeface="Helvetica Neue"/>
              </a:rPr>
              <a:t>Divide the RPK values by the “per million” scaling factor. This gives you TPM.</a:t>
            </a:r>
            <a:endParaRPr/>
          </a:p>
        </p:txBody>
      </p:sp>
      <p:sp>
        <p:nvSpPr>
          <p:cNvPr id="1631" name="Google Shape;1631;g3f9f940f050_1_4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6" name="Shape 1636"/>
        <p:cNvGrpSpPr/>
        <p:nvPr/>
      </p:nvGrpSpPr>
      <p:grpSpPr>
        <a:xfrm>
          <a:off x="0" y="0"/>
          <a:ext cx="0" cy="0"/>
          <a:chOff x="0" y="0"/>
          <a:chExt cx="0" cy="0"/>
        </a:xfrm>
      </p:grpSpPr>
      <p:sp>
        <p:nvSpPr>
          <p:cNvPr id="1637" name="Google Shape;1637;g3f9f940f050_1_4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8" name="Google Shape;1638;g3f9f940f050_1_432:notes"/>
          <p:cNvSpPr txBox="1"/>
          <p:nvPr>
            <p:ph idx="1" type="body"/>
          </p:nvPr>
        </p:nvSpPr>
        <p:spPr>
          <a:xfrm>
            <a:off x="685800" y="4400549"/>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639" name="Google Shape;1639;g3f9f940f050_1_4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7" name="Shape 1647"/>
        <p:cNvGrpSpPr/>
        <p:nvPr/>
      </p:nvGrpSpPr>
      <p:grpSpPr>
        <a:xfrm>
          <a:off x="0" y="0"/>
          <a:ext cx="0" cy="0"/>
          <a:chOff x="0" y="0"/>
          <a:chExt cx="0" cy="0"/>
        </a:xfrm>
      </p:grpSpPr>
      <p:sp>
        <p:nvSpPr>
          <p:cNvPr id="1648" name="Google Shape;1648;gf18f6784e5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9" name="Google Shape;1649;gf18f6784e5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1.png"/><Relationship Id="rId3"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9.png"/><Relationship Id="rId3" Type="http://schemas.openxmlformats.org/officeDocument/2006/relationships/image" Target="../media/image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9.png"/><Relationship Id="rId3" Type="http://schemas.openxmlformats.org/officeDocument/2006/relationships/image" Target="../media/image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type="obj">
  <p:cSld name="OBJECT">
    <p:spTree>
      <p:nvGrpSpPr>
        <p:cNvPr id="53" name="Shape 53"/>
        <p:cNvGrpSpPr/>
        <p:nvPr/>
      </p:nvGrpSpPr>
      <p:grpSpPr>
        <a:xfrm>
          <a:off x="0" y="0"/>
          <a:ext cx="0" cy="0"/>
          <a:chOff x="0" y="0"/>
          <a:chExt cx="0" cy="0"/>
        </a:xfrm>
      </p:grpSpPr>
      <p:pic>
        <p:nvPicPr>
          <p:cNvPr id="54" name="Google Shape;54;p14"/>
          <p:cNvPicPr preferRelativeResize="0"/>
          <p:nvPr/>
        </p:nvPicPr>
        <p:blipFill rotWithShape="1">
          <a:blip r:embed="rId2">
            <a:alphaModFix/>
          </a:blip>
          <a:srcRect b="0" l="0" r="0" t="0"/>
          <a:stretch/>
        </p:blipFill>
        <p:spPr>
          <a:xfrm>
            <a:off x="-20141" y="-15156"/>
            <a:ext cx="9184283" cy="5173813"/>
          </a:xfrm>
          <a:prstGeom prst="rect">
            <a:avLst/>
          </a:prstGeom>
          <a:noFill/>
          <a:ln>
            <a:noFill/>
          </a:ln>
        </p:spPr>
      </p:pic>
      <p:sp>
        <p:nvSpPr>
          <p:cNvPr id="55" name="Google Shape;55;p14"/>
          <p:cNvSpPr txBox="1"/>
          <p:nvPr>
            <p:ph type="title"/>
          </p:nvPr>
        </p:nvSpPr>
        <p:spPr>
          <a:xfrm>
            <a:off x="628650" y="542405"/>
            <a:ext cx="7886700" cy="457048"/>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chemeClr val="lt1"/>
              </a:buClr>
              <a:buSzPts val="3300"/>
              <a:buFont typeface="Helvetica Neue"/>
              <a:buNone/>
              <a:defRPr>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6" name="Google Shape;56;p14"/>
          <p:cNvSpPr txBox="1"/>
          <p:nvPr>
            <p:ph idx="1" type="body"/>
          </p:nvPr>
        </p:nvSpPr>
        <p:spPr>
          <a:xfrm>
            <a:off x="628650" y="1369219"/>
            <a:ext cx="7886700" cy="1314206"/>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rgbClr val="002A40"/>
              </a:buClr>
              <a:buSzPts val="2100"/>
              <a:buFont typeface="Helvetica Neue"/>
              <a:buNone/>
              <a:defRPr>
                <a:solidFill>
                  <a:srgbClr val="002A40"/>
                </a:solidFill>
              </a:defRPr>
            </a:lvl1pPr>
            <a:lvl2pPr indent="-228600" lvl="1" marL="914400" algn="l">
              <a:lnSpc>
                <a:spcPct val="90000"/>
              </a:lnSpc>
              <a:spcBef>
                <a:spcPts val="400"/>
              </a:spcBef>
              <a:spcAft>
                <a:spcPts val="0"/>
              </a:spcAft>
              <a:buClr>
                <a:srgbClr val="002A40"/>
              </a:buClr>
              <a:buSzPts val="1800"/>
              <a:buFont typeface="Helvetica Neue"/>
              <a:buNone/>
              <a:defRPr>
                <a:solidFill>
                  <a:srgbClr val="002A40"/>
                </a:solidFill>
              </a:defRPr>
            </a:lvl2pPr>
            <a:lvl3pPr indent="-228600" lvl="2" marL="1371600" algn="l">
              <a:lnSpc>
                <a:spcPct val="90000"/>
              </a:lnSpc>
              <a:spcBef>
                <a:spcPts val="400"/>
              </a:spcBef>
              <a:spcAft>
                <a:spcPts val="0"/>
              </a:spcAft>
              <a:buClr>
                <a:srgbClr val="002A40"/>
              </a:buClr>
              <a:buSzPts val="1500"/>
              <a:buFont typeface="Helvetica Neue"/>
              <a:buNone/>
              <a:defRPr>
                <a:solidFill>
                  <a:srgbClr val="002A40"/>
                </a:solidFill>
              </a:defRPr>
            </a:lvl3pPr>
            <a:lvl4pPr indent="-228600" lvl="3" marL="1828800" algn="l">
              <a:lnSpc>
                <a:spcPct val="90000"/>
              </a:lnSpc>
              <a:spcBef>
                <a:spcPts val="400"/>
              </a:spcBef>
              <a:spcAft>
                <a:spcPts val="0"/>
              </a:spcAft>
              <a:buClr>
                <a:srgbClr val="002A40"/>
              </a:buClr>
              <a:buSzPts val="1400"/>
              <a:buFont typeface="Helvetica Neue"/>
              <a:buNone/>
              <a:defRPr>
                <a:solidFill>
                  <a:srgbClr val="002A40"/>
                </a:solidFill>
              </a:defRPr>
            </a:lvl4pPr>
            <a:lvl5pPr indent="-228600" lvl="4" marL="2286000" algn="l">
              <a:lnSpc>
                <a:spcPct val="90000"/>
              </a:lnSpc>
              <a:spcBef>
                <a:spcPts val="400"/>
              </a:spcBef>
              <a:spcAft>
                <a:spcPts val="0"/>
              </a:spcAft>
              <a:buClr>
                <a:srgbClr val="002A40"/>
              </a:buClr>
              <a:buSzPts val="1400"/>
              <a:buFont typeface="Helvetica Neue"/>
              <a:buNone/>
              <a:defRPr>
                <a:solidFill>
                  <a:srgbClr val="002A40"/>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7" name="Shape 57"/>
        <p:cNvGrpSpPr/>
        <p:nvPr/>
      </p:nvGrpSpPr>
      <p:grpSpPr>
        <a:xfrm>
          <a:off x="0" y="0"/>
          <a:ext cx="0" cy="0"/>
          <a:chOff x="0" y="0"/>
          <a:chExt cx="0" cy="0"/>
        </a:xfrm>
      </p:grpSpPr>
      <p:pic>
        <p:nvPicPr>
          <p:cNvPr id="58" name="Google Shape;58;p15"/>
          <p:cNvPicPr preferRelativeResize="0"/>
          <p:nvPr/>
        </p:nvPicPr>
        <p:blipFill rotWithShape="1">
          <a:blip r:embed="rId2">
            <a:alphaModFix/>
          </a:blip>
          <a:srcRect b="0" l="0" r="0" t="0"/>
          <a:stretch/>
        </p:blipFill>
        <p:spPr>
          <a:xfrm>
            <a:off x="-22860" y="-15156"/>
            <a:ext cx="9189720" cy="5173813"/>
          </a:xfrm>
          <a:prstGeom prst="rect">
            <a:avLst/>
          </a:prstGeom>
          <a:noFill/>
          <a:ln>
            <a:noFill/>
          </a:ln>
        </p:spPr>
      </p:pic>
      <p:sp>
        <p:nvSpPr>
          <p:cNvPr id="59" name="Google Shape;59;p15"/>
          <p:cNvSpPr txBox="1"/>
          <p:nvPr>
            <p:ph type="title"/>
          </p:nvPr>
        </p:nvSpPr>
        <p:spPr>
          <a:xfrm>
            <a:off x="628650" y="542405"/>
            <a:ext cx="7886700" cy="457048"/>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chemeClr val="lt1"/>
              </a:buClr>
              <a:buSzPts val="3300"/>
              <a:buFont typeface="Helvetica Neue"/>
              <a:buNone/>
              <a:defRPr>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0" name="Google Shape;60;p15"/>
          <p:cNvSpPr txBox="1"/>
          <p:nvPr>
            <p:ph idx="1" type="body"/>
          </p:nvPr>
        </p:nvSpPr>
        <p:spPr>
          <a:xfrm>
            <a:off x="628650" y="1369219"/>
            <a:ext cx="7886700" cy="1314206"/>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chemeClr val="lt1"/>
              </a:buClr>
              <a:buSzPts val="2100"/>
              <a:buFont typeface="Helvetica Neue"/>
              <a:buNone/>
              <a:defRPr>
                <a:solidFill>
                  <a:schemeClr val="lt1"/>
                </a:solidFill>
              </a:defRPr>
            </a:lvl1pPr>
            <a:lvl2pPr indent="-228600" lvl="1" marL="914400" algn="l">
              <a:lnSpc>
                <a:spcPct val="90000"/>
              </a:lnSpc>
              <a:spcBef>
                <a:spcPts val="400"/>
              </a:spcBef>
              <a:spcAft>
                <a:spcPts val="0"/>
              </a:spcAft>
              <a:buClr>
                <a:schemeClr val="lt1"/>
              </a:buClr>
              <a:buSzPts val="1800"/>
              <a:buFont typeface="Helvetica Neue"/>
              <a:buNone/>
              <a:defRPr>
                <a:solidFill>
                  <a:schemeClr val="lt1"/>
                </a:solidFill>
              </a:defRPr>
            </a:lvl2pPr>
            <a:lvl3pPr indent="-228600" lvl="2" marL="1371600" algn="l">
              <a:lnSpc>
                <a:spcPct val="90000"/>
              </a:lnSpc>
              <a:spcBef>
                <a:spcPts val="400"/>
              </a:spcBef>
              <a:spcAft>
                <a:spcPts val="0"/>
              </a:spcAft>
              <a:buClr>
                <a:schemeClr val="lt1"/>
              </a:buClr>
              <a:buSzPts val="1500"/>
              <a:buFont typeface="Helvetica Neue"/>
              <a:buNone/>
              <a:defRPr>
                <a:solidFill>
                  <a:schemeClr val="lt1"/>
                </a:solidFill>
              </a:defRPr>
            </a:lvl3pPr>
            <a:lvl4pPr indent="-228600" lvl="3" marL="1828800" algn="l">
              <a:lnSpc>
                <a:spcPct val="90000"/>
              </a:lnSpc>
              <a:spcBef>
                <a:spcPts val="400"/>
              </a:spcBef>
              <a:spcAft>
                <a:spcPts val="0"/>
              </a:spcAft>
              <a:buClr>
                <a:schemeClr val="lt1"/>
              </a:buClr>
              <a:buSzPts val="1400"/>
              <a:buFont typeface="Helvetica Neue"/>
              <a:buNone/>
              <a:defRPr>
                <a:solidFill>
                  <a:schemeClr val="lt1"/>
                </a:solidFill>
              </a:defRPr>
            </a:lvl4pPr>
            <a:lvl5pPr indent="-228600" lvl="4" marL="2286000" algn="l">
              <a:lnSpc>
                <a:spcPct val="90000"/>
              </a:lnSpc>
              <a:spcBef>
                <a:spcPts val="400"/>
              </a:spcBef>
              <a:spcAft>
                <a:spcPts val="0"/>
              </a:spcAft>
              <a:buClr>
                <a:schemeClr val="lt1"/>
              </a:buClr>
              <a:buSzPts val="1400"/>
              <a:buFont typeface="Helvetica Neue"/>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1" name="Shape 61"/>
        <p:cNvGrpSpPr/>
        <p:nvPr/>
      </p:nvGrpSpPr>
      <p:grpSpPr>
        <a:xfrm>
          <a:off x="0" y="0"/>
          <a:ext cx="0" cy="0"/>
          <a:chOff x="0" y="0"/>
          <a:chExt cx="0" cy="0"/>
        </a:xfrm>
      </p:grpSpPr>
      <p:sp>
        <p:nvSpPr>
          <p:cNvPr id="62" name="Google Shape;62;p16"/>
          <p:cNvSpPr/>
          <p:nvPr/>
        </p:nvSpPr>
        <p:spPr>
          <a:xfrm>
            <a:off x="0" y="0"/>
            <a:ext cx="9144000" cy="5143500"/>
          </a:xfrm>
          <a:prstGeom prst="rect">
            <a:avLst/>
          </a:prstGeom>
          <a:solidFill>
            <a:srgbClr val="002A40"/>
          </a:solidFill>
          <a:ln cap="flat" cmpd="sng" w="12700">
            <a:solidFill>
              <a:srgbClr val="001E2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Helvetica Neue"/>
              <a:ea typeface="Helvetica Neue"/>
              <a:cs typeface="Helvetica Neue"/>
              <a:sym typeface="Helvetica Neue"/>
            </a:endParaRPr>
          </a:p>
        </p:txBody>
      </p:sp>
      <p:sp>
        <p:nvSpPr>
          <p:cNvPr id="63" name="Google Shape;63;p16"/>
          <p:cNvSpPr txBox="1"/>
          <p:nvPr>
            <p:ph type="ctrTitle"/>
          </p:nvPr>
        </p:nvSpPr>
        <p:spPr>
          <a:xfrm>
            <a:off x="1143000" y="841772"/>
            <a:ext cx="6858000" cy="1790700"/>
          </a:xfrm>
          <a:prstGeom prst="rect">
            <a:avLst/>
          </a:prstGeom>
          <a:noFill/>
          <a:ln>
            <a:noFill/>
          </a:ln>
        </p:spPr>
        <p:txBody>
          <a:bodyPr anchorCtr="0" anchor="b" bIns="0" lIns="0" spcFirstLastPara="1" rIns="0" wrap="square" tIns="0">
            <a:spAutoFit/>
          </a:bodyPr>
          <a:lstStyle>
            <a:lvl1pPr lvl="0" algn="ctr">
              <a:lnSpc>
                <a:spcPct val="90000"/>
              </a:lnSpc>
              <a:spcBef>
                <a:spcPts val="0"/>
              </a:spcBef>
              <a:spcAft>
                <a:spcPts val="0"/>
              </a:spcAft>
              <a:buClr>
                <a:schemeClr val="lt1"/>
              </a:buClr>
              <a:buSzPts val="4500"/>
              <a:buFont typeface="Helvetica Neue"/>
              <a:buNone/>
              <a:defRPr sz="45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4" name="Google Shape;64;p16"/>
          <p:cNvSpPr txBox="1"/>
          <p:nvPr>
            <p:ph idx="1" type="subTitle"/>
          </p:nvPr>
        </p:nvSpPr>
        <p:spPr>
          <a:xfrm>
            <a:off x="1143000" y="2701528"/>
            <a:ext cx="6858000" cy="1241821"/>
          </a:xfrm>
          <a:prstGeom prst="rect">
            <a:avLst/>
          </a:prstGeom>
          <a:noFill/>
          <a:ln>
            <a:noFill/>
          </a:ln>
        </p:spPr>
        <p:txBody>
          <a:bodyPr anchorCtr="0" anchor="t" bIns="0" lIns="0" spcFirstLastPara="1" rIns="0" wrap="square" tIns="0">
            <a:spAutoFit/>
          </a:bodyPr>
          <a:lstStyle>
            <a:lvl1pPr lvl="0" algn="ctr">
              <a:lnSpc>
                <a:spcPct val="90000"/>
              </a:lnSpc>
              <a:spcBef>
                <a:spcPts val="800"/>
              </a:spcBef>
              <a:spcAft>
                <a:spcPts val="0"/>
              </a:spcAft>
              <a:buClr>
                <a:srgbClr val="CD28A3"/>
              </a:buClr>
              <a:buSzPts val="1800"/>
              <a:buFont typeface="Helvetica Neue"/>
              <a:buNone/>
              <a:defRPr sz="1800">
                <a:solidFill>
                  <a:srgbClr val="CD28A3"/>
                </a:solidFill>
              </a:defRPr>
            </a:lvl1pPr>
            <a:lvl2pPr lvl="1" algn="ctr">
              <a:lnSpc>
                <a:spcPct val="90000"/>
              </a:lnSpc>
              <a:spcBef>
                <a:spcPts val="400"/>
              </a:spcBef>
              <a:spcAft>
                <a:spcPts val="0"/>
              </a:spcAft>
              <a:buClr>
                <a:schemeClr val="dk1"/>
              </a:buClr>
              <a:buSzPts val="1500"/>
              <a:buFont typeface="Helvetica Neue"/>
              <a:buNone/>
              <a:defRPr sz="1500"/>
            </a:lvl2pPr>
            <a:lvl3pPr lvl="2" algn="ctr">
              <a:lnSpc>
                <a:spcPct val="90000"/>
              </a:lnSpc>
              <a:spcBef>
                <a:spcPts val="400"/>
              </a:spcBef>
              <a:spcAft>
                <a:spcPts val="0"/>
              </a:spcAft>
              <a:buClr>
                <a:schemeClr val="dk1"/>
              </a:buClr>
              <a:buSzPts val="1400"/>
              <a:buFont typeface="Helvetica Neue"/>
              <a:buNone/>
              <a:defRPr sz="1400"/>
            </a:lvl3pPr>
            <a:lvl4pPr lvl="3" algn="ctr">
              <a:lnSpc>
                <a:spcPct val="90000"/>
              </a:lnSpc>
              <a:spcBef>
                <a:spcPts val="400"/>
              </a:spcBef>
              <a:spcAft>
                <a:spcPts val="0"/>
              </a:spcAft>
              <a:buClr>
                <a:schemeClr val="dk1"/>
              </a:buClr>
              <a:buSzPts val="1200"/>
              <a:buFont typeface="Helvetica Neue"/>
              <a:buNone/>
              <a:defRPr sz="1200"/>
            </a:lvl4pPr>
            <a:lvl5pPr lvl="4" algn="ctr">
              <a:lnSpc>
                <a:spcPct val="90000"/>
              </a:lnSpc>
              <a:spcBef>
                <a:spcPts val="400"/>
              </a:spcBef>
              <a:spcAft>
                <a:spcPts val="0"/>
              </a:spcAft>
              <a:buClr>
                <a:schemeClr val="dk1"/>
              </a:buClr>
              <a:buSzPts val="1200"/>
              <a:buFont typeface="Helvetica Neue"/>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65" name="Shape 65"/>
        <p:cNvGrpSpPr/>
        <p:nvPr/>
      </p:nvGrpSpPr>
      <p:grpSpPr>
        <a:xfrm>
          <a:off x="0" y="0"/>
          <a:ext cx="0" cy="0"/>
          <a:chOff x="0" y="0"/>
          <a:chExt cx="0" cy="0"/>
        </a:xfrm>
      </p:grpSpPr>
      <p:sp>
        <p:nvSpPr>
          <p:cNvPr id="66" name="Google Shape;66;p17"/>
          <p:cNvSpPr txBox="1"/>
          <p:nvPr>
            <p:ph type="ctrTitle"/>
          </p:nvPr>
        </p:nvSpPr>
        <p:spPr>
          <a:xfrm>
            <a:off x="1143000" y="841772"/>
            <a:ext cx="6858000" cy="1790700"/>
          </a:xfrm>
          <a:prstGeom prst="rect">
            <a:avLst/>
          </a:prstGeom>
          <a:noFill/>
          <a:ln>
            <a:noFill/>
          </a:ln>
        </p:spPr>
        <p:txBody>
          <a:bodyPr anchorCtr="0" anchor="b" bIns="0" lIns="0" spcFirstLastPara="1" rIns="0" wrap="square" tIns="0">
            <a:spAutoFit/>
          </a:bodyPr>
          <a:lstStyle>
            <a:lvl1pPr lvl="0" algn="ctr">
              <a:lnSpc>
                <a:spcPct val="90000"/>
              </a:lnSpc>
              <a:spcBef>
                <a:spcPts val="0"/>
              </a:spcBef>
              <a:spcAft>
                <a:spcPts val="0"/>
              </a:spcAft>
              <a:buClr>
                <a:srgbClr val="002A40"/>
              </a:buClr>
              <a:buSzPts val="4500"/>
              <a:buFont typeface="Helvetica Neue"/>
              <a:buNone/>
              <a:defRPr sz="4500">
                <a:solidFill>
                  <a:srgbClr val="002A40"/>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7" name="Google Shape;67;p17"/>
          <p:cNvSpPr txBox="1"/>
          <p:nvPr>
            <p:ph idx="1" type="subTitle"/>
          </p:nvPr>
        </p:nvSpPr>
        <p:spPr>
          <a:xfrm>
            <a:off x="1143000" y="2701528"/>
            <a:ext cx="6858000" cy="1241821"/>
          </a:xfrm>
          <a:prstGeom prst="rect">
            <a:avLst/>
          </a:prstGeom>
          <a:noFill/>
          <a:ln>
            <a:noFill/>
          </a:ln>
        </p:spPr>
        <p:txBody>
          <a:bodyPr anchorCtr="0" anchor="t" bIns="0" lIns="0" spcFirstLastPara="1" rIns="0" wrap="square" tIns="0">
            <a:spAutoFit/>
          </a:bodyPr>
          <a:lstStyle>
            <a:lvl1pPr lvl="0" algn="ctr">
              <a:lnSpc>
                <a:spcPct val="90000"/>
              </a:lnSpc>
              <a:spcBef>
                <a:spcPts val="800"/>
              </a:spcBef>
              <a:spcAft>
                <a:spcPts val="0"/>
              </a:spcAft>
              <a:buClr>
                <a:srgbClr val="CD28A3"/>
              </a:buClr>
              <a:buSzPts val="1800"/>
              <a:buFont typeface="Helvetica Neue"/>
              <a:buNone/>
              <a:defRPr sz="1800">
                <a:solidFill>
                  <a:srgbClr val="CD28A3"/>
                </a:solidFill>
              </a:defRPr>
            </a:lvl1pPr>
            <a:lvl2pPr lvl="1" algn="ctr">
              <a:lnSpc>
                <a:spcPct val="90000"/>
              </a:lnSpc>
              <a:spcBef>
                <a:spcPts val="400"/>
              </a:spcBef>
              <a:spcAft>
                <a:spcPts val="0"/>
              </a:spcAft>
              <a:buClr>
                <a:schemeClr val="dk1"/>
              </a:buClr>
              <a:buSzPts val="1500"/>
              <a:buFont typeface="Helvetica Neue"/>
              <a:buNone/>
              <a:defRPr sz="1500"/>
            </a:lvl2pPr>
            <a:lvl3pPr lvl="2" algn="ctr">
              <a:lnSpc>
                <a:spcPct val="90000"/>
              </a:lnSpc>
              <a:spcBef>
                <a:spcPts val="400"/>
              </a:spcBef>
              <a:spcAft>
                <a:spcPts val="0"/>
              </a:spcAft>
              <a:buClr>
                <a:schemeClr val="dk1"/>
              </a:buClr>
              <a:buSzPts val="1400"/>
              <a:buFont typeface="Helvetica Neue"/>
              <a:buNone/>
              <a:defRPr sz="1400"/>
            </a:lvl3pPr>
            <a:lvl4pPr lvl="3" algn="ctr">
              <a:lnSpc>
                <a:spcPct val="90000"/>
              </a:lnSpc>
              <a:spcBef>
                <a:spcPts val="400"/>
              </a:spcBef>
              <a:spcAft>
                <a:spcPts val="0"/>
              </a:spcAft>
              <a:buClr>
                <a:schemeClr val="dk1"/>
              </a:buClr>
              <a:buSzPts val="1200"/>
              <a:buFont typeface="Helvetica Neue"/>
              <a:buNone/>
              <a:defRPr sz="1200"/>
            </a:lvl4pPr>
            <a:lvl5pPr lvl="4" algn="ctr">
              <a:lnSpc>
                <a:spcPct val="90000"/>
              </a:lnSpc>
              <a:spcBef>
                <a:spcPts val="400"/>
              </a:spcBef>
              <a:spcAft>
                <a:spcPts val="0"/>
              </a:spcAft>
              <a:buClr>
                <a:schemeClr val="dk1"/>
              </a:buClr>
              <a:buSzPts val="1200"/>
              <a:buFont typeface="Helvetica Neue"/>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68" name="Shape 68"/>
        <p:cNvGrpSpPr/>
        <p:nvPr/>
      </p:nvGrpSpPr>
      <p:grpSpPr>
        <a:xfrm>
          <a:off x="0" y="0"/>
          <a:ext cx="0" cy="0"/>
          <a:chOff x="0" y="0"/>
          <a:chExt cx="0" cy="0"/>
        </a:xfrm>
      </p:grpSpPr>
      <p:sp>
        <p:nvSpPr>
          <p:cNvPr id="69" name="Google Shape;69;p18"/>
          <p:cNvSpPr txBox="1"/>
          <p:nvPr>
            <p:ph type="title"/>
          </p:nvPr>
        </p:nvSpPr>
        <p:spPr>
          <a:xfrm>
            <a:off x="628650" y="542405"/>
            <a:ext cx="7886700" cy="457048"/>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0" name="Google Shape;70;p18"/>
          <p:cNvSpPr txBox="1"/>
          <p:nvPr>
            <p:ph idx="1" type="body"/>
          </p:nvPr>
        </p:nvSpPr>
        <p:spPr>
          <a:xfrm>
            <a:off x="628650" y="1369219"/>
            <a:ext cx="7886700" cy="1314206"/>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rgbClr val="CD28A3"/>
              </a:buClr>
              <a:buSzPts val="2100"/>
              <a:buFont typeface="Helvetica Neue"/>
              <a:buNone/>
              <a:defRPr>
                <a:solidFill>
                  <a:srgbClr val="CD28A3"/>
                </a:solidFill>
              </a:defRPr>
            </a:lvl1pPr>
            <a:lvl2pPr indent="-228600" lvl="1" marL="914400" algn="l">
              <a:lnSpc>
                <a:spcPct val="90000"/>
              </a:lnSpc>
              <a:spcBef>
                <a:spcPts val="400"/>
              </a:spcBef>
              <a:spcAft>
                <a:spcPts val="0"/>
              </a:spcAft>
              <a:buClr>
                <a:schemeClr val="dk1"/>
              </a:buClr>
              <a:buSzPts val="1800"/>
              <a:buFont typeface="Helvetica Neue"/>
              <a:buNone/>
              <a:defRPr/>
            </a:lvl2pPr>
            <a:lvl3pPr indent="-228600" lvl="2" marL="1371600" algn="l">
              <a:lnSpc>
                <a:spcPct val="90000"/>
              </a:lnSpc>
              <a:spcBef>
                <a:spcPts val="400"/>
              </a:spcBef>
              <a:spcAft>
                <a:spcPts val="0"/>
              </a:spcAft>
              <a:buClr>
                <a:schemeClr val="dk1"/>
              </a:buClr>
              <a:buSzPts val="1500"/>
              <a:buFont typeface="Helvetica Neue"/>
              <a:buNone/>
              <a:defRPr/>
            </a:lvl3pPr>
            <a:lvl4pPr indent="-228600" lvl="3" marL="1828800" algn="l">
              <a:lnSpc>
                <a:spcPct val="90000"/>
              </a:lnSpc>
              <a:spcBef>
                <a:spcPts val="400"/>
              </a:spcBef>
              <a:spcAft>
                <a:spcPts val="0"/>
              </a:spcAft>
              <a:buClr>
                <a:schemeClr val="dk1"/>
              </a:buClr>
              <a:buSzPts val="1400"/>
              <a:buFont typeface="Helvetica Neue"/>
              <a:buNone/>
              <a:defRPr/>
            </a:lvl4pPr>
            <a:lvl5pPr indent="-228600" lvl="4" marL="2286000" algn="l">
              <a:lnSpc>
                <a:spcPct val="90000"/>
              </a:lnSpc>
              <a:spcBef>
                <a:spcPts val="400"/>
              </a:spcBef>
              <a:spcAft>
                <a:spcPts val="0"/>
              </a:spcAft>
              <a:buClr>
                <a:schemeClr val="dk1"/>
              </a:buClr>
              <a:buSzPts val="1400"/>
              <a:buFont typeface="Helvetica Neue"/>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71" name="Shape 71"/>
        <p:cNvGrpSpPr/>
        <p:nvPr/>
      </p:nvGrpSpPr>
      <p:grpSpPr>
        <a:xfrm>
          <a:off x="0" y="0"/>
          <a:ext cx="0" cy="0"/>
          <a:chOff x="0" y="0"/>
          <a:chExt cx="0" cy="0"/>
        </a:xfrm>
      </p:grpSpPr>
      <p:sp>
        <p:nvSpPr>
          <p:cNvPr id="72" name="Google Shape;72;p19"/>
          <p:cNvSpPr/>
          <p:nvPr/>
        </p:nvSpPr>
        <p:spPr>
          <a:xfrm>
            <a:off x="0" y="0"/>
            <a:ext cx="9144000" cy="5143500"/>
          </a:xfrm>
          <a:prstGeom prst="rect">
            <a:avLst/>
          </a:prstGeom>
          <a:solidFill>
            <a:srgbClr val="002A40"/>
          </a:solidFill>
          <a:ln cap="flat" cmpd="sng" w="12700">
            <a:solidFill>
              <a:srgbClr val="001E2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Helvetica Neue"/>
              <a:ea typeface="Helvetica Neue"/>
              <a:cs typeface="Helvetica Neue"/>
              <a:sym typeface="Helvetica Neue"/>
            </a:endParaRPr>
          </a:p>
        </p:txBody>
      </p:sp>
      <p:sp>
        <p:nvSpPr>
          <p:cNvPr id="73" name="Google Shape;73;p19"/>
          <p:cNvSpPr txBox="1"/>
          <p:nvPr>
            <p:ph type="title"/>
          </p:nvPr>
        </p:nvSpPr>
        <p:spPr>
          <a:xfrm>
            <a:off x="628650" y="542405"/>
            <a:ext cx="7886700" cy="457048"/>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chemeClr val="lt1"/>
              </a:buClr>
              <a:buSzPts val="3300"/>
              <a:buFont typeface="Helvetica Neue"/>
              <a:buNone/>
              <a:defRPr>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4" name="Google Shape;74;p19"/>
          <p:cNvSpPr txBox="1"/>
          <p:nvPr>
            <p:ph idx="1" type="body"/>
          </p:nvPr>
        </p:nvSpPr>
        <p:spPr>
          <a:xfrm>
            <a:off x="628650" y="1369219"/>
            <a:ext cx="7886700" cy="1314206"/>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rgbClr val="CD28A3"/>
              </a:buClr>
              <a:buSzPts val="2100"/>
              <a:buFont typeface="Helvetica Neue"/>
              <a:buNone/>
              <a:defRPr>
                <a:solidFill>
                  <a:srgbClr val="CD28A3"/>
                </a:solidFill>
              </a:defRPr>
            </a:lvl1pPr>
            <a:lvl2pPr indent="-228600" lvl="1" marL="914400" algn="l">
              <a:lnSpc>
                <a:spcPct val="90000"/>
              </a:lnSpc>
              <a:spcBef>
                <a:spcPts val="400"/>
              </a:spcBef>
              <a:spcAft>
                <a:spcPts val="0"/>
              </a:spcAft>
              <a:buClr>
                <a:schemeClr val="lt1"/>
              </a:buClr>
              <a:buSzPts val="1800"/>
              <a:buFont typeface="Helvetica Neue"/>
              <a:buNone/>
              <a:defRPr>
                <a:solidFill>
                  <a:schemeClr val="lt1"/>
                </a:solidFill>
              </a:defRPr>
            </a:lvl2pPr>
            <a:lvl3pPr indent="-228600" lvl="2" marL="1371600" algn="l">
              <a:lnSpc>
                <a:spcPct val="90000"/>
              </a:lnSpc>
              <a:spcBef>
                <a:spcPts val="400"/>
              </a:spcBef>
              <a:spcAft>
                <a:spcPts val="0"/>
              </a:spcAft>
              <a:buClr>
                <a:schemeClr val="lt1"/>
              </a:buClr>
              <a:buSzPts val="1500"/>
              <a:buFont typeface="Helvetica Neue"/>
              <a:buNone/>
              <a:defRPr>
                <a:solidFill>
                  <a:schemeClr val="lt1"/>
                </a:solidFill>
              </a:defRPr>
            </a:lvl3pPr>
            <a:lvl4pPr indent="-228600" lvl="3" marL="1828800" algn="l">
              <a:lnSpc>
                <a:spcPct val="90000"/>
              </a:lnSpc>
              <a:spcBef>
                <a:spcPts val="400"/>
              </a:spcBef>
              <a:spcAft>
                <a:spcPts val="0"/>
              </a:spcAft>
              <a:buClr>
                <a:schemeClr val="lt1"/>
              </a:buClr>
              <a:buSzPts val="1400"/>
              <a:buFont typeface="Helvetica Neue"/>
              <a:buNone/>
              <a:defRPr>
                <a:solidFill>
                  <a:schemeClr val="lt1"/>
                </a:solidFill>
              </a:defRPr>
            </a:lvl4pPr>
            <a:lvl5pPr indent="-228600" lvl="4" marL="2286000" algn="l">
              <a:lnSpc>
                <a:spcPct val="90000"/>
              </a:lnSpc>
              <a:spcBef>
                <a:spcPts val="400"/>
              </a:spcBef>
              <a:spcAft>
                <a:spcPts val="0"/>
              </a:spcAft>
              <a:buClr>
                <a:schemeClr val="lt1"/>
              </a:buClr>
              <a:buSzPts val="1400"/>
              <a:buFont typeface="Helvetica Neue"/>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5" name="Shape 75"/>
        <p:cNvGrpSpPr/>
        <p:nvPr/>
      </p:nvGrpSpPr>
      <p:grpSpPr>
        <a:xfrm>
          <a:off x="0" y="0"/>
          <a:ext cx="0" cy="0"/>
          <a:chOff x="0" y="0"/>
          <a:chExt cx="0" cy="0"/>
        </a:xfrm>
      </p:grpSpPr>
      <p:sp>
        <p:nvSpPr>
          <p:cNvPr id="76" name="Google Shape;76;p20"/>
          <p:cNvSpPr txBox="1"/>
          <p:nvPr>
            <p:ph type="title"/>
          </p:nvPr>
        </p:nvSpPr>
        <p:spPr>
          <a:xfrm>
            <a:off x="623888" y="1282304"/>
            <a:ext cx="7886700" cy="2139553"/>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002A40"/>
              </a:buClr>
              <a:buSzPts val="4500"/>
              <a:buFont typeface="Helvetica Neue"/>
              <a:buNone/>
              <a:defRPr sz="4500">
                <a:solidFill>
                  <a:srgbClr val="002A40"/>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7" name="Google Shape;77;p20"/>
          <p:cNvSpPr txBox="1"/>
          <p:nvPr>
            <p:ph idx="1" type="body"/>
          </p:nvPr>
        </p:nvSpPr>
        <p:spPr>
          <a:xfrm>
            <a:off x="623888" y="3442097"/>
            <a:ext cx="7886700" cy="112514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rgbClr val="888888"/>
              </a:buClr>
              <a:buSzPts val="1800"/>
              <a:buFont typeface="Helvetica Neue"/>
              <a:buNone/>
              <a:defRPr sz="1800">
                <a:solidFill>
                  <a:srgbClr val="888888"/>
                </a:solidFill>
              </a:defRPr>
            </a:lvl1pPr>
            <a:lvl2pPr indent="-228600" lvl="1" marL="914400" algn="l">
              <a:lnSpc>
                <a:spcPct val="90000"/>
              </a:lnSpc>
              <a:spcBef>
                <a:spcPts val="400"/>
              </a:spcBef>
              <a:spcAft>
                <a:spcPts val="0"/>
              </a:spcAft>
              <a:buClr>
                <a:srgbClr val="888888"/>
              </a:buClr>
              <a:buSzPts val="1500"/>
              <a:buFont typeface="Helvetica Neue"/>
              <a:buNone/>
              <a:defRPr sz="1500">
                <a:solidFill>
                  <a:srgbClr val="888888"/>
                </a:solidFill>
              </a:defRPr>
            </a:lvl2pPr>
            <a:lvl3pPr indent="-228600" lvl="2" marL="1371600" algn="l">
              <a:lnSpc>
                <a:spcPct val="90000"/>
              </a:lnSpc>
              <a:spcBef>
                <a:spcPts val="400"/>
              </a:spcBef>
              <a:spcAft>
                <a:spcPts val="0"/>
              </a:spcAft>
              <a:buClr>
                <a:srgbClr val="888888"/>
              </a:buClr>
              <a:buSzPts val="1400"/>
              <a:buFont typeface="Helvetica Neue"/>
              <a:buNone/>
              <a:defRPr sz="1400">
                <a:solidFill>
                  <a:srgbClr val="888888"/>
                </a:solidFill>
              </a:defRPr>
            </a:lvl3pPr>
            <a:lvl4pPr indent="-228600" lvl="3" marL="1828800" algn="l">
              <a:lnSpc>
                <a:spcPct val="90000"/>
              </a:lnSpc>
              <a:spcBef>
                <a:spcPts val="400"/>
              </a:spcBef>
              <a:spcAft>
                <a:spcPts val="0"/>
              </a:spcAft>
              <a:buClr>
                <a:srgbClr val="888888"/>
              </a:buClr>
              <a:buSzPts val="1200"/>
              <a:buFont typeface="Helvetica Neue"/>
              <a:buNone/>
              <a:defRPr sz="1200">
                <a:solidFill>
                  <a:srgbClr val="888888"/>
                </a:solidFill>
              </a:defRPr>
            </a:lvl4pPr>
            <a:lvl5pPr indent="-228600" lvl="4" marL="2286000" algn="l">
              <a:lnSpc>
                <a:spcPct val="90000"/>
              </a:lnSpc>
              <a:spcBef>
                <a:spcPts val="400"/>
              </a:spcBef>
              <a:spcAft>
                <a:spcPts val="0"/>
              </a:spcAft>
              <a:buClr>
                <a:srgbClr val="888888"/>
              </a:buClr>
              <a:buSzPts val="1200"/>
              <a:buFont typeface="Helvetica Neue"/>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78" name="Shape 78"/>
        <p:cNvGrpSpPr/>
        <p:nvPr/>
      </p:nvGrpSpPr>
      <p:grpSpPr>
        <a:xfrm>
          <a:off x="0" y="0"/>
          <a:ext cx="0" cy="0"/>
          <a:chOff x="0" y="0"/>
          <a:chExt cx="0" cy="0"/>
        </a:xfrm>
      </p:grpSpPr>
      <p:sp>
        <p:nvSpPr>
          <p:cNvPr id="79" name="Google Shape;79;p21"/>
          <p:cNvSpPr txBox="1"/>
          <p:nvPr>
            <p:ph idx="1" type="body"/>
          </p:nvPr>
        </p:nvSpPr>
        <p:spPr>
          <a:xfrm>
            <a:off x="628650" y="1369219"/>
            <a:ext cx="3886200" cy="3263504"/>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rgbClr val="002A40"/>
              </a:buClr>
              <a:buSzPts val="2100"/>
              <a:buFont typeface="Helvetica Neue"/>
              <a:buNone/>
              <a:defRPr>
                <a:solidFill>
                  <a:srgbClr val="002A40"/>
                </a:solidFill>
              </a:defRPr>
            </a:lvl1pPr>
            <a:lvl2pPr indent="-228600" lvl="1" marL="914400" algn="l">
              <a:lnSpc>
                <a:spcPct val="90000"/>
              </a:lnSpc>
              <a:spcBef>
                <a:spcPts val="400"/>
              </a:spcBef>
              <a:spcAft>
                <a:spcPts val="0"/>
              </a:spcAft>
              <a:buClr>
                <a:srgbClr val="002A40"/>
              </a:buClr>
              <a:buSzPts val="1800"/>
              <a:buFont typeface="Helvetica Neue"/>
              <a:buNone/>
              <a:defRPr>
                <a:solidFill>
                  <a:srgbClr val="002A40"/>
                </a:solidFill>
              </a:defRPr>
            </a:lvl2pPr>
            <a:lvl3pPr indent="-228600" lvl="2" marL="1371600" algn="l">
              <a:lnSpc>
                <a:spcPct val="90000"/>
              </a:lnSpc>
              <a:spcBef>
                <a:spcPts val="400"/>
              </a:spcBef>
              <a:spcAft>
                <a:spcPts val="0"/>
              </a:spcAft>
              <a:buClr>
                <a:srgbClr val="002A40"/>
              </a:buClr>
              <a:buSzPts val="1500"/>
              <a:buFont typeface="Helvetica Neue"/>
              <a:buNone/>
              <a:defRPr>
                <a:solidFill>
                  <a:srgbClr val="002A40"/>
                </a:solidFill>
              </a:defRPr>
            </a:lvl3pPr>
            <a:lvl4pPr indent="-228600" lvl="3" marL="1828800" algn="l">
              <a:lnSpc>
                <a:spcPct val="90000"/>
              </a:lnSpc>
              <a:spcBef>
                <a:spcPts val="400"/>
              </a:spcBef>
              <a:spcAft>
                <a:spcPts val="0"/>
              </a:spcAft>
              <a:buClr>
                <a:srgbClr val="002A40"/>
              </a:buClr>
              <a:buSzPts val="1400"/>
              <a:buFont typeface="Helvetica Neue"/>
              <a:buNone/>
              <a:defRPr>
                <a:solidFill>
                  <a:srgbClr val="002A40"/>
                </a:solidFill>
              </a:defRPr>
            </a:lvl4pPr>
            <a:lvl5pPr indent="-228600" lvl="4" marL="2286000" algn="l">
              <a:lnSpc>
                <a:spcPct val="90000"/>
              </a:lnSpc>
              <a:spcBef>
                <a:spcPts val="400"/>
              </a:spcBef>
              <a:spcAft>
                <a:spcPts val="0"/>
              </a:spcAft>
              <a:buClr>
                <a:srgbClr val="002A40"/>
              </a:buClr>
              <a:buSzPts val="1400"/>
              <a:buFont typeface="Helvetica Neue"/>
              <a:buNone/>
              <a:defRPr>
                <a:solidFill>
                  <a:srgbClr val="002A40"/>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0" name="Google Shape;80;p21"/>
          <p:cNvSpPr txBox="1"/>
          <p:nvPr>
            <p:ph idx="2" type="body"/>
          </p:nvPr>
        </p:nvSpPr>
        <p:spPr>
          <a:xfrm>
            <a:off x="4629150" y="1369219"/>
            <a:ext cx="3886200" cy="3263504"/>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rgbClr val="002A40"/>
              </a:buClr>
              <a:buSzPts val="2100"/>
              <a:buFont typeface="Helvetica Neue"/>
              <a:buNone/>
              <a:defRPr>
                <a:solidFill>
                  <a:srgbClr val="002A40"/>
                </a:solidFill>
              </a:defRPr>
            </a:lvl1pPr>
            <a:lvl2pPr indent="-228600" lvl="1" marL="914400" algn="l">
              <a:lnSpc>
                <a:spcPct val="90000"/>
              </a:lnSpc>
              <a:spcBef>
                <a:spcPts val="400"/>
              </a:spcBef>
              <a:spcAft>
                <a:spcPts val="0"/>
              </a:spcAft>
              <a:buClr>
                <a:srgbClr val="002A40"/>
              </a:buClr>
              <a:buSzPts val="1800"/>
              <a:buFont typeface="Helvetica Neue"/>
              <a:buNone/>
              <a:defRPr>
                <a:solidFill>
                  <a:srgbClr val="002A40"/>
                </a:solidFill>
              </a:defRPr>
            </a:lvl2pPr>
            <a:lvl3pPr indent="-228600" lvl="2" marL="1371600" algn="l">
              <a:lnSpc>
                <a:spcPct val="90000"/>
              </a:lnSpc>
              <a:spcBef>
                <a:spcPts val="400"/>
              </a:spcBef>
              <a:spcAft>
                <a:spcPts val="0"/>
              </a:spcAft>
              <a:buClr>
                <a:srgbClr val="002A40"/>
              </a:buClr>
              <a:buSzPts val="1500"/>
              <a:buFont typeface="Helvetica Neue"/>
              <a:buNone/>
              <a:defRPr>
                <a:solidFill>
                  <a:srgbClr val="002A40"/>
                </a:solidFill>
              </a:defRPr>
            </a:lvl3pPr>
            <a:lvl4pPr indent="-228600" lvl="3" marL="1828800" algn="l">
              <a:lnSpc>
                <a:spcPct val="90000"/>
              </a:lnSpc>
              <a:spcBef>
                <a:spcPts val="400"/>
              </a:spcBef>
              <a:spcAft>
                <a:spcPts val="0"/>
              </a:spcAft>
              <a:buClr>
                <a:srgbClr val="002A40"/>
              </a:buClr>
              <a:buSzPts val="1400"/>
              <a:buFont typeface="Helvetica Neue"/>
              <a:buNone/>
              <a:defRPr>
                <a:solidFill>
                  <a:srgbClr val="002A40"/>
                </a:solidFill>
              </a:defRPr>
            </a:lvl4pPr>
            <a:lvl5pPr indent="-228600" lvl="4" marL="2286000" algn="l">
              <a:lnSpc>
                <a:spcPct val="90000"/>
              </a:lnSpc>
              <a:spcBef>
                <a:spcPts val="400"/>
              </a:spcBef>
              <a:spcAft>
                <a:spcPts val="0"/>
              </a:spcAft>
              <a:buClr>
                <a:srgbClr val="002A40"/>
              </a:buClr>
              <a:buSzPts val="1400"/>
              <a:buFont typeface="Helvetica Neue"/>
              <a:buNone/>
              <a:defRPr>
                <a:solidFill>
                  <a:srgbClr val="002A40"/>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1" name="Google Shape;81;p21"/>
          <p:cNvSpPr txBox="1"/>
          <p:nvPr>
            <p:ph type="title"/>
          </p:nvPr>
        </p:nvSpPr>
        <p:spPr>
          <a:xfrm>
            <a:off x="628650" y="273844"/>
            <a:ext cx="7886700" cy="994172"/>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rgbClr val="002A40"/>
              </a:buClr>
              <a:buSzPts val="3300"/>
              <a:buFont typeface="Helvetica Neue"/>
              <a:buNone/>
              <a:defRPr>
                <a:solidFill>
                  <a:srgbClr val="002A40"/>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2" name="Shape 82"/>
        <p:cNvGrpSpPr/>
        <p:nvPr/>
      </p:nvGrpSpPr>
      <p:grpSpPr>
        <a:xfrm>
          <a:off x="0" y="0"/>
          <a:ext cx="0" cy="0"/>
          <a:chOff x="0" y="0"/>
          <a:chExt cx="0" cy="0"/>
        </a:xfrm>
      </p:grpSpPr>
      <p:sp>
        <p:nvSpPr>
          <p:cNvPr id="83" name="Google Shape;83;p22"/>
          <p:cNvSpPr txBox="1"/>
          <p:nvPr>
            <p:ph type="title"/>
          </p:nvPr>
        </p:nvSpPr>
        <p:spPr>
          <a:xfrm>
            <a:off x="629841" y="273844"/>
            <a:ext cx="7886700" cy="994172"/>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rgbClr val="002A40"/>
              </a:buClr>
              <a:buSzPts val="3300"/>
              <a:buFont typeface="Helvetica Neue"/>
              <a:buNone/>
              <a:defRPr>
                <a:solidFill>
                  <a:srgbClr val="002A40"/>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4" name="Google Shape;84;p22"/>
          <p:cNvSpPr txBox="1"/>
          <p:nvPr>
            <p:ph idx="1" type="body"/>
          </p:nvPr>
        </p:nvSpPr>
        <p:spPr>
          <a:xfrm>
            <a:off x="629841" y="1260872"/>
            <a:ext cx="3868340" cy="617934"/>
          </a:xfrm>
          <a:prstGeom prst="rect">
            <a:avLst/>
          </a:prstGeom>
          <a:noFill/>
          <a:ln>
            <a:noFill/>
          </a:ln>
        </p:spPr>
        <p:txBody>
          <a:bodyPr anchorCtr="0" anchor="b" bIns="0" lIns="0" spcFirstLastPara="1" rIns="0" wrap="square" tIns="0">
            <a:spAutoFit/>
          </a:bodyPr>
          <a:lstStyle>
            <a:lvl1pPr indent="-228600" lvl="0" marL="457200" algn="l">
              <a:lnSpc>
                <a:spcPct val="90000"/>
              </a:lnSpc>
              <a:spcBef>
                <a:spcPts val="800"/>
              </a:spcBef>
              <a:spcAft>
                <a:spcPts val="0"/>
              </a:spcAft>
              <a:buClr>
                <a:srgbClr val="002A40"/>
              </a:buClr>
              <a:buSzPts val="1800"/>
              <a:buFont typeface="Helvetica Neue"/>
              <a:buNone/>
              <a:defRPr b="1" sz="1800">
                <a:solidFill>
                  <a:srgbClr val="002A40"/>
                </a:solidFill>
              </a:defRPr>
            </a:lvl1pPr>
            <a:lvl2pPr indent="-228600" lvl="1" marL="914400" algn="l">
              <a:lnSpc>
                <a:spcPct val="90000"/>
              </a:lnSpc>
              <a:spcBef>
                <a:spcPts val="400"/>
              </a:spcBef>
              <a:spcAft>
                <a:spcPts val="0"/>
              </a:spcAft>
              <a:buClr>
                <a:schemeClr val="dk1"/>
              </a:buClr>
              <a:buSzPts val="1500"/>
              <a:buFont typeface="Helvetica Neue"/>
              <a:buNone/>
              <a:defRPr b="1" sz="1500"/>
            </a:lvl2pPr>
            <a:lvl3pPr indent="-228600" lvl="2" marL="1371600" algn="l">
              <a:lnSpc>
                <a:spcPct val="90000"/>
              </a:lnSpc>
              <a:spcBef>
                <a:spcPts val="400"/>
              </a:spcBef>
              <a:spcAft>
                <a:spcPts val="0"/>
              </a:spcAft>
              <a:buClr>
                <a:schemeClr val="dk1"/>
              </a:buClr>
              <a:buSzPts val="1400"/>
              <a:buFont typeface="Helvetica Neue"/>
              <a:buNone/>
              <a:defRPr b="1" sz="1400"/>
            </a:lvl3pPr>
            <a:lvl4pPr indent="-228600" lvl="3" marL="1828800" algn="l">
              <a:lnSpc>
                <a:spcPct val="90000"/>
              </a:lnSpc>
              <a:spcBef>
                <a:spcPts val="400"/>
              </a:spcBef>
              <a:spcAft>
                <a:spcPts val="0"/>
              </a:spcAft>
              <a:buClr>
                <a:schemeClr val="dk1"/>
              </a:buClr>
              <a:buSzPts val="1200"/>
              <a:buFont typeface="Helvetica Neue"/>
              <a:buNone/>
              <a:defRPr b="1" sz="1200"/>
            </a:lvl4pPr>
            <a:lvl5pPr indent="-228600" lvl="4" marL="2286000" algn="l">
              <a:lnSpc>
                <a:spcPct val="90000"/>
              </a:lnSpc>
              <a:spcBef>
                <a:spcPts val="400"/>
              </a:spcBef>
              <a:spcAft>
                <a:spcPts val="0"/>
              </a:spcAft>
              <a:buClr>
                <a:schemeClr val="dk1"/>
              </a:buClr>
              <a:buSzPts val="1200"/>
              <a:buFont typeface="Helvetica Neue"/>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5" name="Google Shape;85;p22"/>
          <p:cNvSpPr txBox="1"/>
          <p:nvPr>
            <p:ph idx="2" type="body"/>
          </p:nvPr>
        </p:nvSpPr>
        <p:spPr>
          <a:xfrm>
            <a:off x="629841" y="1878806"/>
            <a:ext cx="3868340" cy="2763441"/>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rgbClr val="002A40"/>
              </a:buClr>
              <a:buSzPts val="2100"/>
              <a:buFont typeface="Helvetica Neue"/>
              <a:buNone/>
              <a:defRPr>
                <a:solidFill>
                  <a:srgbClr val="002A40"/>
                </a:solidFill>
              </a:defRPr>
            </a:lvl1pPr>
            <a:lvl2pPr indent="-228600" lvl="1" marL="914400" algn="l">
              <a:lnSpc>
                <a:spcPct val="90000"/>
              </a:lnSpc>
              <a:spcBef>
                <a:spcPts val="400"/>
              </a:spcBef>
              <a:spcAft>
                <a:spcPts val="0"/>
              </a:spcAft>
              <a:buClr>
                <a:srgbClr val="002A40"/>
              </a:buClr>
              <a:buSzPts val="1800"/>
              <a:buFont typeface="Helvetica Neue"/>
              <a:buNone/>
              <a:defRPr>
                <a:solidFill>
                  <a:srgbClr val="002A40"/>
                </a:solidFill>
              </a:defRPr>
            </a:lvl2pPr>
            <a:lvl3pPr indent="-228600" lvl="2" marL="1371600" algn="l">
              <a:lnSpc>
                <a:spcPct val="90000"/>
              </a:lnSpc>
              <a:spcBef>
                <a:spcPts val="400"/>
              </a:spcBef>
              <a:spcAft>
                <a:spcPts val="0"/>
              </a:spcAft>
              <a:buClr>
                <a:srgbClr val="002A40"/>
              </a:buClr>
              <a:buSzPts val="1500"/>
              <a:buFont typeface="Helvetica Neue"/>
              <a:buNone/>
              <a:defRPr>
                <a:solidFill>
                  <a:srgbClr val="002A40"/>
                </a:solidFill>
              </a:defRPr>
            </a:lvl3pPr>
            <a:lvl4pPr indent="-228600" lvl="3" marL="1828800" algn="l">
              <a:lnSpc>
                <a:spcPct val="90000"/>
              </a:lnSpc>
              <a:spcBef>
                <a:spcPts val="400"/>
              </a:spcBef>
              <a:spcAft>
                <a:spcPts val="0"/>
              </a:spcAft>
              <a:buClr>
                <a:srgbClr val="002A40"/>
              </a:buClr>
              <a:buSzPts val="1400"/>
              <a:buFont typeface="Helvetica Neue"/>
              <a:buNone/>
              <a:defRPr>
                <a:solidFill>
                  <a:srgbClr val="002A40"/>
                </a:solidFill>
              </a:defRPr>
            </a:lvl4pPr>
            <a:lvl5pPr indent="-228600" lvl="4" marL="2286000" algn="l">
              <a:lnSpc>
                <a:spcPct val="90000"/>
              </a:lnSpc>
              <a:spcBef>
                <a:spcPts val="400"/>
              </a:spcBef>
              <a:spcAft>
                <a:spcPts val="0"/>
              </a:spcAft>
              <a:buClr>
                <a:srgbClr val="002A40"/>
              </a:buClr>
              <a:buSzPts val="1400"/>
              <a:buFont typeface="Helvetica Neue"/>
              <a:buNone/>
              <a:defRPr>
                <a:solidFill>
                  <a:srgbClr val="002A40"/>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6" name="Google Shape;86;p22"/>
          <p:cNvSpPr txBox="1"/>
          <p:nvPr>
            <p:ph idx="3" type="body"/>
          </p:nvPr>
        </p:nvSpPr>
        <p:spPr>
          <a:xfrm>
            <a:off x="4629150" y="1260872"/>
            <a:ext cx="3887391" cy="617934"/>
          </a:xfrm>
          <a:prstGeom prst="rect">
            <a:avLst/>
          </a:prstGeom>
          <a:noFill/>
          <a:ln>
            <a:noFill/>
          </a:ln>
        </p:spPr>
        <p:txBody>
          <a:bodyPr anchorCtr="0" anchor="b" bIns="0" lIns="0" spcFirstLastPara="1" rIns="0" wrap="square" tIns="0">
            <a:spAutoFit/>
          </a:bodyPr>
          <a:lstStyle>
            <a:lvl1pPr indent="-228600" lvl="0" marL="457200" algn="l">
              <a:lnSpc>
                <a:spcPct val="90000"/>
              </a:lnSpc>
              <a:spcBef>
                <a:spcPts val="800"/>
              </a:spcBef>
              <a:spcAft>
                <a:spcPts val="0"/>
              </a:spcAft>
              <a:buClr>
                <a:srgbClr val="002A40"/>
              </a:buClr>
              <a:buSzPts val="1800"/>
              <a:buFont typeface="Helvetica Neue"/>
              <a:buNone/>
              <a:defRPr b="1" sz="1800">
                <a:solidFill>
                  <a:srgbClr val="002A40"/>
                </a:solidFill>
              </a:defRPr>
            </a:lvl1pPr>
            <a:lvl2pPr indent="-228600" lvl="1" marL="914400" algn="l">
              <a:lnSpc>
                <a:spcPct val="90000"/>
              </a:lnSpc>
              <a:spcBef>
                <a:spcPts val="400"/>
              </a:spcBef>
              <a:spcAft>
                <a:spcPts val="0"/>
              </a:spcAft>
              <a:buClr>
                <a:schemeClr val="dk1"/>
              </a:buClr>
              <a:buSzPts val="1500"/>
              <a:buFont typeface="Helvetica Neue"/>
              <a:buNone/>
              <a:defRPr b="1" sz="1500"/>
            </a:lvl2pPr>
            <a:lvl3pPr indent="-228600" lvl="2" marL="1371600" algn="l">
              <a:lnSpc>
                <a:spcPct val="90000"/>
              </a:lnSpc>
              <a:spcBef>
                <a:spcPts val="400"/>
              </a:spcBef>
              <a:spcAft>
                <a:spcPts val="0"/>
              </a:spcAft>
              <a:buClr>
                <a:schemeClr val="dk1"/>
              </a:buClr>
              <a:buSzPts val="1400"/>
              <a:buFont typeface="Helvetica Neue"/>
              <a:buNone/>
              <a:defRPr b="1" sz="1400"/>
            </a:lvl3pPr>
            <a:lvl4pPr indent="-228600" lvl="3" marL="1828800" algn="l">
              <a:lnSpc>
                <a:spcPct val="90000"/>
              </a:lnSpc>
              <a:spcBef>
                <a:spcPts val="400"/>
              </a:spcBef>
              <a:spcAft>
                <a:spcPts val="0"/>
              </a:spcAft>
              <a:buClr>
                <a:schemeClr val="dk1"/>
              </a:buClr>
              <a:buSzPts val="1200"/>
              <a:buFont typeface="Helvetica Neue"/>
              <a:buNone/>
              <a:defRPr b="1" sz="1200"/>
            </a:lvl4pPr>
            <a:lvl5pPr indent="-228600" lvl="4" marL="2286000" algn="l">
              <a:lnSpc>
                <a:spcPct val="90000"/>
              </a:lnSpc>
              <a:spcBef>
                <a:spcPts val="400"/>
              </a:spcBef>
              <a:spcAft>
                <a:spcPts val="0"/>
              </a:spcAft>
              <a:buClr>
                <a:schemeClr val="dk1"/>
              </a:buClr>
              <a:buSzPts val="1200"/>
              <a:buFont typeface="Helvetica Neue"/>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7" name="Google Shape;87;p22"/>
          <p:cNvSpPr txBox="1"/>
          <p:nvPr>
            <p:ph idx="4" type="body"/>
          </p:nvPr>
        </p:nvSpPr>
        <p:spPr>
          <a:xfrm>
            <a:off x="4629150" y="1878806"/>
            <a:ext cx="3887391" cy="2763441"/>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rgbClr val="002A40"/>
              </a:buClr>
              <a:buSzPts val="2100"/>
              <a:buFont typeface="Helvetica Neue"/>
              <a:buNone/>
              <a:defRPr>
                <a:solidFill>
                  <a:srgbClr val="002A40"/>
                </a:solidFill>
              </a:defRPr>
            </a:lvl1pPr>
            <a:lvl2pPr indent="-228600" lvl="1" marL="914400" algn="l">
              <a:lnSpc>
                <a:spcPct val="90000"/>
              </a:lnSpc>
              <a:spcBef>
                <a:spcPts val="400"/>
              </a:spcBef>
              <a:spcAft>
                <a:spcPts val="0"/>
              </a:spcAft>
              <a:buClr>
                <a:srgbClr val="002A40"/>
              </a:buClr>
              <a:buSzPts val="1800"/>
              <a:buFont typeface="Helvetica Neue"/>
              <a:buNone/>
              <a:defRPr>
                <a:solidFill>
                  <a:srgbClr val="002A40"/>
                </a:solidFill>
              </a:defRPr>
            </a:lvl2pPr>
            <a:lvl3pPr indent="-228600" lvl="2" marL="1371600" algn="l">
              <a:lnSpc>
                <a:spcPct val="90000"/>
              </a:lnSpc>
              <a:spcBef>
                <a:spcPts val="400"/>
              </a:spcBef>
              <a:spcAft>
                <a:spcPts val="0"/>
              </a:spcAft>
              <a:buClr>
                <a:srgbClr val="002A40"/>
              </a:buClr>
              <a:buSzPts val="1500"/>
              <a:buFont typeface="Helvetica Neue"/>
              <a:buNone/>
              <a:defRPr>
                <a:solidFill>
                  <a:srgbClr val="002A40"/>
                </a:solidFill>
              </a:defRPr>
            </a:lvl3pPr>
            <a:lvl4pPr indent="-228600" lvl="3" marL="1828800" algn="l">
              <a:lnSpc>
                <a:spcPct val="90000"/>
              </a:lnSpc>
              <a:spcBef>
                <a:spcPts val="400"/>
              </a:spcBef>
              <a:spcAft>
                <a:spcPts val="0"/>
              </a:spcAft>
              <a:buClr>
                <a:srgbClr val="002A40"/>
              </a:buClr>
              <a:buSzPts val="1400"/>
              <a:buFont typeface="Helvetica Neue"/>
              <a:buNone/>
              <a:defRPr>
                <a:solidFill>
                  <a:srgbClr val="002A40"/>
                </a:solidFill>
              </a:defRPr>
            </a:lvl4pPr>
            <a:lvl5pPr indent="-228600" lvl="4" marL="2286000" algn="l">
              <a:lnSpc>
                <a:spcPct val="90000"/>
              </a:lnSpc>
              <a:spcBef>
                <a:spcPts val="400"/>
              </a:spcBef>
              <a:spcAft>
                <a:spcPts val="0"/>
              </a:spcAft>
              <a:buClr>
                <a:srgbClr val="002A40"/>
              </a:buClr>
              <a:buSzPts val="1400"/>
              <a:buFont typeface="Helvetica Neue"/>
              <a:buNone/>
              <a:defRPr>
                <a:solidFill>
                  <a:srgbClr val="002A40"/>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8" name="Shape 88"/>
        <p:cNvGrpSpPr/>
        <p:nvPr/>
      </p:nvGrpSpPr>
      <p:grpSpPr>
        <a:xfrm>
          <a:off x="0" y="0"/>
          <a:ext cx="0" cy="0"/>
          <a:chOff x="0" y="0"/>
          <a:chExt cx="0" cy="0"/>
        </a:xfrm>
      </p:grpSpPr>
      <p:sp>
        <p:nvSpPr>
          <p:cNvPr id="89" name="Google Shape;89;p23"/>
          <p:cNvSpPr txBox="1"/>
          <p:nvPr>
            <p:ph type="title"/>
          </p:nvPr>
        </p:nvSpPr>
        <p:spPr>
          <a:xfrm>
            <a:off x="628650" y="542405"/>
            <a:ext cx="7886700" cy="457048"/>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rgbClr val="002A40"/>
              </a:buClr>
              <a:buSzPts val="3300"/>
              <a:buFont typeface="Helvetica Neue"/>
              <a:buNone/>
              <a:defRPr>
                <a:solidFill>
                  <a:srgbClr val="002A40"/>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0" name="Shape 90"/>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1" name="Shape 91"/>
        <p:cNvGrpSpPr/>
        <p:nvPr/>
      </p:nvGrpSpPr>
      <p:grpSpPr>
        <a:xfrm>
          <a:off x="0" y="0"/>
          <a:ext cx="0" cy="0"/>
          <a:chOff x="0" y="0"/>
          <a:chExt cx="0" cy="0"/>
        </a:xfrm>
      </p:grpSpPr>
      <p:sp>
        <p:nvSpPr>
          <p:cNvPr id="92" name="Google Shape;92;p25"/>
          <p:cNvSpPr txBox="1"/>
          <p:nvPr>
            <p:ph type="title"/>
          </p:nvPr>
        </p:nvSpPr>
        <p:spPr>
          <a:xfrm>
            <a:off x="629841" y="342900"/>
            <a:ext cx="2949178" cy="120015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chemeClr val="dk1"/>
              </a:buClr>
              <a:buSzPts val="2400"/>
              <a:buFont typeface="Helvetica Neue"/>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3" name="Google Shape;93;p25"/>
          <p:cNvSpPr txBox="1"/>
          <p:nvPr>
            <p:ph idx="1" type="body"/>
          </p:nvPr>
        </p:nvSpPr>
        <p:spPr>
          <a:xfrm>
            <a:off x="3887391" y="740569"/>
            <a:ext cx="4629150" cy="3655219"/>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chemeClr val="dk1"/>
              </a:buClr>
              <a:buSzPts val="2400"/>
              <a:buFont typeface="Helvetica Neue"/>
              <a:buNone/>
              <a:defRPr sz="2400"/>
            </a:lvl1pPr>
            <a:lvl2pPr indent="-228600" lvl="1" marL="914400" algn="l">
              <a:lnSpc>
                <a:spcPct val="90000"/>
              </a:lnSpc>
              <a:spcBef>
                <a:spcPts val="400"/>
              </a:spcBef>
              <a:spcAft>
                <a:spcPts val="0"/>
              </a:spcAft>
              <a:buClr>
                <a:schemeClr val="dk1"/>
              </a:buClr>
              <a:buSzPts val="2100"/>
              <a:buFont typeface="Helvetica Neue"/>
              <a:buNone/>
              <a:defRPr sz="2100"/>
            </a:lvl2pPr>
            <a:lvl3pPr indent="-228600" lvl="2" marL="1371600" algn="l">
              <a:lnSpc>
                <a:spcPct val="90000"/>
              </a:lnSpc>
              <a:spcBef>
                <a:spcPts val="400"/>
              </a:spcBef>
              <a:spcAft>
                <a:spcPts val="0"/>
              </a:spcAft>
              <a:buClr>
                <a:schemeClr val="dk1"/>
              </a:buClr>
              <a:buSzPts val="1800"/>
              <a:buFont typeface="Helvetica Neue"/>
              <a:buNone/>
              <a:defRPr sz="1800"/>
            </a:lvl3pPr>
            <a:lvl4pPr indent="-228600" lvl="3" marL="1828800" algn="l">
              <a:lnSpc>
                <a:spcPct val="90000"/>
              </a:lnSpc>
              <a:spcBef>
                <a:spcPts val="400"/>
              </a:spcBef>
              <a:spcAft>
                <a:spcPts val="0"/>
              </a:spcAft>
              <a:buClr>
                <a:schemeClr val="dk1"/>
              </a:buClr>
              <a:buSzPts val="1500"/>
              <a:buFont typeface="Helvetica Neue"/>
              <a:buNone/>
              <a:defRPr sz="1500"/>
            </a:lvl4pPr>
            <a:lvl5pPr indent="-228600" lvl="4" marL="2286000" algn="l">
              <a:lnSpc>
                <a:spcPct val="90000"/>
              </a:lnSpc>
              <a:spcBef>
                <a:spcPts val="400"/>
              </a:spcBef>
              <a:spcAft>
                <a:spcPts val="0"/>
              </a:spcAft>
              <a:buClr>
                <a:schemeClr val="dk1"/>
              </a:buClr>
              <a:buSzPts val="1500"/>
              <a:buFont typeface="Helvetica Neue"/>
              <a:buNone/>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94" name="Google Shape;94;p25"/>
          <p:cNvSpPr txBox="1"/>
          <p:nvPr>
            <p:ph idx="2" type="body"/>
          </p:nvPr>
        </p:nvSpPr>
        <p:spPr>
          <a:xfrm>
            <a:off x="629841" y="1543050"/>
            <a:ext cx="2949178" cy="2858691"/>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chemeClr val="dk1"/>
              </a:buClr>
              <a:buSzPts val="1200"/>
              <a:buFont typeface="Helvetica Neue"/>
              <a:buNone/>
              <a:defRPr sz="1200"/>
            </a:lvl1pPr>
            <a:lvl2pPr indent="-228600" lvl="1" marL="914400" algn="l">
              <a:lnSpc>
                <a:spcPct val="90000"/>
              </a:lnSpc>
              <a:spcBef>
                <a:spcPts val="400"/>
              </a:spcBef>
              <a:spcAft>
                <a:spcPts val="0"/>
              </a:spcAft>
              <a:buClr>
                <a:schemeClr val="dk1"/>
              </a:buClr>
              <a:buSzPts val="1100"/>
              <a:buFont typeface="Helvetica Neue"/>
              <a:buNone/>
              <a:defRPr sz="1100"/>
            </a:lvl2pPr>
            <a:lvl3pPr indent="-228600" lvl="2" marL="1371600" algn="l">
              <a:lnSpc>
                <a:spcPct val="90000"/>
              </a:lnSpc>
              <a:spcBef>
                <a:spcPts val="400"/>
              </a:spcBef>
              <a:spcAft>
                <a:spcPts val="0"/>
              </a:spcAft>
              <a:buClr>
                <a:schemeClr val="dk1"/>
              </a:buClr>
              <a:buSzPts val="900"/>
              <a:buFont typeface="Helvetica Neue"/>
              <a:buNone/>
              <a:defRPr sz="900"/>
            </a:lvl3pPr>
            <a:lvl4pPr indent="-228600" lvl="3" marL="1828800" algn="l">
              <a:lnSpc>
                <a:spcPct val="90000"/>
              </a:lnSpc>
              <a:spcBef>
                <a:spcPts val="400"/>
              </a:spcBef>
              <a:spcAft>
                <a:spcPts val="0"/>
              </a:spcAft>
              <a:buClr>
                <a:schemeClr val="dk1"/>
              </a:buClr>
              <a:buSzPts val="800"/>
              <a:buFont typeface="Helvetica Neue"/>
              <a:buNone/>
              <a:defRPr sz="800"/>
            </a:lvl4pPr>
            <a:lvl5pPr indent="-228600" lvl="4" marL="2286000" algn="l">
              <a:lnSpc>
                <a:spcPct val="90000"/>
              </a:lnSpc>
              <a:spcBef>
                <a:spcPts val="400"/>
              </a:spcBef>
              <a:spcAft>
                <a:spcPts val="0"/>
              </a:spcAft>
              <a:buClr>
                <a:schemeClr val="dk1"/>
              </a:buClr>
              <a:buSzPts val="800"/>
              <a:buFont typeface="Helvetica Neue"/>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5" name="Shape 95"/>
        <p:cNvGrpSpPr/>
        <p:nvPr/>
      </p:nvGrpSpPr>
      <p:grpSpPr>
        <a:xfrm>
          <a:off x="0" y="0"/>
          <a:ext cx="0" cy="0"/>
          <a:chOff x="0" y="0"/>
          <a:chExt cx="0" cy="0"/>
        </a:xfrm>
      </p:grpSpPr>
      <p:sp>
        <p:nvSpPr>
          <p:cNvPr id="96" name="Google Shape;96;p26"/>
          <p:cNvSpPr txBox="1"/>
          <p:nvPr>
            <p:ph type="title"/>
          </p:nvPr>
        </p:nvSpPr>
        <p:spPr>
          <a:xfrm>
            <a:off x="629841" y="342900"/>
            <a:ext cx="2949178" cy="120015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chemeClr val="dk1"/>
              </a:buClr>
              <a:buSzPts val="2400"/>
              <a:buFont typeface="Helvetica Neue"/>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7" name="Google Shape;97;p26"/>
          <p:cNvSpPr/>
          <p:nvPr>
            <p:ph idx="2" type="pic"/>
          </p:nvPr>
        </p:nvSpPr>
        <p:spPr>
          <a:xfrm>
            <a:off x="3887391" y="740569"/>
            <a:ext cx="4629150" cy="3655219"/>
          </a:xfrm>
          <a:prstGeom prst="rect">
            <a:avLst/>
          </a:prstGeom>
          <a:noFill/>
          <a:ln>
            <a:noFill/>
          </a:ln>
        </p:spPr>
      </p:sp>
      <p:sp>
        <p:nvSpPr>
          <p:cNvPr id="98" name="Google Shape;98;p26"/>
          <p:cNvSpPr txBox="1"/>
          <p:nvPr>
            <p:ph idx="1" type="body"/>
          </p:nvPr>
        </p:nvSpPr>
        <p:spPr>
          <a:xfrm>
            <a:off x="629841" y="1543050"/>
            <a:ext cx="2949178" cy="2858691"/>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chemeClr val="dk1"/>
              </a:buClr>
              <a:buSzPts val="1200"/>
              <a:buFont typeface="Helvetica Neue"/>
              <a:buNone/>
              <a:defRPr sz="1200"/>
            </a:lvl1pPr>
            <a:lvl2pPr indent="-228600" lvl="1" marL="914400" algn="l">
              <a:lnSpc>
                <a:spcPct val="90000"/>
              </a:lnSpc>
              <a:spcBef>
                <a:spcPts val="400"/>
              </a:spcBef>
              <a:spcAft>
                <a:spcPts val="0"/>
              </a:spcAft>
              <a:buClr>
                <a:schemeClr val="dk1"/>
              </a:buClr>
              <a:buSzPts val="1100"/>
              <a:buFont typeface="Helvetica Neue"/>
              <a:buNone/>
              <a:defRPr sz="1100"/>
            </a:lvl2pPr>
            <a:lvl3pPr indent="-228600" lvl="2" marL="1371600" algn="l">
              <a:lnSpc>
                <a:spcPct val="90000"/>
              </a:lnSpc>
              <a:spcBef>
                <a:spcPts val="400"/>
              </a:spcBef>
              <a:spcAft>
                <a:spcPts val="0"/>
              </a:spcAft>
              <a:buClr>
                <a:schemeClr val="dk1"/>
              </a:buClr>
              <a:buSzPts val="900"/>
              <a:buFont typeface="Helvetica Neue"/>
              <a:buNone/>
              <a:defRPr sz="900"/>
            </a:lvl3pPr>
            <a:lvl4pPr indent="-228600" lvl="3" marL="1828800" algn="l">
              <a:lnSpc>
                <a:spcPct val="90000"/>
              </a:lnSpc>
              <a:spcBef>
                <a:spcPts val="400"/>
              </a:spcBef>
              <a:spcAft>
                <a:spcPts val="0"/>
              </a:spcAft>
              <a:buClr>
                <a:schemeClr val="dk1"/>
              </a:buClr>
              <a:buSzPts val="800"/>
              <a:buFont typeface="Helvetica Neue"/>
              <a:buNone/>
              <a:defRPr sz="800"/>
            </a:lvl4pPr>
            <a:lvl5pPr indent="-228600" lvl="4" marL="2286000" algn="l">
              <a:lnSpc>
                <a:spcPct val="90000"/>
              </a:lnSpc>
              <a:spcBef>
                <a:spcPts val="400"/>
              </a:spcBef>
              <a:spcAft>
                <a:spcPts val="0"/>
              </a:spcAft>
              <a:buClr>
                <a:schemeClr val="dk1"/>
              </a:buClr>
              <a:buSzPts val="800"/>
              <a:buFont typeface="Helvetica Neue"/>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9" name="Shape 99"/>
        <p:cNvGrpSpPr/>
        <p:nvPr/>
      </p:nvGrpSpPr>
      <p:grpSpPr>
        <a:xfrm>
          <a:off x="0" y="0"/>
          <a:ext cx="0" cy="0"/>
          <a:chOff x="0" y="0"/>
          <a:chExt cx="0" cy="0"/>
        </a:xfrm>
      </p:grpSpPr>
      <p:sp>
        <p:nvSpPr>
          <p:cNvPr id="100" name="Google Shape;100;p27"/>
          <p:cNvSpPr txBox="1"/>
          <p:nvPr>
            <p:ph type="title"/>
          </p:nvPr>
        </p:nvSpPr>
        <p:spPr>
          <a:xfrm>
            <a:off x="628650" y="542405"/>
            <a:ext cx="7886700" cy="457048"/>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 name="Google Shape;101;p27"/>
          <p:cNvSpPr txBox="1"/>
          <p:nvPr>
            <p:ph idx="1" type="body"/>
          </p:nvPr>
        </p:nvSpPr>
        <p:spPr>
          <a:xfrm rot="5400000">
            <a:off x="3914897" y="-1917028"/>
            <a:ext cx="1314206" cy="788670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chemeClr val="dk1"/>
              </a:buClr>
              <a:buSzPts val="1400"/>
              <a:buNone/>
              <a:defRPr/>
            </a:lvl1pPr>
            <a:lvl2pPr indent="-228600" lvl="1" marL="914400" algn="l">
              <a:lnSpc>
                <a:spcPct val="90000"/>
              </a:lnSpc>
              <a:spcBef>
                <a:spcPts val="400"/>
              </a:spcBef>
              <a:spcAft>
                <a:spcPts val="0"/>
              </a:spcAft>
              <a:buClr>
                <a:schemeClr val="dk1"/>
              </a:buClr>
              <a:buSzPts val="1400"/>
              <a:buNone/>
              <a:defRPr/>
            </a:lvl2pPr>
            <a:lvl3pPr indent="-228600" lvl="2" marL="1371600" algn="l">
              <a:lnSpc>
                <a:spcPct val="9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400"/>
              <a:buNone/>
              <a:defRPr/>
            </a:lvl4pPr>
            <a:lvl5pPr indent="-228600" lvl="4" marL="2286000" algn="l">
              <a:lnSpc>
                <a:spcPct val="90000"/>
              </a:lnSpc>
              <a:spcBef>
                <a:spcPts val="40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2" name="Shape 102"/>
        <p:cNvGrpSpPr/>
        <p:nvPr/>
      </p:nvGrpSpPr>
      <p:grpSpPr>
        <a:xfrm>
          <a:off x="0" y="0"/>
          <a:ext cx="0" cy="0"/>
          <a:chOff x="0" y="0"/>
          <a:chExt cx="0" cy="0"/>
        </a:xfrm>
      </p:grpSpPr>
      <p:sp>
        <p:nvSpPr>
          <p:cNvPr id="103" name="Google Shape;103;p28"/>
          <p:cNvSpPr txBox="1"/>
          <p:nvPr>
            <p:ph type="title"/>
          </p:nvPr>
        </p:nvSpPr>
        <p:spPr>
          <a:xfrm rot="5400000">
            <a:off x="5350073" y="1467445"/>
            <a:ext cx="4358879" cy="1971675"/>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28"/>
          <p:cNvSpPr txBox="1"/>
          <p:nvPr>
            <p:ph idx="1" type="body"/>
          </p:nvPr>
        </p:nvSpPr>
        <p:spPr>
          <a:xfrm rot="5400000">
            <a:off x="1349573" y="-447080"/>
            <a:ext cx="4358879" cy="5800725"/>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chemeClr val="dk1"/>
              </a:buClr>
              <a:buSzPts val="1400"/>
              <a:buNone/>
              <a:defRPr/>
            </a:lvl1pPr>
            <a:lvl2pPr indent="-228600" lvl="1" marL="914400" algn="l">
              <a:lnSpc>
                <a:spcPct val="90000"/>
              </a:lnSpc>
              <a:spcBef>
                <a:spcPts val="400"/>
              </a:spcBef>
              <a:spcAft>
                <a:spcPts val="0"/>
              </a:spcAft>
              <a:buClr>
                <a:schemeClr val="dk1"/>
              </a:buClr>
              <a:buSzPts val="1400"/>
              <a:buNone/>
              <a:defRPr/>
            </a:lvl2pPr>
            <a:lvl3pPr indent="-228600" lvl="2" marL="1371600" algn="l">
              <a:lnSpc>
                <a:spcPct val="9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400"/>
              <a:buNone/>
              <a:defRPr/>
            </a:lvl4pPr>
            <a:lvl5pPr indent="-228600" lvl="4" marL="2286000" algn="l">
              <a:lnSpc>
                <a:spcPct val="90000"/>
              </a:lnSpc>
              <a:spcBef>
                <a:spcPts val="40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 Slide">
    <p:bg>
      <p:bgPr>
        <a:solidFill>
          <a:srgbClr val="002A40"/>
        </a:solidFill>
      </p:bgPr>
    </p:bg>
    <p:spTree>
      <p:nvGrpSpPr>
        <p:cNvPr id="105" name="Shape 105"/>
        <p:cNvGrpSpPr/>
        <p:nvPr/>
      </p:nvGrpSpPr>
      <p:grpSpPr>
        <a:xfrm>
          <a:off x="0" y="0"/>
          <a:ext cx="0" cy="0"/>
          <a:chOff x="0" y="0"/>
          <a:chExt cx="0" cy="0"/>
        </a:xfrm>
      </p:grpSpPr>
      <p:pic>
        <p:nvPicPr>
          <p:cNvPr id="106" name="Google Shape;106;p29"/>
          <p:cNvPicPr preferRelativeResize="0"/>
          <p:nvPr/>
        </p:nvPicPr>
        <p:blipFill rotWithShape="1">
          <a:blip r:embed="rId2">
            <a:alphaModFix/>
          </a:blip>
          <a:srcRect b="0" l="0" r="0" t="0"/>
          <a:stretch/>
        </p:blipFill>
        <p:spPr>
          <a:xfrm>
            <a:off x="0" y="0"/>
            <a:ext cx="9137424" cy="5143501"/>
          </a:xfrm>
          <a:prstGeom prst="rect">
            <a:avLst/>
          </a:prstGeom>
          <a:noFill/>
          <a:ln>
            <a:noFill/>
          </a:ln>
        </p:spPr>
      </p:pic>
      <p:sp>
        <p:nvSpPr>
          <p:cNvPr id="107" name="Google Shape;107;p29"/>
          <p:cNvSpPr txBox="1"/>
          <p:nvPr>
            <p:ph idx="1" type="subTitle"/>
          </p:nvPr>
        </p:nvSpPr>
        <p:spPr>
          <a:xfrm>
            <a:off x="1139712" y="4100645"/>
            <a:ext cx="6858000" cy="940200"/>
          </a:xfrm>
          <a:prstGeom prst="rect">
            <a:avLst/>
          </a:prstGeom>
          <a:noFill/>
          <a:ln>
            <a:noFill/>
          </a:ln>
        </p:spPr>
        <p:txBody>
          <a:bodyPr anchorCtr="0" anchor="t" bIns="0" lIns="0" spcFirstLastPara="1" rIns="0" wrap="square" tIns="0">
            <a:spAutoFit/>
          </a:bodyPr>
          <a:lstStyle>
            <a:lvl1pPr lvl="0" algn="ctr">
              <a:lnSpc>
                <a:spcPct val="90000"/>
              </a:lnSpc>
              <a:spcBef>
                <a:spcPts val="800"/>
              </a:spcBef>
              <a:spcAft>
                <a:spcPts val="0"/>
              </a:spcAft>
              <a:buClr>
                <a:schemeClr val="lt1"/>
              </a:buClr>
              <a:buSzPts val="1800"/>
              <a:buFont typeface="Arial"/>
              <a:buNone/>
              <a:defRPr b="0" i="0" sz="1800">
                <a:solidFill>
                  <a:schemeClr val="lt1"/>
                </a:solidFill>
                <a:latin typeface="Arial"/>
                <a:ea typeface="Arial"/>
                <a:cs typeface="Arial"/>
                <a:sym typeface="Arial"/>
              </a:defRPr>
            </a:lvl1pPr>
            <a:lvl2pPr lvl="1" algn="ctr">
              <a:lnSpc>
                <a:spcPct val="90000"/>
              </a:lnSpc>
              <a:spcBef>
                <a:spcPts val="400"/>
              </a:spcBef>
              <a:spcAft>
                <a:spcPts val="0"/>
              </a:spcAft>
              <a:buClr>
                <a:schemeClr val="dk1"/>
              </a:buClr>
              <a:buSzPts val="1500"/>
              <a:buFont typeface="Helvetica Neue"/>
              <a:buNone/>
              <a:defRPr sz="1500"/>
            </a:lvl2pPr>
            <a:lvl3pPr lvl="2" algn="ctr">
              <a:lnSpc>
                <a:spcPct val="90000"/>
              </a:lnSpc>
              <a:spcBef>
                <a:spcPts val="400"/>
              </a:spcBef>
              <a:spcAft>
                <a:spcPts val="0"/>
              </a:spcAft>
              <a:buClr>
                <a:schemeClr val="dk1"/>
              </a:buClr>
              <a:buSzPts val="1400"/>
              <a:buFont typeface="Helvetica Neue"/>
              <a:buNone/>
              <a:defRPr sz="1400"/>
            </a:lvl3pPr>
            <a:lvl4pPr lvl="3" algn="ctr">
              <a:lnSpc>
                <a:spcPct val="90000"/>
              </a:lnSpc>
              <a:spcBef>
                <a:spcPts val="400"/>
              </a:spcBef>
              <a:spcAft>
                <a:spcPts val="0"/>
              </a:spcAft>
              <a:buClr>
                <a:schemeClr val="dk1"/>
              </a:buClr>
              <a:buSzPts val="1200"/>
              <a:buFont typeface="Helvetica Neue"/>
              <a:buNone/>
              <a:defRPr sz="1200"/>
            </a:lvl4pPr>
            <a:lvl5pPr lvl="4" algn="ctr">
              <a:lnSpc>
                <a:spcPct val="90000"/>
              </a:lnSpc>
              <a:spcBef>
                <a:spcPts val="400"/>
              </a:spcBef>
              <a:spcAft>
                <a:spcPts val="0"/>
              </a:spcAft>
              <a:buClr>
                <a:schemeClr val="dk1"/>
              </a:buClr>
              <a:buSzPts val="1200"/>
              <a:buFont typeface="Helvetica Neue"/>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08" name="Google Shape;108;p29"/>
          <p:cNvSpPr txBox="1"/>
          <p:nvPr>
            <p:ph type="ctrTitle"/>
          </p:nvPr>
        </p:nvSpPr>
        <p:spPr>
          <a:xfrm>
            <a:off x="685800" y="1847299"/>
            <a:ext cx="7772400" cy="124650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4500"/>
              <a:buFont typeface="Arial"/>
              <a:buNone/>
              <a:defRPr sz="45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9" name="Google Shape;109;p29"/>
          <p:cNvSpPr txBox="1"/>
          <p:nvPr>
            <p:ph idx="2" type="body"/>
          </p:nvPr>
        </p:nvSpPr>
        <p:spPr>
          <a:xfrm>
            <a:off x="685800" y="3136975"/>
            <a:ext cx="7772400" cy="373800"/>
          </a:xfrm>
          <a:prstGeom prst="rect">
            <a:avLst/>
          </a:prstGeom>
          <a:noFill/>
          <a:ln>
            <a:noFill/>
          </a:ln>
        </p:spPr>
        <p:txBody>
          <a:bodyPr anchorCtr="0" anchor="t" bIns="0" lIns="0" spcFirstLastPara="1" rIns="0" wrap="square" tIns="0">
            <a:spAutoFit/>
          </a:bodyPr>
          <a:lstStyle>
            <a:lvl1pPr indent="-228600" lvl="0" marL="457200" algn="ctr">
              <a:lnSpc>
                <a:spcPct val="90000"/>
              </a:lnSpc>
              <a:spcBef>
                <a:spcPts val="800"/>
              </a:spcBef>
              <a:spcAft>
                <a:spcPts val="0"/>
              </a:spcAft>
              <a:buClr>
                <a:srgbClr val="06D0E2"/>
              </a:buClr>
              <a:buSzPts val="2700"/>
              <a:buFont typeface="Arial"/>
              <a:buNone/>
              <a:defRPr b="0" i="0" sz="2700">
                <a:solidFill>
                  <a:srgbClr val="06D0E2"/>
                </a:solidFill>
                <a:latin typeface="Arial"/>
                <a:ea typeface="Arial"/>
                <a:cs typeface="Arial"/>
                <a:sym typeface="Arial"/>
              </a:defRPr>
            </a:lvl1pPr>
            <a:lvl2pPr indent="-228600" lvl="1" marL="914400" algn="l">
              <a:lnSpc>
                <a:spcPct val="90000"/>
              </a:lnSpc>
              <a:spcBef>
                <a:spcPts val="400"/>
              </a:spcBef>
              <a:spcAft>
                <a:spcPts val="0"/>
              </a:spcAft>
              <a:buClr>
                <a:schemeClr val="dk1"/>
              </a:buClr>
              <a:buSzPts val="1400"/>
              <a:buNone/>
              <a:defRPr/>
            </a:lvl2pPr>
            <a:lvl3pPr indent="-228600" lvl="2" marL="1371600" algn="l">
              <a:lnSpc>
                <a:spcPct val="9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400"/>
              <a:buNone/>
              <a:defRPr/>
            </a:lvl4pPr>
            <a:lvl5pPr indent="-228600" lvl="4" marL="2286000" algn="l">
              <a:lnSpc>
                <a:spcPct val="90000"/>
              </a:lnSpc>
              <a:spcBef>
                <a:spcPts val="40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bg>
      <p:bgPr>
        <a:solidFill>
          <a:srgbClr val="002A40"/>
        </a:solidFill>
      </p:bgPr>
    </p:bg>
    <p:spTree>
      <p:nvGrpSpPr>
        <p:cNvPr id="110" name="Shape 110"/>
        <p:cNvGrpSpPr/>
        <p:nvPr/>
      </p:nvGrpSpPr>
      <p:grpSpPr>
        <a:xfrm>
          <a:off x="0" y="0"/>
          <a:ext cx="0" cy="0"/>
          <a:chOff x="0" y="0"/>
          <a:chExt cx="0" cy="0"/>
        </a:xfrm>
      </p:grpSpPr>
      <p:pic>
        <p:nvPicPr>
          <p:cNvPr id="111" name="Google Shape;111;p30"/>
          <p:cNvPicPr preferRelativeResize="0"/>
          <p:nvPr/>
        </p:nvPicPr>
        <p:blipFill rotWithShape="1">
          <a:blip r:embed="rId2">
            <a:alphaModFix/>
          </a:blip>
          <a:srcRect b="0" l="0" r="0" t="0"/>
          <a:stretch/>
        </p:blipFill>
        <p:spPr>
          <a:xfrm>
            <a:off x="0" y="1558"/>
            <a:ext cx="9137424" cy="5140385"/>
          </a:xfrm>
          <a:prstGeom prst="rect">
            <a:avLst/>
          </a:prstGeom>
          <a:noFill/>
          <a:ln>
            <a:noFill/>
          </a:ln>
        </p:spPr>
      </p:pic>
      <p:pic>
        <p:nvPicPr>
          <p:cNvPr id="112" name="Google Shape;112;p30"/>
          <p:cNvPicPr preferRelativeResize="0"/>
          <p:nvPr/>
        </p:nvPicPr>
        <p:blipFill rotWithShape="1">
          <a:blip r:embed="rId3">
            <a:alphaModFix/>
          </a:blip>
          <a:srcRect b="0" l="0" r="0" t="0"/>
          <a:stretch/>
        </p:blipFill>
        <p:spPr>
          <a:xfrm>
            <a:off x="2269894" y="1948296"/>
            <a:ext cx="4604211" cy="1246909"/>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type="obj">
  <p:cSld name="OBJECT">
    <p:spTree>
      <p:nvGrpSpPr>
        <p:cNvPr id="116" name="Shape 116"/>
        <p:cNvGrpSpPr/>
        <p:nvPr/>
      </p:nvGrpSpPr>
      <p:grpSpPr>
        <a:xfrm>
          <a:off x="0" y="0"/>
          <a:ext cx="0" cy="0"/>
          <a:chOff x="0" y="0"/>
          <a:chExt cx="0" cy="0"/>
        </a:xfrm>
      </p:grpSpPr>
      <p:pic>
        <p:nvPicPr>
          <p:cNvPr id="117" name="Google Shape;117;p32"/>
          <p:cNvPicPr preferRelativeResize="0"/>
          <p:nvPr/>
        </p:nvPicPr>
        <p:blipFill rotWithShape="1">
          <a:blip r:embed="rId2">
            <a:alphaModFix/>
          </a:blip>
          <a:srcRect b="0" l="0" r="0" t="0"/>
          <a:stretch/>
        </p:blipFill>
        <p:spPr>
          <a:xfrm>
            <a:off x="-20141" y="-15156"/>
            <a:ext cx="9184283" cy="5173812"/>
          </a:xfrm>
          <a:prstGeom prst="rect">
            <a:avLst/>
          </a:prstGeom>
          <a:noFill/>
          <a:ln>
            <a:noFill/>
          </a:ln>
        </p:spPr>
      </p:pic>
      <p:sp>
        <p:nvSpPr>
          <p:cNvPr id="118" name="Google Shape;118;p32"/>
          <p:cNvSpPr txBox="1"/>
          <p:nvPr>
            <p:ph type="title"/>
          </p:nvPr>
        </p:nvSpPr>
        <p:spPr>
          <a:xfrm>
            <a:off x="628650" y="542405"/>
            <a:ext cx="7886700" cy="456900"/>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chemeClr val="lt1"/>
              </a:buClr>
              <a:buSzPts val="3300"/>
              <a:buFont typeface="Helvetica Neue"/>
              <a:buNone/>
              <a:defRPr>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9" name="Google Shape;119;p32"/>
          <p:cNvSpPr txBox="1"/>
          <p:nvPr>
            <p:ph idx="1" type="body"/>
          </p:nvPr>
        </p:nvSpPr>
        <p:spPr>
          <a:xfrm>
            <a:off x="628650" y="1369219"/>
            <a:ext cx="7886700" cy="131430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rgbClr val="002A40"/>
              </a:buClr>
              <a:buSzPts val="2100"/>
              <a:buFont typeface="Helvetica Neue"/>
              <a:buNone/>
              <a:defRPr>
                <a:solidFill>
                  <a:srgbClr val="002A40"/>
                </a:solidFill>
              </a:defRPr>
            </a:lvl1pPr>
            <a:lvl2pPr indent="-228600" lvl="1" marL="914400" algn="l">
              <a:lnSpc>
                <a:spcPct val="90000"/>
              </a:lnSpc>
              <a:spcBef>
                <a:spcPts val="400"/>
              </a:spcBef>
              <a:spcAft>
                <a:spcPts val="0"/>
              </a:spcAft>
              <a:buClr>
                <a:srgbClr val="002A40"/>
              </a:buClr>
              <a:buSzPts val="1800"/>
              <a:buFont typeface="Helvetica Neue"/>
              <a:buNone/>
              <a:defRPr>
                <a:solidFill>
                  <a:srgbClr val="002A40"/>
                </a:solidFill>
              </a:defRPr>
            </a:lvl2pPr>
            <a:lvl3pPr indent="-228600" lvl="2" marL="1371600" algn="l">
              <a:lnSpc>
                <a:spcPct val="90000"/>
              </a:lnSpc>
              <a:spcBef>
                <a:spcPts val="400"/>
              </a:spcBef>
              <a:spcAft>
                <a:spcPts val="0"/>
              </a:spcAft>
              <a:buClr>
                <a:srgbClr val="002A40"/>
              </a:buClr>
              <a:buSzPts val="1500"/>
              <a:buFont typeface="Helvetica Neue"/>
              <a:buNone/>
              <a:defRPr>
                <a:solidFill>
                  <a:srgbClr val="002A40"/>
                </a:solidFill>
              </a:defRPr>
            </a:lvl3pPr>
            <a:lvl4pPr indent="-228600" lvl="3" marL="1828800" algn="l">
              <a:lnSpc>
                <a:spcPct val="90000"/>
              </a:lnSpc>
              <a:spcBef>
                <a:spcPts val="400"/>
              </a:spcBef>
              <a:spcAft>
                <a:spcPts val="0"/>
              </a:spcAft>
              <a:buClr>
                <a:srgbClr val="002A40"/>
              </a:buClr>
              <a:buSzPts val="1400"/>
              <a:buFont typeface="Helvetica Neue"/>
              <a:buNone/>
              <a:defRPr>
                <a:solidFill>
                  <a:srgbClr val="002A40"/>
                </a:solidFill>
              </a:defRPr>
            </a:lvl4pPr>
            <a:lvl5pPr indent="-228600" lvl="4" marL="2286000" algn="l">
              <a:lnSpc>
                <a:spcPct val="90000"/>
              </a:lnSpc>
              <a:spcBef>
                <a:spcPts val="400"/>
              </a:spcBef>
              <a:spcAft>
                <a:spcPts val="0"/>
              </a:spcAft>
              <a:buClr>
                <a:srgbClr val="002A40"/>
              </a:buClr>
              <a:buSzPts val="1400"/>
              <a:buFont typeface="Helvetica Neue"/>
              <a:buNone/>
              <a:defRPr>
                <a:solidFill>
                  <a:srgbClr val="002A40"/>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20" name="Shape 120"/>
        <p:cNvGrpSpPr/>
        <p:nvPr/>
      </p:nvGrpSpPr>
      <p:grpSpPr>
        <a:xfrm>
          <a:off x="0" y="0"/>
          <a:ext cx="0" cy="0"/>
          <a:chOff x="0" y="0"/>
          <a:chExt cx="0" cy="0"/>
        </a:xfrm>
      </p:grpSpPr>
      <p:pic>
        <p:nvPicPr>
          <p:cNvPr id="121" name="Google Shape;121;p33"/>
          <p:cNvPicPr preferRelativeResize="0"/>
          <p:nvPr/>
        </p:nvPicPr>
        <p:blipFill rotWithShape="1">
          <a:blip r:embed="rId2">
            <a:alphaModFix/>
          </a:blip>
          <a:srcRect b="0" l="0" r="0" t="0"/>
          <a:stretch/>
        </p:blipFill>
        <p:spPr>
          <a:xfrm>
            <a:off x="-22860" y="-15156"/>
            <a:ext cx="9189719" cy="5173813"/>
          </a:xfrm>
          <a:prstGeom prst="rect">
            <a:avLst/>
          </a:prstGeom>
          <a:noFill/>
          <a:ln>
            <a:noFill/>
          </a:ln>
        </p:spPr>
      </p:pic>
      <p:sp>
        <p:nvSpPr>
          <p:cNvPr id="122" name="Google Shape;122;p33"/>
          <p:cNvSpPr txBox="1"/>
          <p:nvPr>
            <p:ph type="title"/>
          </p:nvPr>
        </p:nvSpPr>
        <p:spPr>
          <a:xfrm>
            <a:off x="628650" y="542405"/>
            <a:ext cx="7886700" cy="456900"/>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chemeClr val="lt1"/>
              </a:buClr>
              <a:buSzPts val="3300"/>
              <a:buFont typeface="Helvetica Neue"/>
              <a:buNone/>
              <a:defRPr>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3" name="Google Shape;123;p33"/>
          <p:cNvSpPr txBox="1"/>
          <p:nvPr>
            <p:ph idx="1" type="body"/>
          </p:nvPr>
        </p:nvSpPr>
        <p:spPr>
          <a:xfrm>
            <a:off x="628650" y="1369219"/>
            <a:ext cx="7886700" cy="131430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chemeClr val="lt1"/>
              </a:buClr>
              <a:buSzPts val="2100"/>
              <a:buFont typeface="Helvetica Neue"/>
              <a:buNone/>
              <a:defRPr>
                <a:solidFill>
                  <a:schemeClr val="lt1"/>
                </a:solidFill>
              </a:defRPr>
            </a:lvl1pPr>
            <a:lvl2pPr indent="-228600" lvl="1" marL="914400" algn="l">
              <a:lnSpc>
                <a:spcPct val="90000"/>
              </a:lnSpc>
              <a:spcBef>
                <a:spcPts val="400"/>
              </a:spcBef>
              <a:spcAft>
                <a:spcPts val="0"/>
              </a:spcAft>
              <a:buClr>
                <a:schemeClr val="lt1"/>
              </a:buClr>
              <a:buSzPts val="1800"/>
              <a:buFont typeface="Helvetica Neue"/>
              <a:buNone/>
              <a:defRPr>
                <a:solidFill>
                  <a:schemeClr val="lt1"/>
                </a:solidFill>
              </a:defRPr>
            </a:lvl2pPr>
            <a:lvl3pPr indent="-228600" lvl="2" marL="1371600" algn="l">
              <a:lnSpc>
                <a:spcPct val="90000"/>
              </a:lnSpc>
              <a:spcBef>
                <a:spcPts val="400"/>
              </a:spcBef>
              <a:spcAft>
                <a:spcPts val="0"/>
              </a:spcAft>
              <a:buClr>
                <a:schemeClr val="lt1"/>
              </a:buClr>
              <a:buSzPts val="1500"/>
              <a:buFont typeface="Helvetica Neue"/>
              <a:buNone/>
              <a:defRPr>
                <a:solidFill>
                  <a:schemeClr val="lt1"/>
                </a:solidFill>
              </a:defRPr>
            </a:lvl3pPr>
            <a:lvl4pPr indent="-228600" lvl="3" marL="1828800" algn="l">
              <a:lnSpc>
                <a:spcPct val="90000"/>
              </a:lnSpc>
              <a:spcBef>
                <a:spcPts val="400"/>
              </a:spcBef>
              <a:spcAft>
                <a:spcPts val="0"/>
              </a:spcAft>
              <a:buClr>
                <a:schemeClr val="lt1"/>
              </a:buClr>
              <a:buSzPts val="1400"/>
              <a:buFont typeface="Helvetica Neue"/>
              <a:buNone/>
              <a:defRPr>
                <a:solidFill>
                  <a:schemeClr val="lt1"/>
                </a:solidFill>
              </a:defRPr>
            </a:lvl4pPr>
            <a:lvl5pPr indent="-228600" lvl="4" marL="2286000" algn="l">
              <a:lnSpc>
                <a:spcPct val="90000"/>
              </a:lnSpc>
              <a:spcBef>
                <a:spcPts val="400"/>
              </a:spcBef>
              <a:spcAft>
                <a:spcPts val="0"/>
              </a:spcAft>
              <a:buClr>
                <a:schemeClr val="lt1"/>
              </a:buClr>
              <a:buSzPts val="1400"/>
              <a:buFont typeface="Helvetica Neue"/>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4" name="Shape 124"/>
        <p:cNvGrpSpPr/>
        <p:nvPr/>
      </p:nvGrpSpPr>
      <p:grpSpPr>
        <a:xfrm>
          <a:off x="0" y="0"/>
          <a:ext cx="0" cy="0"/>
          <a:chOff x="0" y="0"/>
          <a:chExt cx="0" cy="0"/>
        </a:xfrm>
      </p:grpSpPr>
      <p:sp>
        <p:nvSpPr>
          <p:cNvPr id="125" name="Google Shape;125;p34"/>
          <p:cNvSpPr/>
          <p:nvPr/>
        </p:nvSpPr>
        <p:spPr>
          <a:xfrm>
            <a:off x="0" y="0"/>
            <a:ext cx="9144000" cy="5143500"/>
          </a:xfrm>
          <a:prstGeom prst="rect">
            <a:avLst/>
          </a:prstGeom>
          <a:solidFill>
            <a:srgbClr val="002A40"/>
          </a:solidFill>
          <a:ln cap="flat" cmpd="sng" w="12700">
            <a:solidFill>
              <a:srgbClr val="001E2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Helvetica Neue"/>
              <a:ea typeface="Helvetica Neue"/>
              <a:cs typeface="Helvetica Neue"/>
              <a:sym typeface="Helvetica Neue"/>
            </a:endParaRPr>
          </a:p>
        </p:txBody>
      </p:sp>
      <p:sp>
        <p:nvSpPr>
          <p:cNvPr id="126" name="Google Shape;126;p34"/>
          <p:cNvSpPr txBox="1"/>
          <p:nvPr>
            <p:ph type="ctrTitle"/>
          </p:nvPr>
        </p:nvSpPr>
        <p:spPr>
          <a:xfrm>
            <a:off x="1143000" y="841772"/>
            <a:ext cx="6858000" cy="1790700"/>
          </a:xfrm>
          <a:prstGeom prst="rect">
            <a:avLst/>
          </a:prstGeom>
          <a:noFill/>
          <a:ln>
            <a:noFill/>
          </a:ln>
        </p:spPr>
        <p:txBody>
          <a:bodyPr anchorCtr="0" anchor="b" bIns="0" lIns="0" spcFirstLastPara="1" rIns="0" wrap="square" tIns="0">
            <a:spAutoFit/>
          </a:bodyPr>
          <a:lstStyle>
            <a:lvl1pPr lvl="0" algn="ctr">
              <a:lnSpc>
                <a:spcPct val="90000"/>
              </a:lnSpc>
              <a:spcBef>
                <a:spcPts val="0"/>
              </a:spcBef>
              <a:spcAft>
                <a:spcPts val="0"/>
              </a:spcAft>
              <a:buClr>
                <a:schemeClr val="lt1"/>
              </a:buClr>
              <a:buSzPts val="4500"/>
              <a:buFont typeface="Helvetica Neue"/>
              <a:buNone/>
              <a:defRPr sz="45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7" name="Google Shape;127;p34"/>
          <p:cNvSpPr txBox="1"/>
          <p:nvPr>
            <p:ph idx="1" type="subTitle"/>
          </p:nvPr>
        </p:nvSpPr>
        <p:spPr>
          <a:xfrm>
            <a:off x="1143000" y="2701528"/>
            <a:ext cx="6858000" cy="1241700"/>
          </a:xfrm>
          <a:prstGeom prst="rect">
            <a:avLst/>
          </a:prstGeom>
          <a:noFill/>
          <a:ln>
            <a:noFill/>
          </a:ln>
        </p:spPr>
        <p:txBody>
          <a:bodyPr anchorCtr="0" anchor="t" bIns="0" lIns="0" spcFirstLastPara="1" rIns="0" wrap="square" tIns="0">
            <a:spAutoFit/>
          </a:bodyPr>
          <a:lstStyle>
            <a:lvl1pPr lvl="0" algn="ctr">
              <a:lnSpc>
                <a:spcPct val="90000"/>
              </a:lnSpc>
              <a:spcBef>
                <a:spcPts val="800"/>
              </a:spcBef>
              <a:spcAft>
                <a:spcPts val="0"/>
              </a:spcAft>
              <a:buClr>
                <a:srgbClr val="CD28A3"/>
              </a:buClr>
              <a:buSzPts val="1800"/>
              <a:buFont typeface="Helvetica Neue"/>
              <a:buNone/>
              <a:defRPr sz="1800">
                <a:solidFill>
                  <a:srgbClr val="CD28A3"/>
                </a:solidFill>
              </a:defRPr>
            </a:lvl1pPr>
            <a:lvl2pPr lvl="1" algn="ctr">
              <a:lnSpc>
                <a:spcPct val="90000"/>
              </a:lnSpc>
              <a:spcBef>
                <a:spcPts val="400"/>
              </a:spcBef>
              <a:spcAft>
                <a:spcPts val="0"/>
              </a:spcAft>
              <a:buClr>
                <a:schemeClr val="dk1"/>
              </a:buClr>
              <a:buSzPts val="1500"/>
              <a:buFont typeface="Helvetica Neue"/>
              <a:buNone/>
              <a:defRPr sz="1500"/>
            </a:lvl2pPr>
            <a:lvl3pPr lvl="2" algn="ctr">
              <a:lnSpc>
                <a:spcPct val="90000"/>
              </a:lnSpc>
              <a:spcBef>
                <a:spcPts val="400"/>
              </a:spcBef>
              <a:spcAft>
                <a:spcPts val="0"/>
              </a:spcAft>
              <a:buClr>
                <a:schemeClr val="dk1"/>
              </a:buClr>
              <a:buSzPts val="1400"/>
              <a:buFont typeface="Helvetica Neue"/>
              <a:buNone/>
              <a:defRPr sz="1400"/>
            </a:lvl3pPr>
            <a:lvl4pPr lvl="3" algn="ctr">
              <a:lnSpc>
                <a:spcPct val="90000"/>
              </a:lnSpc>
              <a:spcBef>
                <a:spcPts val="400"/>
              </a:spcBef>
              <a:spcAft>
                <a:spcPts val="0"/>
              </a:spcAft>
              <a:buClr>
                <a:schemeClr val="dk1"/>
              </a:buClr>
              <a:buSzPts val="1200"/>
              <a:buFont typeface="Helvetica Neue"/>
              <a:buNone/>
              <a:defRPr sz="1200"/>
            </a:lvl4pPr>
            <a:lvl5pPr lvl="4" algn="ctr">
              <a:lnSpc>
                <a:spcPct val="90000"/>
              </a:lnSpc>
              <a:spcBef>
                <a:spcPts val="400"/>
              </a:spcBef>
              <a:spcAft>
                <a:spcPts val="0"/>
              </a:spcAft>
              <a:buClr>
                <a:schemeClr val="dk1"/>
              </a:buClr>
              <a:buSzPts val="1200"/>
              <a:buFont typeface="Helvetica Neue"/>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128" name="Shape 128"/>
        <p:cNvGrpSpPr/>
        <p:nvPr/>
      </p:nvGrpSpPr>
      <p:grpSpPr>
        <a:xfrm>
          <a:off x="0" y="0"/>
          <a:ext cx="0" cy="0"/>
          <a:chOff x="0" y="0"/>
          <a:chExt cx="0" cy="0"/>
        </a:xfrm>
      </p:grpSpPr>
      <p:sp>
        <p:nvSpPr>
          <p:cNvPr id="129" name="Google Shape;129;p35"/>
          <p:cNvSpPr txBox="1"/>
          <p:nvPr>
            <p:ph type="ctrTitle"/>
          </p:nvPr>
        </p:nvSpPr>
        <p:spPr>
          <a:xfrm>
            <a:off x="1143000" y="841772"/>
            <a:ext cx="6858000" cy="1790700"/>
          </a:xfrm>
          <a:prstGeom prst="rect">
            <a:avLst/>
          </a:prstGeom>
          <a:noFill/>
          <a:ln>
            <a:noFill/>
          </a:ln>
        </p:spPr>
        <p:txBody>
          <a:bodyPr anchorCtr="0" anchor="b" bIns="0" lIns="0" spcFirstLastPara="1" rIns="0" wrap="square" tIns="0">
            <a:spAutoFit/>
          </a:bodyPr>
          <a:lstStyle>
            <a:lvl1pPr lvl="0" algn="ctr">
              <a:lnSpc>
                <a:spcPct val="90000"/>
              </a:lnSpc>
              <a:spcBef>
                <a:spcPts val="0"/>
              </a:spcBef>
              <a:spcAft>
                <a:spcPts val="0"/>
              </a:spcAft>
              <a:buClr>
                <a:srgbClr val="002A40"/>
              </a:buClr>
              <a:buSzPts val="4500"/>
              <a:buFont typeface="Helvetica Neue"/>
              <a:buNone/>
              <a:defRPr sz="4500">
                <a:solidFill>
                  <a:srgbClr val="002A40"/>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0" name="Google Shape;130;p35"/>
          <p:cNvSpPr txBox="1"/>
          <p:nvPr>
            <p:ph idx="1" type="subTitle"/>
          </p:nvPr>
        </p:nvSpPr>
        <p:spPr>
          <a:xfrm>
            <a:off x="1143000" y="2701528"/>
            <a:ext cx="6858000" cy="1241700"/>
          </a:xfrm>
          <a:prstGeom prst="rect">
            <a:avLst/>
          </a:prstGeom>
          <a:noFill/>
          <a:ln>
            <a:noFill/>
          </a:ln>
        </p:spPr>
        <p:txBody>
          <a:bodyPr anchorCtr="0" anchor="t" bIns="0" lIns="0" spcFirstLastPara="1" rIns="0" wrap="square" tIns="0">
            <a:spAutoFit/>
          </a:bodyPr>
          <a:lstStyle>
            <a:lvl1pPr lvl="0" algn="ctr">
              <a:lnSpc>
                <a:spcPct val="90000"/>
              </a:lnSpc>
              <a:spcBef>
                <a:spcPts val="800"/>
              </a:spcBef>
              <a:spcAft>
                <a:spcPts val="0"/>
              </a:spcAft>
              <a:buClr>
                <a:srgbClr val="CD28A3"/>
              </a:buClr>
              <a:buSzPts val="1800"/>
              <a:buFont typeface="Helvetica Neue"/>
              <a:buNone/>
              <a:defRPr sz="1800">
                <a:solidFill>
                  <a:srgbClr val="CD28A3"/>
                </a:solidFill>
              </a:defRPr>
            </a:lvl1pPr>
            <a:lvl2pPr lvl="1" algn="ctr">
              <a:lnSpc>
                <a:spcPct val="90000"/>
              </a:lnSpc>
              <a:spcBef>
                <a:spcPts val="400"/>
              </a:spcBef>
              <a:spcAft>
                <a:spcPts val="0"/>
              </a:spcAft>
              <a:buClr>
                <a:schemeClr val="dk1"/>
              </a:buClr>
              <a:buSzPts val="1500"/>
              <a:buFont typeface="Helvetica Neue"/>
              <a:buNone/>
              <a:defRPr sz="1500"/>
            </a:lvl2pPr>
            <a:lvl3pPr lvl="2" algn="ctr">
              <a:lnSpc>
                <a:spcPct val="90000"/>
              </a:lnSpc>
              <a:spcBef>
                <a:spcPts val="400"/>
              </a:spcBef>
              <a:spcAft>
                <a:spcPts val="0"/>
              </a:spcAft>
              <a:buClr>
                <a:schemeClr val="dk1"/>
              </a:buClr>
              <a:buSzPts val="1400"/>
              <a:buFont typeface="Helvetica Neue"/>
              <a:buNone/>
              <a:defRPr sz="1400"/>
            </a:lvl3pPr>
            <a:lvl4pPr lvl="3" algn="ctr">
              <a:lnSpc>
                <a:spcPct val="90000"/>
              </a:lnSpc>
              <a:spcBef>
                <a:spcPts val="400"/>
              </a:spcBef>
              <a:spcAft>
                <a:spcPts val="0"/>
              </a:spcAft>
              <a:buClr>
                <a:schemeClr val="dk1"/>
              </a:buClr>
              <a:buSzPts val="1200"/>
              <a:buFont typeface="Helvetica Neue"/>
              <a:buNone/>
              <a:defRPr sz="1200"/>
            </a:lvl4pPr>
            <a:lvl5pPr lvl="4" algn="ctr">
              <a:lnSpc>
                <a:spcPct val="90000"/>
              </a:lnSpc>
              <a:spcBef>
                <a:spcPts val="400"/>
              </a:spcBef>
              <a:spcAft>
                <a:spcPts val="0"/>
              </a:spcAft>
              <a:buClr>
                <a:schemeClr val="dk1"/>
              </a:buClr>
              <a:buSzPts val="1200"/>
              <a:buFont typeface="Helvetica Neue"/>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31" name="Shape 131"/>
        <p:cNvGrpSpPr/>
        <p:nvPr/>
      </p:nvGrpSpPr>
      <p:grpSpPr>
        <a:xfrm>
          <a:off x="0" y="0"/>
          <a:ext cx="0" cy="0"/>
          <a:chOff x="0" y="0"/>
          <a:chExt cx="0" cy="0"/>
        </a:xfrm>
      </p:grpSpPr>
      <p:sp>
        <p:nvSpPr>
          <p:cNvPr id="132" name="Google Shape;132;p36"/>
          <p:cNvSpPr txBox="1"/>
          <p:nvPr>
            <p:ph type="title"/>
          </p:nvPr>
        </p:nvSpPr>
        <p:spPr>
          <a:xfrm>
            <a:off x="628650" y="542405"/>
            <a:ext cx="7886700" cy="456900"/>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3" name="Google Shape;133;p36"/>
          <p:cNvSpPr txBox="1"/>
          <p:nvPr>
            <p:ph idx="1" type="body"/>
          </p:nvPr>
        </p:nvSpPr>
        <p:spPr>
          <a:xfrm>
            <a:off x="628650" y="1369219"/>
            <a:ext cx="7886700" cy="131430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rgbClr val="CD28A3"/>
              </a:buClr>
              <a:buSzPts val="2100"/>
              <a:buFont typeface="Helvetica Neue"/>
              <a:buNone/>
              <a:defRPr>
                <a:solidFill>
                  <a:srgbClr val="CD28A3"/>
                </a:solidFill>
              </a:defRPr>
            </a:lvl1pPr>
            <a:lvl2pPr indent="-228600" lvl="1" marL="914400" algn="l">
              <a:lnSpc>
                <a:spcPct val="90000"/>
              </a:lnSpc>
              <a:spcBef>
                <a:spcPts val="400"/>
              </a:spcBef>
              <a:spcAft>
                <a:spcPts val="0"/>
              </a:spcAft>
              <a:buClr>
                <a:schemeClr val="dk1"/>
              </a:buClr>
              <a:buSzPts val="1800"/>
              <a:buFont typeface="Helvetica Neue"/>
              <a:buNone/>
              <a:defRPr/>
            </a:lvl2pPr>
            <a:lvl3pPr indent="-228600" lvl="2" marL="1371600" algn="l">
              <a:lnSpc>
                <a:spcPct val="90000"/>
              </a:lnSpc>
              <a:spcBef>
                <a:spcPts val="400"/>
              </a:spcBef>
              <a:spcAft>
                <a:spcPts val="0"/>
              </a:spcAft>
              <a:buClr>
                <a:schemeClr val="dk1"/>
              </a:buClr>
              <a:buSzPts val="1500"/>
              <a:buFont typeface="Helvetica Neue"/>
              <a:buNone/>
              <a:defRPr/>
            </a:lvl3pPr>
            <a:lvl4pPr indent="-228600" lvl="3" marL="1828800" algn="l">
              <a:lnSpc>
                <a:spcPct val="90000"/>
              </a:lnSpc>
              <a:spcBef>
                <a:spcPts val="400"/>
              </a:spcBef>
              <a:spcAft>
                <a:spcPts val="0"/>
              </a:spcAft>
              <a:buClr>
                <a:schemeClr val="dk1"/>
              </a:buClr>
              <a:buSzPts val="1400"/>
              <a:buFont typeface="Helvetica Neue"/>
              <a:buNone/>
              <a:defRPr/>
            </a:lvl4pPr>
            <a:lvl5pPr indent="-228600" lvl="4" marL="2286000" algn="l">
              <a:lnSpc>
                <a:spcPct val="90000"/>
              </a:lnSpc>
              <a:spcBef>
                <a:spcPts val="400"/>
              </a:spcBef>
              <a:spcAft>
                <a:spcPts val="0"/>
              </a:spcAft>
              <a:buClr>
                <a:schemeClr val="dk1"/>
              </a:buClr>
              <a:buSzPts val="1400"/>
              <a:buFont typeface="Helvetica Neue"/>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134" name="Shape 134"/>
        <p:cNvGrpSpPr/>
        <p:nvPr/>
      </p:nvGrpSpPr>
      <p:grpSpPr>
        <a:xfrm>
          <a:off x="0" y="0"/>
          <a:ext cx="0" cy="0"/>
          <a:chOff x="0" y="0"/>
          <a:chExt cx="0" cy="0"/>
        </a:xfrm>
      </p:grpSpPr>
      <p:sp>
        <p:nvSpPr>
          <p:cNvPr id="135" name="Google Shape;135;p37"/>
          <p:cNvSpPr/>
          <p:nvPr/>
        </p:nvSpPr>
        <p:spPr>
          <a:xfrm>
            <a:off x="0" y="0"/>
            <a:ext cx="9144000" cy="5143500"/>
          </a:xfrm>
          <a:prstGeom prst="rect">
            <a:avLst/>
          </a:prstGeom>
          <a:solidFill>
            <a:srgbClr val="002A40"/>
          </a:solidFill>
          <a:ln cap="flat" cmpd="sng" w="12700">
            <a:solidFill>
              <a:srgbClr val="001E2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Helvetica Neue"/>
              <a:ea typeface="Helvetica Neue"/>
              <a:cs typeface="Helvetica Neue"/>
              <a:sym typeface="Helvetica Neue"/>
            </a:endParaRPr>
          </a:p>
        </p:txBody>
      </p:sp>
      <p:sp>
        <p:nvSpPr>
          <p:cNvPr id="136" name="Google Shape;136;p37"/>
          <p:cNvSpPr txBox="1"/>
          <p:nvPr>
            <p:ph type="title"/>
          </p:nvPr>
        </p:nvSpPr>
        <p:spPr>
          <a:xfrm>
            <a:off x="628650" y="542405"/>
            <a:ext cx="7886700" cy="456900"/>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chemeClr val="lt1"/>
              </a:buClr>
              <a:buSzPts val="3300"/>
              <a:buFont typeface="Helvetica Neue"/>
              <a:buNone/>
              <a:defRPr>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7" name="Google Shape;137;p37"/>
          <p:cNvSpPr txBox="1"/>
          <p:nvPr>
            <p:ph idx="1" type="body"/>
          </p:nvPr>
        </p:nvSpPr>
        <p:spPr>
          <a:xfrm>
            <a:off x="628650" y="1369219"/>
            <a:ext cx="7886700" cy="131430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rgbClr val="CD28A3"/>
              </a:buClr>
              <a:buSzPts val="2100"/>
              <a:buFont typeface="Helvetica Neue"/>
              <a:buNone/>
              <a:defRPr>
                <a:solidFill>
                  <a:srgbClr val="CD28A3"/>
                </a:solidFill>
              </a:defRPr>
            </a:lvl1pPr>
            <a:lvl2pPr indent="-228600" lvl="1" marL="914400" algn="l">
              <a:lnSpc>
                <a:spcPct val="90000"/>
              </a:lnSpc>
              <a:spcBef>
                <a:spcPts val="400"/>
              </a:spcBef>
              <a:spcAft>
                <a:spcPts val="0"/>
              </a:spcAft>
              <a:buClr>
                <a:schemeClr val="lt1"/>
              </a:buClr>
              <a:buSzPts val="1800"/>
              <a:buFont typeface="Helvetica Neue"/>
              <a:buNone/>
              <a:defRPr>
                <a:solidFill>
                  <a:schemeClr val="lt1"/>
                </a:solidFill>
              </a:defRPr>
            </a:lvl2pPr>
            <a:lvl3pPr indent="-228600" lvl="2" marL="1371600" algn="l">
              <a:lnSpc>
                <a:spcPct val="90000"/>
              </a:lnSpc>
              <a:spcBef>
                <a:spcPts val="400"/>
              </a:spcBef>
              <a:spcAft>
                <a:spcPts val="0"/>
              </a:spcAft>
              <a:buClr>
                <a:schemeClr val="lt1"/>
              </a:buClr>
              <a:buSzPts val="1500"/>
              <a:buFont typeface="Helvetica Neue"/>
              <a:buNone/>
              <a:defRPr>
                <a:solidFill>
                  <a:schemeClr val="lt1"/>
                </a:solidFill>
              </a:defRPr>
            </a:lvl3pPr>
            <a:lvl4pPr indent="-228600" lvl="3" marL="1828800" algn="l">
              <a:lnSpc>
                <a:spcPct val="90000"/>
              </a:lnSpc>
              <a:spcBef>
                <a:spcPts val="400"/>
              </a:spcBef>
              <a:spcAft>
                <a:spcPts val="0"/>
              </a:spcAft>
              <a:buClr>
                <a:schemeClr val="lt1"/>
              </a:buClr>
              <a:buSzPts val="1400"/>
              <a:buFont typeface="Helvetica Neue"/>
              <a:buNone/>
              <a:defRPr>
                <a:solidFill>
                  <a:schemeClr val="lt1"/>
                </a:solidFill>
              </a:defRPr>
            </a:lvl4pPr>
            <a:lvl5pPr indent="-228600" lvl="4" marL="2286000" algn="l">
              <a:lnSpc>
                <a:spcPct val="90000"/>
              </a:lnSpc>
              <a:spcBef>
                <a:spcPts val="400"/>
              </a:spcBef>
              <a:spcAft>
                <a:spcPts val="0"/>
              </a:spcAft>
              <a:buClr>
                <a:schemeClr val="lt1"/>
              </a:buClr>
              <a:buSzPts val="1400"/>
              <a:buFont typeface="Helvetica Neue"/>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8" name="Shape 138"/>
        <p:cNvGrpSpPr/>
        <p:nvPr/>
      </p:nvGrpSpPr>
      <p:grpSpPr>
        <a:xfrm>
          <a:off x="0" y="0"/>
          <a:ext cx="0" cy="0"/>
          <a:chOff x="0" y="0"/>
          <a:chExt cx="0" cy="0"/>
        </a:xfrm>
      </p:grpSpPr>
      <p:sp>
        <p:nvSpPr>
          <p:cNvPr id="139" name="Google Shape;139;p38"/>
          <p:cNvSpPr txBox="1"/>
          <p:nvPr>
            <p:ph type="title"/>
          </p:nvPr>
        </p:nvSpPr>
        <p:spPr>
          <a:xfrm>
            <a:off x="623888" y="1282304"/>
            <a:ext cx="7886700" cy="213960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rgbClr val="002A40"/>
              </a:buClr>
              <a:buSzPts val="4500"/>
              <a:buFont typeface="Helvetica Neue"/>
              <a:buNone/>
              <a:defRPr sz="4500">
                <a:solidFill>
                  <a:srgbClr val="002A40"/>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0" name="Google Shape;140;p38"/>
          <p:cNvSpPr txBox="1"/>
          <p:nvPr>
            <p:ph idx="1" type="body"/>
          </p:nvPr>
        </p:nvSpPr>
        <p:spPr>
          <a:xfrm>
            <a:off x="623888" y="3442097"/>
            <a:ext cx="7886700" cy="112500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rgbClr val="888888"/>
              </a:buClr>
              <a:buSzPts val="1800"/>
              <a:buFont typeface="Helvetica Neue"/>
              <a:buNone/>
              <a:defRPr sz="1800">
                <a:solidFill>
                  <a:srgbClr val="888888"/>
                </a:solidFill>
              </a:defRPr>
            </a:lvl1pPr>
            <a:lvl2pPr indent="-228600" lvl="1" marL="914400" algn="l">
              <a:lnSpc>
                <a:spcPct val="90000"/>
              </a:lnSpc>
              <a:spcBef>
                <a:spcPts val="400"/>
              </a:spcBef>
              <a:spcAft>
                <a:spcPts val="0"/>
              </a:spcAft>
              <a:buClr>
                <a:srgbClr val="888888"/>
              </a:buClr>
              <a:buSzPts val="1500"/>
              <a:buFont typeface="Helvetica Neue"/>
              <a:buNone/>
              <a:defRPr sz="1500">
                <a:solidFill>
                  <a:srgbClr val="888888"/>
                </a:solidFill>
              </a:defRPr>
            </a:lvl2pPr>
            <a:lvl3pPr indent="-228600" lvl="2" marL="1371600" algn="l">
              <a:lnSpc>
                <a:spcPct val="90000"/>
              </a:lnSpc>
              <a:spcBef>
                <a:spcPts val="400"/>
              </a:spcBef>
              <a:spcAft>
                <a:spcPts val="0"/>
              </a:spcAft>
              <a:buClr>
                <a:srgbClr val="888888"/>
              </a:buClr>
              <a:buSzPts val="1400"/>
              <a:buFont typeface="Helvetica Neue"/>
              <a:buNone/>
              <a:defRPr sz="1400">
                <a:solidFill>
                  <a:srgbClr val="888888"/>
                </a:solidFill>
              </a:defRPr>
            </a:lvl3pPr>
            <a:lvl4pPr indent="-228600" lvl="3" marL="1828800" algn="l">
              <a:lnSpc>
                <a:spcPct val="90000"/>
              </a:lnSpc>
              <a:spcBef>
                <a:spcPts val="400"/>
              </a:spcBef>
              <a:spcAft>
                <a:spcPts val="0"/>
              </a:spcAft>
              <a:buClr>
                <a:srgbClr val="888888"/>
              </a:buClr>
              <a:buSzPts val="1200"/>
              <a:buFont typeface="Helvetica Neue"/>
              <a:buNone/>
              <a:defRPr sz="1200">
                <a:solidFill>
                  <a:srgbClr val="888888"/>
                </a:solidFill>
              </a:defRPr>
            </a:lvl4pPr>
            <a:lvl5pPr indent="-228600" lvl="4" marL="2286000" algn="l">
              <a:lnSpc>
                <a:spcPct val="90000"/>
              </a:lnSpc>
              <a:spcBef>
                <a:spcPts val="400"/>
              </a:spcBef>
              <a:spcAft>
                <a:spcPts val="0"/>
              </a:spcAft>
              <a:buClr>
                <a:srgbClr val="888888"/>
              </a:buClr>
              <a:buSzPts val="1200"/>
              <a:buFont typeface="Helvetica Neue"/>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41" name="Shape 141"/>
        <p:cNvGrpSpPr/>
        <p:nvPr/>
      </p:nvGrpSpPr>
      <p:grpSpPr>
        <a:xfrm>
          <a:off x="0" y="0"/>
          <a:ext cx="0" cy="0"/>
          <a:chOff x="0" y="0"/>
          <a:chExt cx="0" cy="0"/>
        </a:xfrm>
      </p:grpSpPr>
      <p:sp>
        <p:nvSpPr>
          <p:cNvPr id="142" name="Google Shape;142;p39"/>
          <p:cNvSpPr txBox="1"/>
          <p:nvPr>
            <p:ph idx="1" type="body"/>
          </p:nvPr>
        </p:nvSpPr>
        <p:spPr>
          <a:xfrm>
            <a:off x="628650" y="1369219"/>
            <a:ext cx="3886200" cy="326340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rgbClr val="002A40"/>
              </a:buClr>
              <a:buSzPts val="2100"/>
              <a:buFont typeface="Helvetica Neue"/>
              <a:buNone/>
              <a:defRPr>
                <a:solidFill>
                  <a:srgbClr val="002A40"/>
                </a:solidFill>
              </a:defRPr>
            </a:lvl1pPr>
            <a:lvl2pPr indent="-228600" lvl="1" marL="914400" algn="l">
              <a:lnSpc>
                <a:spcPct val="90000"/>
              </a:lnSpc>
              <a:spcBef>
                <a:spcPts val="400"/>
              </a:spcBef>
              <a:spcAft>
                <a:spcPts val="0"/>
              </a:spcAft>
              <a:buClr>
                <a:srgbClr val="002A40"/>
              </a:buClr>
              <a:buSzPts val="1800"/>
              <a:buFont typeface="Helvetica Neue"/>
              <a:buNone/>
              <a:defRPr>
                <a:solidFill>
                  <a:srgbClr val="002A40"/>
                </a:solidFill>
              </a:defRPr>
            </a:lvl2pPr>
            <a:lvl3pPr indent="-228600" lvl="2" marL="1371600" algn="l">
              <a:lnSpc>
                <a:spcPct val="90000"/>
              </a:lnSpc>
              <a:spcBef>
                <a:spcPts val="400"/>
              </a:spcBef>
              <a:spcAft>
                <a:spcPts val="0"/>
              </a:spcAft>
              <a:buClr>
                <a:srgbClr val="002A40"/>
              </a:buClr>
              <a:buSzPts val="1500"/>
              <a:buFont typeface="Helvetica Neue"/>
              <a:buNone/>
              <a:defRPr>
                <a:solidFill>
                  <a:srgbClr val="002A40"/>
                </a:solidFill>
              </a:defRPr>
            </a:lvl3pPr>
            <a:lvl4pPr indent="-228600" lvl="3" marL="1828800" algn="l">
              <a:lnSpc>
                <a:spcPct val="90000"/>
              </a:lnSpc>
              <a:spcBef>
                <a:spcPts val="400"/>
              </a:spcBef>
              <a:spcAft>
                <a:spcPts val="0"/>
              </a:spcAft>
              <a:buClr>
                <a:srgbClr val="002A40"/>
              </a:buClr>
              <a:buSzPts val="1400"/>
              <a:buFont typeface="Helvetica Neue"/>
              <a:buNone/>
              <a:defRPr>
                <a:solidFill>
                  <a:srgbClr val="002A40"/>
                </a:solidFill>
              </a:defRPr>
            </a:lvl4pPr>
            <a:lvl5pPr indent="-228600" lvl="4" marL="2286000" algn="l">
              <a:lnSpc>
                <a:spcPct val="90000"/>
              </a:lnSpc>
              <a:spcBef>
                <a:spcPts val="400"/>
              </a:spcBef>
              <a:spcAft>
                <a:spcPts val="0"/>
              </a:spcAft>
              <a:buClr>
                <a:srgbClr val="002A40"/>
              </a:buClr>
              <a:buSzPts val="1400"/>
              <a:buFont typeface="Helvetica Neue"/>
              <a:buNone/>
              <a:defRPr>
                <a:solidFill>
                  <a:srgbClr val="002A40"/>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3" name="Google Shape;143;p39"/>
          <p:cNvSpPr txBox="1"/>
          <p:nvPr>
            <p:ph idx="2" type="body"/>
          </p:nvPr>
        </p:nvSpPr>
        <p:spPr>
          <a:xfrm>
            <a:off x="4629150" y="1369219"/>
            <a:ext cx="3886200" cy="326340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rgbClr val="002A40"/>
              </a:buClr>
              <a:buSzPts val="2100"/>
              <a:buFont typeface="Helvetica Neue"/>
              <a:buNone/>
              <a:defRPr>
                <a:solidFill>
                  <a:srgbClr val="002A40"/>
                </a:solidFill>
              </a:defRPr>
            </a:lvl1pPr>
            <a:lvl2pPr indent="-228600" lvl="1" marL="914400" algn="l">
              <a:lnSpc>
                <a:spcPct val="90000"/>
              </a:lnSpc>
              <a:spcBef>
                <a:spcPts val="400"/>
              </a:spcBef>
              <a:spcAft>
                <a:spcPts val="0"/>
              </a:spcAft>
              <a:buClr>
                <a:srgbClr val="002A40"/>
              </a:buClr>
              <a:buSzPts val="1800"/>
              <a:buFont typeface="Helvetica Neue"/>
              <a:buNone/>
              <a:defRPr>
                <a:solidFill>
                  <a:srgbClr val="002A40"/>
                </a:solidFill>
              </a:defRPr>
            </a:lvl2pPr>
            <a:lvl3pPr indent="-228600" lvl="2" marL="1371600" algn="l">
              <a:lnSpc>
                <a:spcPct val="90000"/>
              </a:lnSpc>
              <a:spcBef>
                <a:spcPts val="400"/>
              </a:spcBef>
              <a:spcAft>
                <a:spcPts val="0"/>
              </a:spcAft>
              <a:buClr>
                <a:srgbClr val="002A40"/>
              </a:buClr>
              <a:buSzPts val="1500"/>
              <a:buFont typeface="Helvetica Neue"/>
              <a:buNone/>
              <a:defRPr>
                <a:solidFill>
                  <a:srgbClr val="002A40"/>
                </a:solidFill>
              </a:defRPr>
            </a:lvl3pPr>
            <a:lvl4pPr indent="-228600" lvl="3" marL="1828800" algn="l">
              <a:lnSpc>
                <a:spcPct val="90000"/>
              </a:lnSpc>
              <a:spcBef>
                <a:spcPts val="400"/>
              </a:spcBef>
              <a:spcAft>
                <a:spcPts val="0"/>
              </a:spcAft>
              <a:buClr>
                <a:srgbClr val="002A40"/>
              </a:buClr>
              <a:buSzPts val="1400"/>
              <a:buFont typeface="Helvetica Neue"/>
              <a:buNone/>
              <a:defRPr>
                <a:solidFill>
                  <a:srgbClr val="002A40"/>
                </a:solidFill>
              </a:defRPr>
            </a:lvl4pPr>
            <a:lvl5pPr indent="-228600" lvl="4" marL="2286000" algn="l">
              <a:lnSpc>
                <a:spcPct val="90000"/>
              </a:lnSpc>
              <a:spcBef>
                <a:spcPts val="400"/>
              </a:spcBef>
              <a:spcAft>
                <a:spcPts val="0"/>
              </a:spcAft>
              <a:buClr>
                <a:srgbClr val="002A40"/>
              </a:buClr>
              <a:buSzPts val="1400"/>
              <a:buFont typeface="Helvetica Neue"/>
              <a:buNone/>
              <a:defRPr>
                <a:solidFill>
                  <a:srgbClr val="002A40"/>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4" name="Google Shape;144;p39"/>
          <p:cNvSpPr txBox="1"/>
          <p:nvPr>
            <p:ph type="title"/>
          </p:nvPr>
        </p:nvSpPr>
        <p:spPr>
          <a:xfrm>
            <a:off x="628650" y="273844"/>
            <a:ext cx="7886700" cy="994200"/>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rgbClr val="002A40"/>
              </a:buClr>
              <a:buSzPts val="3300"/>
              <a:buFont typeface="Helvetica Neue"/>
              <a:buNone/>
              <a:defRPr>
                <a:solidFill>
                  <a:srgbClr val="002A40"/>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45" name="Shape 145"/>
        <p:cNvGrpSpPr/>
        <p:nvPr/>
      </p:nvGrpSpPr>
      <p:grpSpPr>
        <a:xfrm>
          <a:off x="0" y="0"/>
          <a:ext cx="0" cy="0"/>
          <a:chOff x="0" y="0"/>
          <a:chExt cx="0" cy="0"/>
        </a:xfrm>
      </p:grpSpPr>
      <p:sp>
        <p:nvSpPr>
          <p:cNvPr id="146" name="Google Shape;146;p40"/>
          <p:cNvSpPr txBox="1"/>
          <p:nvPr>
            <p:ph type="title"/>
          </p:nvPr>
        </p:nvSpPr>
        <p:spPr>
          <a:xfrm>
            <a:off x="629841" y="273844"/>
            <a:ext cx="7886700" cy="994200"/>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rgbClr val="002A40"/>
              </a:buClr>
              <a:buSzPts val="3300"/>
              <a:buFont typeface="Helvetica Neue"/>
              <a:buNone/>
              <a:defRPr>
                <a:solidFill>
                  <a:srgbClr val="002A40"/>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7" name="Google Shape;147;p40"/>
          <p:cNvSpPr txBox="1"/>
          <p:nvPr>
            <p:ph idx="1" type="body"/>
          </p:nvPr>
        </p:nvSpPr>
        <p:spPr>
          <a:xfrm>
            <a:off x="629841" y="1260872"/>
            <a:ext cx="3868200" cy="618000"/>
          </a:xfrm>
          <a:prstGeom prst="rect">
            <a:avLst/>
          </a:prstGeom>
          <a:noFill/>
          <a:ln>
            <a:noFill/>
          </a:ln>
        </p:spPr>
        <p:txBody>
          <a:bodyPr anchorCtr="0" anchor="b" bIns="0" lIns="0" spcFirstLastPara="1" rIns="0" wrap="square" tIns="0">
            <a:spAutoFit/>
          </a:bodyPr>
          <a:lstStyle>
            <a:lvl1pPr indent="-228600" lvl="0" marL="457200" algn="l">
              <a:lnSpc>
                <a:spcPct val="90000"/>
              </a:lnSpc>
              <a:spcBef>
                <a:spcPts val="800"/>
              </a:spcBef>
              <a:spcAft>
                <a:spcPts val="0"/>
              </a:spcAft>
              <a:buClr>
                <a:srgbClr val="002A40"/>
              </a:buClr>
              <a:buSzPts val="1800"/>
              <a:buFont typeface="Helvetica Neue"/>
              <a:buNone/>
              <a:defRPr b="1" sz="1800">
                <a:solidFill>
                  <a:srgbClr val="002A40"/>
                </a:solidFill>
              </a:defRPr>
            </a:lvl1pPr>
            <a:lvl2pPr indent="-228600" lvl="1" marL="914400" algn="l">
              <a:lnSpc>
                <a:spcPct val="90000"/>
              </a:lnSpc>
              <a:spcBef>
                <a:spcPts val="400"/>
              </a:spcBef>
              <a:spcAft>
                <a:spcPts val="0"/>
              </a:spcAft>
              <a:buClr>
                <a:schemeClr val="dk1"/>
              </a:buClr>
              <a:buSzPts val="1500"/>
              <a:buFont typeface="Helvetica Neue"/>
              <a:buNone/>
              <a:defRPr b="1" sz="1500"/>
            </a:lvl2pPr>
            <a:lvl3pPr indent="-228600" lvl="2" marL="1371600" algn="l">
              <a:lnSpc>
                <a:spcPct val="90000"/>
              </a:lnSpc>
              <a:spcBef>
                <a:spcPts val="400"/>
              </a:spcBef>
              <a:spcAft>
                <a:spcPts val="0"/>
              </a:spcAft>
              <a:buClr>
                <a:schemeClr val="dk1"/>
              </a:buClr>
              <a:buSzPts val="1400"/>
              <a:buFont typeface="Helvetica Neue"/>
              <a:buNone/>
              <a:defRPr b="1" sz="1400"/>
            </a:lvl3pPr>
            <a:lvl4pPr indent="-228600" lvl="3" marL="1828800" algn="l">
              <a:lnSpc>
                <a:spcPct val="90000"/>
              </a:lnSpc>
              <a:spcBef>
                <a:spcPts val="400"/>
              </a:spcBef>
              <a:spcAft>
                <a:spcPts val="0"/>
              </a:spcAft>
              <a:buClr>
                <a:schemeClr val="dk1"/>
              </a:buClr>
              <a:buSzPts val="1200"/>
              <a:buFont typeface="Helvetica Neue"/>
              <a:buNone/>
              <a:defRPr b="1" sz="1200"/>
            </a:lvl4pPr>
            <a:lvl5pPr indent="-228600" lvl="4" marL="2286000" algn="l">
              <a:lnSpc>
                <a:spcPct val="90000"/>
              </a:lnSpc>
              <a:spcBef>
                <a:spcPts val="400"/>
              </a:spcBef>
              <a:spcAft>
                <a:spcPts val="0"/>
              </a:spcAft>
              <a:buClr>
                <a:schemeClr val="dk1"/>
              </a:buClr>
              <a:buSzPts val="1200"/>
              <a:buFont typeface="Helvetica Neue"/>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48" name="Google Shape;148;p40"/>
          <p:cNvSpPr txBox="1"/>
          <p:nvPr>
            <p:ph idx="2" type="body"/>
          </p:nvPr>
        </p:nvSpPr>
        <p:spPr>
          <a:xfrm>
            <a:off x="629841" y="1878806"/>
            <a:ext cx="3868200" cy="276330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rgbClr val="002A40"/>
              </a:buClr>
              <a:buSzPts val="2100"/>
              <a:buFont typeface="Helvetica Neue"/>
              <a:buNone/>
              <a:defRPr>
                <a:solidFill>
                  <a:srgbClr val="002A40"/>
                </a:solidFill>
              </a:defRPr>
            </a:lvl1pPr>
            <a:lvl2pPr indent="-228600" lvl="1" marL="914400" algn="l">
              <a:lnSpc>
                <a:spcPct val="90000"/>
              </a:lnSpc>
              <a:spcBef>
                <a:spcPts val="400"/>
              </a:spcBef>
              <a:spcAft>
                <a:spcPts val="0"/>
              </a:spcAft>
              <a:buClr>
                <a:srgbClr val="002A40"/>
              </a:buClr>
              <a:buSzPts val="1800"/>
              <a:buFont typeface="Helvetica Neue"/>
              <a:buNone/>
              <a:defRPr>
                <a:solidFill>
                  <a:srgbClr val="002A40"/>
                </a:solidFill>
              </a:defRPr>
            </a:lvl2pPr>
            <a:lvl3pPr indent="-228600" lvl="2" marL="1371600" algn="l">
              <a:lnSpc>
                <a:spcPct val="90000"/>
              </a:lnSpc>
              <a:spcBef>
                <a:spcPts val="400"/>
              </a:spcBef>
              <a:spcAft>
                <a:spcPts val="0"/>
              </a:spcAft>
              <a:buClr>
                <a:srgbClr val="002A40"/>
              </a:buClr>
              <a:buSzPts val="1500"/>
              <a:buFont typeface="Helvetica Neue"/>
              <a:buNone/>
              <a:defRPr>
                <a:solidFill>
                  <a:srgbClr val="002A40"/>
                </a:solidFill>
              </a:defRPr>
            </a:lvl3pPr>
            <a:lvl4pPr indent="-228600" lvl="3" marL="1828800" algn="l">
              <a:lnSpc>
                <a:spcPct val="90000"/>
              </a:lnSpc>
              <a:spcBef>
                <a:spcPts val="400"/>
              </a:spcBef>
              <a:spcAft>
                <a:spcPts val="0"/>
              </a:spcAft>
              <a:buClr>
                <a:srgbClr val="002A40"/>
              </a:buClr>
              <a:buSzPts val="1400"/>
              <a:buFont typeface="Helvetica Neue"/>
              <a:buNone/>
              <a:defRPr>
                <a:solidFill>
                  <a:srgbClr val="002A40"/>
                </a:solidFill>
              </a:defRPr>
            </a:lvl4pPr>
            <a:lvl5pPr indent="-228600" lvl="4" marL="2286000" algn="l">
              <a:lnSpc>
                <a:spcPct val="90000"/>
              </a:lnSpc>
              <a:spcBef>
                <a:spcPts val="400"/>
              </a:spcBef>
              <a:spcAft>
                <a:spcPts val="0"/>
              </a:spcAft>
              <a:buClr>
                <a:srgbClr val="002A40"/>
              </a:buClr>
              <a:buSzPts val="1400"/>
              <a:buFont typeface="Helvetica Neue"/>
              <a:buNone/>
              <a:defRPr>
                <a:solidFill>
                  <a:srgbClr val="002A40"/>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9" name="Google Shape;149;p40"/>
          <p:cNvSpPr txBox="1"/>
          <p:nvPr>
            <p:ph idx="3" type="body"/>
          </p:nvPr>
        </p:nvSpPr>
        <p:spPr>
          <a:xfrm>
            <a:off x="4629150" y="1260872"/>
            <a:ext cx="3887400" cy="618000"/>
          </a:xfrm>
          <a:prstGeom prst="rect">
            <a:avLst/>
          </a:prstGeom>
          <a:noFill/>
          <a:ln>
            <a:noFill/>
          </a:ln>
        </p:spPr>
        <p:txBody>
          <a:bodyPr anchorCtr="0" anchor="b" bIns="0" lIns="0" spcFirstLastPara="1" rIns="0" wrap="square" tIns="0">
            <a:spAutoFit/>
          </a:bodyPr>
          <a:lstStyle>
            <a:lvl1pPr indent="-228600" lvl="0" marL="457200" algn="l">
              <a:lnSpc>
                <a:spcPct val="90000"/>
              </a:lnSpc>
              <a:spcBef>
                <a:spcPts val="800"/>
              </a:spcBef>
              <a:spcAft>
                <a:spcPts val="0"/>
              </a:spcAft>
              <a:buClr>
                <a:srgbClr val="002A40"/>
              </a:buClr>
              <a:buSzPts val="1800"/>
              <a:buFont typeface="Helvetica Neue"/>
              <a:buNone/>
              <a:defRPr b="1" sz="1800">
                <a:solidFill>
                  <a:srgbClr val="002A40"/>
                </a:solidFill>
              </a:defRPr>
            </a:lvl1pPr>
            <a:lvl2pPr indent="-228600" lvl="1" marL="914400" algn="l">
              <a:lnSpc>
                <a:spcPct val="90000"/>
              </a:lnSpc>
              <a:spcBef>
                <a:spcPts val="400"/>
              </a:spcBef>
              <a:spcAft>
                <a:spcPts val="0"/>
              </a:spcAft>
              <a:buClr>
                <a:schemeClr val="dk1"/>
              </a:buClr>
              <a:buSzPts val="1500"/>
              <a:buFont typeface="Helvetica Neue"/>
              <a:buNone/>
              <a:defRPr b="1" sz="1500"/>
            </a:lvl2pPr>
            <a:lvl3pPr indent="-228600" lvl="2" marL="1371600" algn="l">
              <a:lnSpc>
                <a:spcPct val="90000"/>
              </a:lnSpc>
              <a:spcBef>
                <a:spcPts val="400"/>
              </a:spcBef>
              <a:spcAft>
                <a:spcPts val="0"/>
              </a:spcAft>
              <a:buClr>
                <a:schemeClr val="dk1"/>
              </a:buClr>
              <a:buSzPts val="1400"/>
              <a:buFont typeface="Helvetica Neue"/>
              <a:buNone/>
              <a:defRPr b="1" sz="1400"/>
            </a:lvl3pPr>
            <a:lvl4pPr indent="-228600" lvl="3" marL="1828800" algn="l">
              <a:lnSpc>
                <a:spcPct val="90000"/>
              </a:lnSpc>
              <a:spcBef>
                <a:spcPts val="400"/>
              </a:spcBef>
              <a:spcAft>
                <a:spcPts val="0"/>
              </a:spcAft>
              <a:buClr>
                <a:schemeClr val="dk1"/>
              </a:buClr>
              <a:buSzPts val="1200"/>
              <a:buFont typeface="Helvetica Neue"/>
              <a:buNone/>
              <a:defRPr b="1" sz="1200"/>
            </a:lvl4pPr>
            <a:lvl5pPr indent="-228600" lvl="4" marL="2286000" algn="l">
              <a:lnSpc>
                <a:spcPct val="90000"/>
              </a:lnSpc>
              <a:spcBef>
                <a:spcPts val="400"/>
              </a:spcBef>
              <a:spcAft>
                <a:spcPts val="0"/>
              </a:spcAft>
              <a:buClr>
                <a:schemeClr val="dk1"/>
              </a:buClr>
              <a:buSzPts val="1200"/>
              <a:buFont typeface="Helvetica Neue"/>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50" name="Google Shape;150;p40"/>
          <p:cNvSpPr txBox="1"/>
          <p:nvPr>
            <p:ph idx="4" type="body"/>
          </p:nvPr>
        </p:nvSpPr>
        <p:spPr>
          <a:xfrm>
            <a:off x="4629150" y="1878806"/>
            <a:ext cx="3887400" cy="276330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rgbClr val="002A40"/>
              </a:buClr>
              <a:buSzPts val="2100"/>
              <a:buFont typeface="Helvetica Neue"/>
              <a:buNone/>
              <a:defRPr>
                <a:solidFill>
                  <a:srgbClr val="002A40"/>
                </a:solidFill>
              </a:defRPr>
            </a:lvl1pPr>
            <a:lvl2pPr indent="-228600" lvl="1" marL="914400" algn="l">
              <a:lnSpc>
                <a:spcPct val="90000"/>
              </a:lnSpc>
              <a:spcBef>
                <a:spcPts val="400"/>
              </a:spcBef>
              <a:spcAft>
                <a:spcPts val="0"/>
              </a:spcAft>
              <a:buClr>
                <a:srgbClr val="002A40"/>
              </a:buClr>
              <a:buSzPts val="1800"/>
              <a:buFont typeface="Helvetica Neue"/>
              <a:buNone/>
              <a:defRPr>
                <a:solidFill>
                  <a:srgbClr val="002A40"/>
                </a:solidFill>
              </a:defRPr>
            </a:lvl2pPr>
            <a:lvl3pPr indent="-228600" lvl="2" marL="1371600" algn="l">
              <a:lnSpc>
                <a:spcPct val="90000"/>
              </a:lnSpc>
              <a:spcBef>
                <a:spcPts val="400"/>
              </a:spcBef>
              <a:spcAft>
                <a:spcPts val="0"/>
              </a:spcAft>
              <a:buClr>
                <a:srgbClr val="002A40"/>
              </a:buClr>
              <a:buSzPts val="1500"/>
              <a:buFont typeface="Helvetica Neue"/>
              <a:buNone/>
              <a:defRPr>
                <a:solidFill>
                  <a:srgbClr val="002A40"/>
                </a:solidFill>
              </a:defRPr>
            </a:lvl3pPr>
            <a:lvl4pPr indent="-228600" lvl="3" marL="1828800" algn="l">
              <a:lnSpc>
                <a:spcPct val="90000"/>
              </a:lnSpc>
              <a:spcBef>
                <a:spcPts val="400"/>
              </a:spcBef>
              <a:spcAft>
                <a:spcPts val="0"/>
              </a:spcAft>
              <a:buClr>
                <a:srgbClr val="002A40"/>
              </a:buClr>
              <a:buSzPts val="1400"/>
              <a:buFont typeface="Helvetica Neue"/>
              <a:buNone/>
              <a:defRPr>
                <a:solidFill>
                  <a:srgbClr val="002A40"/>
                </a:solidFill>
              </a:defRPr>
            </a:lvl4pPr>
            <a:lvl5pPr indent="-228600" lvl="4" marL="2286000" algn="l">
              <a:lnSpc>
                <a:spcPct val="90000"/>
              </a:lnSpc>
              <a:spcBef>
                <a:spcPts val="400"/>
              </a:spcBef>
              <a:spcAft>
                <a:spcPts val="0"/>
              </a:spcAft>
              <a:buClr>
                <a:srgbClr val="002A40"/>
              </a:buClr>
              <a:buSzPts val="1400"/>
              <a:buFont typeface="Helvetica Neue"/>
              <a:buNone/>
              <a:defRPr>
                <a:solidFill>
                  <a:srgbClr val="002A40"/>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1" name="Shape 151"/>
        <p:cNvGrpSpPr/>
        <p:nvPr/>
      </p:nvGrpSpPr>
      <p:grpSpPr>
        <a:xfrm>
          <a:off x="0" y="0"/>
          <a:ext cx="0" cy="0"/>
          <a:chOff x="0" y="0"/>
          <a:chExt cx="0" cy="0"/>
        </a:xfrm>
      </p:grpSpPr>
      <p:sp>
        <p:nvSpPr>
          <p:cNvPr id="152" name="Google Shape;152;p41"/>
          <p:cNvSpPr txBox="1"/>
          <p:nvPr>
            <p:ph type="title"/>
          </p:nvPr>
        </p:nvSpPr>
        <p:spPr>
          <a:xfrm>
            <a:off x="628650" y="542405"/>
            <a:ext cx="7886700" cy="456900"/>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rgbClr val="002A40"/>
              </a:buClr>
              <a:buSzPts val="3300"/>
              <a:buFont typeface="Helvetica Neue"/>
              <a:buNone/>
              <a:defRPr>
                <a:solidFill>
                  <a:srgbClr val="002A40"/>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3" name="Shape 153"/>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54" name="Shape 154"/>
        <p:cNvGrpSpPr/>
        <p:nvPr/>
      </p:nvGrpSpPr>
      <p:grpSpPr>
        <a:xfrm>
          <a:off x="0" y="0"/>
          <a:ext cx="0" cy="0"/>
          <a:chOff x="0" y="0"/>
          <a:chExt cx="0" cy="0"/>
        </a:xfrm>
      </p:grpSpPr>
      <p:sp>
        <p:nvSpPr>
          <p:cNvPr id="155" name="Google Shape;155;p43"/>
          <p:cNvSpPr txBox="1"/>
          <p:nvPr>
            <p:ph type="title"/>
          </p:nvPr>
        </p:nvSpPr>
        <p:spPr>
          <a:xfrm>
            <a:off x="629841" y="342900"/>
            <a:ext cx="2949300" cy="120030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chemeClr val="dk1"/>
              </a:buClr>
              <a:buSzPts val="2400"/>
              <a:buFont typeface="Helvetica Neue"/>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6" name="Google Shape;156;p43"/>
          <p:cNvSpPr txBox="1"/>
          <p:nvPr>
            <p:ph idx="1" type="body"/>
          </p:nvPr>
        </p:nvSpPr>
        <p:spPr>
          <a:xfrm>
            <a:off x="3887391" y="740569"/>
            <a:ext cx="4629300" cy="365520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chemeClr val="dk1"/>
              </a:buClr>
              <a:buSzPts val="2400"/>
              <a:buFont typeface="Helvetica Neue"/>
              <a:buNone/>
              <a:defRPr sz="2400"/>
            </a:lvl1pPr>
            <a:lvl2pPr indent="-228600" lvl="1" marL="914400" algn="l">
              <a:lnSpc>
                <a:spcPct val="90000"/>
              </a:lnSpc>
              <a:spcBef>
                <a:spcPts val="400"/>
              </a:spcBef>
              <a:spcAft>
                <a:spcPts val="0"/>
              </a:spcAft>
              <a:buClr>
                <a:schemeClr val="dk1"/>
              </a:buClr>
              <a:buSzPts val="2100"/>
              <a:buFont typeface="Helvetica Neue"/>
              <a:buNone/>
              <a:defRPr sz="2100"/>
            </a:lvl2pPr>
            <a:lvl3pPr indent="-228600" lvl="2" marL="1371600" algn="l">
              <a:lnSpc>
                <a:spcPct val="90000"/>
              </a:lnSpc>
              <a:spcBef>
                <a:spcPts val="400"/>
              </a:spcBef>
              <a:spcAft>
                <a:spcPts val="0"/>
              </a:spcAft>
              <a:buClr>
                <a:schemeClr val="dk1"/>
              </a:buClr>
              <a:buSzPts val="1800"/>
              <a:buFont typeface="Helvetica Neue"/>
              <a:buNone/>
              <a:defRPr sz="1800"/>
            </a:lvl3pPr>
            <a:lvl4pPr indent="-228600" lvl="3" marL="1828800" algn="l">
              <a:lnSpc>
                <a:spcPct val="90000"/>
              </a:lnSpc>
              <a:spcBef>
                <a:spcPts val="400"/>
              </a:spcBef>
              <a:spcAft>
                <a:spcPts val="0"/>
              </a:spcAft>
              <a:buClr>
                <a:schemeClr val="dk1"/>
              </a:buClr>
              <a:buSzPts val="1500"/>
              <a:buFont typeface="Helvetica Neue"/>
              <a:buNone/>
              <a:defRPr sz="1500"/>
            </a:lvl4pPr>
            <a:lvl5pPr indent="-228600" lvl="4" marL="2286000" algn="l">
              <a:lnSpc>
                <a:spcPct val="90000"/>
              </a:lnSpc>
              <a:spcBef>
                <a:spcPts val="400"/>
              </a:spcBef>
              <a:spcAft>
                <a:spcPts val="0"/>
              </a:spcAft>
              <a:buClr>
                <a:schemeClr val="dk1"/>
              </a:buClr>
              <a:buSzPts val="1500"/>
              <a:buFont typeface="Helvetica Neue"/>
              <a:buNone/>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57" name="Google Shape;157;p43"/>
          <p:cNvSpPr txBox="1"/>
          <p:nvPr>
            <p:ph idx="2" type="body"/>
          </p:nvPr>
        </p:nvSpPr>
        <p:spPr>
          <a:xfrm>
            <a:off x="629841" y="1543050"/>
            <a:ext cx="2949300" cy="285870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chemeClr val="dk1"/>
              </a:buClr>
              <a:buSzPts val="1200"/>
              <a:buFont typeface="Helvetica Neue"/>
              <a:buNone/>
              <a:defRPr sz="1200"/>
            </a:lvl1pPr>
            <a:lvl2pPr indent="-228600" lvl="1" marL="914400" algn="l">
              <a:lnSpc>
                <a:spcPct val="90000"/>
              </a:lnSpc>
              <a:spcBef>
                <a:spcPts val="400"/>
              </a:spcBef>
              <a:spcAft>
                <a:spcPts val="0"/>
              </a:spcAft>
              <a:buClr>
                <a:schemeClr val="dk1"/>
              </a:buClr>
              <a:buSzPts val="1100"/>
              <a:buFont typeface="Helvetica Neue"/>
              <a:buNone/>
              <a:defRPr sz="1100"/>
            </a:lvl2pPr>
            <a:lvl3pPr indent="-228600" lvl="2" marL="1371600" algn="l">
              <a:lnSpc>
                <a:spcPct val="90000"/>
              </a:lnSpc>
              <a:spcBef>
                <a:spcPts val="400"/>
              </a:spcBef>
              <a:spcAft>
                <a:spcPts val="0"/>
              </a:spcAft>
              <a:buClr>
                <a:schemeClr val="dk1"/>
              </a:buClr>
              <a:buSzPts val="900"/>
              <a:buFont typeface="Helvetica Neue"/>
              <a:buNone/>
              <a:defRPr sz="900"/>
            </a:lvl3pPr>
            <a:lvl4pPr indent="-228600" lvl="3" marL="1828800" algn="l">
              <a:lnSpc>
                <a:spcPct val="90000"/>
              </a:lnSpc>
              <a:spcBef>
                <a:spcPts val="400"/>
              </a:spcBef>
              <a:spcAft>
                <a:spcPts val="0"/>
              </a:spcAft>
              <a:buClr>
                <a:schemeClr val="dk1"/>
              </a:buClr>
              <a:buSzPts val="800"/>
              <a:buFont typeface="Helvetica Neue"/>
              <a:buNone/>
              <a:defRPr sz="800"/>
            </a:lvl4pPr>
            <a:lvl5pPr indent="-228600" lvl="4" marL="2286000" algn="l">
              <a:lnSpc>
                <a:spcPct val="90000"/>
              </a:lnSpc>
              <a:spcBef>
                <a:spcPts val="400"/>
              </a:spcBef>
              <a:spcAft>
                <a:spcPts val="0"/>
              </a:spcAft>
              <a:buClr>
                <a:schemeClr val="dk1"/>
              </a:buClr>
              <a:buSzPts val="800"/>
              <a:buFont typeface="Helvetica Neue"/>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8" name="Shape 158"/>
        <p:cNvGrpSpPr/>
        <p:nvPr/>
      </p:nvGrpSpPr>
      <p:grpSpPr>
        <a:xfrm>
          <a:off x="0" y="0"/>
          <a:ext cx="0" cy="0"/>
          <a:chOff x="0" y="0"/>
          <a:chExt cx="0" cy="0"/>
        </a:xfrm>
      </p:grpSpPr>
      <p:sp>
        <p:nvSpPr>
          <p:cNvPr id="159" name="Google Shape;159;p44"/>
          <p:cNvSpPr txBox="1"/>
          <p:nvPr>
            <p:ph type="title"/>
          </p:nvPr>
        </p:nvSpPr>
        <p:spPr>
          <a:xfrm>
            <a:off x="629841" y="342900"/>
            <a:ext cx="2949300" cy="1200300"/>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chemeClr val="dk1"/>
              </a:buClr>
              <a:buSzPts val="2400"/>
              <a:buFont typeface="Helvetica Neue"/>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0" name="Google Shape;160;p44"/>
          <p:cNvSpPr/>
          <p:nvPr>
            <p:ph idx="2" type="pic"/>
          </p:nvPr>
        </p:nvSpPr>
        <p:spPr>
          <a:xfrm>
            <a:off x="3887391" y="740569"/>
            <a:ext cx="4629300" cy="3655200"/>
          </a:xfrm>
          <a:prstGeom prst="rect">
            <a:avLst/>
          </a:prstGeom>
          <a:noFill/>
          <a:ln>
            <a:noFill/>
          </a:ln>
        </p:spPr>
      </p:sp>
      <p:sp>
        <p:nvSpPr>
          <p:cNvPr id="161" name="Google Shape;161;p44"/>
          <p:cNvSpPr txBox="1"/>
          <p:nvPr>
            <p:ph idx="1" type="body"/>
          </p:nvPr>
        </p:nvSpPr>
        <p:spPr>
          <a:xfrm>
            <a:off x="629841" y="1543050"/>
            <a:ext cx="2949300" cy="285870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chemeClr val="dk1"/>
              </a:buClr>
              <a:buSzPts val="1200"/>
              <a:buFont typeface="Helvetica Neue"/>
              <a:buNone/>
              <a:defRPr sz="1200"/>
            </a:lvl1pPr>
            <a:lvl2pPr indent="-228600" lvl="1" marL="914400" algn="l">
              <a:lnSpc>
                <a:spcPct val="90000"/>
              </a:lnSpc>
              <a:spcBef>
                <a:spcPts val="400"/>
              </a:spcBef>
              <a:spcAft>
                <a:spcPts val="0"/>
              </a:spcAft>
              <a:buClr>
                <a:schemeClr val="dk1"/>
              </a:buClr>
              <a:buSzPts val="1100"/>
              <a:buFont typeface="Helvetica Neue"/>
              <a:buNone/>
              <a:defRPr sz="1100"/>
            </a:lvl2pPr>
            <a:lvl3pPr indent="-228600" lvl="2" marL="1371600" algn="l">
              <a:lnSpc>
                <a:spcPct val="90000"/>
              </a:lnSpc>
              <a:spcBef>
                <a:spcPts val="400"/>
              </a:spcBef>
              <a:spcAft>
                <a:spcPts val="0"/>
              </a:spcAft>
              <a:buClr>
                <a:schemeClr val="dk1"/>
              </a:buClr>
              <a:buSzPts val="900"/>
              <a:buFont typeface="Helvetica Neue"/>
              <a:buNone/>
              <a:defRPr sz="900"/>
            </a:lvl3pPr>
            <a:lvl4pPr indent="-228600" lvl="3" marL="1828800" algn="l">
              <a:lnSpc>
                <a:spcPct val="90000"/>
              </a:lnSpc>
              <a:spcBef>
                <a:spcPts val="400"/>
              </a:spcBef>
              <a:spcAft>
                <a:spcPts val="0"/>
              </a:spcAft>
              <a:buClr>
                <a:schemeClr val="dk1"/>
              </a:buClr>
              <a:buSzPts val="800"/>
              <a:buFont typeface="Helvetica Neue"/>
              <a:buNone/>
              <a:defRPr sz="800"/>
            </a:lvl4pPr>
            <a:lvl5pPr indent="-228600" lvl="4" marL="2286000" algn="l">
              <a:lnSpc>
                <a:spcPct val="90000"/>
              </a:lnSpc>
              <a:spcBef>
                <a:spcPts val="400"/>
              </a:spcBef>
              <a:spcAft>
                <a:spcPts val="0"/>
              </a:spcAft>
              <a:buClr>
                <a:schemeClr val="dk1"/>
              </a:buClr>
              <a:buSzPts val="800"/>
              <a:buFont typeface="Helvetica Neue"/>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62" name="Shape 162"/>
        <p:cNvGrpSpPr/>
        <p:nvPr/>
      </p:nvGrpSpPr>
      <p:grpSpPr>
        <a:xfrm>
          <a:off x="0" y="0"/>
          <a:ext cx="0" cy="0"/>
          <a:chOff x="0" y="0"/>
          <a:chExt cx="0" cy="0"/>
        </a:xfrm>
      </p:grpSpPr>
      <p:sp>
        <p:nvSpPr>
          <p:cNvPr id="163" name="Google Shape;163;p45"/>
          <p:cNvSpPr txBox="1"/>
          <p:nvPr>
            <p:ph type="title"/>
          </p:nvPr>
        </p:nvSpPr>
        <p:spPr>
          <a:xfrm>
            <a:off x="628650" y="542405"/>
            <a:ext cx="7886700" cy="456900"/>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4" name="Google Shape;164;p45"/>
          <p:cNvSpPr txBox="1"/>
          <p:nvPr>
            <p:ph idx="1" type="body"/>
          </p:nvPr>
        </p:nvSpPr>
        <p:spPr>
          <a:xfrm rot="5400000">
            <a:off x="3914850" y="-1916981"/>
            <a:ext cx="1314300" cy="788670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chemeClr val="dk1"/>
              </a:buClr>
              <a:buSzPts val="1400"/>
              <a:buNone/>
              <a:defRPr/>
            </a:lvl1pPr>
            <a:lvl2pPr indent="-228600" lvl="1" marL="914400" algn="l">
              <a:lnSpc>
                <a:spcPct val="90000"/>
              </a:lnSpc>
              <a:spcBef>
                <a:spcPts val="400"/>
              </a:spcBef>
              <a:spcAft>
                <a:spcPts val="0"/>
              </a:spcAft>
              <a:buClr>
                <a:schemeClr val="dk1"/>
              </a:buClr>
              <a:buSzPts val="1400"/>
              <a:buNone/>
              <a:defRPr/>
            </a:lvl2pPr>
            <a:lvl3pPr indent="-228600" lvl="2" marL="1371600" algn="l">
              <a:lnSpc>
                <a:spcPct val="9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400"/>
              <a:buNone/>
              <a:defRPr/>
            </a:lvl4pPr>
            <a:lvl5pPr indent="-228600" lvl="4" marL="2286000" algn="l">
              <a:lnSpc>
                <a:spcPct val="90000"/>
              </a:lnSpc>
              <a:spcBef>
                <a:spcPts val="40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65" name="Shape 165"/>
        <p:cNvGrpSpPr/>
        <p:nvPr/>
      </p:nvGrpSpPr>
      <p:grpSpPr>
        <a:xfrm>
          <a:off x="0" y="0"/>
          <a:ext cx="0" cy="0"/>
          <a:chOff x="0" y="0"/>
          <a:chExt cx="0" cy="0"/>
        </a:xfrm>
      </p:grpSpPr>
      <p:sp>
        <p:nvSpPr>
          <p:cNvPr id="166" name="Google Shape;166;p46"/>
          <p:cNvSpPr txBox="1"/>
          <p:nvPr>
            <p:ph type="title"/>
          </p:nvPr>
        </p:nvSpPr>
        <p:spPr>
          <a:xfrm rot="5400000">
            <a:off x="5350050" y="1467543"/>
            <a:ext cx="4359000" cy="1971600"/>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7" name="Google Shape;167;p46"/>
          <p:cNvSpPr txBox="1"/>
          <p:nvPr>
            <p:ph idx="1" type="body"/>
          </p:nvPr>
        </p:nvSpPr>
        <p:spPr>
          <a:xfrm rot="5400000">
            <a:off x="1349475" y="-447057"/>
            <a:ext cx="4359000" cy="5800800"/>
          </a:xfrm>
          <a:prstGeom prst="rect">
            <a:avLst/>
          </a:prstGeom>
          <a:noFill/>
          <a:ln>
            <a:noFill/>
          </a:ln>
        </p:spPr>
        <p:txBody>
          <a:bodyPr anchorCtr="0" anchor="t" bIns="0" lIns="0" spcFirstLastPara="1" rIns="0" wrap="square" tIns="0">
            <a:spAutoFit/>
          </a:bodyPr>
          <a:lstStyle>
            <a:lvl1pPr indent="-228600" lvl="0" marL="457200" algn="l">
              <a:lnSpc>
                <a:spcPct val="90000"/>
              </a:lnSpc>
              <a:spcBef>
                <a:spcPts val="800"/>
              </a:spcBef>
              <a:spcAft>
                <a:spcPts val="0"/>
              </a:spcAft>
              <a:buClr>
                <a:schemeClr val="dk1"/>
              </a:buClr>
              <a:buSzPts val="1400"/>
              <a:buNone/>
              <a:defRPr/>
            </a:lvl1pPr>
            <a:lvl2pPr indent="-228600" lvl="1" marL="914400" algn="l">
              <a:lnSpc>
                <a:spcPct val="90000"/>
              </a:lnSpc>
              <a:spcBef>
                <a:spcPts val="400"/>
              </a:spcBef>
              <a:spcAft>
                <a:spcPts val="0"/>
              </a:spcAft>
              <a:buClr>
                <a:schemeClr val="dk1"/>
              </a:buClr>
              <a:buSzPts val="1400"/>
              <a:buNone/>
              <a:defRPr/>
            </a:lvl2pPr>
            <a:lvl3pPr indent="-228600" lvl="2" marL="1371600" algn="l">
              <a:lnSpc>
                <a:spcPct val="9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400"/>
              <a:buNone/>
              <a:defRPr/>
            </a:lvl4pPr>
            <a:lvl5pPr indent="-228600" lvl="4" marL="2286000" algn="l">
              <a:lnSpc>
                <a:spcPct val="90000"/>
              </a:lnSpc>
              <a:spcBef>
                <a:spcPts val="400"/>
              </a:spcBef>
              <a:spcAft>
                <a:spcPts val="0"/>
              </a:spcAft>
              <a:buClr>
                <a:schemeClr val="dk1"/>
              </a:buClr>
              <a:buSzPts val="14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1" name="Shape 171"/>
        <p:cNvGrpSpPr/>
        <p:nvPr/>
      </p:nvGrpSpPr>
      <p:grpSpPr>
        <a:xfrm>
          <a:off x="0" y="0"/>
          <a:ext cx="0" cy="0"/>
          <a:chOff x="0" y="0"/>
          <a:chExt cx="0" cy="0"/>
        </a:xfrm>
      </p:grpSpPr>
      <p:pic>
        <p:nvPicPr>
          <p:cNvPr id="172" name="Google Shape;172;p48"/>
          <p:cNvPicPr preferRelativeResize="0"/>
          <p:nvPr/>
        </p:nvPicPr>
        <p:blipFill rotWithShape="1">
          <a:blip r:embed="rId2">
            <a:alphaModFix/>
          </a:blip>
          <a:srcRect b="0" l="0" r="0" t="0"/>
          <a:stretch/>
        </p:blipFill>
        <p:spPr>
          <a:xfrm>
            <a:off x="0" y="0"/>
            <a:ext cx="9189724" cy="5173813"/>
          </a:xfrm>
          <a:prstGeom prst="rect">
            <a:avLst/>
          </a:prstGeom>
          <a:noFill/>
          <a:ln>
            <a:noFill/>
          </a:ln>
        </p:spPr>
      </p:pic>
      <p:sp>
        <p:nvSpPr>
          <p:cNvPr id="173" name="Google Shape;173;p48"/>
          <p:cNvSpPr txBox="1"/>
          <p:nvPr>
            <p:ph type="ctrTitle"/>
          </p:nvPr>
        </p:nvSpPr>
        <p:spPr>
          <a:xfrm>
            <a:off x="1143000" y="841772"/>
            <a:ext cx="6858000" cy="1790700"/>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lt1"/>
              </a:buClr>
              <a:buSzPts val="4500"/>
              <a:buFont typeface="Helvetica Neue"/>
              <a:buNone/>
              <a:defRPr sz="45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4" name="Google Shape;174;p48"/>
          <p:cNvSpPr txBox="1"/>
          <p:nvPr>
            <p:ph idx="1" type="subTitle"/>
          </p:nvPr>
        </p:nvSpPr>
        <p:spPr>
          <a:xfrm>
            <a:off x="1143000" y="2701528"/>
            <a:ext cx="6858000" cy="1241700"/>
          </a:xfrm>
          <a:prstGeom prst="rect">
            <a:avLst/>
          </a:prstGeom>
          <a:noFill/>
          <a:ln>
            <a:noFill/>
          </a:ln>
        </p:spPr>
        <p:txBody>
          <a:bodyPr anchorCtr="0" anchor="t" bIns="0" lIns="0" spcFirstLastPara="1" rIns="0" wrap="square" tIns="0">
            <a:normAutofit/>
          </a:bodyPr>
          <a:lstStyle>
            <a:lvl1pPr lvl="0" algn="l">
              <a:lnSpc>
                <a:spcPct val="90000"/>
              </a:lnSpc>
              <a:spcBef>
                <a:spcPts val="800"/>
              </a:spcBef>
              <a:spcAft>
                <a:spcPts val="0"/>
              </a:spcAft>
              <a:buClr>
                <a:schemeClr val="lt1"/>
              </a:buClr>
              <a:buSzPts val="2100"/>
              <a:buNone/>
              <a:defRPr sz="2100">
                <a:solidFill>
                  <a:schemeClr val="lt1"/>
                </a:solidFill>
              </a:defRPr>
            </a:lvl1pPr>
            <a:lvl2pPr lvl="1" algn="ctr">
              <a:lnSpc>
                <a:spcPct val="90000"/>
              </a:lnSpc>
              <a:spcBef>
                <a:spcPts val="400"/>
              </a:spcBef>
              <a:spcAft>
                <a:spcPts val="0"/>
              </a:spcAft>
              <a:buClr>
                <a:srgbClr val="002B42"/>
              </a:buClr>
              <a:buSzPts val="1500"/>
              <a:buNone/>
              <a:defRPr sz="1500"/>
            </a:lvl2pPr>
            <a:lvl3pPr lvl="2" algn="ctr">
              <a:lnSpc>
                <a:spcPct val="90000"/>
              </a:lnSpc>
              <a:spcBef>
                <a:spcPts val="400"/>
              </a:spcBef>
              <a:spcAft>
                <a:spcPts val="0"/>
              </a:spcAft>
              <a:buClr>
                <a:srgbClr val="002B42"/>
              </a:buClr>
              <a:buSzPts val="1400"/>
              <a:buNone/>
              <a:defRPr sz="1400"/>
            </a:lvl3pPr>
            <a:lvl4pPr lvl="3" algn="ctr">
              <a:lnSpc>
                <a:spcPct val="90000"/>
              </a:lnSpc>
              <a:spcBef>
                <a:spcPts val="400"/>
              </a:spcBef>
              <a:spcAft>
                <a:spcPts val="0"/>
              </a:spcAft>
              <a:buClr>
                <a:srgbClr val="002B42"/>
              </a:buClr>
              <a:buSzPts val="1200"/>
              <a:buNone/>
              <a:defRPr sz="1200"/>
            </a:lvl4pPr>
            <a:lvl5pPr lvl="4" algn="ctr">
              <a:lnSpc>
                <a:spcPct val="90000"/>
              </a:lnSpc>
              <a:spcBef>
                <a:spcPts val="400"/>
              </a:spcBef>
              <a:spcAft>
                <a:spcPts val="0"/>
              </a:spcAft>
              <a:buClr>
                <a:srgbClr val="002B42"/>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pic>
        <p:nvPicPr>
          <p:cNvPr id="175" name="Google Shape;175;p48"/>
          <p:cNvPicPr preferRelativeResize="0"/>
          <p:nvPr/>
        </p:nvPicPr>
        <p:blipFill rotWithShape="1">
          <a:blip r:embed="rId3">
            <a:alphaModFix/>
          </a:blip>
          <a:srcRect b="0" l="0" r="0" t="0"/>
          <a:stretch/>
        </p:blipFill>
        <p:spPr>
          <a:xfrm>
            <a:off x="1143000" y="4241007"/>
            <a:ext cx="1999455" cy="545305"/>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6" name="Shape 176"/>
        <p:cNvGrpSpPr/>
        <p:nvPr/>
      </p:nvGrpSpPr>
      <p:grpSpPr>
        <a:xfrm>
          <a:off x="0" y="0"/>
          <a:ext cx="0" cy="0"/>
          <a:chOff x="0" y="0"/>
          <a:chExt cx="0" cy="0"/>
        </a:xfrm>
      </p:grpSpPr>
      <p:sp>
        <p:nvSpPr>
          <p:cNvPr id="177" name="Google Shape;177;p49"/>
          <p:cNvSpPr txBox="1"/>
          <p:nvPr>
            <p:ph type="title"/>
          </p:nvPr>
        </p:nvSpPr>
        <p:spPr>
          <a:xfrm>
            <a:off x="628650" y="531341"/>
            <a:ext cx="7886700" cy="736800"/>
          </a:xfrm>
          <a:prstGeom prst="rect">
            <a:avLst/>
          </a:prstGeom>
          <a:noFill/>
          <a:ln>
            <a:noFill/>
          </a:ln>
          <a:effectLst>
            <a:outerShdw blurRad="57150" rotWithShape="0" algn="bl" dir="5400000" dist="19050">
              <a:srgbClr val="000000">
                <a:alpha val="50000"/>
              </a:srgbClr>
            </a:outerShdw>
          </a:effectLst>
        </p:spPr>
        <p:txBody>
          <a:bodyPr anchorCtr="0" anchor="t" bIns="0" lIns="0" spcFirstLastPara="1" rIns="0" wrap="square" tIns="0">
            <a:normAutofit/>
          </a:bodyPr>
          <a:lstStyle>
            <a:lvl1pPr lvl="0" algn="l">
              <a:lnSpc>
                <a:spcPct val="90000"/>
              </a:lnSpc>
              <a:spcBef>
                <a:spcPts val="0"/>
              </a:spcBef>
              <a:spcAft>
                <a:spcPts val="0"/>
              </a:spcAft>
              <a:buClr>
                <a:srgbClr val="1155CC"/>
              </a:buClr>
              <a:buSzPts val="3300"/>
              <a:buFont typeface="Helvetica Neue"/>
              <a:buNone/>
              <a:defRPr>
                <a:solidFill>
                  <a:srgbClr val="1155CC"/>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8" name="Google Shape;178;p49"/>
          <p:cNvSpPr txBox="1"/>
          <p:nvPr>
            <p:ph idx="1" type="body"/>
          </p:nvPr>
        </p:nvSpPr>
        <p:spPr>
          <a:xfrm>
            <a:off x="628650" y="1369219"/>
            <a:ext cx="3886200" cy="32634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rgbClr val="002B42"/>
              </a:buClr>
              <a:buSzPts val="1400"/>
              <a:buChar char="•"/>
              <a:defRPr/>
            </a:lvl1pPr>
            <a:lvl2pPr indent="-317500" lvl="1" marL="914400" algn="l">
              <a:lnSpc>
                <a:spcPct val="90000"/>
              </a:lnSpc>
              <a:spcBef>
                <a:spcPts val="400"/>
              </a:spcBef>
              <a:spcAft>
                <a:spcPts val="0"/>
              </a:spcAft>
              <a:buClr>
                <a:srgbClr val="002B42"/>
              </a:buClr>
              <a:buSzPts val="1400"/>
              <a:buChar char="•"/>
              <a:defRPr/>
            </a:lvl2pPr>
            <a:lvl3pPr indent="-317500" lvl="2" marL="1371600" algn="l">
              <a:lnSpc>
                <a:spcPct val="90000"/>
              </a:lnSpc>
              <a:spcBef>
                <a:spcPts val="400"/>
              </a:spcBef>
              <a:spcAft>
                <a:spcPts val="0"/>
              </a:spcAft>
              <a:buClr>
                <a:srgbClr val="002B42"/>
              </a:buClr>
              <a:buSzPts val="1400"/>
              <a:buChar char="•"/>
              <a:defRPr/>
            </a:lvl3pPr>
            <a:lvl4pPr indent="-317500" lvl="3" marL="1828800" algn="l">
              <a:lnSpc>
                <a:spcPct val="90000"/>
              </a:lnSpc>
              <a:spcBef>
                <a:spcPts val="400"/>
              </a:spcBef>
              <a:spcAft>
                <a:spcPts val="0"/>
              </a:spcAft>
              <a:buClr>
                <a:srgbClr val="002B42"/>
              </a:buClr>
              <a:buSzPts val="1400"/>
              <a:buChar char="•"/>
              <a:defRPr/>
            </a:lvl4pPr>
            <a:lvl5pPr indent="-317500" lvl="4" marL="2286000" algn="l">
              <a:lnSpc>
                <a:spcPct val="90000"/>
              </a:lnSpc>
              <a:spcBef>
                <a:spcPts val="400"/>
              </a:spcBef>
              <a:spcAft>
                <a:spcPts val="0"/>
              </a:spcAft>
              <a:buClr>
                <a:srgbClr val="002B4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9" name="Google Shape;179;p49"/>
          <p:cNvSpPr txBox="1"/>
          <p:nvPr>
            <p:ph idx="2" type="body"/>
          </p:nvPr>
        </p:nvSpPr>
        <p:spPr>
          <a:xfrm>
            <a:off x="4629150" y="1369219"/>
            <a:ext cx="3886200" cy="32634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rgbClr val="002B42"/>
              </a:buClr>
              <a:buSzPts val="1400"/>
              <a:buChar char="•"/>
              <a:defRPr/>
            </a:lvl1pPr>
            <a:lvl2pPr indent="-317500" lvl="1" marL="914400" algn="l">
              <a:lnSpc>
                <a:spcPct val="90000"/>
              </a:lnSpc>
              <a:spcBef>
                <a:spcPts val="400"/>
              </a:spcBef>
              <a:spcAft>
                <a:spcPts val="0"/>
              </a:spcAft>
              <a:buClr>
                <a:srgbClr val="002B42"/>
              </a:buClr>
              <a:buSzPts val="1400"/>
              <a:buChar char="•"/>
              <a:defRPr/>
            </a:lvl2pPr>
            <a:lvl3pPr indent="-317500" lvl="2" marL="1371600" algn="l">
              <a:lnSpc>
                <a:spcPct val="90000"/>
              </a:lnSpc>
              <a:spcBef>
                <a:spcPts val="400"/>
              </a:spcBef>
              <a:spcAft>
                <a:spcPts val="0"/>
              </a:spcAft>
              <a:buClr>
                <a:srgbClr val="002B42"/>
              </a:buClr>
              <a:buSzPts val="1400"/>
              <a:buChar char="•"/>
              <a:defRPr/>
            </a:lvl3pPr>
            <a:lvl4pPr indent="-317500" lvl="3" marL="1828800" algn="l">
              <a:lnSpc>
                <a:spcPct val="90000"/>
              </a:lnSpc>
              <a:spcBef>
                <a:spcPts val="400"/>
              </a:spcBef>
              <a:spcAft>
                <a:spcPts val="0"/>
              </a:spcAft>
              <a:buClr>
                <a:srgbClr val="002B42"/>
              </a:buClr>
              <a:buSzPts val="1400"/>
              <a:buChar char="•"/>
              <a:defRPr/>
            </a:lvl4pPr>
            <a:lvl5pPr indent="-317500" lvl="4" marL="2286000" algn="l">
              <a:lnSpc>
                <a:spcPct val="90000"/>
              </a:lnSpc>
              <a:spcBef>
                <a:spcPts val="400"/>
              </a:spcBef>
              <a:spcAft>
                <a:spcPts val="0"/>
              </a:spcAft>
              <a:buClr>
                <a:srgbClr val="002B4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0" name="Shape 180"/>
        <p:cNvGrpSpPr/>
        <p:nvPr/>
      </p:nvGrpSpPr>
      <p:grpSpPr>
        <a:xfrm>
          <a:off x="0" y="0"/>
          <a:ext cx="0" cy="0"/>
          <a:chOff x="0" y="0"/>
          <a:chExt cx="0" cy="0"/>
        </a:xfrm>
      </p:grpSpPr>
      <p:sp>
        <p:nvSpPr>
          <p:cNvPr id="181" name="Google Shape;181;p50"/>
          <p:cNvSpPr txBox="1"/>
          <p:nvPr>
            <p:ph type="title"/>
          </p:nvPr>
        </p:nvSpPr>
        <p:spPr>
          <a:xfrm>
            <a:off x="628650" y="531341"/>
            <a:ext cx="7886700" cy="7368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rgbClr val="1155CC"/>
              </a:buClr>
              <a:buSzPts val="3300"/>
              <a:buFont typeface="Helvetica Neue"/>
              <a:buNone/>
              <a:defRPr>
                <a:solidFill>
                  <a:srgbClr val="1155CC"/>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2" name="Google Shape;182;p50"/>
          <p:cNvSpPr txBox="1"/>
          <p:nvPr>
            <p:ph idx="1" type="body"/>
          </p:nvPr>
        </p:nvSpPr>
        <p:spPr>
          <a:xfrm>
            <a:off x="628650" y="1369219"/>
            <a:ext cx="7886700" cy="32634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rgbClr val="002B42"/>
              </a:buClr>
              <a:buSzPts val="1400"/>
              <a:buChar char="•"/>
              <a:defRPr/>
            </a:lvl1pPr>
            <a:lvl2pPr indent="-317500" lvl="1" marL="914400" algn="l">
              <a:lnSpc>
                <a:spcPct val="90000"/>
              </a:lnSpc>
              <a:spcBef>
                <a:spcPts val="400"/>
              </a:spcBef>
              <a:spcAft>
                <a:spcPts val="0"/>
              </a:spcAft>
              <a:buClr>
                <a:srgbClr val="002B42"/>
              </a:buClr>
              <a:buSzPts val="1400"/>
              <a:buChar char="•"/>
              <a:defRPr/>
            </a:lvl2pPr>
            <a:lvl3pPr indent="-317500" lvl="2" marL="1371600" algn="l">
              <a:lnSpc>
                <a:spcPct val="90000"/>
              </a:lnSpc>
              <a:spcBef>
                <a:spcPts val="400"/>
              </a:spcBef>
              <a:spcAft>
                <a:spcPts val="0"/>
              </a:spcAft>
              <a:buClr>
                <a:srgbClr val="002B42"/>
              </a:buClr>
              <a:buSzPts val="1400"/>
              <a:buChar char="•"/>
              <a:defRPr/>
            </a:lvl3pPr>
            <a:lvl4pPr indent="-317500" lvl="3" marL="1828800" algn="l">
              <a:lnSpc>
                <a:spcPct val="90000"/>
              </a:lnSpc>
              <a:spcBef>
                <a:spcPts val="400"/>
              </a:spcBef>
              <a:spcAft>
                <a:spcPts val="0"/>
              </a:spcAft>
              <a:buClr>
                <a:srgbClr val="002B42"/>
              </a:buClr>
              <a:buSzPts val="1400"/>
              <a:buChar char="•"/>
              <a:defRPr/>
            </a:lvl4pPr>
            <a:lvl5pPr indent="-317500" lvl="4" marL="2286000" algn="l">
              <a:lnSpc>
                <a:spcPct val="90000"/>
              </a:lnSpc>
              <a:spcBef>
                <a:spcPts val="400"/>
              </a:spcBef>
              <a:spcAft>
                <a:spcPts val="0"/>
              </a:spcAft>
              <a:buClr>
                <a:srgbClr val="002B4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Logo">
  <p:cSld name="Title Slide Logo">
    <p:spTree>
      <p:nvGrpSpPr>
        <p:cNvPr id="183" name="Shape 183"/>
        <p:cNvGrpSpPr/>
        <p:nvPr/>
      </p:nvGrpSpPr>
      <p:grpSpPr>
        <a:xfrm>
          <a:off x="0" y="0"/>
          <a:ext cx="0" cy="0"/>
          <a:chOff x="0" y="0"/>
          <a:chExt cx="0" cy="0"/>
        </a:xfrm>
      </p:grpSpPr>
      <p:pic>
        <p:nvPicPr>
          <p:cNvPr id="184" name="Google Shape;184;p51"/>
          <p:cNvPicPr preferRelativeResize="0"/>
          <p:nvPr/>
        </p:nvPicPr>
        <p:blipFill rotWithShape="1">
          <a:blip r:embed="rId2">
            <a:alphaModFix/>
          </a:blip>
          <a:srcRect b="0" l="0" r="0" t="0"/>
          <a:stretch/>
        </p:blipFill>
        <p:spPr>
          <a:xfrm>
            <a:off x="0" y="0"/>
            <a:ext cx="9189724" cy="5173813"/>
          </a:xfrm>
          <a:prstGeom prst="rect">
            <a:avLst/>
          </a:prstGeom>
          <a:noFill/>
          <a:ln>
            <a:noFill/>
          </a:ln>
        </p:spPr>
      </p:pic>
      <p:pic>
        <p:nvPicPr>
          <p:cNvPr id="185" name="Google Shape;185;p51"/>
          <p:cNvPicPr preferRelativeResize="0"/>
          <p:nvPr/>
        </p:nvPicPr>
        <p:blipFill rotWithShape="1">
          <a:blip r:embed="rId3">
            <a:alphaModFix/>
          </a:blip>
          <a:srcRect b="0" l="0" r="0" t="0"/>
          <a:stretch/>
        </p:blipFill>
        <p:spPr>
          <a:xfrm>
            <a:off x="2125795" y="1791171"/>
            <a:ext cx="4892409" cy="1334294"/>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6" name="Shape 186"/>
        <p:cNvGrpSpPr/>
        <p:nvPr/>
      </p:nvGrpSpPr>
      <p:grpSpPr>
        <a:xfrm>
          <a:off x="0" y="0"/>
          <a:ext cx="0" cy="0"/>
          <a:chOff x="0" y="0"/>
          <a:chExt cx="0" cy="0"/>
        </a:xfrm>
      </p:grpSpPr>
      <p:sp>
        <p:nvSpPr>
          <p:cNvPr id="187" name="Google Shape;187;p52"/>
          <p:cNvSpPr txBox="1"/>
          <p:nvPr>
            <p:ph type="title"/>
          </p:nvPr>
        </p:nvSpPr>
        <p:spPr>
          <a:xfrm>
            <a:off x="623888" y="1282304"/>
            <a:ext cx="7886700" cy="2139600"/>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rgbClr val="002A40"/>
              </a:buClr>
              <a:buSzPts val="4500"/>
              <a:buFont typeface="Helvetica Neue"/>
              <a:buNone/>
              <a:defRPr sz="4500">
                <a:solidFill>
                  <a:srgbClr val="002A40"/>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8" name="Google Shape;188;p52"/>
          <p:cNvSpPr txBox="1"/>
          <p:nvPr>
            <p:ph idx="1" type="body"/>
          </p:nvPr>
        </p:nvSpPr>
        <p:spPr>
          <a:xfrm>
            <a:off x="623888" y="3442097"/>
            <a:ext cx="7886700" cy="11253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800"/>
              </a:spcBef>
              <a:spcAft>
                <a:spcPts val="0"/>
              </a:spcAft>
              <a:buClr>
                <a:srgbClr val="002A40"/>
              </a:buClr>
              <a:buSzPts val="2100"/>
              <a:buNone/>
              <a:defRPr sz="2100">
                <a:solidFill>
                  <a:srgbClr val="002A40"/>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9" name="Shape 189"/>
        <p:cNvGrpSpPr/>
        <p:nvPr/>
      </p:nvGrpSpPr>
      <p:grpSpPr>
        <a:xfrm>
          <a:off x="0" y="0"/>
          <a:ext cx="0" cy="0"/>
          <a:chOff x="0" y="0"/>
          <a:chExt cx="0" cy="0"/>
        </a:xfrm>
      </p:grpSpPr>
      <p:sp>
        <p:nvSpPr>
          <p:cNvPr id="190" name="Google Shape;190;p53"/>
          <p:cNvSpPr txBox="1"/>
          <p:nvPr>
            <p:ph type="title"/>
          </p:nvPr>
        </p:nvSpPr>
        <p:spPr>
          <a:xfrm>
            <a:off x="629841" y="273844"/>
            <a:ext cx="7886700" cy="99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rgbClr val="00D8EA"/>
              </a:buClr>
              <a:buSzPts val="3300"/>
              <a:buFont typeface="Helvetica Neue"/>
              <a:buNone/>
              <a:defRPr>
                <a:solidFill>
                  <a:srgbClr val="00D8EA"/>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1" name="Google Shape;191;p53"/>
          <p:cNvSpPr txBox="1"/>
          <p:nvPr>
            <p:ph idx="1" type="body"/>
          </p:nvPr>
        </p:nvSpPr>
        <p:spPr>
          <a:xfrm>
            <a:off x="629841" y="1260872"/>
            <a:ext cx="3868500" cy="618000"/>
          </a:xfrm>
          <a:prstGeom prst="rect">
            <a:avLst/>
          </a:prstGeom>
          <a:noFill/>
          <a:ln>
            <a:noFill/>
          </a:ln>
        </p:spPr>
        <p:txBody>
          <a:bodyPr anchorCtr="0" anchor="ctr" bIns="0" lIns="0" spcFirstLastPara="1" rIns="0" wrap="square" tIns="0">
            <a:normAutofit/>
          </a:bodyPr>
          <a:lstStyle>
            <a:lvl1pPr indent="-228600" lvl="0" marL="457200" algn="l">
              <a:lnSpc>
                <a:spcPct val="90000"/>
              </a:lnSpc>
              <a:spcBef>
                <a:spcPts val="800"/>
              </a:spcBef>
              <a:spcAft>
                <a:spcPts val="0"/>
              </a:spcAft>
              <a:buClr>
                <a:srgbClr val="002B42"/>
              </a:buClr>
              <a:buSzPts val="2100"/>
              <a:buNone/>
              <a:defRPr b="1" sz="2100"/>
            </a:lvl1pPr>
            <a:lvl2pPr indent="-228600" lvl="1" marL="914400" algn="l">
              <a:lnSpc>
                <a:spcPct val="90000"/>
              </a:lnSpc>
              <a:spcBef>
                <a:spcPts val="400"/>
              </a:spcBef>
              <a:spcAft>
                <a:spcPts val="0"/>
              </a:spcAft>
              <a:buClr>
                <a:srgbClr val="002B42"/>
              </a:buClr>
              <a:buSzPts val="1500"/>
              <a:buNone/>
              <a:defRPr b="1" sz="1500"/>
            </a:lvl2pPr>
            <a:lvl3pPr indent="-228600" lvl="2" marL="1371600" algn="l">
              <a:lnSpc>
                <a:spcPct val="90000"/>
              </a:lnSpc>
              <a:spcBef>
                <a:spcPts val="400"/>
              </a:spcBef>
              <a:spcAft>
                <a:spcPts val="0"/>
              </a:spcAft>
              <a:buClr>
                <a:srgbClr val="002B42"/>
              </a:buClr>
              <a:buSzPts val="1400"/>
              <a:buNone/>
              <a:defRPr b="1" sz="1400"/>
            </a:lvl3pPr>
            <a:lvl4pPr indent="-228600" lvl="3" marL="1828800" algn="l">
              <a:lnSpc>
                <a:spcPct val="90000"/>
              </a:lnSpc>
              <a:spcBef>
                <a:spcPts val="400"/>
              </a:spcBef>
              <a:spcAft>
                <a:spcPts val="0"/>
              </a:spcAft>
              <a:buClr>
                <a:srgbClr val="002B42"/>
              </a:buClr>
              <a:buSzPts val="1200"/>
              <a:buNone/>
              <a:defRPr b="1" sz="1200"/>
            </a:lvl4pPr>
            <a:lvl5pPr indent="-228600" lvl="4" marL="2286000" algn="l">
              <a:lnSpc>
                <a:spcPct val="90000"/>
              </a:lnSpc>
              <a:spcBef>
                <a:spcPts val="400"/>
              </a:spcBef>
              <a:spcAft>
                <a:spcPts val="0"/>
              </a:spcAft>
              <a:buClr>
                <a:srgbClr val="002B42"/>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92" name="Google Shape;192;p53"/>
          <p:cNvSpPr txBox="1"/>
          <p:nvPr>
            <p:ph idx="2" type="body"/>
          </p:nvPr>
        </p:nvSpPr>
        <p:spPr>
          <a:xfrm>
            <a:off x="629841" y="1878806"/>
            <a:ext cx="3868500" cy="27636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rgbClr val="002B42"/>
              </a:buClr>
              <a:buSzPts val="1400"/>
              <a:buChar char="•"/>
              <a:defRPr/>
            </a:lvl1pPr>
            <a:lvl2pPr indent="-317500" lvl="1" marL="914400" algn="l">
              <a:lnSpc>
                <a:spcPct val="90000"/>
              </a:lnSpc>
              <a:spcBef>
                <a:spcPts val="400"/>
              </a:spcBef>
              <a:spcAft>
                <a:spcPts val="0"/>
              </a:spcAft>
              <a:buClr>
                <a:srgbClr val="002B42"/>
              </a:buClr>
              <a:buSzPts val="1400"/>
              <a:buChar char="•"/>
              <a:defRPr/>
            </a:lvl2pPr>
            <a:lvl3pPr indent="-317500" lvl="2" marL="1371600" algn="l">
              <a:lnSpc>
                <a:spcPct val="90000"/>
              </a:lnSpc>
              <a:spcBef>
                <a:spcPts val="400"/>
              </a:spcBef>
              <a:spcAft>
                <a:spcPts val="0"/>
              </a:spcAft>
              <a:buClr>
                <a:srgbClr val="002B42"/>
              </a:buClr>
              <a:buSzPts val="1400"/>
              <a:buChar char="•"/>
              <a:defRPr/>
            </a:lvl3pPr>
            <a:lvl4pPr indent="-317500" lvl="3" marL="1828800" algn="l">
              <a:lnSpc>
                <a:spcPct val="90000"/>
              </a:lnSpc>
              <a:spcBef>
                <a:spcPts val="400"/>
              </a:spcBef>
              <a:spcAft>
                <a:spcPts val="0"/>
              </a:spcAft>
              <a:buClr>
                <a:srgbClr val="002B42"/>
              </a:buClr>
              <a:buSzPts val="1400"/>
              <a:buChar char="•"/>
              <a:defRPr/>
            </a:lvl4pPr>
            <a:lvl5pPr indent="-317500" lvl="4" marL="2286000" algn="l">
              <a:lnSpc>
                <a:spcPct val="90000"/>
              </a:lnSpc>
              <a:spcBef>
                <a:spcPts val="400"/>
              </a:spcBef>
              <a:spcAft>
                <a:spcPts val="0"/>
              </a:spcAft>
              <a:buClr>
                <a:srgbClr val="002B4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3" name="Google Shape;193;p53"/>
          <p:cNvSpPr txBox="1"/>
          <p:nvPr>
            <p:ph idx="3" type="body"/>
          </p:nvPr>
        </p:nvSpPr>
        <p:spPr>
          <a:xfrm>
            <a:off x="4629150" y="1260872"/>
            <a:ext cx="3887400" cy="618000"/>
          </a:xfrm>
          <a:prstGeom prst="rect">
            <a:avLst/>
          </a:prstGeom>
          <a:noFill/>
          <a:ln>
            <a:noFill/>
          </a:ln>
        </p:spPr>
        <p:txBody>
          <a:bodyPr anchorCtr="0" anchor="ctr" bIns="0" lIns="0" spcFirstLastPara="1" rIns="0" wrap="square" tIns="0">
            <a:normAutofit/>
          </a:bodyPr>
          <a:lstStyle>
            <a:lvl1pPr indent="-228600" lvl="0" marL="457200" algn="l">
              <a:lnSpc>
                <a:spcPct val="90000"/>
              </a:lnSpc>
              <a:spcBef>
                <a:spcPts val="800"/>
              </a:spcBef>
              <a:spcAft>
                <a:spcPts val="0"/>
              </a:spcAft>
              <a:buClr>
                <a:srgbClr val="002B42"/>
              </a:buClr>
              <a:buSzPts val="2100"/>
              <a:buNone/>
              <a:defRPr b="1" sz="2100"/>
            </a:lvl1pPr>
            <a:lvl2pPr indent="-228600" lvl="1" marL="914400" algn="l">
              <a:lnSpc>
                <a:spcPct val="90000"/>
              </a:lnSpc>
              <a:spcBef>
                <a:spcPts val="400"/>
              </a:spcBef>
              <a:spcAft>
                <a:spcPts val="0"/>
              </a:spcAft>
              <a:buClr>
                <a:srgbClr val="002B42"/>
              </a:buClr>
              <a:buSzPts val="1500"/>
              <a:buNone/>
              <a:defRPr b="1" sz="1500"/>
            </a:lvl2pPr>
            <a:lvl3pPr indent="-228600" lvl="2" marL="1371600" algn="l">
              <a:lnSpc>
                <a:spcPct val="90000"/>
              </a:lnSpc>
              <a:spcBef>
                <a:spcPts val="400"/>
              </a:spcBef>
              <a:spcAft>
                <a:spcPts val="0"/>
              </a:spcAft>
              <a:buClr>
                <a:srgbClr val="002B42"/>
              </a:buClr>
              <a:buSzPts val="1400"/>
              <a:buNone/>
              <a:defRPr b="1" sz="1400"/>
            </a:lvl3pPr>
            <a:lvl4pPr indent="-228600" lvl="3" marL="1828800" algn="l">
              <a:lnSpc>
                <a:spcPct val="90000"/>
              </a:lnSpc>
              <a:spcBef>
                <a:spcPts val="400"/>
              </a:spcBef>
              <a:spcAft>
                <a:spcPts val="0"/>
              </a:spcAft>
              <a:buClr>
                <a:srgbClr val="002B42"/>
              </a:buClr>
              <a:buSzPts val="1200"/>
              <a:buNone/>
              <a:defRPr b="1" sz="1200"/>
            </a:lvl4pPr>
            <a:lvl5pPr indent="-228600" lvl="4" marL="2286000" algn="l">
              <a:lnSpc>
                <a:spcPct val="90000"/>
              </a:lnSpc>
              <a:spcBef>
                <a:spcPts val="400"/>
              </a:spcBef>
              <a:spcAft>
                <a:spcPts val="0"/>
              </a:spcAft>
              <a:buClr>
                <a:srgbClr val="002B42"/>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94" name="Google Shape;194;p53"/>
          <p:cNvSpPr txBox="1"/>
          <p:nvPr>
            <p:ph idx="4" type="body"/>
          </p:nvPr>
        </p:nvSpPr>
        <p:spPr>
          <a:xfrm>
            <a:off x="4629150" y="1878806"/>
            <a:ext cx="3887400" cy="27636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rgbClr val="002B42"/>
              </a:buClr>
              <a:buSzPts val="1400"/>
              <a:buChar char="•"/>
              <a:defRPr/>
            </a:lvl1pPr>
            <a:lvl2pPr indent="-317500" lvl="1" marL="914400" algn="l">
              <a:lnSpc>
                <a:spcPct val="90000"/>
              </a:lnSpc>
              <a:spcBef>
                <a:spcPts val="400"/>
              </a:spcBef>
              <a:spcAft>
                <a:spcPts val="0"/>
              </a:spcAft>
              <a:buClr>
                <a:srgbClr val="002B42"/>
              </a:buClr>
              <a:buSzPts val="1400"/>
              <a:buChar char="•"/>
              <a:defRPr/>
            </a:lvl2pPr>
            <a:lvl3pPr indent="-317500" lvl="2" marL="1371600" algn="l">
              <a:lnSpc>
                <a:spcPct val="90000"/>
              </a:lnSpc>
              <a:spcBef>
                <a:spcPts val="400"/>
              </a:spcBef>
              <a:spcAft>
                <a:spcPts val="0"/>
              </a:spcAft>
              <a:buClr>
                <a:srgbClr val="002B42"/>
              </a:buClr>
              <a:buSzPts val="1400"/>
              <a:buChar char="•"/>
              <a:defRPr/>
            </a:lvl3pPr>
            <a:lvl4pPr indent="-317500" lvl="3" marL="1828800" algn="l">
              <a:lnSpc>
                <a:spcPct val="90000"/>
              </a:lnSpc>
              <a:spcBef>
                <a:spcPts val="400"/>
              </a:spcBef>
              <a:spcAft>
                <a:spcPts val="0"/>
              </a:spcAft>
              <a:buClr>
                <a:srgbClr val="002B42"/>
              </a:buClr>
              <a:buSzPts val="1400"/>
              <a:buChar char="•"/>
              <a:defRPr/>
            </a:lvl4pPr>
            <a:lvl5pPr indent="-317500" lvl="4" marL="2286000" algn="l">
              <a:lnSpc>
                <a:spcPct val="90000"/>
              </a:lnSpc>
              <a:spcBef>
                <a:spcPts val="400"/>
              </a:spcBef>
              <a:spcAft>
                <a:spcPts val="0"/>
              </a:spcAft>
              <a:buClr>
                <a:srgbClr val="002B4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5" name="Shape 195"/>
        <p:cNvGrpSpPr/>
        <p:nvPr/>
      </p:nvGrpSpPr>
      <p:grpSpPr>
        <a:xfrm>
          <a:off x="0" y="0"/>
          <a:ext cx="0" cy="0"/>
          <a:chOff x="0" y="0"/>
          <a:chExt cx="0" cy="0"/>
        </a:xfrm>
      </p:grpSpPr>
      <p:sp>
        <p:nvSpPr>
          <p:cNvPr id="196" name="Google Shape;196;p54"/>
          <p:cNvSpPr txBox="1"/>
          <p:nvPr>
            <p:ph type="title"/>
          </p:nvPr>
        </p:nvSpPr>
        <p:spPr>
          <a:xfrm>
            <a:off x="628650" y="531341"/>
            <a:ext cx="7886700" cy="7368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rgbClr val="00D8EA"/>
              </a:buClr>
              <a:buSzPts val="3300"/>
              <a:buFont typeface="Helvetica Neue"/>
              <a:buNone/>
              <a:defRPr>
                <a:solidFill>
                  <a:srgbClr val="00D8EA"/>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7" name="Shape 197"/>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98" name="Shape 198"/>
        <p:cNvGrpSpPr/>
        <p:nvPr/>
      </p:nvGrpSpPr>
      <p:grpSpPr>
        <a:xfrm>
          <a:off x="0" y="0"/>
          <a:ext cx="0" cy="0"/>
          <a:chOff x="0" y="0"/>
          <a:chExt cx="0" cy="0"/>
        </a:xfrm>
      </p:grpSpPr>
      <p:sp>
        <p:nvSpPr>
          <p:cNvPr id="199" name="Google Shape;199;p56"/>
          <p:cNvSpPr txBox="1"/>
          <p:nvPr>
            <p:ph type="title"/>
          </p:nvPr>
        </p:nvSpPr>
        <p:spPr>
          <a:xfrm>
            <a:off x="629841" y="342900"/>
            <a:ext cx="2949000" cy="1200300"/>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rgbClr val="00D8EA"/>
              </a:buClr>
              <a:buSzPts val="2400"/>
              <a:buFont typeface="Helvetica Neue"/>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0" name="Google Shape;200;p56"/>
          <p:cNvSpPr txBox="1"/>
          <p:nvPr>
            <p:ph idx="1" type="body"/>
          </p:nvPr>
        </p:nvSpPr>
        <p:spPr>
          <a:xfrm>
            <a:off x="3887391" y="740569"/>
            <a:ext cx="4629300" cy="3655200"/>
          </a:xfrm>
          <a:prstGeom prst="rect">
            <a:avLst/>
          </a:prstGeom>
          <a:noFill/>
          <a:ln>
            <a:noFill/>
          </a:ln>
        </p:spPr>
        <p:txBody>
          <a:bodyPr anchorCtr="0" anchor="t" bIns="0" lIns="0" spcFirstLastPara="1" rIns="0" wrap="square" tIns="0">
            <a:normAutofit/>
          </a:bodyPr>
          <a:lstStyle>
            <a:lvl1pPr indent="-381000" lvl="0" marL="457200" algn="l">
              <a:lnSpc>
                <a:spcPct val="90000"/>
              </a:lnSpc>
              <a:spcBef>
                <a:spcPts val="800"/>
              </a:spcBef>
              <a:spcAft>
                <a:spcPts val="0"/>
              </a:spcAft>
              <a:buClr>
                <a:srgbClr val="002B42"/>
              </a:buClr>
              <a:buSzPts val="2400"/>
              <a:buChar char="•"/>
              <a:defRPr sz="2400"/>
            </a:lvl1pPr>
            <a:lvl2pPr indent="-361950" lvl="1" marL="914400" algn="l">
              <a:lnSpc>
                <a:spcPct val="90000"/>
              </a:lnSpc>
              <a:spcBef>
                <a:spcPts val="400"/>
              </a:spcBef>
              <a:spcAft>
                <a:spcPts val="0"/>
              </a:spcAft>
              <a:buClr>
                <a:srgbClr val="002B42"/>
              </a:buClr>
              <a:buSzPts val="2100"/>
              <a:buChar char="•"/>
              <a:defRPr sz="2100"/>
            </a:lvl2pPr>
            <a:lvl3pPr indent="-342900" lvl="2" marL="1371600" algn="l">
              <a:lnSpc>
                <a:spcPct val="90000"/>
              </a:lnSpc>
              <a:spcBef>
                <a:spcPts val="400"/>
              </a:spcBef>
              <a:spcAft>
                <a:spcPts val="0"/>
              </a:spcAft>
              <a:buClr>
                <a:srgbClr val="002B42"/>
              </a:buClr>
              <a:buSzPts val="1800"/>
              <a:buChar char="•"/>
              <a:defRPr sz="1800"/>
            </a:lvl3pPr>
            <a:lvl4pPr indent="-323850" lvl="3" marL="1828800" algn="l">
              <a:lnSpc>
                <a:spcPct val="90000"/>
              </a:lnSpc>
              <a:spcBef>
                <a:spcPts val="400"/>
              </a:spcBef>
              <a:spcAft>
                <a:spcPts val="0"/>
              </a:spcAft>
              <a:buClr>
                <a:srgbClr val="002B42"/>
              </a:buClr>
              <a:buSzPts val="1500"/>
              <a:buChar char="•"/>
              <a:defRPr sz="1500"/>
            </a:lvl4pPr>
            <a:lvl5pPr indent="-323850" lvl="4" marL="2286000" algn="l">
              <a:lnSpc>
                <a:spcPct val="90000"/>
              </a:lnSpc>
              <a:spcBef>
                <a:spcPts val="400"/>
              </a:spcBef>
              <a:spcAft>
                <a:spcPts val="0"/>
              </a:spcAft>
              <a:buClr>
                <a:srgbClr val="002B42"/>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201" name="Google Shape;201;p56"/>
          <p:cNvSpPr txBox="1"/>
          <p:nvPr>
            <p:ph idx="2" type="body"/>
          </p:nvPr>
        </p:nvSpPr>
        <p:spPr>
          <a:xfrm>
            <a:off x="629841" y="1543050"/>
            <a:ext cx="2949000" cy="28587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800"/>
              </a:spcBef>
              <a:spcAft>
                <a:spcPts val="0"/>
              </a:spcAft>
              <a:buClr>
                <a:srgbClr val="002B42"/>
              </a:buClr>
              <a:buSzPts val="1200"/>
              <a:buNone/>
              <a:defRPr sz="1200"/>
            </a:lvl1pPr>
            <a:lvl2pPr indent="-228600" lvl="1" marL="914400" algn="l">
              <a:lnSpc>
                <a:spcPct val="90000"/>
              </a:lnSpc>
              <a:spcBef>
                <a:spcPts val="400"/>
              </a:spcBef>
              <a:spcAft>
                <a:spcPts val="0"/>
              </a:spcAft>
              <a:buClr>
                <a:srgbClr val="002B42"/>
              </a:buClr>
              <a:buSzPts val="1100"/>
              <a:buNone/>
              <a:defRPr sz="1100"/>
            </a:lvl2pPr>
            <a:lvl3pPr indent="-228600" lvl="2" marL="1371600" algn="l">
              <a:lnSpc>
                <a:spcPct val="90000"/>
              </a:lnSpc>
              <a:spcBef>
                <a:spcPts val="400"/>
              </a:spcBef>
              <a:spcAft>
                <a:spcPts val="0"/>
              </a:spcAft>
              <a:buClr>
                <a:srgbClr val="002B42"/>
              </a:buClr>
              <a:buSzPts val="900"/>
              <a:buNone/>
              <a:defRPr sz="900"/>
            </a:lvl3pPr>
            <a:lvl4pPr indent="-228600" lvl="3" marL="1828800" algn="l">
              <a:lnSpc>
                <a:spcPct val="90000"/>
              </a:lnSpc>
              <a:spcBef>
                <a:spcPts val="400"/>
              </a:spcBef>
              <a:spcAft>
                <a:spcPts val="0"/>
              </a:spcAft>
              <a:buClr>
                <a:srgbClr val="002B42"/>
              </a:buClr>
              <a:buSzPts val="800"/>
              <a:buNone/>
              <a:defRPr sz="800"/>
            </a:lvl4pPr>
            <a:lvl5pPr indent="-228600" lvl="4" marL="2286000" algn="l">
              <a:lnSpc>
                <a:spcPct val="90000"/>
              </a:lnSpc>
              <a:spcBef>
                <a:spcPts val="400"/>
              </a:spcBef>
              <a:spcAft>
                <a:spcPts val="0"/>
              </a:spcAft>
              <a:buClr>
                <a:srgbClr val="002B42"/>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02" name="Shape 202"/>
        <p:cNvGrpSpPr/>
        <p:nvPr/>
      </p:nvGrpSpPr>
      <p:grpSpPr>
        <a:xfrm>
          <a:off x="0" y="0"/>
          <a:ext cx="0" cy="0"/>
          <a:chOff x="0" y="0"/>
          <a:chExt cx="0" cy="0"/>
        </a:xfrm>
      </p:grpSpPr>
      <p:sp>
        <p:nvSpPr>
          <p:cNvPr id="203" name="Google Shape;203;p57"/>
          <p:cNvSpPr txBox="1"/>
          <p:nvPr>
            <p:ph type="title"/>
          </p:nvPr>
        </p:nvSpPr>
        <p:spPr>
          <a:xfrm>
            <a:off x="629841" y="342900"/>
            <a:ext cx="2949000" cy="1200300"/>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rgbClr val="00D8EA"/>
              </a:buClr>
              <a:buSzPts val="2400"/>
              <a:buFont typeface="Helvetica Neue"/>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4" name="Google Shape;204;p57"/>
          <p:cNvSpPr/>
          <p:nvPr>
            <p:ph idx="2" type="pic"/>
          </p:nvPr>
        </p:nvSpPr>
        <p:spPr>
          <a:xfrm>
            <a:off x="3887391" y="740569"/>
            <a:ext cx="4629300" cy="3655200"/>
          </a:xfrm>
          <a:prstGeom prst="rect">
            <a:avLst/>
          </a:prstGeom>
          <a:noFill/>
          <a:ln>
            <a:noFill/>
          </a:ln>
        </p:spPr>
      </p:sp>
      <p:sp>
        <p:nvSpPr>
          <p:cNvPr id="205" name="Google Shape;205;p57"/>
          <p:cNvSpPr txBox="1"/>
          <p:nvPr>
            <p:ph idx="1" type="body"/>
          </p:nvPr>
        </p:nvSpPr>
        <p:spPr>
          <a:xfrm>
            <a:off x="629841" y="1543050"/>
            <a:ext cx="2949000" cy="2858700"/>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800"/>
              </a:spcBef>
              <a:spcAft>
                <a:spcPts val="0"/>
              </a:spcAft>
              <a:buClr>
                <a:srgbClr val="002B42"/>
              </a:buClr>
              <a:buSzPts val="1200"/>
              <a:buNone/>
              <a:defRPr sz="1200"/>
            </a:lvl1pPr>
            <a:lvl2pPr indent="-228600" lvl="1" marL="914400" algn="l">
              <a:lnSpc>
                <a:spcPct val="90000"/>
              </a:lnSpc>
              <a:spcBef>
                <a:spcPts val="400"/>
              </a:spcBef>
              <a:spcAft>
                <a:spcPts val="0"/>
              </a:spcAft>
              <a:buClr>
                <a:srgbClr val="002B42"/>
              </a:buClr>
              <a:buSzPts val="1100"/>
              <a:buNone/>
              <a:defRPr sz="1100"/>
            </a:lvl2pPr>
            <a:lvl3pPr indent="-228600" lvl="2" marL="1371600" algn="l">
              <a:lnSpc>
                <a:spcPct val="90000"/>
              </a:lnSpc>
              <a:spcBef>
                <a:spcPts val="400"/>
              </a:spcBef>
              <a:spcAft>
                <a:spcPts val="0"/>
              </a:spcAft>
              <a:buClr>
                <a:srgbClr val="002B42"/>
              </a:buClr>
              <a:buSzPts val="900"/>
              <a:buNone/>
              <a:defRPr sz="900"/>
            </a:lvl3pPr>
            <a:lvl4pPr indent="-228600" lvl="3" marL="1828800" algn="l">
              <a:lnSpc>
                <a:spcPct val="90000"/>
              </a:lnSpc>
              <a:spcBef>
                <a:spcPts val="400"/>
              </a:spcBef>
              <a:spcAft>
                <a:spcPts val="0"/>
              </a:spcAft>
              <a:buClr>
                <a:srgbClr val="002B42"/>
              </a:buClr>
              <a:buSzPts val="800"/>
              <a:buNone/>
              <a:defRPr sz="800"/>
            </a:lvl4pPr>
            <a:lvl5pPr indent="-228600" lvl="4" marL="2286000" algn="l">
              <a:lnSpc>
                <a:spcPct val="90000"/>
              </a:lnSpc>
              <a:spcBef>
                <a:spcPts val="400"/>
              </a:spcBef>
              <a:spcAft>
                <a:spcPts val="0"/>
              </a:spcAft>
              <a:buClr>
                <a:srgbClr val="002B42"/>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06" name="Shape 206"/>
        <p:cNvGrpSpPr/>
        <p:nvPr/>
      </p:nvGrpSpPr>
      <p:grpSpPr>
        <a:xfrm>
          <a:off x="0" y="0"/>
          <a:ext cx="0" cy="0"/>
          <a:chOff x="0" y="0"/>
          <a:chExt cx="0" cy="0"/>
        </a:xfrm>
      </p:grpSpPr>
      <p:sp>
        <p:nvSpPr>
          <p:cNvPr id="207" name="Google Shape;207;p58"/>
          <p:cNvSpPr txBox="1"/>
          <p:nvPr>
            <p:ph type="title"/>
          </p:nvPr>
        </p:nvSpPr>
        <p:spPr>
          <a:xfrm>
            <a:off x="628650" y="531341"/>
            <a:ext cx="7886700" cy="7368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rgbClr val="00D8EA"/>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8" name="Google Shape;208;p58"/>
          <p:cNvSpPr txBox="1"/>
          <p:nvPr>
            <p:ph idx="1" type="body"/>
          </p:nvPr>
        </p:nvSpPr>
        <p:spPr>
          <a:xfrm rot="5400000">
            <a:off x="2940300" y="-942431"/>
            <a:ext cx="3263400" cy="78867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rgbClr val="002B42"/>
              </a:buClr>
              <a:buSzPts val="1400"/>
              <a:buChar char="•"/>
              <a:defRPr/>
            </a:lvl1pPr>
            <a:lvl2pPr indent="-317500" lvl="1" marL="914400" algn="l">
              <a:lnSpc>
                <a:spcPct val="90000"/>
              </a:lnSpc>
              <a:spcBef>
                <a:spcPts val="400"/>
              </a:spcBef>
              <a:spcAft>
                <a:spcPts val="0"/>
              </a:spcAft>
              <a:buClr>
                <a:srgbClr val="002B42"/>
              </a:buClr>
              <a:buSzPts val="1400"/>
              <a:buChar char="•"/>
              <a:defRPr/>
            </a:lvl2pPr>
            <a:lvl3pPr indent="-317500" lvl="2" marL="1371600" algn="l">
              <a:lnSpc>
                <a:spcPct val="90000"/>
              </a:lnSpc>
              <a:spcBef>
                <a:spcPts val="400"/>
              </a:spcBef>
              <a:spcAft>
                <a:spcPts val="0"/>
              </a:spcAft>
              <a:buClr>
                <a:srgbClr val="002B42"/>
              </a:buClr>
              <a:buSzPts val="1400"/>
              <a:buChar char="•"/>
              <a:defRPr/>
            </a:lvl3pPr>
            <a:lvl4pPr indent="-317500" lvl="3" marL="1828800" algn="l">
              <a:lnSpc>
                <a:spcPct val="90000"/>
              </a:lnSpc>
              <a:spcBef>
                <a:spcPts val="400"/>
              </a:spcBef>
              <a:spcAft>
                <a:spcPts val="0"/>
              </a:spcAft>
              <a:buClr>
                <a:srgbClr val="002B42"/>
              </a:buClr>
              <a:buSzPts val="1400"/>
              <a:buChar char="•"/>
              <a:defRPr/>
            </a:lvl4pPr>
            <a:lvl5pPr indent="-317500" lvl="4" marL="2286000" algn="l">
              <a:lnSpc>
                <a:spcPct val="90000"/>
              </a:lnSpc>
              <a:spcBef>
                <a:spcPts val="400"/>
              </a:spcBef>
              <a:spcAft>
                <a:spcPts val="0"/>
              </a:spcAft>
              <a:buClr>
                <a:srgbClr val="002B4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09" name="Shape 209"/>
        <p:cNvGrpSpPr/>
        <p:nvPr/>
      </p:nvGrpSpPr>
      <p:grpSpPr>
        <a:xfrm>
          <a:off x="0" y="0"/>
          <a:ext cx="0" cy="0"/>
          <a:chOff x="0" y="0"/>
          <a:chExt cx="0" cy="0"/>
        </a:xfrm>
      </p:grpSpPr>
      <p:sp>
        <p:nvSpPr>
          <p:cNvPr id="210" name="Google Shape;210;p59"/>
          <p:cNvSpPr txBox="1"/>
          <p:nvPr>
            <p:ph type="title"/>
          </p:nvPr>
        </p:nvSpPr>
        <p:spPr>
          <a:xfrm rot="5400000">
            <a:off x="5350050" y="1467544"/>
            <a:ext cx="4359000" cy="1971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rgbClr val="00D8EA"/>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1" name="Google Shape;211;p59"/>
          <p:cNvSpPr txBox="1"/>
          <p:nvPr>
            <p:ph idx="1" type="body"/>
          </p:nvPr>
        </p:nvSpPr>
        <p:spPr>
          <a:xfrm rot="5400000">
            <a:off x="1349475" y="-447056"/>
            <a:ext cx="4359000" cy="5800800"/>
          </a:xfrm>
          <a:prstGeom prst="rect">
            <a:avLst/>
          </a:prstGeom>
          <a:noFill/>
          <a:ln>
            <a:noFill/>
          </a:ln>
        </p:spPr>
        <p:txBody>
          <a:bodyPr anchorCtr="0" anchor="t" bIns="0" lIns="0" spcFirstLastPara="1" rIns="0" wrap="square" tIns="0">
            <a:normAutofit/>
          </a:bodyPr>
          <a:lstStyle>
            <a:lvl1pPr indent="-317500" lvl="0" marL="457200" algn="l">
              <a:lnSpc>
                <a:spcPct val="90000"/>
              </a:lnSpc>
              <a:spcBef>
                <a:spcPts val="800"/>
              </a:spcBef>
              <a:spcAft>
                <a:spcPts val="0"/>
              </a:spcAft>
              <a:buClr>
                <a:srgbClr val="002B42"/>
              </a:buClr>
              <a:buSzPts val="1400"/>
              <a:buChar char="•"/>
              <a:defRPr/>
            </a:lvl1pPr>
            <a:lvl2pPr indent="-317500" lvl="1" marL="914400" algn="l">
              <a:lnSpc>
                <a:spcPct val="90000"/>
              </a:lnSpc>
              <a:spcBef>
                <a:spcPts val="400"/>
              </a:spcBef>
              <a:spcAft>
                <a:spcPts val="0"/>
              </a:spcAft>
              <a:buClr>
                <a:srgbClr val="002B42"/>
              </a:buClr>
              <a:buSzPts val="1400"/>
              <a:buChar char="•"/>
              <a:defRPr/>
            </a:lvl2pPr>
            <a:lvl3pPr indent="-317500" lvl="2" marL="1371600" algn="l">
              <a:lnSpc>
                <a:spcPct val="90000"/>
              </a:lnSpc>
              <a:spcBef>
                <a:spcPts val="400"/>
              </a:spcBef>
              <a:spcAft>
                <a:spcPts val="0"/>
              </a:spcAft>
              <a:buClr>
                <a:srgbClr val="002B42"/>
              </a:buClr>
              <a:buSzPts val="1400"/>
              <a:buChar char="•"/>
              <a:defRPr/>
            </a:lvl3pPr>
            <a:lvl4pPr indent="-317500" lvl="3" marL="1828800" algn="l">
              <a:lnSpc>
                <a:spcPct val="90000"/>
              </a:lnSpc>
              <a:spcBef>
                <a:spcPts val="400"/>
              </a:spcBef>
              <a:spcAft>
                <a:spcPts val="0"/>
              </a:spcAft>
              <a:buClr>
                <a:srgbClr val="002B42"/>
              </a:buClr>
              <a:buSzPts val="1400"/>
              <a:buChar char="•"/>
              <a:defRPr/>
            </a:lvl4pPr>
            <a:lvl5pPr indent="-317500" lvl="4" marL="2286000" algn="l">
              <a:lnSpc>
                <a:spcPct val="90000"/>
              </a:lnSpc>
              <a:spcBef>
                <a:spcPts val="400"/>
              </a:spcBef>
              <a:spcAft>
                <a:spcPts val="0"/>
              </a:spcAft>
              <a:buClr>
                <a:srgbClr val="002B4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212" name="Shape 212"/>
        <p:cNvGrpSpPr/>
        <p:nvPr/>
      </p:nvGrpSpPr>
      <p:grpSpPr>
        <a:xfrm>
          <a:off x="0" y="0"/>
          <a:ext cx="0" cy="0"/>
          <a:chOff x="0" y="0"/>
          <a:chExt cx="0" cy="0"/>
        </a:xfrm>
      </p:grpSpPr>
      <p:sp>
        <p:nvSpPr>
          <p:cNvPr id="213" name="Google Shape;213;p60"/>
          <p:cNvSpPr txBox="1"/>
          <p:nvPr>
            <p:ph idx="1" type="body"/>
          </p:nvPr>
        </p:nvSpPr>
        <p:spPr>
          <a:xfrm>
            <a:off x="628650" y="1407362"/>
            <a:ext cx="7886700" cy="1314300"/>
          </a:xfrm>
          <a:prstGeom prst="rect">
            <a:avLst/>
          </a:prstGeom>
          <a:noFill/>
          <a:ln>
            <a:noFill/>
          </a:ln>
        </p:spPr>
        <p:txBody>
          <a:bodyPr anchorCtr="0" anchor="t" bIns="0" lIns="137150" spcFirstLastPara="1" rIns="0" wrap="square" tIns="0">
            <a:spAutoFit/>
          </a:bodyPr>
          <a:lstStyle>
            <a:lvl1pPr indent="-336550" lvl="0" marL="457200" algn="l">
              <a:lnSpc>
                <a:spcPct val="90000"/>
              </a:lnSpc>
              <a:spcBef>
                <a:spcPts val="800"/>
              </a:spcBef>
              <a:spcAft>
                <a:spcPts val="0"/>
              </a:spcAft>
              <a:buClr>
                <a:srgbClr val="002B42"/>
              </a:buClr>
              <a:buSzPts val="1700"/>
              <a:buFont typeface="Arial"/>
              <a:buChar char="●"/>
              <a:defRPr b="0" i="0">
                <a:solidFill>
                  <a:srgbClr val="002B42"/>
                </a:solidFill>
                <a:latin typeface="Arial"/>
                <a:ea typeface="Arial"/>
                <a:cs typeface="Arial"/>
                <a:sym typeface="Arial"/>
              </a:defRPr>
            </a:lvl1pPr>
            <a:lvl2pPr indent="-317500" lvl="1" marL="914400" algn="l">
              <a:lnSpc>
                <a:spcPct val="90000"/>
              </a:lnSpc>
              <a:spcBef>
                <a:spcPts val="400"/>
              </a:spcBef>
              <a:spcAft>
                <a:spcPts val="0"/>
              </a:spcAft>
              <a:buClr>
                <a:srgbClr val="002B42"/>
              </a:buClr>
              <a:buSzPts val="1400"/>
              <a:buFont typeface="Arial"/>
              <a:buChar char="●"/>
              <a:defRPr b="0" i="0">
                <a:solidFill>
                  <a:srgbClr val="002B42"/>
                </a:solidFill>
                <a:latin typeface="Arial"/>
                <a:ea typeface="Arial"/>
                <a:cs typeface="Arial"/>
                <a:sym typeface="Arial"/>
              </a:defRPr>
            </a:lvl2pPr>
            <a:lvl3pPr indent="-304800" lvl="2" marL="1371600" algn="l">
              <a:lnSpc>
                <a:spcPct val="90000"/>
              </a:lnSpc>
              <a:spcBef>
                <a:spcPts val="400"/>
              </a:spcBef>
              <a:spcAft>
                <a:spcPts val="0"/>
              </a:spcAft>
              <a:buClr>
                <a:srgbClr val="002B42"/>
              </a:buClr>
              <a:buSzPts val="1200"/>
              <a:buFont typeface="Arial"/>
              <a:buChar char="●"/>
              <a:defRPr b="0" i="0">
                <a:solidFill>
                  <a:srgbClr val="002B42"/>
                </a:solidFill>
                <a:latin typeface="Arial"/>
                <a:ea typeface="Arial"/>
                <a:cs typeface="Arial"/>
                <a:sym typeface="Arial"/>
              </a:defRPr>
            </a:lvl3pPr>
            <a:lvl4pPr indent="-298450" lvl="3" marL="1828800" algn="l">
              <a:lnSpc>
                <a:spcPct val="90000"/>
              </a:lnSpc>
              <a:spcBef>
                <a:spcPts val="400"/>
              </a:spcBef>
              <a:spcAft>
                <a:spcPts val="0"/>
              </a:spcAft>
              <a:buClr>
                <a:srgbClr val="002B42"/>
              </a:buClr>
              <a:buSzPts val="1100"/>
              <a:buFont typeface="Arial"/>
              <a:buChar char="●"/>
              <a:defRPr b="0" i="0">
                <a:solidFill>
                  <a:srgbClr val="002B42"/>
                </a:solidFill>
                <a:latin typeface="Arial"/>
                <a:ea typeface="Arial"/>
                <a:cs typeface="Arial"/>
                <a:sym typeface="Arial"/>
              </a:defRPr>
            </a:lvl4pPr>
            <a:lvl5pPr indent="-298450" lvl="4" marL="2286000" algn="l">
              <a:lnSpc>
                <a:spcPct val="90000"/>
              </a:lnSpc>
              <a:spcBef>
                <a:spcPts val="400"/>
              </a:spcBef>
              <a:spcAft>
                <a:spcPts val="0"/>
              </a:spcAft>
              <a:buClr>
                <a:srgbClr val="002B42"/>
              </a:buClr>
              <a:buSzPts val="1100"/>
              <a:buFont typeface="Arial"/>
              <a:buChar char="●"/>
              <a:defRPr b="0" i="0">
                <a:solidFill>
                  <a:srgbClr val="002B42"/>
                </a:solidFill>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4" name="Google Shape;214;p60"/>
          <p:cNvSpPr txBox="1"/>
          <p:nvPr>
            <p:ph type="title"/>
          </p:nvPr>
        </p:nvSpPr>
        <p:spPr>
          <a:xfrm>
            <a:off x="628650" y="273844"/>
            <a:ext cx="7886700" cy="994200"/>
          </a:xfrm>
          <a:prstGeom prst="rect">
            <a:avLst/>
          </a:prstGeom>
          <a:gradFill>
            <a:gsLst>
              <a:gs pos="0">
                <a:srgbClr val="002A40"/>
              </a:gs>
              <a:gs pos="22000">
                <a:srgbClr val="006271"/>
              </a:gs>
              <a:gs pos="83000">
                <a:srgbClr val="002A40"/>
              </a:gs>
              <a:gs pos="100000">
                <a:srgbClr val="002A40"/>
              </a:gs>
            </a:gsLst>
            <a:path path="circle">
              <a:fillToRect b="0%" l="100%" r="0%" t="100%"/>
            </a:path>
            <a:tileRect b="-100%" l="0%" r="-100%" t="0%"/>
          </a:gradFill>
          <a:ln>
            <a:noFill/>
          </a:ln>
        </p:spPr>
        <p:txBody>
          <a:bodyPr anchorCtr="0" anchor="ctr" bIns="34275" lIns="137150" spcFirstLastPara="1" rIns="68575" wrap="square" tIns="0">
            <a:normAutofit/>
          </a:bodyPr>
          <a:lstStyle>
            <a:lvl1pPr lvl="0" algn="l">
              <a:lnSpc>
                <a:spcPct val="90000"/>
              </a:lnSpc>
              <a:spcBef>
                <a:spcPts val="0"/>
              </a:spcBef>
              <a:spcAft>
                <a:spcPts val="0"/>
              </a:spcAft>
              <a:buClr>
                <a:schemeClr val="lt1"/>
              </a:buClr>
              <a:buSzPts val="3300"/>
              <a:buFont typeface="Arial"/>
              <a:buNone/>
              <a:defRPr>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5" name="Google Shape;215;p6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216" name="Google Shape;216;p6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217" name="Google Shape;217;p6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1100"/>
            </a:lvl1pPr>
            <a:lvl2pPr indent="0" lvl="1" marL="0" algn="r">
              <a:spcBef>
                <a:spcPts val="0"/>
              </a:spcBef>
              <a:buNone/>
              <a:defRPr sz="1100"/>
            </a:lvl2pPr>
            <a:lvl3pPr indent="0" lvl="2" marL="0" algn="r">
              <a:spcBef>
                <a:spcPts val="0"/>
              </a:spcBef>
              <a:buNone/>
              <a:defRPr sz="1100"/>
            </a:lvl3pPr>
            <a:lvl4pPr indent="0" lvl="3" marL="0" algn="r">
              <a:spcBef>
                <a:spcPts val="0"/>
              </a:spcBef>
              <a:buNone/>
              <a:defRPr sz="1100"/>
            </a:lvl4pPr>
            <a:lvl5pPr indent="0" lvl="4" marL="0" algn="r">
              <a:spcBef>
                <a:spcPts val="0"/>
              </a:spcBef>
              <a:buNone/>
              <a:defRPr sz="1100"/>
            </a:lvl5pPr>
            <a:lvl6pPr indent="0" lvl="5" marL="0" algn="r">
              <a:spcBef>
                <a:spcPts val="0"/>
              </a:spcBef>
              <a:buNone/>
              <a:defRPr sz="1100"/>
            </a:lvl6pPr>
            <a:lvl7pPr indent="0" lvl="6" marL="0" algn="r">
              <a:spcBef>
                <a:spcPts val="0"/>
              </a:spcBef>
              <a:buNone/>
              <a:defRPr sz="1100"/>
            </a:lvl7pPr>
            <a:lvl8pPr indent="0" lvl="7" marL="0" algn="r">
              <a:spcBef>
                <a:spcPts val="0"/>
              </a:spcBef>
              <a:buNone/>
              <a:defRPr sz="1100"/>
            </a:lvl8pPr>
            <a:lvl9pPr indent="0" lvl="8" marL="0" algn="r">
              <a:spcBef>
                <a:spcPts val="0"/>
              </a:spcBef>
              <a:buNone/>
              <a:defRPr sz="11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6" Type="http://schemas.openxmlformats.org/officeDocument/2006/relationships/slideLayout" Target="../slideLayouts/slideLayout17.xml"/><Relationship Id="rId18" Type="http://schemas.openxmlformats.org/officeDocument/2006/relationships/theme" Target="../theme/theme1.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9.xml"/><Relationship Id="rId10" Type="http://schemas.openxmlformats.org/officeDocument/2006/relationships/slideLayout" Target="../slideLayouts/slideLayout38.xml"/><Relationship Id="rId13" Type="http://schemas.openxmlformats.org/officeDocument/2006/relationships/slideLayout" Target="../slideLayouts/slideLayout41.xml"/><Relationship Id="rId12" Type="http://schemas.openxmlformats.org/officeDocument/2006/relationships/slideLayout" Target="../slideLayouts/slideLayout40.xml"/><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5" Type="http://schemas.openxmlformats.org/officeDocument/2006/relationships/slideLayout" Target="../slideLayouts/slideLayout43.xml"/><Relationship Id="rId14" Type="http://schemas.openxmlformats.org/officeDocument/2006/relationships/slideLayout" Target="../slideLayouts/slideLayout42.xml"/><Relationship Id="rId16" Type="http://schemas.openxmlformats.org/officeDocument/2006/relationships/theme" Target="../theme/theme3.xml"/><Relationship Id="rId5" Type="http://schemas.openxmlformats.org/officeDocument/2006/relationships/slideLayout" Target="../slideLayouts/slideLayout33.xml"/><Relationship Id="rId6" Type="http://schemas.openxmlformats.org/officeDocument/2006/relationships/slideLayout" Target="../slideLayouts/slideLayout34.xml"/><Relationship Id="rId7" Type="http://schemas.openxmlformats.org/officeDocument/2006/relationships/slideLayout" Target="../slideLayouts/slideLayout35.xml"/><Relationship Id="rId8"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54.xml"/><Relationship Id="rId10" Type="http://schemas.openxmlformats.org/officeDocument/2006/relationships/slideLayout" Target="../slideLayouts/slideLayout53.xml"/><Relationship Id="rId13" Type="http://schemas.openxmlformats.org/officeDocument/2006/relationships/slideLayout" Target="../slideLayouts/slideLayout56.xml"/><Relationship Id="rId12" Type="http://schemas.openxmlformats.org/officeDocument/2006/relationships/slideLayout" Target="../slideLayouts/slideLayout55.xml"/><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theme" Target="../theme/theme2.xml"/><Relationship Id="rId5" Type="http://schemas.openxmlformats.org/officeDocument/2006/relationships/slideLayout" Target="../slideLayouts/slideLayout48.xml"/><Relationship Id="rId6" Type="http://schemas.openxmlformats.org/officeDocument/2006/relationships/slideLayout" Target="../slideLayouts/slideLayout49.xml"/><Relationship Id="rId7" Type="http://schemas.openxmlformats.org/officeDocument/2006/relationships/slideLayout" Target="../slideLayouts/slideLayout50.xml"/><Relationship Id="rId8"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542405"/>
            <a:ext cx="7886700" cy="457048"/>
          </a:xfrm>
          <a:prstGeom prst="rect">
            <a:avLst/>
          </a:prstGeom>
          <a:noFill/>
          <a:ln>
            <a:noFill/>
          </a:ln>
        </p:spPr>
        <p:txBody>
          <a:bodyPr anchorCtr="0" anchor="ctr" bIns="0" lIns="0" spcFirstLastPara="1" rIns="0" wrap="square" tIns="0">
            <a:spAutoFit/>
          </a:bodyPr>
          <a:lstStyle>
            <a:lvl1pPr lvl="0" marR="0" rtl="0" algn="l">
              <a:lnSpc>
                <a:spcPct val="90000"/>
              </a:lnSpc>
              <a:spcBef>
                <a:spcPts val="0"/>
              </a:spcBef>
              <a:spcAft>
                <a:spcPts val="0"/>
              </a:spcAft>
              <a:buClr>
                <a:schemeClr val="dk1"/>
              </a:buClr>
              <a:buSzPts val="3300"/>
              <a:buFont typeface="Helvetica Neue"/>
              <a:buNone/>
              <a:defRPr b="1" i="0" sz="3300" u="none" cap="none" strike="noStrike">
                <a:solidFill>
                  <a:schemeClr val="dk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2" name="Google Shape;52;p13"/>
          <p:cNvSpPr txBox="1"/>
          <p:nvPr>
            <p:ph idx="1" type="body"/>
          </p:nvPr>
        </p:nvSpPr>
        <p:spPr>
          <a:xfrm>
            <a:off x="628650" y="1369219"/>
            <a:ext cx="7886700" cy="1314206"/>
          </a:xfrm>
          <a:prstGeom prst="rect">
            <a:avLst/>
          </a:prstGeom>
          <a:noFill/>
          <a:ln>
            <a:noFill/>
          </a:ln>
        </p:spPr>
        <p:txBody>
          <a:bodyPr anchorCtr="0" anchor="t" bIns="0" lIns="0" spcFirstLastPara="1" rIns="0" wrap="square" tIns="0">
            <a:spAutoFit/>
          </a:bodyPr>
          <a:lstStyle>
            <a:lvl1pPr indent="-228600" lvl="0" marL="457200" marR="0" rtl="0" algn="l">
              <a:lnSpc>
                <a:spcPct val="90000"/>
              </a:lnSpc>
              <a:spcBef>
                <a:spcPts val="800"/>
              </a:spcBef>
              <a:spcAft>
                <a:spcPts val="0"/>
              </a:spcAft>
              <a:buClr>
                <a:schemeClr val="dk1"/>
              </a:buClr>
              <a:buSzPts val="2100"/>
              <a:buFont typeface="Helvetica Neue"/>
              <a:buNone/>
              <a:defRPr b="0" i="0" sz="2100" u="none" cap="none" strike="noStrike">
                <a:solidFill>
                  <a:schemeClr val="dk1"/>
                </a:solidFill>
                <a:latin typeface="Helvetica Neue"/>
                <a:ea typeface="Helvetica Neue"/>
                <a:cs typeface="Helvetica Neue"/>
                <a:sym typeface="Helvetica Neue"/>
              </a:defRPr>
            </a:lvl1pPr>
            <a:lvl2pPr indent="-228600" lvl="1" marL="914400" marR="0" rtl="0" algn="l">
              <a:lnSpc>
                <a:spcPct val="90000"/>
              </a:lnSpc>
              <a:spcBef>
                <a:spcPts val="400"/>
              </a:spcBef>
              <a:spcAft>
                <a:spcPts val="0"/>
              </a:spcAft>
              <a:buClr>
                <a:schemeClr val="dk1"/>
              </a:buClr>
              <a:buSzPts val="1800"/>
              <a:buFont typeface="Helvetica Neue"/>
              <a:buNone/>
              <a:defRPr b="0" i="0" sz="1800" u="none" cap="none" strike="noStrike">
                <a:solidFill>
                  <a:schemeClr val="dk1"/>
                </a:solidFill>
                <a:latin typeface="Helvetica Neue"/>
                <a:ea typeface="Helvetica Neue"/>
                <a:cs typeface="Helvetica Neue"/>
                <a:sym typeface="Helvetica Neue"/>
              </a:defRPr>
            </a:lvl2pPr>
            <a:lvl3pPr indent="-228600" lvl="2" marL="1371600" marR="0" rtl="0" algn="l">
              <a:lnSpc>
                <a:spcPct val="90000"/>
              </a:lnSpc>
              <a:spcBef>
                <a:spcPts val="400"/>
              </a:spcBef>
              <a:spcAft>
                <a:spcPts val="0"/>
              </a:spcAft>
              <a:buClr>
                <a:schemeClr val="dk1"/>
              </a:buClr>
              <a:buSzPts val="1500"/>
              <a:buFont typeface="Helvetica Neue"/>
              <a:buNone/>
              <a:defRPr b="0" i="0" sz="1500" u="none" cap="none" strike="noStrike">
                <a:solidFill>
                  <a:schemeClr val="dk1"/>
                </a:solidFill>
                <a:latin typeface="Helvetica Neue"/>
                <a:ea typeface="Helvetica Neue"/>
                <a:cs typeface="Helvetica Neue"/>
                <a:sym typeface="Helvetica Neue"/>
              </a:defRPr>
            </a:lvl3pPr>
            <a:lvl4pPr indent="-228600" lvl="3" marL="1828800" marR="0" rtl="0" algn="l">
              <a:lnSpc>
                <a:spcPct val="90000"/>
              </a:lnSpc>
              <a:spcBef>
                <a:spcPts val="400"/>
              </a:spcBef>
              <a:spcAft>
                <a:spcPts val="0"/>
              </a:spcAft>
              <a:buClr>
                <a:schemeClr val="dk1"/>
              </a:buClr>
              <a:buSzPts val="1400"/>
              <a:buFont typeface="Helvetica Neue"/>
              <a:buNone/>
              <a:defRPr b="0" i="0" sz="1400" u="none" cap="none" strike="noStrike">
                <a:solidFill>
                  <a:schemeClr val="dk1"/>
                </a:solidFill>
                <a:latin typeface="Helvetica Neue"/>
                <a:ea typeface="Helvetica Neue"/>
                <a:cs typeface="Helvetica Neue"/>
                <a:sym typeface="Helvetica Neue"/>
              </a:defRPr>
            </a:lvl4pPr>
            <a:lvl5pPr indent="-228600" lvl="4" marL="2286000" marR="0" rtl="0" algn="l">
              <a:lnSpc>
                <a:spcPct val="90000"/>
              </a:lnSpc>
              <a:spcBef>
                <a:spcPts val="400"/>
              </a:spcBef>
              <a:spcAft>
                <a:spcPts val="0"/>
              </a:spcAft>
              <a:buClr>
                <a:schemeClr val="dk1"/>
              </a:buClr>
              <a:buSzPts val="1400"/>
              <a:buFont typeface="Helvetica Neue"/>
              <a:buNone/>
              <a:defRPr b="0" i="0" sz="1400" u="none" cap="none" strike="noStrike">
                <a:solidFill>
                  <a:schemeClr val="dk1"/>
                </a:solidFill>
                <a:latin typeface="Helvetica Neue"/>
                <a:ea typeface="Helvetica Neue"/>
                <a:cs typeface="Helvetica Neue"/>
                <a:sym typeface="Helvetica Neue"/>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 name="Shape 113"/>
        <p:cNvGrpSpPr/>
        <p:nvPr/>
      </p:nvGrpSpPr>
      <p:grpSpPr>
        <a:xfrm>
          <a:off x="0" y="0"/>
          <a:ext cx="0" cy="0"/>
          <a:chOff x="0" y="0"/>
          <a:chExt cx="0" cy="0"/>
        </a:xfrm>
      </p:grpSpPr>
      <p:sp>
        <p:nvSpPr>
          <p:cNvPr id="114" name="Google Shape;114;p31"/>
          <p:cNvSpPr txBox="1"/>
          <p:nvPr>
            <p:ph type="title"/>
          </p:nvPr>
        </p:nvSpPr>
        <p:spPr>
          <a:xfrm>
            <a:off x="628650" y="542405"/>
            <a:ext cx="7886700" cy="456900"/>
          </a:xfrm>
          <a:prstGeom prst="rect">
            <a:avLst/>
          </a:prstGeom>
          <a:noFill/>
          <a:ln>
            <a:noFill/>
          </a:ln>
        </p:spPr>
        <p:txBody>
          <a:bodyPr anchorCtr="0" anchor="ctr" bIns="0" lIns="0" spcFirstLastPara="1" rIns="0" wrap="square" tIns="0">
            <a:spAutoFit/>
          </a:bodyPr>
          <a:lstStyle>
            <a:lvl1pPr lvl="0" marR="0" algn="l">
              <a:lnSpc>
                <a:spcPct val="90000"/>
              </a:lnSpc>
              <a:spcBef>
                <a:spcPts val="0"/>
              </a:spcBef>
              <a:spcAft>
                <a:spcPts val="0"/>
              </a:spcAft>
              <a:buClr>
                <a:schemeClr val="dk1"/>
              </a:buClr>
              <a:buSzPts val="3300"/>
              <a:buFont typeface="Helvetica Neue"/>
              <a:buNone/>
              <a:defRPr b="1" i="0" sz="3300" u="none" cap="none" strike="noStrike">
                <a:solidFill>
                  <a:schemeClr val="dk1"/>
                </a:solidFill>
                <a:latin typeface="Helvetica Neue"/>
                <a:ea typeface="Helvetica Neue"/>
                <a:cs typeface="Helvetica Neue"/>
                <a:sym typeface="Helvetica Neue"/>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15" name="Google Shape;115;p31"/>
          <p:cNvSpPr txBox="1"/>
          <p:nvPr>
            <p:ph idx="1" type="body"/>
          </p:nvPr>
        </p:nvSpPr>
        <p:spPr>
          <a:xfrm>
            <a:off x="628650" y="1369219"/>
            <a:ext cx="7886700" cy="1314300"/>
          </a:xfrm>
          <a:prstGeom prst="rect">
            <a:avLst/>
          </a:prstGeom>
          <a:noFill/>
          <a:ln>
            <a:noFill/>
          </a:ln>
        </p:spPr>
        <p:txBody>
          <a:bodyPr anchorCtr="0" anchor="t" bIns="0" lIns="0" spcFirstLastPara="1" rIns="0" wrap="square" tIns="0">
            <a:spAutoFit/>
          </a:bodyPr>
          <a:lstStyle>
            <a:lvl1pPr indent="-228600" lvl="0" marL="457200" marR="0" algn="l">
              <a:lnSpc>
                <a:spcPct val="90000"/>
              </a:lnSpc>
              <a:spcBef>
                <a:spcPts val="800"/>
              </a:spcBef>
              <a:spcAft>
                <a:spcPts val="0"/>
              </a:spcAft>
              <a:buClr>
                <a:schemeClr val="dk1"/>
              </a:buClr>
              <a:buSzPts val="2100"/>
              <a:buFont typeface="Helvetica Neue"/>
              <a:buNone/>
              <a:defRPr b="0" i="0" sz="2100" u="none" cap="none" strike="noStrike">
                <a:solidFill>
                  <a:schemeClr val="dk1"/>
                </a:solidFill>
                <a:latin typeface="Helvetica Neue"/>
                <a:ea typeface="Helvetica Neue"/>
                <a:cs typeface="Helvetica Neue"/>
                <a:sym typeface="Helvetica Neue"/>
              </a:defRPr>
            </a:lvl1pPr>
            <a:lvl2pPr indent="-228600" lvl="1" marL="914400" marR="0" algn="l">
              <a:lnSpc>
                <a:spcPct val="90000"/>
              </a:lnSpc>
              <a:spcBef>
                <a:spcPts val="400"/>
              </a:spcBef>
              <a:spcAft>
                <a:spcPts val="0"/>
              </a:spcAft>
              <a:buClr>
                <a:schemeClr val="dk1"/>
              </a:buClr>
              <a:buSzPts val="1800"/>
              <a:buFont typeface="Helvetica Neue"/>
              <a:buNone/>
              <a:defRPr b="0" i="0" sz="1800" u="none" cap="none" strike="noStrike">
                <a:solidFill>
                  <a:schemeClr val="dk1"/>
                </a:solidFill>
                <a:latin typeface="Helvetica Neue"/>
                <a:ea typeface="Helvetica Neue"/>
                <a:cs typeface="Helvetica Neue"/>
                <a:sym typeface="Helvetica Neue"/>
              </a:defRPr>
            </a:lvl2pPr>
            <a:lvl3pPr indent="-228600" lvl="2" marL="1371600" marR="0" algn="l">
              <a:lnSpc>
                <a:spcPct val="90000"/>
              </a:lnSpc>
              <a:spcBef>
                <a:spcPts val="400"/>
              </a:spcBef>
              <a:spcAft>
                <a:spcPts val="0"/>
              </a:spcAft>
              <a:buClr>
                <a:schemeClr val="dk1"/>
              </a:buClr>
              <a:buSzPts val="1500"/>
              <a:buFont typeface="Helvetica Neue"/>
              <a:buNone/>
              <a:defRPr b="0" i="0" sz="1500" u="none" cap="none" strike="noStrike">
                <a:solidFill>
                  <a:schemeClr val="dk1"/>
                </a:solidFill>
                <a:latin typeface="Helvetica Neue"/>
                <a:ea typeface="Helvetica Neue"/>
                <a:cs typeface="Helvetica Neue"/>
                <a:sym typeface="Helvetica Neue"/>
              </a:defRPr>
            </a:lvl3pPr>
            <a:lvl4pPr indent="-228600" lvl="3" marL="1828800" marR="0" algn="l">
              <a:lnSpc>
                <a:spcPct val="90000"/>
              </a:lnSpc>
              <a:spcBef>
                <a:spcPts val="400"/>
              </a:spcBef>
              <a:spcAft>
                <a:spcPts val="0"/>
              </a:spcAft>
              <a:buClr>
                <a:schemeClr val="dk1"/>
              </a:buClr>
              <a:buSzPts val="1400"/>
              <a:buFont typeface="Helvetica Neue"/>
              <a:buNone/>
              <a:defRPr b="0" i="0" sz="1400" u="none" cap="none" strike="noStrike">
                <a:solidFill>
                  <a:schemeClr val="dk1"/>
                </a:solidFill>
                <a:latin typeface="Helvetica Neue"/>
                <a:ea typeface="Helvetica Neue"/>
                <a:cs typeface="Helvetica Neue"/>
                <a:sym typeface="Helvetica Neue"/>
              </a:defRPr>
            </a:lvl4pPr>
            <a:lvl5pPr indent="-228600" lvl="4" marL="2286000" marR="0" algn="l">
              <a:lnSpc>
                <a:spcPct val="90000"/>
              </a:lnSpc>
              <a:spcBef>
                <a:spcPts val="400"/>
              </a:spcBef>
              <a:spcAft>
                <a:spcPts val="0"/>
              </a:spcAft>
              <a:buClr>
                <a:schemeClr val="dk1"/>
              </a:buClr>
              <a:buSzPts val="1400"/>
              <a:buFont typeface="Helvetica Neue"/>
              <a:buNone/>
              <a:defRPr b="0" i="0" sz="1400" u="none" cap="none" strike="noStrike">
                <a:solidFill>
                  <a:schemeClr val="dk1"/>
                </a:solidFill>
                <a:latin typeface="Helvetica Neue"/>
                <a:ea typeface="Helvetica Neue"/>
                <a:cs typeface="Helvetica Neue"/>
                <a:sym typeface="Helvetica Neue"/>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8" name="Shape 168"/>
        <p:cNvGrpSpPr/>
        <p:nvPr/>
      </p:nvGrpSpPr>
      <p:grpSpPr>
        <a:xfrm>
          <a:off x="0" y="0"/>
          <a:ext cx="0" cy="0"/>
          <a:chOff x="0" y="0"/>
          <a:chExt cx="0" cy="0"/>
        </a:xfrm>
      </p:grpSpPr>
      <p:sp>
        <p:nvSpPr>
          <p:cNvPr id="169" name="Google Shape;169;p47"/>
          <p:cNvSpPr txBox="1"/>
          <p:nvPr>
            <p:ph type="title"/>
          </p:nvPr>
        </p:nvSpPr>
        <p:spPr>
          <a:xfrm>
            <a:off x="628650" y="531341"/>
            <a:ext cx="7886700" cy="736800"/>
          </a:xfrm>
          <a:prstGeom prst="rect">
            <a:avLst/>
          </a:prstGeom>
          <a:noFill/>
          <a:ln>
            <a:noFill/>
          </a:ln>
        </p:spPr>
        <p:txBody>
          <a:bodyPr anchorCtr="0" anchor="t" bIns="0" lIns="0" spcFirstLastPara="1" rIns="0" wrap="square" tIns="0">
            <a:normAutofit/>
          </a:bodyPr>
          <a:lstStyle>
            <a:lvl1pPr lvl="0" marR="0" algn="l">
              <a:lnSpc>
                <a:spcPct val="90000"/>
              </a:lnSpc>
              <a:spcBef>
                <a:spcPts val="0"/>
              </a:spcBef>
              <a:spcAft>
                <a:spcPts val="0"/>
              </a:spcAft>
              <a:buClr>
                <a:srgbClr val="00D8EA"/>
              </a:buClr>
              <a:buSzPts val="3300"/>
              <a:buFont typeface="Helvetica Neue"/>
              <a:buNone/>
              <a:defRPr b="1" i="0" sz="3300" u="none" cap="none" strike="noStrike">
                <a:solidFill>
                  <a:srgbClr val="00D8EA"/>
                </a:solidFill>
                <a:latin typeface="Helvetica Neue"/>
                <a:ea typeface="Helvetica Neue"/>
                <a:cs typeface="Helvetica Neue"/>
                <a:sym typeface="Helvetica Neue"/>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70" name="Google Shape;170;p47"/>
          <p:cNvSpPr txBox="1"/>
          <p:nvPr>
            <p:ph idx="1" type="body"/>
          </p:nvPr>
        </p:nvSpPr>
        <p:spPr>
          <a:xfrm>
            <a:off x="628650" y="1369219"/>
            <a:ext cx="7886700" cy="3263400"/>
          </a:xfrm>
          <a:prstGeom prst="rect">
            <a:avLst/>
          </a:prstGeom>
          <a:noFill/>
          <a:ln>
            <a:noFill/>
          </a:ln>
        </p:spPr>
        <p:txBody>
          <a:bodyPr anchorCtr="0" anchor="t" bIns="0" lIns="0" spcFirstLastPara="1" rIns="0" wrap="square" tIns="0">
            <a:normAutofit/>
          </a:bodyPr>
          <a:lstStyle>
            <a:lvl1pPr indent="-361950" lvl="0" marL="457200" marR="0" algn="l">
              <a:lnSpc>
                <a:spcPct val="90000"/>
              </a:lnSpc>
              <a:spcBef>
                <a:spcPts val="800"/>
              </a:spcBef>
              <a:spcAft>
                <a:spcPts val="0"/>
              </a:spcAft>
              <a:buClr>
                <a:srgbClr val="002B42"/>
              </a:buClr>
              <a:buSzPts val="2100"/>
              <a:buFont typeface="Arial"/>
              <a:buChar char="•"/>
              <a:defRPr b="0" i="0" sz="2100" u="none" cap="none" strike="noStrike">
                <a:solidFill>
                  <a:srgbClr val="002B42"/>
                </a:solidFill>
                <a:latin typeface="Helvetica Neue"/>
                <a:ea typeface="Helvetica Neue"/>
                <a:cs typeface="Helvetica Neue"/>
                <a:sym typeface="Helvetica Neue"/>
              </a:defRPr>
            </a:lvl1pPr>
            <a:lvl2pPr indent="-342900" lvl="1" marL="914400" marR="0" algn="l">
              <a:lnSpc>
                <a:spcPct val="90000"/>
              </a:lnSpc>
              <a:spcBef>
                <a:spcPts val="400"/>
              </a:spcBef>
              <a:spcAft>
                <a:spcPts val="0"/>
              </a:spcAft>
              <a:buClr>
                <a:srgbClr val="002B42"/>
              </a:buClr>
              <a:buSzPts val="1800"/>
              <a:buFont typeface="Arial"/>
              <a:buChar char="•"/>
              <a:defRPr b="0" i="0" sz="1800" u="none" cap="none" strike="noStrike">
                <a:solidFill>
                  <a:srgbClr val="002B42"/>
                </a:solidFill>
                <a:latin typeface="Helvetica Neue"/>
                <a:ea typeface="Helvetica Neue"/>
                <a:cs typeface="Helvetica Neue"/>
                <a:sym typeface="Helvetica Neue"/>
              </a:defRPr>
            </a:lvl2pPr>
            <a:lvl3pPr indent="-323850" lvl="2" marL="1371600" marR="0" algn="l">
              <a:lnSpc>
                <a:spcPct val="90000"/>
              </a:lnSpc>
              <a:spcBef>
                <a:spcPts val="400"/>
              </a:spcBef>
              <a:spcAft>
                <a:spcPts val="0"/>
              </a:spcAft>
              <a:buClr>
                <a:srgbClr val="002B42"/>
              </a:buClr>
              <a:buSzPts val="1500"/>
              <a:buFont typeface="Arial"/>
              <a:buChar char="•"/>
              <a:defRPr b="0" i="0" sz="1500" u="none" cap="none" strike="noStrike">
                <a:solidFill>
                  <a:srgbClr val="002B42"/>
                </a:solidFill>
                <a:latin typeface="Helvetica Neue"/>
                <a:ea typeface="Helvetica Neue"/>
                <a:cs typeface="Helvetica Neue"/>
                <a:sym typeface="Helvetica Neue"/>
              </a:defRPr>
            </a:lvl3pPr>
            <a:lvl4pPr indent="-317500" lvl="3" marL="1828800" marR="0" algn="l">
              <a:lnSpc>
                <a:spcPct val="90000"/>
              </a:lnSpc>
              <a:spcBef>
                <a:spcPts val="400"/>
              </a:spcBef>
              <a:spcAft>
                <a:spcPts val="0"/>
              </a:spcAft>
              <a:buClr>
                <a:srgbClr val="002B42"/>
              </a:buClr>
              <a:buSzPts val="1400"/>
              <a:buFont typeface="Arial"/>
              <a:buChar char="•"/>
              <a:defRPr b="0" i="0" sz="1400" u="none" cap="none" strike="noStrike">
                <a:solidFill>
                  <a:srgbClr val="002B42"/>
                </a:solidFill>
                <a:latin typeface="Helvetica Neue"/>
                <a:ea typeface="Helvetica Neue"/>
                <a:cs typeface="Helvetica Neue"/>
                <a:sym typeface="Helvetica Neue"/>
              </a:defRPr>
            </a:lvl4pPr>
            <a:lvl5pPr indent="-317500" lvl="4" marL="2286000" marR="0" algn="l">
              <a:lnSpc>
                <a:spcPct val="90000"/>
              </a:lnSpc>
              <a:spcBef>
                <a:spcPts val="400"/>
              </a:spcBef>
              <a:spcAft>
                <a:spcPts val="0"/>
              </a:spcAft>
              <a:buClr>
                <a:srgbClr val="002B42"/>
              </a:buClr>
              <a:buSzPts val="1400"/>
              <a:buFont typeface="Arial"/>
              <a:buChar char="•"/>
              <a:defRPr b="0" i="0" sz="1400" u="none" cap="none" strike="noStrike">
                <a:solidFill>
                  <a:srgbClr val="002B42"/>
                </a:solidFill>
                <a:latin typeface="Helvetica Neue"/>
                <a:ea typeface="Helvetica Neue"/>
                <a:cs typeface="Helvetica Neue"/>
                <a:sym typeface="Helvetica Neue"/>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xml"/><Relationship Id="rId3"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xml"/><Relationship Id="rId3"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0" Type="http://schemas.openxmlformats.org/officeDocument/2006/relationships/image" Target="../media/image13.png"/><Relationship Id="rId1" Type="http://schemas.openxmlformats.org/officeDocument/2006/relationships/slideLayout" Target="../slideLayouts/slideLayout46.xml"/><Relationship Id="rId2" Type="http://schemas.openxmlformats.org/officeDocument/2006/relationships/notesSlide" Target="../notesSlides/notesSlide6.xml"/><Relationship Id="rId3" Type="http://schemas.openxmlformats.org/officeDocument/2006/relationships/image" Target="../media/image30.png"/><Relationship Id="rId4" Type="http://schemas.openxmlformats.org/officeDocument/2006/relationships/image" Target="../media/image12.png"/><Relationship Id="rId9" Type="http://schemas.openxmlformats.org/officeDocument/2006/relationships/image" Target="../media/image20.png"/><Relationship Id="rId5" Type="http://schemas.openxmlformats.org/officeDocument/2006/relationships/image" Target="../media/image3.png"/><Relationship Id="rId6" Type="http://schemas.openxmlformats.org/officeDocument/2006/relationships/image" Target="../media/image8.png"/><Relationship Id="rId7" Type="http://schemas.openxmlformats.org/officeDocument/2006/relationships/image" Target="../media/image11.png"/><Relationship Id="rId8"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7.xml"/><Relationship Id="rId3"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9.xml"/><Relationship Id="rId3"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image" Target="../media/image110.png"/><Relationship Id="rId5"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5.xml"/><Relationship Id="rId3" Type="http://schemas.openxmlformats.org/officeDocument/2006/relationships/comments" Target="../comments/comment1.xml"/><Relationship Id="rId4" Type="http://schemas.openxmlformats.org/officeDocument/2006/relationships/hyperlink" Target="https://github.com/gladstone-institutes/Bioinformatics-Workshops/blob/master/intro-rna-seq/%5BSpring%202026%5D%20Introduction%20to%20RNA-seq%20analysis%20Workshop.pptx?raw=true" TargetMode="External"/><Relationship Id="rId5" Type="http://schemas.openxmlformats.org/officeDocument/2006/relationships/hyperlink" Target="https://www.dropbox.com/scl/fi/y1jus86qoll93bcegbo2p/Intro_to_RNA-seq_data_analysis.zip?rlkey=soptz05iiuevb30dvegl6dat0&amp;dl=0" TargetMode="External"/><Relationship Id="rId6" Type="http://schemas.openxmlformats.org/officeDocument/2006/relationships/hyperlink" Target="https://www.dropbox.com/scl/fi/y1jus86qoll93bcegbo2p/Intro_to_RNA-seq_data_analysis.zip?rlkey=soptz05iiuevb30dvegl6dat0&amp;dl=0" TargetMode="External"/><Relationship Id="rId7" Type="http://schemas.openxmlformats.org/officeDocument/2006/relationships/hyperlink" Target="https://www.docker.com/products/docker-desktop/"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1.xml"/><Relationship Id="rId3" Type="http://schemas.openxmlformats.org/officeDocument/2006/relationships/hyperlink" Target="https://nf-co.re/rnaseq"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2.xml"/><Relationship Id="rId3" Type="http://schemas.openxmlformats.org/officeDocument/2006/relationships/hyperlink" Target="https://nf-co.re/rnaseq"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6.xml"/><Relationship Id="rId3" Type="http://schemas.openxmlformats.org/officeDocument/2006/relationships/image" Target="../media/image23.png"/><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8.xml"/><Relationship Id="rId3" Type="http://schemas.openxmlformats.org/officeDocument/2006/relationships/image" Target="../media/image52.png"/><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9.xml"/><Relationship Id="rId3" Type="http://schemas.openxmlformats.org/officeDocument/2006/relationships/image" Target="../media/image19.png"/><Relationship Id="rId4" Type="http://schemas.openxmlformats.org/officeDocument/2006/relationships/image" Target="../media/image34.png"/><Relationship Id="rId5"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0.xml"/><Relationship Id="rId3" Type="http://schemas.openxmlformats.org/officeDocument/2006/relationships/image" Target="../media/image43.png"/><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1.xml"/><Relationship Id="rId3"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3.xml"/><Relationship Id="rId3" Type="http://schemas.openxmlformats.org/officeDocument/2006/relationships/image" Target="../media/image54.png"/><Relationship Id="rId4" Type="http://schemas.openxmlformats.org/officeDocument/2006/relationships/image" Target="../media/image35.png"/><Relationship Id="rId5" Type="http://schemas.openxmlformats.org/officeDocument/2006/relationships/image" Target="../media/image29.png"/><Relationship Id="rId6" Type="http://schemas.openxmlformats.org/officeDocument/2006/relationships/image" Target="../media/image49.png"/><Relationship Id="rId7"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5.xml"/><Relationship Id="rId3" Type="http://schemas.openxmlformats.org/officeDocument/2006/relationships/hyperlink" Target="https://www.bioinformatics.babraham.ac.uk/projects/fastqc/good_sequence_short_fastqc.html" TargetMode="External"/><Relationship Id="rId4" Type="http://schemas.openxmlformats.org/officeDocument/2006/relationships/hyperlink" Target="https://www.bioinformatics.babraham.ac.uk/projects/fastqc/good_sequence_short_fastqc.html" TargetMode="External"/><Relationship Id="rId5" Type="http://schemas.openxmlformats.org/officeDocument/2006/relationships/hyperlink" Target="https://www.bioinformatics.babraham.ac.uk/projects/fastqc/bad_sequence_fastqc.html" TargetMode="External"/><Relationship Id="rId6" Type="http://schemas.openxmlformats.org/officeDocument/2006/relationships/hyperlink" Target="https://www.bioinformatics.babraham.ac.uk/projects/fastqc/bad_sequence_fastqc.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7.xml"/><Relationship Id="rId3" Type="http://schemas.openxmlformats.org/officeDocument/2006/relationships/image" Target="../media/image2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8.xml"/><Relationship Id="rId3" Type="http://schemas.openxmlformats.org/officeDocument/2006/relationships/image" Target="../media/image44.png"/><Relationship Id="rId4" Type="http://schemas.openxmlformats.org/officeDocument/2006/relationships/image" Target="../media/image3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9.xml"/><Relationship Id="rId3" Type="http://schemas.openxmlformats.org/officeDocument/2006/relationships/image" Target="../media/image33.png"/><Relationship Id="rId4" Type="http://schemas.openxmlformats.org/officeDocument/2006/relationships/image" Target="../media/image42.png"/><Relationship Id="rId5" Type="http://schemas.openxmlformats.org/officeDocument/2006/relationships/image" Target="../media/image40.png"/><Relationship Id="rId6" Type="http://schemas.openxmlformats.org/officeDocument/2006/relationships/image" Target="../media/image9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2.xml"/><Relationship Id="rId3" Type="http://schemas.openxmlformats.org/officeDocument/2006/relationships/image" Target="../media/image2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7.xml"/><Relationship Id="rId3" Type="http://schemas.openxmlformats.org/officeDocument/2006/relationships/hyperlink" Target="https://wynton.ucsf.edu/hpc/get-started/access-cluster.html" TargetMode="External"/><Relationship Id="rId4" Type="http://schemas.openxmlformats.org/officeDocument/2006/relationships/image" Target="../media/image3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8.xml"/><Relationship Id="rId3" Type="http://schemas.openxmlformats.org/officeDocument/2006/relationships/image" Target="../media/image39.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9.xml"/><Relationship Id="rId3" Type="http://schemas.openxmlformats.org/officeDocument/2006/relationships/image" Target="../media/image3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50.xml"/><Relationship Id="rId3" Type="http://schemas.openxmlformats.org/officeDocument/2006/relationships/image" Target="../media/image4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3.xml"/><Relationship Id="rId3" Type="http://schemas.openxmlformats.org/officeDocument/2006/relationships/hyperlink" Target="https://pmc.ncbi.nlm.nih.gov/articles/PMC4057123" TargetMode="External"/><Relationship Id="rId4" Type="http://schemas.openxmlformats.org/officeDocument/2006/relationships/hyperlink" Target="https://pmc.ncbi.nlm.nih.gov/articles/PMC4057123" TargetMode="External"/><Relationship Id="rId5" Type="http://schemas.openxmlformats.org/officeDocument/2006/relationships/hyperlink" Target="https://pmc.ncbi.nlm.nih.gov/articles/PMC4057123"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5.xml"/><Relationship Id="rId3" Type="http://schemas.openxmlformats.org/officeDocument/2006/relationships/hyperlink" Target="https://www.docker.com/products/docker-desktop/" TargetMode="External"/><Relationship Id="rId4" Type="http://schemas.openxmlformats.org/officeDocument/2006/relationships/hyperlink" Target="https://docs.docker.com/desktop/install/windows-install/" TargetMode="External"/><Relationship Id="rId5" Type="http://schemas.openxmlformats.org/officeDocument/2006/relationships/hyperlink" Target="https://bioinformaticsworkbook.org/dataAcquisition/fileTransfer/sra.html#gsc.tab=0" TargetMode="External"/><Relationship Id="rId6" Type="http://schemas.openxmlformats.org/officeDocument/2006/relationships/hyperlink" Target="https://erilu.github.io/python-fastq-downloader/"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 Id="rId3" Type="http://schemas.openxmlformats.org/officeDocument/2006/relationships/image" Target="../media/image2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62.xml"/><Relationship Id="rId3" Type="http://schemas.openxmlformats.org/officeDocument/2006/relationships/image" Target="../media/image2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63.xml"/><Relationship Id="rId3" Type="http://schemas.openxmlformats.org/officeDocument/2006/relationships/image" Target="../media/image2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64.xml"/><Relationship Id="rId3" Type="http://schemas.openxmlformats.org/officeDocument/2006/relationships/image" Target="../media/image6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65.xml"/><Relationship Id="rId3" Type="http://schemas.openxmlformats.org/officeDocument/2006/relationships/hyperlink" Target="https://www.ncbi.nlm.nih.gov/pmc/articles/PMC7084517/#:~:text=However%2C%20STAR%20has%20a%20higher,among%20all%20compared%20mapping%20tools."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67.xml"/><Relationship Id="rId3" Type="http://schemas.openxmlformats.org/officeDocument/2006/relationships/image" Target="../media/image4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68.xml"/><Relationship Id="rId3" Type="http://schemas.openxmlformats.org/officeDocument/2006/relationships/image" Target="../media/image45.png"/><Relationship Id="rId4" Type="http://schemas.openxmlformats.org/officeDocument/2006/relationships/image" Target="../media/image47.png"/><Relationship Id="rId5" Type="http://schemas.openxmlformats.org/officeDocument/2006/relationships/image" Target="../media/image102.png"/><Relationship Id="rId6" Type="http://schemas.openxmlformats.org/officeDocument/2006/relationships/image" Target="../media/image5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70.xml"/><Relationship Id="rId3" Type="http://schemas.openxmlformats.org/officeDocument/2006/relationships/image" Target="../media/image50.png"/><Relationship Id="rId4" Type="http://schemas.openxmlformats.org/officeDocument/2006/relationships/image" Target="../media/image61.png"/><Relationship Id="rId5" Type="http://schemas.openxmlformats.org/officeDocument/2006/relationships/image" Target="../media/image5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73.xml"/><Relationship Id="rId3" Type="http://schemas.openxmlformats.org/officeDocument/2006/relationships/image" Target="../media/image2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74.xml"/><Relationship Id="rId3" Type="http://schemas.openxmlformats.org/officeDocument/2006/relationships/image" Target="../media/image83.png"/><Relationship Id="rId4" Type="http://schemas.openxmlformats.org/officeDocument/2006/relationships/image" Target="../media/image5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75.xml"/><Relationship Id="rId3" Type="http://schemas.openxmlformats.org/officeDocument/2006/relationships/hyperlink" Target="https://academic.oup.com/bioinformatics/article/30/7/923/232889" TargetMode="External"/><Relationship Id="rId4" Type="http://schemas.openxmlformats.org/officeDocument/2006/relationships/image" Target="../media/image56.png"/><Relationship Id="rId5" Type="http://schemas.openxmlformats.org/officeDocument/2006/relationships/image" Target="../media/image6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76.xml"/><Relationship Id="rId3" Type="http://schemas.openxmlformats.org/officeDocument/2006/relationships/image" Target="../media/image55.png"/><Relationship Id="rId4" Type="http://schemas.openxmlformats.org/officeDocument/2006/relationships/image" Target="../media/image7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77.xml"/><Relationship Id="rId3" Type="http://schemas.openxmlformats.org/officeDocument/2006/relationships/image" Target="../media/image5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79.xml"/><Relationship Id="rId3" Type="http://schemas.openxmlformats.org/officeDocument/2006/relationships/image" Target="../media/image24.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81.xml"/><Relationship Id="rId3" Type="http://schemas.openxmlformats.org/officeDocument/2006/relationships/hyperlink" Target="mailto:bioinformatics@gladstone.ucsf.edu"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82.xml"/><Relationship Id="rId3" Type="http://schemas.openxmlformats.org/officeDocument/2006/relationships/hyperlink" Target="https://nf-co.re/rnaseq"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86.xml"/><Relationship Id="rId3" Type="http://schemas.openxmlformats.org/officeDocument/2006/relationships/comments" Target="../comments/comment2.xml"/><Relationship Id="rId4" Type="http://schemas.openxmlformats.org/officeDocument/2006/relationships/hyperlink" Target="https://github.com/gladstone-institutes/Bioinformatics-Workshops/blob/master/intro-rna-seq/%5BSpring%202026%5D%20Introduction%20to%20RNA-seq%20analysis%20Workshop.pptx?raw=true" TargetMode="External"/><Relationship Id="rId5" Type="http://schemas.openxmlformats.org/officeDocument/2006/relationships/hyperlink" Target="https://www.dropbox.com/scl/fi/y1jus86qoll93bcegbo2p/Intro_to_RNA-seq_data_analysis.zip?rlkey=soptz05iiuevb30dvegl6dat0&amp;dl=0" TargetMode="External"/><Relationship Id="rId6" Type="http://schemas.openxmlformats.org/officeDocument/2006/relationships/hyperlink" Target="https://www.dropbox.com/scl/fi/y1jus86qoll93bcegbo2p/Intro_to_RNA-seq_data_analysis.zip?rlkey=soptz05iiuevb30dvegl6dat0&amp;dl=0"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9.xml"/><Relationship Id="rId3" Type="http://schemas.openxmlformats.org/officeDocument/2006/relationships/image" Target="../media/image58.png"/><Relationship Id="rId4" Type="http://schemas.openxmlformats.org/officeDocument/2006/relationships/image" Target="../media/image7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2.xml"/><Relationship Id="rId3" Type="http://schemas.openxmlformats.org/officeDocument/2006/relationships/image" Target="../media/image6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3.xml"/><Relationship Id="rId3" Type="http://schemas.openxmlformats.org/officeDocument/2006/relationships/image" Target="../media/image63.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5.xml"/><Relationship Id="rId3" Type="http://schemas.openxmlformats.org/officeDocument/2006/relationships/image" Target="../media/image64.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6.xml"/><Relationship Id="rId3" Type="http://schemas.openxmlformats.org/officeDocument/2006/relationships/image" Target="../media/image105.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7.xml"/><Relationship Id="rId3" Type="http://schemas.openxmlformats.org/officeDocument/2006/relationships/image" Target="../media/image68.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8.xml"/><Relationship Id="rId3" Type="http://schemas.openxmlformats.org/officeDocument/2006/relationships/image" Target="../media/image63.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9.xml"/><Relationship Id="rId3" Type="http://schemas.openxmlformats.org/officeDocument/2006/relationships/image" Target="../media/image71.png"/><Relationship Id="rId4" Type="http://schemas.openxmlformats.org/officeDocument/2006/relationships/image" Target="../media/image66.png"/><Relationship Id="rId5" Type="http://schemas.openxmlformats.org/officeDocument/2006/relationships/image" Target="../media/image65.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2.xml"/><Relationship Id="rId3" Type="http://schemas.openxmlformats.org/officeDocument/2006/relationships/image" Target="../media/image106.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3.xml"/><Relationship Id="rId3" Type="http://schemas.openxmlformats.org/officeDocument/2006/relationships/image" Target="../media/image11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4.xml"/><Relationship Id="rId3" Type="http://schemas.openxmlformats.org/officeDocument/2006/relationships/image" Target="../media/image74.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7.xml"/><Relationship Id="rId3" Type="http://schemas.openxmlformats.org/officeDocument/2006/relationships/image" Target="../media/image75.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8.xml"/><Relationship Id="rId3" Type="http://schemas.openxmlformats.org/officeDocument/2006/relationships/image" Target="../media/image69.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9.xml"/><Relationship Id="rId3" Type="http://schemas.openxmlformats.org/officeDocument/2006/relationships/image" Target="../media/image70.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2.xml"/><Relationship Id="rId3" Type="http://schemas.openxmlformats.org/officeDocument/2006/relationships/image" Target="../media/image73.jp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3.xml"/><Relationship Id="rId3" Type="http://schemas.openxmlformats.org/officeDocument/2006/relationships/image" Target="../media/image76.png"/><Relationship Id="rId4" Type="http://schemas.openxmlformats.org/officeDocument/2006/relationships/hyperlink" Target="https://dx.doi.org/10.1093%2Fbib%2Fbbx008" TargetMode="External"/><Relationship Id="rId5" Type="http://schemas.openxmlformats.org/officeDocument/2006/relationships/image" Target="../media/image97.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4.xml"/><Relationship Id="rId3" Type="http://schemas.openxmlformats.org/officeDocument/2006/relationships/image" Target="../media/image88.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6.xml"/><Relationship Id="rId3" Type="http://schemas.openxmlformats.org/officeDocument/2006/relationships/image" Target="../media/image82.png"/><Relationship Id="rId4" Type="http://schemas.openxmlformats.org/officeDocument/2006/relationships/image" Target="../media/image78.png"/><Relationship Id="rId5" Type="http://schemas.openxmlformats.org/officeDocument/2006/relationships/image" Target="../media/image79.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7.xml"/><Relationship Id="rId3" Type="http://schemas.openxmlformats.org/officeDocument/2006/relationships/hyperlink" Target="https://bioconductor.org/packages/devel/bioc/vignettes/DESeq2/inst/doc/DESeq2.html" TargetMode="External"/><Relationship Id="rId4" Type="http://schemas.openxmlformats.org/officeDocument/2006/relationships/hyperlink" Target="https://bioconductor.org/packages/release/bioc/html/RUVSeq.html" TargetMode="Externa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2.xml"/><Relationship Id="rId3" Type="http://schemas.openxmlformats.org/officeDocument/2006/relationships/hyperlink" Target="https://genome.cshlp.org/content/18/9/1509" TargetMode="External"/><Relationship Id="rId4" Type="http://schemas.openxmlformats.org/officeDocument/2006/relationships/hyperlink" Target="https://genome.cshlp.org/content/18/9/1509" TargetMode="External"/><Relationship Id="rId5" Type="http://schemas.openxmlformats.org/officeDocument/2006/relationships/hyperlink" Target="https://genome.cshlp.org/content/18/9/1509" TargetMode="External"/><Relationship Id="rId6" Type="http://schemas.openxmlformats.org/officeDocument/2006/relationships/image" Target="../media/image80.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3.xml"/><Relationship Id="rId3" Type="http://schemas.openxmlformats.org/officeDocument/2006/relationships/image" Target="../media/image87.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6.xml"/><Relationship Id="rId3" Type="http://schemas.openxmlformats.org/officeDocument/2006/relationships/image" Target="../media/image104.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7.xml"/><Relationship Id="rId3" Type="http://schemas.openxmlformats.org/officeDocument/2006/relationships/image" Target="../media/image84.png"/><Relationship Id="rId4" Type="http://schemas.openxmlformats.org/officeDocument/2006/relationships/image" Target="../media/image89.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2.xml"/><Relationship Id="rId3" Type="http://schemas.openxmlformats.org/officeDocument/2006/relationships/image" Target="../media/image100.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33.xml"/><Relationship Id="rId3" Type="http://schemas.openxmlformats.org/officeDocument/2006/relationships/image" Target="../media/image96.png"/><Relationship Id="rId4" Type="http://schemas.openxmlformats.org/officeDocument/2006/relationships/image" Target="../media/image72.png"/><Relationship Id="rId5" Type="http://schemas.openxmlformats.org/officeDocument/2006/relationships/image" Target="../media/image79.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5.xml"/><Relationship Id="rId3" Type="http://schemas.openxmlformats.org/officeDocument/2006/relationships/image" Target="../media/image63.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6.xml"/><Relationship Id="rId3" Type="http://schemas.openxmlformats.org/officeDocument/2006/relationships/image" Target="../media/image91.png"/><Relationship Id="rId4" Type="http://schemas.openxmlformats.org/officeDocument/2006/relationships/image" Target="../media/image93.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9.xml"/><Relationship Id="rId3" Type="http://schemas.openxmlformats.org/officeDocument/2006/relationships/hyperlink" Target="https://www.dropbox.com/scl/fi/hyk0n0egz3rlxonuai6t7/Bioinformatics-Core-AI-Position-Paper-v1.0.pdf?rlkey=1gq3icconjym6jejm6aayrvup&amp;dl=0" TargetMode="External"/><Relationship Id="rId4" Type="http://schemas.openxmlformats.org/officeDocument/2006/relationships/hyperlink" Target="mailto:bioinformatics@gladstone.ucsf.edu" TargetMode="Externa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40.xml"/><Relationship Id="rId3" Type="http://schemas.openxmlformats.org/officeDocument/2006/relationships/hyperlink" Target="https://gladstone.org/events?series=data-science-training-program" TargetMode="Externa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2.xml"/><Relationship Id="rId3" Type="http://schemas.openxmlformats.org/officeDocument/2006/relationships/image" Target="../media/image22.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44.xml"/><Relationship Id="rId3" Type="http://schemas.openxmlformats.org/officeDocument/2006/relationships/hyperlink" Target="https://bacteria.ensembl.org/index.html" TargetMode="External"/><Relationship Id="rId4" Type="http://schemas.openxmlformats.org/officeDocument/2006/relationships/hyperlink" Target="https://groups.google.com/g/rna-star/c/FGQRotrCB1Q" TargetMode="External"/><Relationship Id="rId5" Type="http://schemas.openxmlformats.org/officeDocument/2006/relationships/hyperlink" Target="https://cutadapt.readthedocs.io/en/stable/guide.html#adapter-types" TargetMode="Externa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45.xml"/><Relationship Id="rId3" Type="http://schemas.openxmlformats.org/officeDocument/2006/relationships/hyperlink" Target="https://gladstoneinstitutes.slack.com/archives/C0145F1L7QS" TargetMode="Externa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46.xml"/><Relationship Id="rId3" Type="http://schemas.openxmlformats.org/officeDocument/2006/relationships/hyperlink" Target="https://bacteria.ensembl.org/index.html" TargetMode="External"/><Relationship Id="rId4" Type="http://schemas.openxmlformats.org/officeDocument/2006/relationships/hyperlink" Target="https://groups.google.com/g/rna-star/c/FGQRotrCB1Q" TargetMode="External"/><Relationship Id="rId5" Type="http://schemas.openxmlformats.org/officeDocument/2006/relationships/hyperlink" Target="https://cutadapt.readthedocs.io/en/stable/guide.html#adapter-types" TargetMode="Externa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48.xml"/><Relationship Id="rId3" Type="http://schemas.openxmlformats.org/officeDocument/2006/relationships/hyperlink" Target="https://stackexchange.com/sites" TargetMode="Externa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49.xml"/><Relationship Id="rId3" Type="http://schemas.openxmlformats.org/officeDocument/2006/relationships/hyperlink" Target="https://gladstoneinstitutes.us10.list-manage.com/track/click?u=1a62a392ffda799ebdf0313d3&amp;id=f8f7a65295&amp;e=0b7c96b1c4" TargetMode="Externa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1.xml"/><Relationship Id="rId3" Type="http://schemas.openxmlformats.org/officeDocument/2006/relationships/image" Target="../media/image58.png"/><Relationship Id="rId4" Type="http://schemas.openxmlformats.org/officeDocument/2006/relationships/image" Target="../media/image92.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2.xml"/><Relationship Id="rId3" Type="http://schemas.openxmlformats.org/officeDocument/2006/relationships/image" Target="../media/image92.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3.xml"/><Relationship Id="rId3" Type="http://schemas.openxmlformats.org/officeDocument/2006/relationships/image" Target="../media/image90.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5.xml"/><Relationship Id="rId3" Type="http://schemas.openxmlformats.org/officeDocument/2006/relationships/image" Target="../media/image94.png"/><Relationship Id="rId4" Type="http://schemas.openxmlformats.org/officeDocument/2006/relationships/image" Target="../media/image101.png"/><Relationship Id="rId5" Type="http://schemas.openxmlformats.org/officeDocument/2006/relationships/image" Target="../media/image99.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6.xml"/><Relationship Id="rId3" Type="http://schemas.openxmlformats.org/officeDocument/2006/relationships/image" Target="../media/image95.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7.xml"/><Relationship Id="rId3" Type="http://schemas.openxmlformats.org/officeDocument/2006/relationships/image" Target="../media/image103.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58.xml"/><Relationship Id="rId3"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61"/>
          <p:cNvSpPr txBox="1"/>
          <p:nvPr>
            <p:ph type="ctrTitle"/>
          </p:nvPr>
        </p:nvSpPr>
        <p:spPr>
          <a:xfrm>
            <a:off x="1143000" y="536972"/>
            <a:ext cx="6858000" cy="1790700"/>
          </a:xfrm>
          <a:prstGeom prst="rect">
            <a:avLst/>
          </a:prstGeom>
          <a:noFill/>
          <a:ln>
            <a:noFill/>
          </a:ln>
        </p:spPr>
        <p:txBody>
          <a:bodyPr anchorCtr="0" anchor="b" bIns="0" lIns="0" spcFirstLastPara="1" rIns="0" wrap="square" tIns="0">
            <a:normAutofit/>
          </a:bodyPr>
          <a:lstStyle/>
          <a:p>
            <a:pPr indent="0" lvl="0" marL="0" rtl="0" algn="ctr">
              <a:spcBef>
                <a:spcPts val="0"/>
              </a:spcBef>
              <a:spcAft>
                <a:spcPts val="0"/>
              </a:spcAft>
              <a:buClr>
                <a:schemeClr val="lt1"/>
              </a:buClr>
              <a:buSzPts val="6000"/>
              <a:buFont typeface="Arial"/>
              <a:buNone/>
            </a:pPr>
            <a:r>
              <a:rPr lang="en"/>
              <a:t>Library preparation</a:t>
            </a:r>
            <a:endParaRPr/>
          </a:p>
        </p:txBody>
      </p:sp>
      <p:sp>
        <p:nvSpPr>
          <p:cNvPr id="224" name="Google Shape;224;p61"/>
          <p:cNvSpPr txBox="1"/>
          <p:nvPr>
            <p:ph idx="1" type="subTitle"/>
          </p:nvPr>
        </p:nvSpPr>
        <p:spPr>
          <a:xfrm>
            <a:off x="1143000" y="2839803"/>
            <a:ext cx="6858000" cy="1241700"/>
          </a:xfrm>
          <a:prstGeom prst="rect">
            <a:avLst/>
          </a:prstGeom>
          <a:noFill/>
          <a:ln>
            <a:noFill/>
          </a:ln>
        </p:spPr>
        <p:txBody>
          <a:bodyPr anchorCtr="0" anchor="t" bIns="0" lIns="0" spcFirstLastPara="1" rIns="0" wrap="square" tIns="0">
            <a:normAutofit/>
          </a:bodyPr>
          <a:lstStyle/>
          <a:p>
            <a:pPr indent="0" lvl="0" marL="0" rtl="0" algn="ctr">
              <a:lnSpc>
                <a:spcPct val="90000"/>
              </a:lnSpc>
              <a:spcBef>
                <a:spcPts val="0"/>
              </a:spcBef>
              <a:spcAft>
                <a:spcPts val="0"/>
              </a:spcAft>
              <a:buClr>
                <a:schemeClr val="lt1"/>
              </a:buClr>
              <a:buSzPts val="2100"/>
              <a:buNone/>
            </a:pPr>
            <a:r>
              <a:rPr lang="en">
                <a:solidFill>
                  <a:schemeClr val="accent2"/>
                </a:solidFill>
              </a:rPr>
              <a:t>Please revise slides 2-8 before the workshop</a:t>
            </a:r>
            <a:endParaRPr>
              <a:solidFill>
                <a:schemeClr val="accen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62"/>
          <p:cNvSpPr txBox="1"/>
          <p:nvPr>
            <p:ph type="title"/>
          </p:nvPr>
        </p:nvSpPr>
        <p:spPr>
          <a:xfrm>
            <a:off x="205725" y="66591"/>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RNA-seq - experiment</a:t>
            </a:r>
            <a:endParaRPr/>
          </a:p>
        </p:txBody>
      </p:sp>
      <p:pic>
        <p:nvPicPr>
          <p:cNvPr id="230" name="Google Shape;230;p62"/>
          <p:cNvPicPr preferRelativeResize="0"/>
          <p:nvPr/>
        </p:nvPicPr>
        <p:blipFill>
          <a:blip r:embed="rId3">
            <a:alphaModFix/>
          </a:blip>
          <a:stretch>
            <a:fillRect/>
          </a:stretch>
        </p:blipFill>
        <p:spPr>
          <a:xfrm>
            <a:off x="1140225" y="863766"/>
            <a:ext cx="6701295" cy="3871859"/>
          </a:xfrm>
          <a:prstGeom prst="rect">
            <a:avLst/>
          </a:prstGeom>
          <a:noFill/>
          <a:ln>
            <a:noFill/>
          </a:ln>
        </p:spPr>
      </p:pic>
      <p:sp>
        <p:nvSpPr>
          <p:cNvPr id="231" name="Google Shape;231;p62"/>
          <p:cNvSpPr txBox="1"/>
          <p:nvPr/>
        </p:nvSpPr>
        <p:spPr>
          <a:xfrm>
            <a:off x="4836925" y="4735625"/>
            <a:ext cx="42240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https://www.wikiwand.com/en/RNA-Seq</a:t>
            </a:r>
            <a:endParaRPr/>
          </a:p>
        </p:txBody>
      </p:sp>
      <p:sp>
        <p:nvSpPr>
          <p:cNvPr id="232" name="Google Shape;232;p62"/>
          <p:cNvSpPr/>
          <p:nvPr/>
        </p:nvSpPr>
        <p:spPr>
          <a:xfrm>
            <a:off x="1079100" y="759350"/>
            <a:ext cx="2292300" cy="1561800"/>
          </a:xfrm>
          <a:prstGeom prst="rect">
            <a:avLst/>
          </a:prstGeom>
          <a:no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62"/>
          <p:cNvSpPr txBox="1"/>
          <p:nvPr/>
        </p:nvSpPr>
        <p:spPr>
          <a:xfrm>
            <a:off x="3024825" y="4199050"/>
            <a:ext cx="2220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t>mean length of 300 bp (typically ranging 200–700 bp</a:t>
            </a:r>
            <a:endParaRPr sz="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id="238" name="Google Shape;238;p63"/>
          <p:cNvPicPr preferRelativeResize="0"/>
          <p:nvPr/>
        </p:nvPicPr>
        <p:blipFill>
          <a:blip r:embed="rId3">
            <a:alphaModFix/>
          </a:blip>
          <a:stretch>
            <a:fillRect/>
          </a:stretch>
        </p:blipFill>
        <p:spPr>
          <a:xfrm>
            <a:off x="83650" y="520800"/>
            <a:ext cx="6979849" cy="4042976"/>
          </a:xfrm>
          <a:prstGeom prst="rect">
            <a:avLst/>
          </a:prstGeom>
          <a:noFill/>
          <a:ln>
            <a:noFill/>
          </a:ln>
        </p:spPr>
      </p:pic>
      <p:sp>
        <p:nvSpPr>
          <p:cNvPr id="239" name="Google Shape;239;p63"/>
          <p:cNvSpPr txBox="1"/>
          <p:nvPr>
            <p:ph type="title"/>
          </p:nvPr>
        </p:nvSpPr>
        <p:spPr>
          <a:xfrm>
            <a:off x="152400" y="76200"/>
            <a:ext cx="91440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sz="3000">
                <a:latin typeface="Arial"/>
                <a:ea typeface="Arial"/>
                <a:cs typeface="Arial"/>
                <a:sym typeface="Arial"/>
              </a:rPr>
              <a:t>How does the bulk-RNA-seq technology work?</a:t>
            </a:r>
            <a:endParaRPr sz="300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64"/>
          <p:cNvSpPr txBox="1"/>
          <p:nvPr>
            <p:ph type="title"/>
          </p:nvPr>
        </p:nvSpPr>
        <p:spPr>
          <a:xfrm>
            <a:off x="83650" y="0"/>
            <a:ext cx="91440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Flow cell organization for sequencing</a:t>
            </a:r>
            <a:endParaRPr/>
          </a:p>
        </p:txBody>
      </p:sp>
      <p:pic>
        <p:nvPicPr>
          <p:cNvPr id="245" name="Google Shape;245;p64"/>
          <p:cNvPicPr preferRelativeResize="0"/>
          <p:nvPr/>
        </p:nvPicPr>
        <p:blipFill>
          <a:blip r:embed="rId3">
            <a:alphaModFix/>
          </a:blip>
          <a:stretch>
            <a:fillRect/>
          </a:stretch>
        </p:blipFill>
        <p:spPr>
          <a:xfrm>
            <a:off x="3570199" y="2047125"/>
            <a:ext cx="5437051" cy="2847275"/>
          </a:xfrm>
          <a:prstGeom prst="rect">
            <a:avLst/>
          </a:prstGeom>
          <a:noFill/>
          <a:ln>
            <a:noFill/>
          </a:ln>
        </p:spPr>
      </p:pic>
      <p:pic>
        <p:nvPicPr>
          <p:cNvPr id="246" name="Google Shape;246;p64"/>
          <p:cNvPicPr preferRelativeResize="0"/>
          <p:nvPr/>
        </p:nvPicPr>
        <p:blipFill>
          <a:blip r:embed="rId4">
            <a:alphaModFix/>
          </a:blip>
          <a:stretch>
            <a:fillRect/>
          </a:stretch>
        </p:blipFill>
        <p:spPr>
          <a:xfrm>
            <a:off x="623775" y="3233450"/>
            <a:ext cx="1792500" cy="1660950"/>
          </a:xfrm>
          <a:prstGeom prst="rect">
            <a:avLst/>
          </a:prstGeom>
          <a:noFill/>
          <a:ln>
            <a:noFill/>
          </a:ln>
        </p:spPr>
      </p:pic>
      <p:sp>
        <p:nvSpPr>
          <p:cNvPr id="247" name="Google Shape;247;p64"/>
          <p:cNvSpPr txBox="1"/>
          <p:nvPr/>
        </p:nvSpPr>
        <p:spPr>
          <a:xfrm>
            <a:off x="3473375" y="1245675"/>
            <a:ext cx="4994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dk1"/>
                </a:solidFill>
              </a:rPr>
              <a:t>cDNA library is applied to a flow cell</a:t>
            </a:r>
            <a:endParaRPr sz="100">
              <a:solidFill>
                <a:schemeClr val="dk1"/>
              </a:solidFill>
            </a:endParaRPr>
          </a:p>
        </p:txBody>
      </p:sp>
      <p:pic>
        <p:nvPicPr>
          <p:cNvPr id="248" name="Google Shape;248;p64"/>
          <p:cNvPicPr preferRelativeResize="0"/>
          <p:nvPr/>
        </p:nvPicPr>
        <p:blipFill>
          <a:blip r:embed="rId5">
            <a:alphaModFix/>
          </a:blip>
          <a:stretch>
            <a:fillRect/>
          </a:stretch>
        </p:blipFill>
        <p:spPr>
          <a:xfrm>
            <a:off x="367700" y="736800"/>
            <a:ext cx="4337650" cy="21027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65"/>
          <p:cNvSpPr txBox="1"/>
          <p:nvPr>
            <p:ph type="title"/>
          </p:nvPr>
        </p:nvSpPr>
        <p:spPr>
          <a:xfrm>
            <a:off x="83650" y="0"/>
            <a:ext cx="91440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Fragments preparation for the sequencer</a:t>
            </a:r>
            <a:endParaRPr/>
          </a:p>
        </p:txBody>
      </p:sp>
      <p:pic>
        <p:nvPicPr>
          <p:cNvPr id="254" name="Google Shape;254;p65"/>
          <p:cNvPicPr preferRelativeResize="0"/>
          <p:nvPr/>
        </p:nvPicPr>
        <p:blipFill>
          <a:blip r:embed="rId3">
            <a:alphaModFix/>
          </a:blip>
          <a:stretch>
            <a:fillRect/>
          </a:stretch>
        </p:blipFill>
        <p:spPr>
          <a:xfrm>
            <a:off x="152400" y="889200"/>
            <a:ext cx="8839200" cy="399973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66"/>
          <p:cNvSpPr txBox="1"/>
          <p:nvPr>
            <p:ph type="title"/>
          </p:nvPr>
        </p:nvSpPr>
        <p:spPr>
          <a:xfrm>
            <a:off x="83650" y="0"/>
            <a:ext cx="9144000" cy="7368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sz="2800">
                <a:solidFill>
                  <a:srgbClr val="1155CC"/>
                </a:solidFill>
                <a:latin typeface="Arial"/>
                <a:ea typeface="Arial"/>
                <a:cs typeface="Arial"/>
                <a:sym typeface="Arial"/>
              </a:rPr>
              <a:t>DNA fragments immobilized on flow cell &amp; amplified into clonal clusters</a:t>
            </a:r>
            <a:endParaRPr>
              <a:solidFill>
                <a:srgbClr val="1155CC"/>
              </a:solidFill>
            </a:endParaRPr>
          </a:p>
        </p:txBody>
      </p:sp>
      <p:pic>
        <p:nvPicPr>
          <p:cNvPr id="260" name="Google Shape;260;p66"/>
          <p:cNvPicPr preferRelativeResize="0"/>
          <p:nvPr/>
        </p:nvPicPr>
        <p:blipFill>
          <a:blip r:embed="rId3">
            <a:alphaModFix/>
          </a:blip>
          <a:stretch>
            <a:fillRect/>
          </a:stretch>
        </p:blipFill>
        <p:spPr>
          <a:xfrm>
            <a:off x="152400" y="736800"/>
            <a:ext cx="5354443" cy="4101899"/>
          </a:xfrm>
          <a:prstGeom prst="rect">
            <a:avLst/>
          </a:prstGeom>
          <a:noFill/>
          <a:ln>
            <a:noFill/>
          </a:ln>
        </p:spPr>
      </p:pic>
      <p:sp>
        <p:nvSpPr>
          <p:cNvPr id="261" name="Google Shape;261;p66"/>
          <p:cNvSpPr txBox="1"/>
          <p:nvPr/>
        </p:nvSpPr>
        <p:spPr>
          <a:xfrm>
            <a:off x="0" y="4652400"/>
            <a:ext cx="7335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666666"/>
                </a:solidFill>
              </a:rPr>
              <a:t>From DOI: 10.5772/61657 and https://www.illumina.com/content/dam/illumina-marketing/documents/products/illumina_sequencing_introduction.pdf</a:t>
            </a:r>
            <a:endParaRPr sz="1000">
              <a:solidFill>
                <a:srgbClr val="666666"/>
              </a:solidFill>
            </a:endParaRPr>
          </a:p>
          <a:p>
            <a:pPr indent="0" lvl="0" marL="0" rtl="0" algn="l">
              <a:spcBef>
                <a:spcPts val="0"/>
              </a:spcBef>
              <a:spcAft>
                <a:spcPts val="0"/>
              </a:spcAft>
              <a:buNone/>
            </a:pPr>
            <a:r>
              <a:t/>
            </a:r>
            <a:endParaRPr sz="1000">
              <a:solidFill>
                <a:srgbClr val="666666"/>
              </a:solidFill>
            </a:endParaRPr>
          </a:p>
        </p:txBody>
      </p:sp>
      <p:pic>
        <p:nvPicPr>
          <p:cNvPr id="262" name="Google Shape;262;p66"/>
          <p:cNvPicPr preferRelativeResize="0"/>
          <p:nvPr/>
        </p:nvPicPr>
        <p:blipFill>
          <a:blip r:embed="rId4">
            <a:alphaModFix/>
          </a:blip>
          <a:stretch>
            <a:fillRect/>
          </a:stretch>
        </p:blipFill>
        <p:spPr>
          <a:xfrm>
            <a:off x="5730868" y="1906450"/>
            <a:ext cx="3332357" cy="2991757"/>
          </a:xfrm>
          <a:prstGeom prst="rect">
            <a:avLst/>
          </a:prstGeom>
          <a:noFill/>
          <a:ln>
            <a:noFill/>
          </a:ln>
        </p:spPr>
      </p:pic>
      <p:sp>
        <p:nvSpPr>
          <p:cNvPr id="263" name="Google Shape;263;p66"/>
          <p:cNvSpPr txBox="1"/>
          <p:nvPr/>
        </p:nvSpPr>
        <p:spPr>
          <a:xfrm>
            <a:off x="2232075" y="2814375"/>
            <a:ext cx="873300" cy="400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Helvetica Neue"/>
              <a:ea typeface="Helvetica Neue"/>
              <a:cs typeface="Helvetica Neue"/>
              <a:sym typeface="Helvetica Neue"/>
            </a:endParaRPr>
          </a:p>
        </p:txBody>
      </p:sp>
      <p:pic>
        <p:nvPicPr>
          <p:cNvPr id="264" name="Google Shape;264;p66"/>
          <p:cNvPicPr preferRelativeResize="0"/>
          <p:nvPr/>
        </p:nvPicPr>
        <p:blipFill>
          <a:blip r:embed="rId5">
            <a:alphaModFix/>
          </a:blip>
          <a:stretch>
            <a:fillRect/>
          </a:stretch>
        </p:blipFill>
        <p:spPr>
          <a:xfrm>
            <a:off x="2308275" y="2786166"/>
            <a:ext cx="744100" cy="414375"/>
          </a:xfrm>
          <a:prstGeom prst="rect">
            <a:avLst/>
          </a:prstGeom>
          <a:noFill/>
          <a:ln>
            <a:noFill/>
          </a:ln>
        </p:spPr>
      </p:pic>
      <p:sp>
        <p:nvSpPr>
          <p:cNvPr id="265" name="Google Shape;265;p66"/>
          <p:cNvSpPr txBox="1"/>
          <p:nvPr/>
        </p:nvSpPr>
        <p:spPr>
          <a:xfrm>
            <a:off x="4046125" y="2814375"/>
            <a:ext cx="744000" cy="2463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400">
              <a:latin typeface="Helvetica Neue"/>
              <a:ea typeface="Helvetica Neue"/>
              <a:cs typeface="Helvetica Neue"/>
              <a:sym typeface="Helvetica Neue"/>
            </a:endParaRPr>
          </a:p>
        </p:txBody>
      </p:sp>
      <p:pic>
        <p:nvPicPr>
          <p:cNvPr id="266" name="Google Shape;266;p66"/>
          <p:cNvPicPr preferRelativeResize="0"/>
          <p:nvPr/>
        </p:nvPicPr>
        <p:blipFill>
          <a:blip r:embed="rId6">
            <a:alphaModFix/>
          </a:blip>
          <a:stretch>
            <a:fillRect/>
          </a:stretch>
        </p:blipFill>
        <p:spPr>
          <a:xfrm>
            <a:off x="3771298" y="2814375"/>
            <a:ext cx="1036575" cy="320672"/>
          </a:xfrm>
          <a:prstGeom prst="rect">
            <a:avLst/>
          </a:prstGeom>
          <a:noFill/>
          <a:ln>
            <a:noFill/>
          </a:ln>
        </p:spPr>
      </p:pic>
      <p:pic>
        <p:nvPicPr>
          <p:cNvPr id="267" name="Google Shape;267;p66"/>
          <p:cNvPicPr preferRelativeResize="0"/>
          <p:nvPr/>
        </p:nvPicPr>
        <p:blipFill>
          <a:blip r:embed="rId7">
            <a:alphaModFix/>
          </a:blip>
          <a:stretch>
            <a:fillRect/>
          </a:stretch>
        </p:blipFill>
        <p:spPr>
          <a:xfrm>
            <a:off x="659138" y="4370735"/>
            <a:ext cx="744100" cy="281665"/>
          </a:xfrm>
          <a:prstGeom prst="rect">
            <a:avLst/>
          </a:prstGeom>
          <a:noFill/>
          <a:ln>
            <a:noFill/>
          </a:ln>
        </p:spPr>
      </p:pic>
      <p:sp>
        <p:nvSpPr>
          <p:cNvPr id="268" name="Google Shape;268;p66"/>
          <p:cNvSpPr/>
          <p:nvPr/>
        </p:nvSpPr>
        <p:spPr>
          <a:xfrm>
            <a:off x="646975" y="2830550"/>
            <a:ext cx="873300" cy="171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66"/>
          <p:cNvSpPr/>
          <p:nvPr/>
        </p:nvSpPr>
        <p:spPr>
          <a:xfrm>
            <a:off x="3231150" y="1608125"/>
            <a:ext cx="873300" cy="171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0" name="Google Shape;270;p66"/>
          <p:cNvPicPr preferRelativeResize="0"/>
          <p:nvPr/>
        </p:nvPicPr>
        <p:blipFill>
          <a:blip r:embed="rId8">
            <a:alphaModFix/>
          </a:blip>
          <a:stretch>
            <a:fillRect/>
          </a:stretch>
        </p:blipFill>
        <p:spPr>
          <a:xfrm>
            <a:off x="695826" y="2773525"/>
            <a:ext cx="670724" cy="291325"/>
          </a:xfrm>
          <a:prstGeom prst="rect">
            <a:avLst/>
          </a:prstGeom>
          <a:noFill/>
          <a:ln>
            <a:noFill/>
          </a:ln>
        </p:spPr>
      </p:pic>
      <p:pic>
        <p:nvPicPr>
          <p:cNvPr id="271" name="Google Shape;271;p66"/>
          <p:cNvPicPr preferRelativeResize="0"/>
          <p:nvPr/>
        </p:nvPicPr>
        <p:blipFill>
          <a:blip r:embed="rId9">
            <a:alphaModFix/>
          </a:blip>
          <a:stretch>
            <a:fillRect/>
          </a:stretch>
        </p:blipFill>
        <p:spPr>
          <a:xfrm>
            <a:off x="3231158" y="1548263"/>
            <a:ext cx="1036575" cy="291325"/>
          </a:xfrm>
          <a:prstGeom prst="rect">
            <a:avLst/>
          </a:prstGeom>
          <a:noFill/>
          <a:ln>
            <a:noFill/>
          </a:ln>
        </p:spPr>
      </p:pic>
      <p:sp>
        <p:nvSpPr>
          <p:cNvPr id="272" name="Google Shape;272;p66"/>
          <p:cNvSpPr txBox="1"/>
          <p:nvPr/>
        </p:nvSpPr>
        <p:spPr>
          <a:xfrm>
            <a:off x="3060750" y="652000"/>
            <a:ext cx="1938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Helvetica Neue"/>
                <a:ea typeface="Helvetica Neue"/>
                <a:cs typeface="Helvetica Neue"/>
                <a:sym typeface="Helvetica Neue"/>
              </a:rPr>
              <a:t>ds cDNA &gt; ss cDNA</a:t>
            </a:r>
            <a:endParaRPr>
              <a:latin typeface="Helvetica Neue"/>
              <a:ea typeface="Helvetica Neue"/>
              <a:cs typeface="Helvetica Neue"/>
              <a:sym typeface="Helvetica Neue"/>
            </a:endParaRPr>
          </a:p>
        </p:txBody>
      </p:sp>
      <p:pic>
        <p:nvPicPr>
          <p:cNvPr id="273" name="Google Shape;273;p66"/>
          <p:cNvPicPr preferRelativeResize="0"/>
          <p:nvPr/>
        </p:nvPicPr>
        <p:blipFill>
          <a:blip r:embed="rId10">
            <a:alphaModFix/>
          </a:blip>
          <a:stretch>
            <a:fillRect/>
          </a:stretch>
        </p:blipFill>
        <p:spPr>
          <a:xfrm>
            <a:off x="5178975" y="736800"/>
            <a:ext cx="3653722" cy="400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67"/>
          <p:cNvSpPr txBox="1"/>
          <p:nvPr>
            <p:ph type="title"/>
          </p:nvPr>
        </p:nvSpPr>
        <p:spPr>
          <a:xfrm>
            <a:off x="118872" y="0"/>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Types of sequencing</a:t>
            </a:r>
            <a:endParaRPr/>
          </a:p>
        </p:txBody>
      </p:sp>
      <p:sp>
        <p:nvSpPr>
          <p:cNvPr id="279" name="Google Shape;279;p67"/>
          <p:cNvSpPr txBox="1"/>
          <p:nvPr>
            <p:ph idx="1" type="body"/>
          </p:nvPr>
        </p:nvSpPr>
        <p:spPr>
          <a:xfrm>
            <a:off x="628650" y="3162650"/>
            <a:ext cx="3731400" cy="1628400"/>
          </a:xfrm>
          <a:prstGeom prst="rect">
            <a:avLst/>
          </a:prstGeom>
        </p:spPr>
        <p:txBody>
          <a:bodyPr anchorCtr="0" anchor="t" bIns="0" lIns="0" spcFirstLastPara="1" rIns="0" wrap="square" tIns="0">
            <a:normAutofit/>
          </a:bodyPr>
          <a:lstStyle/>
          <a:p>
            <a:pPr indent="-323850" lvl="0" marL="457200" rtl="0" algn="l">
              <a:spcBef>
                <a:spcPts val="800"/>
              </a:spcBef>
              <a:spcAft>
                <a:spcPts val="0"/>
              </a:spcAft>
              <a:buSzPts val="1500"/>
              <a:buFont typeface="Arial"/>
              <a:buChar char="●"/>
            </a:pPr>
            <a:r>
              <a:rPr lang="en" sz="1500">
                <a:latin typeface="Arial"/>
                <a:ea typeface="Arial"/>
                <a:cs typeface="Arial"/>
                <a:sym typeface="Arial"/>
              </a:rPr>
              <a:t>unidirectionally - sequencing from one end only</a:t>
            </a: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 sz="1500">
                <a:latin typeface="Arial"/>
                <a:ea typeface="Arial"/>
                <a:cs typeface="Arial"/>
                <a:sym typeface="Arial"/>
              </a:rPr>
              <a:t>less expensive, is typically reserved for quantifying gene expression in well-annotated genomes and analyzing small RNA molecules. </a:t>
            </a:r>
            <a:endParaRPr sz="1500">
              <a:latin typeface="Arial"/>
              <a:ea typeface="Arial"/>
              <a:cs typeface="Arial"/>
              <a:sym typeface="Arial"/>
            </a:endParaRPr>
          </a:p>
        </p:txBody>
      </p:sp>
      <p:sp>
        <p:nvSpPr>
          <p:cNvPr id="280" name="Google Shape;280;p67"/>
          <p:cNvSpPr txBox="1"/>
          <p:nvPr/>
        </p:nvSpPr>
        <p:spPr>
          <a:xfrm>
            <a:off x="628650" y="4692075"/>
            <a:ext cx="5786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Helvetica Neue"/>
                <a:ea typeface="Helvetica Neue"/>
                <a:cs typeface="Helvetica Neue"/>
                <a:sym typeface="Helvetica Neue"/>
              </a:rPr>
              <a:t>https://www.genewiz.com/</a:t>
            </a:r>
            <a:endParaRPr sz="1200">
              <a:latin typeface="Helvetica Neue"/>
              <a:ea typeface="Helvetica Neue"/>
              <a:cs typeface="Helvetica Neue"/>
              <a:sym typeface="Helvetica Neue"/>
            </a:endParaRPr>
          </a:p>
        </p:txBody>
      </p:sp>
      <p:pic>
        <p:nvPicPr>
          <p:cNvPr id="281" name="Google Shape;281;p67"/>
          <p:cNvPicPr preferRelativeResize="0"/>
          <p:nvPr/>
        </p:nvPicPr>
        <p:blipFill rotWithShape="1">
          <a:blip r:embed="rId3">
            <a:alphaModFix/>
          </a:blip>
          <a:srcRect b="5425" l="2304" r="3286" t="8738"/>
          <a:stretch/>
        </p:blipFill>
        <p:spPr>
          <a:xfrm>
            <a:off x="669175" y="1401200"/>
            <a:ext cx="7805651" cy="1628400"/>
          </a:xfrm>
          <a:prstGeom prst="rect">
            <a:avLst/>
          </a:prstGeom>
          <a:noFill/>
          <a:ln>
            <a:noFill/>
          </a:ln>
        </p:spPr>
      </p:pic>
      <p:sp>
        <p:nvSpPr>
          <p:cNvPr id="282" name="Google Shape;282;p67"/>
          <p:cNvSpPr txBox="1"/>
          <p:nvPr>
            <p:ph idx="1" type="body"/>
          </p:nvPr>
        </p:nvSpPr>
        <p:spPr>
          <a:xfrm>
            <a:off x="4919975" y="3162650"/>
            <a:ext cx="3731400" cy="1628400"/>
          </a:xfrm>
          <a:prstGeom prst="rect">
            <a:avLst/>
          </a:prstGeom>
        </p:spPr>
        <p:txBody>
          <a:bodyPr anchorCtr="0" anchor="t" bIns="0" lIns="0" spcFirstLastPara="1" rIns="0" wrap="square" tIns="0">
            <a:normAutofit/>
          </a:bodyPr>
          <a:lstStyle/>
          <a:p>
            <a:pPr indent="-323850" lvl="0" marL="457200" rtl="0" algn="l">
              <a:spcBef>
                <a:spcPts val="800"/>
              </a:spcBef>
              <a:spcAft>
                <a:spcPts val="0"/>
              </a:spcAft>
              <a:buSzPts val="1500"/>
              <a:buFont typeface="Arial"/>
              <a:buChar char="●"/>
            </a:pPr>
            <a:r>
              <a:rPr lang="en" sz="1500">
                <a:latin typeface="Arial"/>
                <a:ea typeface="Arial"/>
                <a:cs typeface="Arial"/>
                <a:sym typeface="Arial"/>
              </a:rPr>
              <a:t>bidirectionally - both ends of DNA fragments to be sequenced</a:t>
            </a: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 sz="1500">
                <a:latin typeface="Arial"/>
                <a:ea typeface="Arial"/>
                <a:cs typeface="Arial"/>
                <a:sym typeface="Arial"/>
              </a:rPr>
              <a:t>usually recommended for most applications as it provides richer data and permits longer library insert sizes. </a:t>
            </a:r>
            <a:endParaRPr sz="150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68"/>
          <p:cNvSpPr txBox="1"/>
          <p:nvPr>
            <p:ph type="title"/>
          </p:nvPr>
        </p:nvSpPr>
        <p:spPr>
          <a:xfrm>
            <a:off x="628650" y="531341"/>
            <a:ext cx="7886700" cy="7368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Library preparation affects the downstream analysis  </a:t>
            </a:r>
            <a:endParaRPr/>
          </a:p>
        </p:txBody>
      </p:sp>
      <p:sp>
        <p:nvSpPr>
          <p:cNvPr id="288" name="Google Shape;288;p68"/>
          <p:cNvSpPr txBox="1"/>
          <p:nvPr/>
        </p:nvSpPr>
        <p:spPr>
          <a:xfrm>
            <a:off x="695150" y="1731050"/>
            <a:ext cx="8087100" cy="18471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Helvetica Neue"/>
              <a:buChar char="●"/>
            </a:pPr>
            <a:r>
              <a:rPr lang="en" sz="1800">
                <a:latin typeface="Helvetica Neue"/>
                <a:ea typeface="Helvetica Neue"/>
                <a:cs typeface="Helvetica Neue"/>
                <a:sym typeface="Helvetica Neue"/>
              </a:rPr>
              <a:t>RNA quality is fundamental </a:t>
            </a:r>
            <a:endParaRPr sz="1800">
              <a:latin typeface="Helvetica Neue"/>
              <a:ea typeface="Helvetica Neue"/>
              <a:cs typeface="Helvetica Neue"/>
              <a:sym typeface="Helvetica Neue"/>
            </a:endParaRPr>
          </a:p>
          <a:p>
            <a:pPr indent="0" lvl="0" marL="0" rtl="0" algn="l">
              <a:spcBef>
                <a:spcPts val="0"/>
              </a:spcBef>
              <a:spcAft>
                <a:spcPts val="0"/>
              </a:spcAft>
              <a:buNone/>
            </a:pPr>
            <a:r>
              <a:t/>
            </a:r>
            <a:endParaRPr sz="1800">
              <a:latin typeface="Helvetica Neue"/>
              <a:ea typeface="Helvetica Neue"/>
              <a:cs typeface="Helvetica Neue"/>
              <a:sym typeface="Helvetica Neue"/>
            </a:endParaRPr>
          </a:p>
          <a:p>
            <a:pPr indent="-342900" lvl="0" marL="457200" rtl="0" algn="l">
              <a:spcBef>
                <a:spcPts val="0"/>
              </a:spcBef>
              <a:spcAft>
                <a:spcPts val="0"/>
              </a:spcAft>
              <a:buSzPts val="1800"/>
              <a:buFont typeface="Helvetica Neue"/>
              <a:buChar char="●"/>
            </a:pPr>
            <a:r>
              <a:rPr lang="en" sz="1800">
                <a:latin typeface="Helvetica Neue"/>
                <a:ea typeface="Helvetica Neue"/>
                <a:cs typeface="Helvetica Neue"/>
                <a:sym typeface="Helvetica Neue"/>
              </a:rPr>
              <a:t>RNA extraction method can affect the transcript abundance  </a:t>
            </a:r>
            <a:endParaRPr sz="1800">
              <a:latin typeface="Helvetica Neue"/>
              <a:ea typeface="Helvetica Neue"/>
              <a:cs typeface="Helvetica Neue"/>
              <a:sym typeface="Helvetica Neue"/>
            </a:endParaRPr>
          </a:p>
          <a:p>
            <a:pPr indent="0" lvl="0" marL="0" rtl="0" algn="l">
              <a:spcBef>
                <a:spcPts val="0"/>
              </a:spcBef>
              <a:spcAft>
                <a:spcPts val="0"/>
              </a:spcAft>
              <a:buNone/>
            </a:pPr>
            <a:r>
              <a:t/>
            </a:r>
            <a:endParaRPr sz="1800">
              <a:latin typeface="Helvetica Neue"/>
              <a:ea typeface="Helvetica Neue"/>
              <a:cs typeface="Helvetica Neue"/>
              <a:sym typeface="Helvetica Neue"/>
            </a:endParaRPr>
          </a:p>
          <a:p>
            <a:pPr indent="-342900" lvl="0" marL="457200" rtl="0" algn="l">
              <a:spcBef>
                <a:spcPts val="0"/>
              </a:spcBef>
              <a:spcAft>
                <a:spcPts val="0"/>
              </a:spcAft>
              <a:buSzPts val="1800"/>
              <a:buFont typeface="Helvetica Neue"/>
              <a:buChar char="●"/>
            </a:pPr>
            <a:r>
              <a:rPr lang="en" sz="1800">
                <a:latin typeface="Helvetica Neue"/>
                <a:ea typeface="Helvetica Neue"/>
                <a:cs typeface="Helvetica Neue"/>
                <a:sym typeface="Helvetica Neue"/>
              </a:rPr>
              <a:t>Choice of platform and library preparation protocol </a:t>
            </a:r>
            <a:endParaRPr sz="1800">
              <a:latin typeface="Helvetica Neue"/>
              <a:ea typeface="Helvetica Neue"/>
              <a:cs typeface="Helvetica Neue"/>
              <a:sym typeface="Helvetica Neue"/>
            </a:endParaRPr>
          </a:p>
          <a:p>
            <a:pPr indent="0" lvl="0" marL="0" rtl="0" algn="l">
              <a:spcBef>
                <a:spcPts val="0"/>
              </a:spcBef>
              <a:spcAft>
                <a:spcPts val="0"/>
              </a:spcAft>
              <a:buNone/>
            </a:pPr>
            <a:r>
              <a:t/>
            </a:r>
            <a:endParaRPr sz="1800">
              <a:latin typeface="Helvetica Neue"/>
              <a:ea typeface="Helvetica Neue"/>
              <a:cs typeface="Helvetica Neue"/>
              <a:sym typeface="Helvetica Neu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pic>
        <p:nvPicPr>
          <p:cNvPr id="293" name="Google Shape;293;p6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70"/>
          <p:cNvSpPr txBox="1"/>
          <p:nvPr>
            <p:ph type="ctrTitle"/>
          </p:nvPr>
        </p:nvSpPr>
        <p:spPr>
          <a:xfrm>
            <a:off x="971425" y="536975"/>
            <a:ext cx="7270500" cy="1790700"/>
          </a:xfrm>
          <a:prstGeom prst="rect">
            <a:avLst/>
          </a:prstGeom>
          <a:noFill/>
          <a:ln>
            <a:noFill/>
          </a:ln>
        </p:spPr>
        <p:txBody>
          <a:bodyPr anchorCtr="0" anchor="b" bIns="0" lIns="0" spcFirstLastPara="1" rIns="0" wrap="square" tIns="0">
            <a:normAutofit/>
          </a:bodyPr>
          <a:lstStyle/>
          <a:p>
            <a:pPr indent="0" lvl="0" marL="0" rtl="0" algn="ctr">
              <a:spcBef>
                <a:spcPts val="0"/>
              </a:spcBef>
              <a:spcAft>
                <a:spcPts val="0"/>
              </a:spcAft>
              <a:buClr>
                <a:schemeClr val="lt1"/>
              </a:buClr>
              <a:buSzPts val="6000"/>
              <a:buFont typeface="Arial"/>
              <a:buNone/>
            </a:pPr>
            <a:r>
              <a:rPr lang="en"/>
              <a:t>Introduction to RNA-seq data analysis</a:t>
            </a:r>
            <a:endParaRPr>
              <a:solidFill>
                <a:srgbClr val="0C343D"/>
              </a:solidFill>
            </a:endParaRPr>
          </a:p>
        </p:txBody>
      </p:sp>
      <p:sp>
        <p:nvSpPr>
          <p:cNvPr id="300" name="Google Shape;300;p70"/>
          <p:cNvSpPr txBox="1"/>
          <p:nvPr>
            <p:ph idx="1" type="subTitle"/>
          </p:nvPr>
        </p:nvSpPr>
        <p:spPr>
          <a:xfrm>
            <a:off x="1143000" y="2839803"/>
            <a:ext cx="6858000" cy="1241700"/>
          </a:xfrm>
          <a:prstGeom prst="rect">
            <a:avLst/>
          </a:prstGeom>
          <a:noFill/>
          <a:ln>
            <a:noFill/>
          </a:ln>
        </p:spPr>
        <p:txBody>
          <a:bodyPr anchorCtr="0" anchor="t" bIns="0" lIns="0" spcFirstLastPara="1" rIns="0" wrap="square" tIns="0">
            <a:normAutofit/>
          </a:bodyPr>
          <a:lstStyle/>
          <a:p>
            <a:pPr indent="0" lvl="0" marL="0" rtl="0" algn="ctr">
              <a:spcBef>
                <a:spcPts val="0"/>
              </a:spcBef>
              <a:spcAft>
                <a:spcPts val="0"/>
              </a:spcAft>
              <a:buClr>
                <a:schemeClr val="lt1"/>
              </a:buClr>
              <a:buSzPts val="2400"/>
              <a:buFont typeface="Arial"/>
              <a:buNone/>
            </a:pPr>
            <a:r>
              <a:rPr lang="en"/>
              <a:t>Michela Traglia, Ayushi Agrawal</a:t>
            </a:r>
            <a:endParaRPr/>
          </a:p>
          <a:p>
            <a:pPr indent="0" lvl="0" marL="0" rtl="0" algn="ctr">
              <a:lnSpc>
                <a:spcPct val="100000"/>
              </a:lnSpc>
              <a:spcBef>
                <a:spcPts val="0"/>
              </a:spcBef>
              <a:spcAft>
                <a:spcPts val="0"/>
              </a:spcAft>
              <a:buClr>
                <a:schemeClr val="lt1"/>
              </a:buClr>
              <a:buSzPts val="2400"/>
              <a:buFont typeface="Arial"/>
              <a:buNone/>
            </a:pPr>
            <a:r>
              <a:rPr lang="en"/>
              <a:t>Bioinformatics Core, GIDB</a:t>
            </a:r>
            <a:endParaRPr/>
          </a:p>
          <a:p>
            <a:pPr indent="0" lvl="0" marL="0" rtl="0" algn="ctr">
              <a:spcBef>
                <a:spcPts val="0"/>
              </a:spcBef>
              <a:spcAft>
                <a:spcPts val="0"/>
              </a:spcAft>
              <a:buClr>
                <a:schemeClr val="lt1"/>
              </a:buClr>
              <a:buSzPts val="2100"/>
              <a:buNone/>
            </a:pPr>
            <a:r>
              <a:rPr lang="en">
                <a:solidFill>
                  <a:schemeClr val="accent2"/>
                </a:solidFill>
              </a:rPr>
              <a:t>September 28-29, 2026</a:t>
            </a:r>
            <a:endParaRPr>
              <a:solidFill>
                <a:schemeClr val="accent2"/>
              </a:solidFill>
            </a:endParaRPr>
          </a:p>
          <a:p>
            <a:pPr indent="0" lvl="0" marL="0" rtl="0" algn="l">
              <a:lnSpc>
                <a:spcPct val="90000"/>
              </a:lnSpc>
              <a:spcBef>
                <a:spcPts val="0"/>
              </a:spcBef>
              <a:spcAft>
                <a:spcPts val="0"/>
              </a:spcAft>
              <a:buClr>
                <a:schemeClr val="lt1"/>
              </a:buClr>
              <a:buSzPts val="21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pic>
        <p:nvPicPr>
          <p:cNvPr id="305" name="Google Shape;305;p71"/>
          <p:cNvPicPr preferRelativeResize="0"/>
          <p:nvPr/>
        </p:nvPicPr>
        <p:blipFill>
          <a:blip r:embed="rId3">
            <a:alphaModFix/>
          </a:blip>
          <a:stretch>
            <a:fillRect/>
          </a:stretch>
        </p:blipFill>
        <p:spPr>
          <a:xfrm>
            <a:off x="1392511" y="209169"/>
            <a:ext cx="5943601" cy="4725162"/>
          </a:xfrm>
          <a:prstGeom prst="rect">
            <a:avLst/>
          </a:prstGeom>
          <a:noFill/>
          <a:ln>
            <a:noFill/>
          </a:ln>
        </p:spPr>
      </p:pic>
      <p:sp>
        <p:nvSpPr>
          <p:cNvPr id="306" name="Google Shape;306;p71"/>
          <p:cNvSpPr/>
          <p:nvPr/>
        </p:nvSpPr>
        <p:spPr>
          <a:xfrm>
            <a:off x="1389362" y="3595150"/>
            <a:ext cx="1167300" cy="1067100"/>
          </a:xfrm>
          <a:prstGeom prst="roundRect">
            <a:avLst>
              <a:gd fmla="val 16667" name="adj"/>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pic>
        <p:nvPicPr>
          <p:cNvPr id="307" name="Google Shape;307;p71"/>
          <p:cNvPicPr preferRelativeResize="0"/>
          <p:nvPr/>
        </p:nvPicPr>
        <p:blipFill>
          <a:blip r:embed="rId4">
            <a:alphaModFix/>
          </a:blip>
          <a:stretch>
            <a:fillRect/>
          </a:stretch>
        </p:blipFill>
        <p:spPr>
          <a:xfrm>
            <a:off x="7646208" y="3777086"/>
            <a:ext cx="1371601" cy="135788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pic>
        <p:nvPicPr>
          <p:cNvPr id="312" name="Google Shape;312;p72"/>
          <p:cNvPicPr preferRelativeResize="0"/>
          <p:nvPr/>
        </p:nvPicPr>
        <p:blipFill>
          <a:blip r:embed="rId3">
            <a:alphaModFix/>
          </a:blip>
          <a:stretch>
            <a:fillRect/>
          </a:stretch>
        </p:blipFill>
        <p:spPr>
          <a:xfrm>
            <a:off x="196625" y="302450"/>
            <a:ext cx="5903663" cy="2755024"/>
          </a:xfrm>
          <a:prstGeom prst="rect">
            <a:avLst/>
          </a:prstGeom>
          <a:noFill/>
          <a:ln>
            <a:noFill/>
          </a:ln>
        </p:spPr>
      </p:pic>
      <p:pic>
        <p:nvPicPr>
          <p:cNvPr descr="Pointing finger thin line icon, hand gestures concept, Attention hand gesture sign on white background, pointer icon in outline style for mobile concept and web design. Vector graphics. (Provided by Getty Images)" id="313" name="Google Shape;313;p72"/>
          <p:cNvPicPr preferRelativeResize="0"/>
          <p:nvPr/>
        </p:nvPicPr>
        <p:blipFill rotWithShape="1">
          <a:blip r:embed="rId4">
            <a:alphaModFix/>
          </a:blip>
          <a:srcRect b="30671" l="0" r="0" t="29089"/>
          <a:stretch/>
        </p:blipFill>
        <p:spPr>
          <a:xfrm>
            <a:off x="6100300" y="3387900"/>
            <a:ext cx="1084723" cy="436500"/>
          </a:xfrm>
          <a:prstGeom prst="rect">
            <a:avLst/>
          </a:prstGeom>
          <a:noFill/>
          <a:ln>
            <a:noFill/>
          </a:ln>
        </p:spPr>
      </p:pic>
      <p:pic>
        <p:nvPicPr>
          <p:cNvPr id="314" name="Google Shape;314;p72" title="Screenshot 2026-09-03 at 2.13.05 PM.png"/>
          <p:cNvPicPr preferRelativeResize="0"/>
          <p:nvPr/>
        </p:nvPicPr>
        <p:blipFill rotWithShape="1">
          <a:blip r:embed="rId5">
            <a:alphaModFix/>
          </a:blip>
          <a:srcRect b="46141" l="0" r="0" t="23530"/>
          <a:stretch/>
        </p:blipFill>
        <p:spPr>
          <a:xfrm>
            <a:off x="152400" y="3057474"/>
            <a:ext cx="6106176" cy="766924"/>
          </a:xfrm>
          <a:prstGeom prst="rect">
            <a:avLst/>
          </a:prstGeom>
          <a:noFill/>
          <a:ln>
            <a:noFill/>
          </a:ln>
        </p:spPr>
      </p:pic>
      <p:sp>
        <p:nvSpPr>
          <p:cNvPr id="315" name="Google Shape;315;p72"/>
          <p:cNvSpPr/>
          <p:nvPr/>
        </p:nvSpPr>
        <p:spPr>
          <a:xfrm>
            <a:off x="245425" y="3118825"/>
            <a:ext cx="5602800" cy="766800"/>
          </a:xfrm>
          <a:prstGeom prst="rect">
            <a:avLst/>
          </a:prstGeom>
          <a:noFill/>
          <a:ln cap="flat" cmpd="sng" w="3810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316" name="Google Shape;316;p72"/>
          <p:cNvSpPr/>
          <p:nvPr/>
        </p:nvSpPr>
        <p:spPr>
          <a:xfrm>
            <a:off x="196625" y="898850"/>
            <a:ext cx="5836500" cy="940800"/>
          </a:xfrm>
          <a:prstGeom prst="rect">
            <a:avLst/>
          </a:prstGeom>
          <a:noFill/>
          <a:ln cap="flat" cmpd="sng" w="3810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73"/>
          <p:cNvSpPr txBox="1"/>
          <p:nvPr>
            <p:ph type="title"/>
          </p:nvPr>
        </p:nvSpPr>
        <p:spPr>
          <a:xfrm>
            <a:off x="628650" y="531341"/>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Introductions</a:t>
            </a:r>
            <a:endParaRPr/>
          </a:p>
        </p:txBody>
      </p:sp>
      <p:sp>
        <p:nvSpPr>
          <p:cNvPr id="322" name="Google Shape;322;p73"/>
          <p:cNvSpPr txBox="1"/>
          <p:nvPr>
            <p:ph idx="1" type="body"/>
          </p:nvPr>
        </p:nvSpPr>
        <p:spPr>
          <a:xfrm>
            <a:off x="628650" y="1369219"/>
            <a:ext cx="7886700" cy="3263400"/>
          </a:xfrm>
          <a:prstGeom prst="rect">
            <a:avLst/>
          </a:prstGeom>
        </p:spPr>
        <p:txBody>
          <a:bodyPr anchorCtr="0" anchor="t" bIns="0" lIns="0" spcFirstLastPara="1" rIns="0" wrap="square" tIns="0">
            <a:normAutofit/>
          </a:bodyPr>
          <a:lstStyle/>
          <a:p>
            <a:pPr indent="0" lvl="0" marL="0" rtl="0" algn="l">
              <a:spcBef>
                <a:spcPts val="1000"/>
              </a:spcBef>
              <a:spcAft>
                <a:spcPts val="0"/>
              </a:spcAft>
              <a:buNone/>
            </a:pPr>
            <a:r>
              <a:rPr lang="en" sz="2700">
                <a:latin typeface="Arial"/>
                <a:ea typeface="Arial"/>
                <a:cs typeface="Arial"/>
                <a:sym typeface="Arial"/>
              </a:rPr>
              <a:t>     Michela Traglia</a:t>
            </a:r>
            <a:endParaRPr sz="2700">
              <a:latin typeface="Arial"/>
              <a:ea typeface="Arial"/>
              <a:cs typeface="Arial"/>
              <a:sym typeface="Arial"/>
            </a:endParaRPr>
          </a:p>
          <a:p>
            <a:pPr indent="0" lvl="0" marL="457200" rtl="0" algn="l">
              <a:spcBef>
                <a:spcPts val="1000"/>
              </a:spcBef>
              <a:spcAft>
                <a:spcPts val="0"/>
              </a:spcAft>
              <a:buNone/>
            </a:pPr>
            <a:r>
              <a:rPr lang="en" sz="2000">
                <a:latin typeface="Arial"/>
                <a:ea typeface="Arial"/>
                <a:cs typeface="Arial"/>
                <a:sym typeface="Arial"/>
              </a:rPr>
              <a:t>Senior Statistician </a:t>
            </a:r>
            <a:endParaRPr sz="2000">
              <a:latin typeface="Arial"/>
              <a:ea typeface="Arial"/>
              <a:cs typeface="Arial"/>
              <a:sym typeface="Arial"/>
            </a:endParaRPr>
          </a:p>
          <a:p>
            <a:pPr indent="0" lvl="0" marL="457200" rtl="0" algn="l">
              <a:spcBef>
                <a:spcPts val="1000"/>
              </a:spcBef>
              <a:spcAft>
                <a:spcPts val="0"/>
              </a:spcAft>
              <a:buNone/>
            </a:pPr>
            <a:r>
              <a:t/>
            </a:r>
            <a:endParaRPr sz="2000">
              <a:latin typeface="Arial"/>
              <a:ea typeface="Arial"/>
              <a:cs typeface="Arial"/>
              <a:sym typeface="Arial"/>
            </a:endParaRPr>
          </a:p>
          <a:p>
            <a:pPr indent="0" lvl="0" marL="457200" rtl="0" algn="l">
              <a:spcBef>
                <a:spcPts val="1000"/>
              </a:spcBef>
              <a:spcAft>
                <a:spcPts val="0"/>
              </a:spcAft>
              <a:buNone/>
            </a:pPr>
            <a:r>
              <a:rPr lang="en" sz="2700">
                <a:latin typeface="Arial"/>
                <a:ea typeface="Arial"/>
                <a:cs typeface="Arial"/>
                <a:sym typeface="Arial"/>
              </a:rPr>
              <a:t>Ayushi Agrawal</a:t>
            </a:r>
            <a:endParaRPr sz="2700">
              <a:latin typeface="Arial"/>
              <a:ea typeface="Arial"/>
              <a:cs typeface="Arial"/>
              <a:sym typeface="Arial"/>
            </a:endParaRPr>
          </a:p>
          <a:p>
            <a:pPr indent="0" lvl="0" marL="457200" rtl="0" algn="l">
              <a:spcBef>
                <a:spcPts val="1000"/>
              </a:spcBef>
              <a:spcAft>
                <a:spcPts val="0"/>
              </a:spcAft>
              <a:buNone/>
            </a:pPr>
            <a:r>
              <a:rPr lang="en" sz="2000">
                <a:latin typeface="Arial"/>
                <a:ea typeface="Arial"/>
                <a:cs typeface="Arial"/>
                <a:sym typeface="Arial"/>
              </a:rPr>
              <a:t>Senior Bioinformatician</a:t>
            </a:r>
            <a:endParaRPr sz="20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74"/>
          <p:cNvSpPr txBox="1"/>
          <p:nvPr>
            <p:ph type="title"/>
          </p:nvPr>
        </p:nvSpPr>
        <p:spPr>
          <a:xfrm>
            <a:off x="194875" y="149191"/>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Workshop sessions</a:t>
            </a:r>
            <a:endParaRPr/>
          </a:p>
        </p:txBody>
      </p:sp>
      <p:sp>
        <p:nvSpPr>
          <p:cNvPr id="328" name="Google Shape;328;p74"/>
          <p:cNvSpPr txBox="1"/>
          <p:nvPr>
            <p:ph idx="1" type="body"/>
          </p:nvPr>
        </p:nvSpPr>
        <p:spPr>
          <a:xfrm>
            <a:off x="259200" y="625577"/>
            <a:ext cx="8625600" cy="4435200"/>
          </a:xfrm>
          <a:prstGeom prst="rect">
            <a:avLst/>
          </a:prstGeom>
        </p:spPr>
        <p:txBody>
          <a:bodyPr anchorCtr="0" anchor="t" bIns="0" lIns="0" spcFirstLastPara="1" rIns="0" wrap="square" tIns="0">
            <a:normAutofit/>
          </a:bodyPr>
          <a:lstStyle/>
          <a:p>
            <a:pPr indent="0" lvl="0" marL="457200" rtl="0" algn="l">
              <a:lnSpc>
                <a:spcPct val="70000"/>
              </a:lnSpc>
              <a:spcBef>
                <a:spcPts val="1000"/>
              </a:spcBef>
              <a:spcAft>
                <a:spcPts val="0"/>
              </a:spcAft>
              <a:buClr>
                <a:schemeClr val="dk1"/>
              </a:buClr>
              <a:buSzPts val="1018"/>
              <a:buFont typeface="Arial"/>
              <a:buNone/>
            </a:pPr>
            <a:r>
              <a:t/>
            </a:r>
            <a:endParaRPr b="1" sz="2298">
              <a:latin typeface="Arial"/>
              <a:ea typeface="Arial"/>
              <a:cs typeface="Arial"/>
              <a:sym typeface="Arial"/>
            </a:endParaRPr>
          </a:p>
          <a:p>
            <a:pPr indent="0" lvl="0" marL="457200" rtl="0" algn="l">
              <a:lnSpc>
                <a:spcPct val="70000"/>
              </a:lnSpc>
              <a:spcBef>
                <a:spcPts val="1000"/>
              </a:spcBef>
              <a:spcAft>
                <a:spcPts val="0"/>
              </a:spcAft>
              <a:buClr>
                <a:schemeClr val="dk1"/>
              </a:buClr>
              <a:buSzPts val="1018"/>
              <a:buFont typeface="Arial"/>
              <a:buNone/>
            </a:pPr>
            <a:r>
              <a:rPr b="1" lang="en" sz="2298">
                <a:solidFill>
                  <a:srgbClr val="F76912"/>
                </a:solidFill>
                <a:latin typeface="Arial"/>
                <a:ea typeface="Arial"/>
                <a:cs typeface="Arial"/>
                <a:sym typeface="Arial"/>
              </a:rPr>
              <a:t>Session I </a:t>
            </a:r>
            <a:endParaRPr b="1" sz="2298">
              <a:solidFill>
                <a:srgbClr val="F76912"/>
              </a:solidFill>
              <a:latin typeface="Arial"/>
              <a:ea typeface="Arial"/>
              <a:cs typeface="Arial"/>
              <a:sym typeface="Arial"/>
            </a:endParaRPr>
          </a:p>
          <a:p>
            <a:pPr indent="0" lvl="0" marL="457200" rtl="0" algn="l">
              <a:lnSpc>
                <a:spcPct val="70000"/>
              </a:lnSpc>
              <a:spcBef>
                <a:spcPts val="1000"/>
              </a:spcBef>
              <a:spcAft>
                <a:spcPts val="0"/>
              </a:spcAft>
              <a:buSzPts val="1018"/>
              <a:buNone/>
            </a:pPr>
            <a:r>
              <a:rPr lang="en" sz="2298">
                <a:latin typeface="Arial"/>
                <a:ea typeface="Arial"/>
                <a:cs typeface="Arial"/>
                <a:sym typeface="Arial"/>
              </a:rPr>
              <a:t>Monday</a:t>
            </a:r>
            <a:r>
              <a:rPr lang="en" sz="2298">
                <a:latin typeface="Arial"/>
                <a:ea typeface="Arial"/>
                <a:cs typeface="Arial"/>
                <a:sym typeface="Arial"/>
              </a:rPr>
              <a:t> - September 28 </a:t>
            </a:r>
            <a:endParaRPr sz="2298">
              <a:latin typeface="Arial"/>
              <a:ea typeface="Arial"/>
              <a:cs typeface="Arial"/>
              <a:sym typeface="Arial"/>
            </a:endParaRPr>
          </a:p>
          <a:p>
            <a:pPr indent="0" lvl="0" marL="457200" rtl="0" algn="l">
              <a:lnSpc>
                <a:spcPct val="70000"/>
              </a:lnSpc>
              <a:spcBef>
                <a:spcPts val="1000"/>
              </a:spcBef>
              <a:spcAft>
                <a:spcPts val="0"/>
              </a:spcAft>
              <a:buSzPts val="1018"/>
              <a:buNone/>
            </a:pPr>
            <a:r>
              <a:rPr lang="en" sz="2298">
                <a:latin typeface="Arial"/>
                <a:ea typeface="Arial"/>
                <a:cs typeface="Arial"/>
                <a:sym typeface="Arial"/>
              </a:rPr>
              <a:t>9-12p</a:t>
            </a:r>
            <a:endParaRPr sz="2298">
              <a:latin typeface="Arial"/>
              <a:ea typeface="Arial"/>
              <a:cs typeface="Arial"/>
              <a:sym typeface="Arial"/>
            </a:endParaRPr>
          </a:p>
          <a:p>
            <a:pPr indent="0" lvl="0" marL="457200" rtl="0" algn="l">
              <a:lnSpc>
                <a:spcPct val="70000"/>
              </a:lnSpc>
              <a:spcBef>
                <a:spcPts val="1000"/>
              </a:spcBef>
              <a:spcAft>
                <a:spcPts val="0"/>
              </a:spcAft>
              <a:buSzPts val="1018"/>
              <a:buNone/>
            </a:pPr>
            <a:r>
              <a:t/>
            </a:r>
            <a:endParaRPr sz="2298">
              <a:latin typeface="Arial"/>
              <a:ea typeface="Arial"/>
              <a:cs typeface="Arial"/>
              <a:sym typeface="Arial"/>
            </a:endParaRPr>
          </a:p>
          <a:p>
            <a:pPr indent="0" lvl="0" marL="457200" rtl="0" algn="l">
              <a:lnSpc>
                <a:spcPct val="70000"/>
              </a:lnSpc>
              <a:spcBef>
                <a:spcPts val="1000"/>
              </a:spcBef>
              <a:spcAft>
                <a:spcPts val="0"/>
              </a:spcAft>
              <a:buClr>
                <a:schemeClr val="dk1"/>
              </a:buClr>
              <a:buSzPts val="1018"/>
              <a:buFont typeface="Arial"/>
              <a:buNone/>
            </a:pPr>
            <a:r>
              <a:rPr b="1" lang="en" sz="2298">
                <a:solidFill>
                  <a:srgbClr val="F76912"/>
                </a:solidFill>
                <a:latin typeface="Arial"/>
                <a:ea typeface="Arial"/>
                <a:cs typeface="Arial"/>
                <a:sym typeface="Arial"/>
              </a:rPr>
              <a:t>Session II</a:t>
            </a:r>
            <a:endParaRPr b="1" sz="2298">
              <a:solidFill>
                <a:srgbClr val="F76912"/>
              </a:solidFill>
              <a:latin typeface="Arial"/>
              <a:ea typeface="Arial"/>
              <a:cs typeface="Arial"/>
              <a:sym typeface="Arial"/>
            </a:endParaRPr>
          </a:p>
          <a:p>
            <a:pPr indent="0" lvl="0" marL="457200" rtl="0" algn="l">
              <a:lnSpc>
                <a:spcPct val="70000"/>
              </a:lnSpc>
              <a:spcBef>
                <a:spcPts val="1000"/>
              </a:spcBef>
              <a:spcAft>
                <a:spcPts val="0"/>
              </a:spcAft>
              <a:buClr>
                <a:schemeClr val="dk1"/>
              </a:buClr>
              <a:buSzPts val="1018"/>
              <a:buFont typeface="Arial"/>
              <a:buNone/>
            </a:pPr>
            <a:r>
              <a:rPr lang="en" sz="2298">
                <a:latin typeface="Arial"/>
                <a:ea typeface="Arial"/>
                <a:cs typeface="Arial"/>
                <a:sym typeface="Arial"/>
              </a:rPr>
              <a:t>Monday - September 28 </a:t>
            </a:r>
            <a:endParaRPr sz="2298">
              <a:latin typeface="Arial"/>
              <a:ea typeface="Arial"/>
              <a:cs typeface="Arial"/>
              <a:sym typeface="Arial"/>
            </a:endParaRPr>
          </a:p>
          <a:p>
            <a:pPr indent="0" lvl="0" marL="457200" rtl="0" algn="l">
              <a:lnSpc>
                <a:spcPct val="70000"/>
              </a:lnSpc>
              <a:spcBef>
                <a:spcPts val="1000"/>
              </a:spcBef>
              <a:spcAft>
                <a:spcPts val="0"/>
              </a:spcAft>
              <a:buClr>
                <a:schemeClr val="dk1"/>
              </a:buClr>
              <a:buSzPts val="1018"/>
              <a:buFont typeface="Arial"/>
              <a:buNone/>
            </a:pPr>
            <a:r>
              <a:rPr lang="en" sz="2298">
                <a:latin typeface="Arial"/>
                <a:ea typeface="Arial"/>
                <a:cs typeface="Arial"/>
                <a:sym typeface="Arial"/>
              </a:rPr>
              <a:t>1-3 pm</a:t>
            </a:r>
            <a:endParaRPr sz="2298">
              <a:latin typeface="Arial"/>
              <a:ea typeface="Arial"/>
              <a:cs typeface="Arial"/>
              <a:sym typeface="Arial"/>
            </a:endParaRPr>
          </a:p>
          <a:p>
            <a:pPr indent="0" lvl="0" marL="457200" rtl="0" algn="l">
              <a:lnSpc>
                <a:spcPct val="70000"/>
              </a:lnSpc>
              <a:spcBef>
                <a:spcPts val="1000"/>
              </a:spcBef>
              <a:spcAft>
                <a:spcPts val="0"/>
              </a:spcAft>
              <a:buSzPts val="1018"/>
              <a:buNone/>
            </a:pPr>
            <a:r>
              <a:t/>
            </a:r>
            <a:endParaRPr sz="2298">
              <a:latin typeface="Arial"/>
              <a:ea typeface="Arial"/>
              <a:cs typeface="Arial"/>
              <a:sym typeface="Arial"/>
            </a:endParaRPr>
          </a:p>
          <a:p>
            <a:pPr indent="0" lvl="0" marL="457200" rtl="0" algn="l">
              <a:lnSpc>
                <a:spcPct val="70000"/>
              </a:lnSpc>
              <a:spcBef>
                <a:spcPts val="1000"/>
              </a:spcBef>
              <a:spcAft>
                <a:spcPts val="0"/>
              </a:spcAft>
              <a:buSzPts val="1018"/>
              <a:buNone/>
            </a:pPr>
            <a:r>
              <a:rPr b="1" lang="en" sz="2298">
                <a:solidFill>
                  <a:srgbClr val="F76912"/>
                </a:solidFill>
                <a:latin typeface="Arial"/>
                <a:ea typeface="Arial"/>
                <a:cs typeface="Arial"/>
                <a:sym typeface="Arial"/>
              </a:rPr>
              <a:t>Session III</a:t>
            </a:r>
            <a:endParaRPr b="1" sz="2298">
              <a:solidFill>
                <a:srgbClr val="F76912"/>
              </a:solidFill>
              <a:latin typeface="Arial"/>
              <a:ea typeface="Arial"/>
              <a:cs typeface="Arial"/>
              <a:sym typeface="Arial"/>
            </a:endParaRPr>
          </a:p>
          <a:p>
            <a:pPr indent="0" lvl="0" marL="457200" rtl="0" algn="l">
              <a:lnSpc>
                <a:spcPct val="70000"/>
              </a:lnSpc>
              <a:spcBef>
                <a:spcPts val="1000"/>
              </a:spcBef>
              <a:spcAft>
                <a:spcPts val="0"/>
              </a:spcAft>
              <a:buSzPts val="1018"/>
              <a:buNone/>
            </a:pPr>
            <a:r>
              <a:rPr lang="en" sz="2298">
                <a:latin typeface="Arial"/>
                <a:ea typeface="Arial"/>
                <a:cs typeface="Arial"/>
                <a:sym typeface="Arial"/>
              </a:rPr>
              <a:t>Tuesday</a:t>
            </a:r>
            <a:r>
              <a:rPr lang="en" sz="2298">
                <a:latin typeface="Arial"/>
                <a:ea typeface="Arial"/>
                <a:cs typeface="Arial"/>
                <a:sym typeface="Arial"/>
              </a:rPr>
              <a:t> - </a:t>
            </a:r>
            <a:r>
              <a:rPr lang="en" sz="2298">
                <a:latin typeface="Arial"/>
                <a:ea typeface="Arial"/>
                <a:cs typeface="Arial"/>
                <a:sym typeface="Arial"/>
              </a:rPr>
              <a:t>September 29</a:t>
            </a:r>
            <a:endParaRPr sz="2298">
              <a:latin typeface="Arial"/>
              <a:ea typeface="Arial"/>
              <a:cs typeface="Arial"/>
              <a:sym typeface="Arial"/>
            </a:endParaRPr>
          </a:p>
          <a:p>
            <a:pPr indent="0" lvl="0" marL="457200" rtl="0" algn="l">
              <a:lnSpc>
                <a:spcPct val="70000"/>
              </a:lnSpc>
              <a:spcBef>
                <a:spcPts val="1000"/>
              </a:spcBef>
              <a:spcAft>
                <a:spcPts val="0"/>
              </a:spcAft>
              <a:buSzPts val="1018"/>
              <a:buNone/>
            </a:pPr>
            <a:r>
              <a:rPr lang="en" sz="2298">
                <a:latin typeface="Arial"/>
                <a:ea typeface="Arial"/>
                <a:cs typeface="Arial"/>
                <a:sym typeface="Arial"/>
              </a:rPr>
              <a:t>1-3 pm</a:t>
            </a:r>
            <a:endParaRPr sz="2298">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75"/>
          <p:cNvSpPr txBox="1"/>
          <p:nvPr>
            <p:ph type="title"/>
          </p:nvPr>
        </p:nvSpPr>
        <p:spPr>
          <a:xfrm>
            <a:off x="272825" y="94641"/>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Working material for </a:t>
            </a:r>
            <a:r>
              <a:rPr lang="en"/>
              <a:t>this</a:t>
            </a:r>
            <a:r>
              <a:rPr lang="en"/>
              <a:t> workshop</a:t>
            </a:r>
            <a:endParaRPr/>
          </a:p>
        </p:txBody>
      </p:sp>
      <p:sp>
        <p:nvSpPr>
          <p:cNvPr id="334" name="Google Shape;334;p75"/>
          <p:cNvSpPr txBox="1"/>
          <p:nvPr>
            <p:ph idx="1" type="body"/>
          </p:nvPr>
        </p:nvSpPr>
        <p:spPr>
          <a:xfrm>
            <a:off x="375875" y="668525"/>
            <a:ext cx="7886700" cy="1334700"/>
          </a:xfrm>
          <a:prstGeom prst="rect">
            <a:avLst/>
          </a:prstGeom>
        </p:spPr>
        <p:txBody>
          <a:bodyPr anchorCtr="0" anchor="t" bIns="0" lIns="0" spcFirstLastPara="1" rIns="0" wrap="square" tIns="0">
            <a:noAutofit/>
          </a:bodyPr>
          <a:lstStyle/>
          <a:p>
            <a:pPr indent="0" lvl="0" marL="0" rtl="0" algn="l">
              <a:lnSpc>
                <a:spcPct val="110000"/>
              </a:lnSpc>
              <a:spcBef>
                <a:spcPts val="800"/>
              </a:spcBef>
              <a:spcAft>
                <a:spcPts val="0"/>
              </a:spcAft>
              <a:buNone/>
            </a:pPr>
            <a:r>
              <a:rPr b="1" lang="en" sz="2800">
                <a:solidFill>
                  <a:srgbClr val="F76912"/>
                </a:solidFill>
              </a:rPr>
              <a:t>Session I-II-III</a:t>
            </a:r>
            <a:endParaRPr b="1" sz="2800">
              <a:solidFill>
                <a:srgbClr val="F76912"/>
              </a:solidFill>
            </a:endParaRPr>
          </a:p>
          <a:p>
            <a:pPr indent="-419100" lvl="0" marL="457200" rtl="0" algn="l">
              <a:lnSpc>
                <a:spcPct val="110000"/>
              </a:lnSpc>
              <a:spcBef>
                <a:spcPts val="800"/>
              </a:spcBef>
              <a:spcAft>
                <a:spcPts val="0"/>
              </a:spcAft>
              <a:buSzPts val="3000"/>
              <a:buAutoNum type="arabicPeriod"/>
            </a:pPr>
            <a:r>
              <a:rPr lang="en" sz="3000" u="sng">
                <a:solidFill>
                  <a:schemeClr val="hlink"/>
                </a:solidFill>
                <a:hlinkClick r:id="rId4"/>
              </a:rPr>
              <a:t>Slides</a:t>
            </a:r>
            <a:endParaRPr/>
          </a:p>
          <a:p>
            <a:pPr indent="0" lvl="0" marL="0" rtl="0" algn="l">
              <a:lnSpc>
                <a:spcPct val="110000"/>
              </a:lnSpc>
              <a:spcBef>
                <a:spcPts val="800"/>
              </a:spcBef>
              <a:spcAft>
                <a:spcPts val="0"/>
              </a:spcAft>
              <a:buNone/>
            </a:pPr>
            <a:r>
              <a:t/>
            </a:r>
            <a:endParaRPr/>
          </a:p>
          <a:p>
            <a:pPr indent="-419100" lvl="0" marL="457200" rtl="0" algn="l">
              <a:lnSpc>
                <a:spcPct val="110000"/>
              </a:lnSpc>
              <a:spcBef>
                <a:spcPts val="800"/>
              </a:spcBef>
              <a:spcAft>
                <a:spcPts val="0"/>
              </a:spcAft>
              <a:buSzPts val="3000"/>
              <a:buAutoNum type="arabicPeriod"/>
            </a:pPr>
            <a:r>
              <a:rPr b="1" lang="en" sz="2800">
                <a:solidFill>
                  <a:srgbClr val="F76912"/>
                </a:solidFill>
              </a:rPr>
              <a:t>Session I-II</a:t>
            </a:r>
            <a:r>
              <a:rPr lang="en"/>
              <a:t> </a:t>
            </a:r>
            <a:r>
              <a:rPr b="1" lang="en" sz="2900"/>
              <a:t>-</a:t>
            </a:r>
            <a:r>
              <a:rPr b="1" lang="en"/>
              <a:t> </a:t>
            </a:r>
            <a:r>
              <a:rPr lang="en" sz="3000" u="sng">
                <a:solidFill>
                  <a:schemeClr val="hlink"/>
                </a:solidFill>
                <a:hlinkClick r:id="rId5"/>
              </a:rPr>
              <a:t>Hands-on materials</a:t>
            </a:r>
            <a:endParaRPr sz="3000">
              <a:solidFill>
                <a:srgbClr val="F76912"/>
              </a:solidFill>
            </a:endParaRPr>
          </a:p>
          <a:p>
            <a:pPr indent="-419100" lvl="0" marL="457200" rtl="0" algn="l">
              <a:lnSpc>
                <a:spcPct val="110000"/>
              </a:lnSpc>
              <a:spcBef>
                <a:spcPts val="0"/>
              </a:spcBef>
              <a:spcAft>
                <a:spcPts val="0"/>
              </a:spcAft>
              <a:buSzPts val="3000"/>
              <a:buAutoNum type="arabicPeriod"/>
            </a:pPr>
            <a:r>
              <a:rPr b="1" lang="en" sz="2800">
                <a:solidFill>
                  <a:srgbClr val="F76912"/>
                </a:solidFill>
              </a:rPr>
              <a:t>Session  III </a:t>
            </a:r>
            <a:r>
              <a:rPr b="1" lang="en" sz="2800">
                <a:solidFill>
                  <a:schemeClr val="dk1"/>
                </a:solidFill>
              </a:rPr>
              <a:t>-</a:t>
            </a:r>
            <a:r>
              <a:rPr b="1" lang="en" sz="2800">
                <a:solidFill>
                  <a:srgbClr val="F76912"/>
                </a:solidFill>
              </a:rPr>
              <a:t> </a:t>
            </a:r>
            <a:r>
              <a:rPr lang="en" sz="3000" u="sng">
                <a:solidFill>
                  <a:schemeClr val="hlink"/>
                </a:solidFill>
                <a:hlinkClick r:id="rId6"/>
              </a:rPr>
              <a:t>Hands-on materials</a:t>
            </a:r>
            <a:endParaRPr sz="3000">
              <a:solidFill>
                <a:srgbClr val="F76912"/>
              </a:solidFill>
            </a:endParaRPr>
          </a:p>
          <a:p>
            <a:pPr indent="0" lvl="0" marL="0" rtl="0" algn="l">
              <a:lnSpc>
                <a:spcPct val="110000"/>
              </a:lnSpc>
              <a:spcBef>
                <a:spcPts val="800"/>
              </a:spcBef>
              <a:spcAft>
                <a:spcPts val="0"/>
              </a:spcAft>
              <a:buClr>
                <a:schemeClr val="dk1"/>
              </a:buClr>
              <a:buSzPts val="1100"/>
              <a:buFont typeface="Arial"/>
              <a:buNone/>
            </a:pPr>
            <a:r>
              <a:t/>
            </a:r>
            <a:endParaRPr b="1" sz="2800">
              <a:solidFill>
                <a:srgbClr val="F76912"/>
              </a:solidFill>
            </a:endParaRPr>
          </a:p>
          <a:p>
            <a:pPr indent="0" lvl="0" marL="0" rtl="0" algn="l">
              <a:lnSpc>
                <a:spcPct val="110000"/>
              </a:lnSpc>
              <a:spcBef>
                <a:spcPts val="800"/>
              </a:spcBef>
              <a:spcAft>
                <a:spcPts val="0"/>
              </a:spcAft>
              <a:buNone/>
            </a:pPr>
            <a:r>
              <a:t/>
            </a:r>
            <a:endParaRPr b="1" sz="2800">
              <a:solidFill>
                <a:srgbClr val="F76912"/>
              </a:solidFill>
            </a:endParaRPr>
          </a:p>
          <a:p>
            <a:pPr indent="0" lvl="0" marL="0" rtl="0" algn="l">
              <a:lnSpc>
                <a:spcPct val="110000"/>
              </a:lnSpc>
              <a:spcBef>
                <a:spcPts val="800"/>
              </a:spcBef>
              <a:spcAft>
                <a:spcPts val="0"/>
              </a:spcAft>
              <a:buNone/>
            </a:pPr>
            <a:r>
              <a:t/>
            </a:r>
            <a:endParaRPr sz="3000"/>
          </a:p>
          <a:p>
            <a:pPr indent="0" lvl="0" marL="0" rtl="0" algn="l">
              <a:lnSpc>
                <a:spcPct val="110000"/>
              </a:lnSpc>
              <a:spcBef>
                <a:spcPts val="800"/>
              </a:spcBef>
              <a:spcAft>
                <a:spcPts val="0"/>
              </a:spcAft>
              <a:buNone/>
            </a:pPr>
            <a:r>
              <a:t/>
            </a:r>
            <a:endParaRPr sz="1900"/>
          </a:p>
        </p:txBody>
      </p:sp>
      <p:sp>
        <p:nvSpPr>
          <p:cNvPr id="335" name="Google Shape;335;p75"/>
          <p:cNvSpPr txBox="1"/>
          <p:nvPr>
            <p:ph idx="1" type="body"/>
          </p:nvPr>
        </p:nvSpPr>
        <p:spPr>
          <a:xfrm>
            <a:off x="319350" y="4138050"/>
            <a:ext cx="7120500" cy="7875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sz="2800">
                <a:solidFill>
                  <a:srgbClr val="1155CC"/>
                </a:solidFill>
              </a:rPr>
              <a:t>Please install Docker </a:t>
            </a:r>
            <a:r>
              <a:rPr lang="en" sz="2200" u="sng">
                <a:solidFill>
                  <a:schemeClr val="hlink"/>
                </a:solidFill>
                <a:highlight>
                  <a:schemeClr val="lt1"/>
                </a:highlight>
                <a:latin typeface="Arial"/>
                <a:ea typeface="Arial"/>
                <a:cs typeface="Arial"/>
                <a:sym typeface="Arial"/>
                <a:hlinkClick r:id="rId7"/>
              </a:rPr>
              <a:t>https://www.docker.com/products/docker-desktop/</a:t>
            </a:r>
            <a:r>
              <a:rPr b="1" lang="en" sz="2200">
                <a:solidFill>
                  <a:srgbClr val="1155CC"/>
                </a:solidFill>
                <a:latin typeface="Arial"/>
                <a:ea typeface="Arial"/>
                <a:cs typeface="Arial"/>
                <a:sym typeface="Arial"/>
              </a:rPr>
              <a:t> </a:t>
            </a:r>
            <a:endParaRPr sz="2200">
              <a:solidFill>
                <a:srgbClr val="24292F"/>
              </a:solidFill>
              <a:highlight>
                <a:srgbClr val="FFFFFF"/>
              </a:highlight>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76"/>
          <p:cNvSpPr txBox="1"/>
          <p:nvPr>
            <p:ph type="title"/>
          </p:nvPr>
        </p:nvSpPr>
        <p:spPr>
          <a:xfrm>
            <a:off x="158250" y="285941"/>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What to expect from this workshop</a:t>
            </a:r>
            <a:endParaRPr/>
          </a:p>
        </p:txBody>
      </p:sp>
      <p:sp>
        <p:nvSpPr>
          <p:cNvPr id="341" name="Google Shape;341;p76"/>
          <p:cNvSpPr txBox="1"/>
          <p:nvPr>
            <p:ph idx="1" type="body"/>
          </p:nvPr>
        </p:nvSpPr>
        <p:spPr>
          <a:xfrm>
            <a:off x="245425" y="829175"/>
            <a:ext cx="8773500" cy="3263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sz="1900">
              <a:latin typeface="Arial"/>
              <a:ea typeface="Arial"/>
              <a:cs typeface="Arial"/>
              <a:sym typeface="Arial"/>
            </a:endParaRPr>
          </a:p>
          <a:p>
            <a:pPr indent="-349250" lvl="0" marL="457200" rtl="0" algn="l">
              <a:lnSpc>
                <a:spcPct val="150000"/>
              </a:lnSpc>
              <a:spcBef>
                <a:spcPts val="0"/>
              </a:spcBef>
              <a:spcAft>
                <a:spcPts val="0"/>
              </a:spcAft>
              <a:buSzPts val="1900"/>
              <a:buFont typeface="Arial"/>
              <a:buChar char="●"/>
            </a:pPr>
            <a:r>
              <a:rPr lang="en" sz="1900">
                <a:latin typeface="Arial"/>
                <a:ea typeface="Arial"/>
                <a:cs typeface="Arial"/>
                <a:sym typeface="Arial"/>
              </a:rPr>
              <a:t>Demystify each step of the </a:t>
            </a:r>
            <a:r>
              <a:rPr lang="en" sz="1900">
                <a:latin typeface="Arial"/>
                <a:ea typeface="Arial"/>
                <a:cs typeface="Arial"/>
                <a:sym typeface="Arial"/>
              </a:rPr>
              <a:t>RNA-Seq data analysis</a:t>
            </a:r>
            <a:endParaRPr sz="1900">
              <a:latin typeface="Arial"/>
              <a:ea typeface="Arial"/>
              <a:cs typeface="Arial"/>
              <a:sym typeface="Arial"/>
            </a:endParaRPr>
          </a:p>
          <a:p>
            <a:pPr indent="-349250" lvl="0" marL="457200" rtl="0" algn="l">
              <a:lnSpc>
                <a:spcPct val="150000"/>
              </a:lnSpc>
              <a:spcBef>
                <a:spcPts val="0"/>
              </a:spcBef>
              <a:spcAft>
                <a:spcPts val="0"/>
              </a:spcAft>
              <a:buSzPts val="1900"/>
              <a:buFont typeface="Arial"/>
              <a:buChar char="●"/>
            </a:pPr>
            <a:r>
              <a:rPr lang="en" sz="1900">
                <a:latin typeface="Arial"/>
                <a:ea typeface="Arial"/>
                <a:cs typeface="Arial"/>
                <a:sym typeface="Arial"/>
              </a:rPr>
              <a:t>Understand bioinformatic analysis steps from raw data to DEG</a:t>
            </a:r>
            <a:endParaRPr sz="1900">
              <a:latin typeface="Arial"/>
              <a:ea typeface="Arial"/>
              <a:cs typeface="Arial"/>
              <a:sym typeface="Arial"/>
            </a:endParaRPr>
          </a:p>
          <a:p>
            <a:pPr indent="-349250" lvl="0" marL="457200" rtl="0" algn="l">
              <a:lnSpc>
                <a:spcPct val="150000"/>
              </a:lnSpc>
              <a:spcBef>
                <a:spcPts val="0"/>
              </a:spcBef>
              <a:spcAft>
                <a:spcPts val="0"/>
              </a:spcAft>
              <a:buSzPts val="1900"/>
              <a:buFont typeface="Arial"/>
              <a:buChar char="●"/>
            </a:pPr>
            <a:r>
              <a:rPr lang="en" sz="1900">
                <a:latin typeface="Arial"/>
                <a:ea typeface="Arial"/>
                <a:cs typeface="Arial"/>
                <a:sym typeface="Arial"/>
              </a:rPr>
              <a:t>Enable informed conversations with computational biologists</a:t>
            </a:r>
            <a:endParaRPr sz="1900">
              <a:latin typeface="Arial"/>
              <a:ea typeface="Arial"/>
              <a:cs typeface="Arial"/>
              <a:sym typeface="Arial"/>
            </a:endParaRPr>
          </a:p>
          <a:p>
            <a:pPr indent="-349250" lvl="0" marL="457200" rtl="0" algn="l">
              <a:lnSpc>
                <a:spcPct val="150000"/>
              </a:lnSpc>
              <a:spcBef>
                <a:spcPts val="0"/>
              </a:spcBef>
              <a:spcAft>
                <a:spcPts val="0"/>
              </a:spcAft>
              <a:buSzPts val="1900"/>
              <a:buFont typeface="Arial"/>
              <a:buChar char="●"/>
            </a:pPr>
            <a:r>
              <a:rPr lang="en" sz="1900">
                <a:latin typeface="Arial"/>
                <a:ea typeface="Arial"/>
                <a:cs typeface="Arial"/>
                <a:sym typeface="Arial"/>
              </a:rPr>
              <a:t>Demonstrate how to process a mock dataset and get a count matrix using </a:t>
            </a:r>
            <a:r>
              <a:rPr i="1" lang="en" sz="1900">
                <a:latin typeface="Arial"/>
                <a:ea typeface="Arial"/>
                <a:cs typeface="Arial"/>
                <a:sym typeface="Arial"/>
              </a:rPr>
              <a:t>docker</a:t>
            </a:r>
            <a:r>
              <a:rPr lang="en" sz="1900">
                <a:latin typeface="Arial"/>
                <a:ea typeface="Arial"/>
                <a:cs typeface="Arial"/>
                <a:sym typeface="Arial"/>
              </a:rPr>
              <a:t> </a:t>
            </a:r>
            <a:endParaRPr sz="1900">
              <a:latin typeface="Arial"/>
              <a:ea typeface="Arial"/>
              <a:cs typeface="Arial"/>
              <a:sym typeface="Arial"/>
            </a:endParaRPr>
          </a:p>
          <a:p>
            <a:pPr indent="-349250" lvl="0" marL="457200" rtl="0" algn="l">
              <a:lnSpc>
                <a:spcPct val="150000"/>
              </a:lnSpc>
              <a:spcBef>
                <a:spcPts val="0"/>
              </a:spcBef>
              <a:spcAft>
                <a:spcPts val="0"/>
              </a:spcAft>
              <a:buClr>
                <a:schemeClr val="dk1"/>
              </a:buClr>
              <a:buSzPts val="1900"/>
              <a:buFont typeface="Helvetica Neue"/>
              <a:buChar char="●"/>
            </a:pPr>
            <a:r>
              <a:rPr lang="en" sz="1900"/>
              <a:t>Perform the normalization and DEG analysis with a real dataset using R packages</a:t>
            </a:r>
            <a:endParaRPr sz="1900">
              <a:latin typeface="Arial"/>
              <a:ea typeface="Arial"/>
              <a:cs typeface="Arial"/>
              <a:sym typeface="Arial"/>
            </a:endParaRPr>
          </a:p>
          <a:p>
            <a:pPr indent="-349250" lvl="0" marL="457200" rtl="0" algn="l">
              <a:lnSpc>
                <a:spcPct val="150000"/>
              </a:lnSpc>
              <a:spcBef>
                <a:spcPts val="0"/>
              </a:spcBef>
              <a:spcAft>
                <a:spcPts val="0"/>
              </a:spcAft>
              <a:buSzPts val="1900"/>
              <a:buFont typeface="Arial"/>
              <a:buChar char="●"/>
            </a:pPr>
            <a:r>
              <a:rPr lang="en" sz="1900">
                <a:latin typeface="Arial"/>
                <a:ea typeface="Arial"/>
                <a:cs typeface="Arial"/>
                <a:sym typeface="Arial"/>
              </a:rPr>
              <a:t>Not to provide end-to-end fits all analysis pipeline</a:t>
            </a:r>
            <a:endParaRPr sz="1900">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77"/>
          <p:cNvSpPr txBox="1"/>
          <p:nvPr>
            <p:ph type="title"/>
          </p:nvPr>
        </p:nvSpPr>
        <p:spPr>
          <a:xfrm>
            <a:off x="270725" y="152991"/>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Target audience</a:t>
            </a:r>
            <a:endParaRPr/>
          </a:p>
        </p:txBody>
      </p:sp>
      <p:sp>
        <p:nvSpPr>
          <p:cNvPr id="347" name="Google Shape;347;p77"/>
          <p:cNvSpPr txBox="1"/>
          <p:nvPr>
            <p:ph idx="1" type="body"/>
          </p:nvPr>
        </p:nvSpPr>
        <p:spPr>
          <a:xfrm>
            <a:off x="332100" y="818950"/>
            <a:ext cx="8727900" cy="3263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sz="2200">
              <a:latin typeface="Arial"/>
              <a:ea typeface="Arial"/>
              <a:cs typeface="Arial"/>
              <a:sym typeface="Arial"/>
            </a:endParaRPr>
          </a:p>
          <a:p>
            <a:pPr indent="0" lvl="0" marL="0" rtl="0" algn="l">
              <a:lnSpc>
                <a:spcPct val="150000"/>
              </a:lnSpc>
              <a:spcBef>
                <a:spcPts val="0"/>
              </a:spcBef>
              <a:spcAft>
                <a:spcPts val="0"/>
              </a:spcAft>
              <a:buNone/>
            </a:pPr>
            <a:r>
              <a:rPr b="1" lang="en">
                <a:solidFill>
                  <a:srgbClr val="F76912"/>
                </a:solidFill>
                <a:latin typeface="Arial"/>
                <a:ea typeface="Arial"/>
                <a:cs typeface="Arial"/>
                <a:sym typeface="Arial"/>
              </a:rPr>
              <a:t>Session I and II: from sequencer to count matrix</a:t>
            </a:r>
            <a:endParaRPr b="1">
              <a:solidFill>
                <a:srgbClr val="F76912"/>
              </a:solidFill>
              <a:latin typeface="Arial"/>
              <a:ea typeface="Arial"/>
              <a:cs typeface="Arial"/>
              <a:sym typeface="Arial"/>
            </a:endParaRPr>
          </a:p>
          <a:p>
            <a:pPr indent="-317500" lvl="0" marL="457200" rtl="0" algn="l">
              <a:lnSpc>
                <a:spcPct val="150000"/>
              </a:lnSpc>
              <a:spcBef>
                <a:spcPts val="0"/>
              </a:spcBef>
              <a:spcAft>
                <a:spcPts val="0"/>
              </a:spcAft>
              <a:buSzPts val="1400"/>
              <a:buFont typeface="Arial"/>
              <a:buChar char="●"/>
            </a:pPr>
            <a:r>
              <a:rPr lang="en">
                <a:latin typeface="Arial"/>
                <a:ea typeface="Arial"/>
                <a:cs typeface="Arial"/>
                <a:sym typeface="Arial"/>
              </a:rPr>
              <a:t>Ideal</a:t>
            </a:r>
            <a:r>
              <a:rPr lang="en">
                <a:latin typeface="Arial"/>
                <a:ea typeface="Arial"/>
                <a:cs typeface="Arial"/>
                <a:sym typeface="Arial"/>
              </a:rPr>
              <a:t> for beginners with no prior experience; </a:t>
            </a:r>
            <a:r>
              <a:rPr lang="en">
                <a:latin typeface="Arial"/>
                <a:ea typeface="Arial"/>
                <a:cs typeface="Arial"/>
                <a:sym typeface="Arial"/>
              </a:rPr>
              <a:t>it might feel slow if you are already familiar with the concepts.</a:t>
            </a:r>
            <a:endParaRPr>
              <a:latin typeface="Arial"/>
              <a:ea typeface="Arial"/>
              <a:cs typeface="Arial"/>
              <a:sym typeface="Arial"/>
            </a:endParaRPr>
          </a:p>
          <a:p>
            <a:pPr indent="0" lvl="0" marL="0" rtl="0" algn="l">
              <a:lnSpc>
                <a:spcPct val="150000"/>
              </a:lnSpc>
              <a:spcBef>
                <a:spcPts val="0"/>
              </a:spcBef>
              <a:spcAft>
                <a:spcPts val="0"/>
              </a:spcAft>
              <a:buNone/>
            </a:pPr>
            <a:r>
              <a:rPr b="1" lang="en">
                <a:solidFill>
                  <a:srgbClr val="F76912"/>
                </a:solidFill>
                <a:latin typeface="Arial"/>
                <a:ea typeface="Arial"/>
                <a:cs typeface="Arial"/>
                <a:sym typeface="Arial"/>
              </a:rPr>
              <a:t>Session III: from count matrix to DEG</a:t>
            </a:r>
            <a:endParaRPr b="1">
              <a:solidFill>
                <a:srgbClr val="F76912"/>
              </a:solidFill>
              <a:latin typeface="Arial"/>
              <a:ea typeface="Arial"/>
              <a:cs typeface="Arial"/>
              <a:sym typeface="Arial"/>
            </a:endParaRPr>
          </a:p>
          <a:p>
            <a:pPr indent="-381000" lvl="0" marL="457200" rtl="0" algn="l">
              <a:lnSpc>
                <a:spcPct val="150000"/>
              </a:lnSpc>
              <a:spcBef>
                <a:spcPts val="800"/>
              </a:spcBef>
              <a:spcAft>
                <a:spcPts val="0"/>
              </a:spcAft>
              <a:buClr>
                <a:schemeClr val="dk1"/>
              </a:buClr>
              <a:buSzPts val="2400"/>
              <a:buChar char="•"/>
            </a:pPr>
            <a:r>
              <a:rPr lang="en">
                <a:solidFill>
                  <a:schemeClr val="dk1"/>
                </a:solidFill>
              </a:rPr>
              <a:t>Familiarity with basic concepts of statistics and hypothesis testing</a:t>
            </a:r>
            <a:endParaRPr>
              <a:latin typeface="Arial"/>
              <a:ea typeface="Arial"/>
              <a:cs typeface="Arial"/>
              <a:sym typeface="Arial"/>
            </a:endParaRPr>
          </a:p>
          <a:p>
            <a:pPr indent="0" lvl="0" marL="0" rtl="0" algn="l">
              <a:lnSpc>
                <a:spcPct val="150000"/>
              </a:lnSpc>
              <a:spcBef>
                <a:spcPts val="1000"/>
              </a:spcBef>
              <a:spcAft>
                <a:spcPts val="0"/>
              </a:spcAft>
              <a:buNone/>
            </a:pPr>
            <a:r>
              <a:rPr b="1" lang="en">
                <a:solidFill>
                  <a:srgbClr val="F76912"/>
                </a:solidFill>
                <a:latin typeface="Arial"/>
                <a:ea typeface="Arial"/>
                <a:cs typeface="Arial"/>
                <a:sym typeface="Arial"/>
              </a:rPr>
              <a:t>For the demos</a:t>
            </a:r>
            <a:r>
              <a:rPr lang="en">
                <a:latin typeface="Arial"/>
                <a:ea typeface="Arial"/>
                <a:cs typeface="Arial"/>
                <a:sym typeface="Arial"/>
              </a:rPr>
              <a:t> - expected familiarity with </a:t>
            </a:r>
            <a:r>
              <a:rPr lang="en">
                <a:latin typeface="Arial"/>
                <a:ea typeface="Arial"/>
                <a:cs typeface="Arial"/>
                <a:sym typeface="Arial"/>
              </a:rPr>
              <a:t>command</a:t>
            </a:r>
            <a:r>
              <a:rPr lang="en">
                <a:latin typeface="Arial"/>
                <a:ea typeface="Arial"/>
                <a:cs typeface="Arial"/>
                <a:sym typeface="Arial"/>
              </a:rPr>
              <a:t> line, R and RStudio</a:t>
            </a:r>
            <a:endParaRPr>
              <a:latin typeface="Arial"/>
              <a:ea typeface="Arial"/>
              <a:cs typeface="Arial"/>
              <a:sym typeface="Arial"/>
            </a:endParaRPr>
          </a:p>
          <a:p>
            <a:pPr indent="0" lvl="0" marL="0" rtl="0" algn="l">
              <a:lnSpc>
                <a:spcPct val="150000"/>
              </a:lnSpc>
              <a:spcBef>
                <a:spcPts val="1000"/>
              </a:spcBef>
              <a:spcAft>
                <a:spcPts val="0"/>
              </a:spcAft>
              <a:buNone/>
            </a:pPr>
            <a:r>
              <a:t/>
            </a:r>
            <a:endParaRPr>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78"/>
          <p:cNvSpPr txBox="1"/>
          <p:nvPr>
            <p:ph type="title"/>
          </p:nvPr>
        </p:nvSpPr>
        <p:spPr>
          <a:xfrm>
            <a:off x="628650" y="531341"/>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Poll 1</a:t>
            </a:r>
            <a:endParaRPr/>
          </a:p>
        </p:txBody>
      </p:sp>
      <p:sp>
        <p:nvSpPr>
          <p:cNvPr id="353" name="Google Shape;353;p78"/>
          <p:cNvSpPr txBox="1"/>
          <p:nvPr>
            <p:ph idx="1" type="body"/>
          </p:nvPr>
        </p:nvSpPr>
        <p:spPr>
          <a:xfrm>
            <a:off x="628650" y="1369219"/>
            <a:ext cx="7886700" cy="3263400"/>
          </a:xfrm>
          <a:prstGeom prst="rect">
            <a:avLst/>
          </a:prstGeom>
        </p:spPr>
        <p:txBody>
          <a:bodyPr anchorCtr="0" anchor="t" bIns="0" lIns="0" spcFirstLastPara="1" rIns="0" wrap="square" tIns="0">
            <a:normAutofit fontScale="92500" lnSpcReduction="20000"/>
          </a:bodyPr>
          <a:lstStyle/>
          <a:p>
            <a:pPr indent="0" lvl="0" marL="457200" rtl="0" algn="l">
              <a:lnSpc>
                <a:spcPct val="100000"/>
              </a:lnSpc>
              <a:spcBef>
                <a:spcPts val="0"/>
              </a:spcBef>
              <a:spcAft>
                <a:spcPts val="0"/>
              </a:spcAft>
              <a:buClr>
                <a:schemeClr val="dk1"/>
              </a:buClr>
              <a:buSzPct val="60870"/>
              <a:buFont typeface="Arial"/>
              <a:buNone/>
            </a:pPr>
            <a:r>
              <a:rPr lang="en" sz="2300">
                <a:solidFill>
                  <a:schemeClr val="dk1"/>
                </a:solidFill>
                <a:latin typeface="Arial"/>
                <a:ea typeface="Arial"/>
                <a:cs typeface="Arial"/>
                <a:sym typeface="Arial"/>
              </a:rPr>
              <a:t>Which is your expectation from this workshop? </a:t>
            </a:r>
            <a:endParaRPr sz="2300">
              <a:solidFill>
                <a:schemeClr val="dk1"/>
              </a:solidFill>
              <a:latin typeface="Arial"/>
              <a:ea typeface="Arial"/>
              <a:cs typeface="Arial"/>
              <a:sym typeface="Arial"/>
            </a:endParaRPr>
          </a:p>
          <a:p>
            <a:pPr indent="0" lvl="0" marL="457200" rtl="0" algn="l">
              <a:lnSpc>
                <a:spcPct val="100000"/>
              </a:lnSpc>
              <a:spcBef>
                <a:spcPts val="0"/>
              </a:spcBef>
              <a:spcAft>
                <a:spcPts val="0"/>
              </a:spcAft>
              <a:buClr>
                <a:schemeClr val="dk1"/>
              </a:buClr>
              <a:buSzPct val="60870"/>
              <a:buFont typeface="Arial"/>
              <a:buNone/>
            </a:pPr>
            <a:r>
              <a:rPr lang="en" sz="2300">
                <a:solidFill>
                  <a:schemeClr val="dk1"/>
                </a:solidFill>
                <a:latin typeface="Arial"/>
                <a:ea typeface="Arial"/>
                <a:cs typeface="Arial"/>
                <a:sym typeface="Arial"/>
              </a:rPr>
              <a:t>I want to:</a:t>
            </a:r>
            <a:endParaRPr/>
          </a:p>
          <a:p>
            <a:pPr indent="0" lvl="0" marL="0" rtl="0" algn="l">
              <a:lnSpc>
                <a:spcPct val="100000"/>
              </a:lnSpc>
              <a:spcBef>
                <a:spcPts val="0"/>
              </a:spcBef>
              <a:spcAft>
                <a:spcPts val="0"/>
              </a:spcAft>
              <a:buClr>
                <a:schemeClr val="dk1"/>
              </a:buClr>
              <a:buSzPct val="56000"/>
              <a:buFont typeface="Arial"/>
              <a:buNone/>
            </a:pPr>
            <a:r>
              <a:t/>
            </a:r>
            <a:endParaRPr sz="2500">
              <a:solidFill>
                <a:schemeClr val="dk1"/>
              </a:solidFill>
              <a:latin typeface="Arial"/>
              <a:ea typeface="Arial"/>
              <a:cs typeface="Arial"/>
              <a:sym typeface="Arial"/>
            </a:endParaRPr>
          </a:p>
          <a:p>
            <a:pPr indent="0" lvl="0" marL="457200" rtl="0" algn="l">
              <a:lnSpc>
                <a:spcPct val="150000"/>
              </a:lnSpc>
              <a:spcBef>
                <a:spcPts val="0"/>
              </a:spcBef>
              <a:spcAft>
                <a:spcPts val="0"/>
              </a:spcAft>
              <a:buClr>
                <a:schemeClr val="dk1"/>
              </a:buClr>
              <a:buSzPct val="73684"/>
              <a:buFont typeface="Arial"/>
              <a:buNone/>
            </a:pPr>
            <a:r>
              <a:rPr lang="en" sz="1900">
                <a:solidFill>
                  <a:schemeClr val="dk1"/>
                </a:solidFill>
                <a:latin typeface="Arial"/>
                <a:ea typeface="Arial"/>
                <a:cs typeface="Arial"/>
                <a:sym typeface="Arial"/>
              </a:rPr>
              <a:t>1) </a:t>
            </a:r>
            <a:r>
              <a:rPr lang="en">
                <a:solidFill>
                  <a:schemeClr val="dk1"/>
                </a:solidFill>
                <a:latin typeface="Arial"/>
                <a:ea typeface="Arial"/>
                <a:cs typeface="Arial"/>
                <a:sym typeface="Arial"/>
              </a:rPr>
              <a:t>Analyze my  RNA-seq raw data </a:t>
            </a:r>
            <a:endParaRPr>
              <a:solidFill>
                <a:schemeClr val="dk1"/>
              </a:solidFill>
              <a:latin typeface="Arial"/>
              <a:ea typeface="Arial"/>
              <a:cs typeface="Arial"/>
              <a:sym typeface="Arial"/>
            </a:endParaRPr>
          </a:p>
          <a:p>
            <a:pPr indent="0" lvl="0" marL="457200" rtl="0" algn="l">
              <a:lnSpc>
                <a:spcPct val="150000"/>
              </a:lnSpc>
              <a:spcBef>
                <a:spcPts val="0"/>
              </a:spcBef>
              <a:spcAft>
                <a:spcPts val="0"/>
              </a:spcAft>
              <a:buClr>
                <a:schemeClr val="dk1"/>
              </a:buClr>
              <a:buSzPct val="66667"/>
              <a:buFont typeface="Arial"/>
              <a:buNone/>
            </a:pPr>
            <a:r>
              <a:rPr lang="en">
                <a:solidFill>
                  <a:schemeClr val="dk1"/>
                </a:solidFill>
                <a:latin typeface="Arial"/>
                <a:ea typeface="Arial"/>
                <a:cs typeface="Arial"/>
                <a:sym typeface="Arial"/>
              </a:rPr>
              <a:t>2) Improve my existing analysis pipeline settings</a:t>
            </a:r>
            <a:endParaRPr>
              <a:solidFill>
                <a:schemeClr val="dk1"/>
              </a:solidFill>
              <a:latin typeface="Arial"/>
              <a:ea typeface="Arial"/>
              <a:cs typeface="Arial"/>
              <a:sym typeface="Arial"/>
            </a:endParaRPr>
          </a:p>
          <a:p>
            <a:pPr indent="0" lvl="0" marL="457200" rtl="0" algn="l">
              <a:lnSpc>
                <a:spcPct val="150000"/>
              </a:lnSpc>
              <a:spcBef>
                <a:spcPts val="0"/>
              </a:spcBef>
              <a:spcAft>
                <a:spcPts val="0"/>
              </a:spcAft>
              <a:buClr>
                <a:schemeClr val="dk1"/>
              </a:buClr>
              <a:buSzPct val="66667"/>
              <a:buFont typeface="Arial"/>
              <a:buNone/>
            </a:pPr>
            <a:r>
              <a:rPr lang="en">
                <a:solidFill>
                  <a:schemeClr val="dk1"/>
                </a:solidFill>
                <a:latin typeface="Arial"/>
                <a:ea typeface="Arial"/>
                <a:cs typeface="Arial"/>
                <a:sym typeface="Arial"/>
              </a:rPr>
              <a:t>3) Learn about RNA-seq analysis</a:t>
            </a:r>
            <a:endParaRPr/>
          </a:p>
          <a:p>
            <a:pPr indent="0" lvl="0" marL="457200" rtl="0" algn="l">
              <a:lnSpc>
                <a:spcPct val="150000"/>
              </a:lnSpc>
              <a:spcBef>
                <a:spcPts val="0"/>
              </a:spcBef>
              <a:spcAft>
                <a:spcPts val="0"/>
              </a:spcAft>
              <a:buClr>
                <a:schemeClr val="dk1"/>
              </a:buClr>
              <a:buSzPct val="66667"/>
              <a:buFont typeface="Arial"/>
              <a:buNone/>
            </a:pPr>
            <a:r>
              <a:t/>
            </a:r>
            <a:endParaRPr>
              <a:solidFill>
                <a:schemeClr val="dk1"/>
              </a:solidFill>
              <a:latin typeface="Arial"/>
              <a:ea typeface="Arial"/>
              <a:cs typeface="Arial"/>
              <a:sym typeface="Arial"/>
            </a:endParaRPr>
          </a:p>
          <a:p>
            <a:pPr indent="0" lvl="0" marL="457200" rtl="0" algn="l">
              <a:lnSpc>
                <a:spcPct val="150000"/>
              </a:lnSpc>
              <a:spcBef>
                <a:spcPts val="0"/>
              </a:spcBef>
              <a:spcAft>
                <a:spcPts val="0"/>
              </a:spcAft>
              <a:buClr>
                <a:schemeClr val="dk1"/>
              </a:buClr>
              <a:buSzPct val="66667"/>
              <a:buFont typeface="Arial"/>
              <a:buNone/>
            </a:pPr>
            <a:r>
              <a:rPr lang="en">
                <a:solidFill>
                  <a:schemeClr val="dk1"/>
                </a:solidFill>
                <a:latin typeface="Arial"/>
                <a:ea typeface="Arial"/>
                <a:cs typeface="Arial"/>
                <a:sym typeface="Arial"/>
              </a:rPr>
              <a:t>Please select all that apply.</a:t>
            </a:r>
            <a:endParaRPr/>
          </a:p>
          <a:p>
            <a:pPr indent="0" lvl="0" marL="0" rtl="0" algn="l">
              <a:spcBef>
                <a:spcPts val="80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79"/>
          <p:cNvSpPr txBox="1"/>
          <p:nvPr/>
        </p:nvSpPr>
        <p:spPr>
          <a:xfrm>
            <a:off x="257850" y="924775"/>
            <a:ext cx="8628300" cy="41745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 sz="3400">
                <a:solidFill>
                  <a:srgbClr val="002B42"/>
                </a:solidFill>
              </a:rPr>
              <a:t>Session 1</a:t>
            </a:r>
            <a:endParaRPr b="1" sz="3400">
              <a:solidFill>
                <a:srgbClr val="002B42"/>
              </a:solidFill>
            </a:endParaRPr>
          </a:p>
          <a:p>
            <a:pPr indent="0" lvl="0" marL="0" rtl="0" algn="l">
              <a:lnSpc>
                <a:spcPct val="90000"/>
              </a:lnSpc>
              <a:spcBef>
                <a:spcPts val="0"/>
              </a:spcBef>
              <a:spcAft>
                <a:spcPts val="0"/>
              </a:spcAft>
              <a:buNone/>
            </a:pPr>
            <a:r>
              <a:rPr b="1" lang="en" sz="3100">
                <a:solidFill>
                  <a:schemeClr val="accent2"/>
                </a:solidFill>
              </a:rPr>
              <a:t>From sequencer to adapter trimming</a:t>
            </a:r>
            <a:endParaRPr b="1" sz="3100">
              <a:solidFill>
                <a:schemeClr val="accent2"/>
              </a:solidFill>
            </a:endParaRPr>
          </a:p>
          <a:p>
            <a:pPr indent="0" lvl="0" marL="0" rtl="0" algn="l">
              <a:lnSpc>
                <a:spcPct val="90000"/>
              </a:lnSpc>
              <a:spcBef>
                <a:spcPts val="0"/>
              </a:spcBef>
              <a:spcAft>
                <a:spcPts val="0"/>
              </a:spcAft>
              <a:buNone/>
            </a:pPr>
            <a:r>
              <a:t/>
            </a:r>
            <a:endParaRPr b="1" i="1" sz="3100">
              <a:solidFill>
                <a:schemeClr val="dk1"/>
              </a:solidFill>
            </a:endParaRPr>
          </a:p>
          <a:p>
            <a:pPr indent="0" lvl="0" marL="0" rtl="0" algn="l">
              <a:lnSpc>
                <a:spcPct val="90000"/>
              </a:lnSpc>
              <a:spcBef>
                <a:spcPts val="0"/>
              </a:spcBef>
              <a:spcAft>
                <a:spcPts val="0"/>
              </a:spcAft>
              <a:buClr>
                <a:schemeClr val="dk1"/>
              </a:buClr>
              <a:buSzPts val="1100"/>
              <a:buFont typeface="Arial"/>
              <a:buNone/>
            </a:pPr>
            <a:r>
              <a:rPr b="1" lang="en" sz="3400">
                <a:solidFill>
                  <a:srgbClr val="002B42"/>
                </a:solidFill>
              </a:rPr>
              <a:t>Session 2</a:t>
            </a:r>
            <a:endParaRPr b="1" sz="3400">
              <a:solidFill>
                <a:srgbClr val="002B42"/>
              </a:solidFill>
            </a:endParaRPr>
          </a:p>
          <a:p>
            <a:pPr indent="0" lvl="0" marL="0" rtl="0" algn="l">
              <a:lnSpc>
                <a:spcPct val="90000"/>
              </a:lnSpc>
              <a:spcBef>
                <a:spcPts val="0"/>
              </a:spcBef>
              <a:spcAft>
                <a:spcPts val="0"/>
              </a:spcAft>
              <a:buClr>
                <a:schemeClr val="dk1"/>
              </a:buClr>
              <a:buSzPts val="1100"/>
              <a:buFont typeface="Arial"/>
              <a:buNone/>
            </a:pPr>
            <a:r>
              <a:rPr b="1" lang="en" sz="3100">
                <a:solidFill>
                  <a:schemeClr val="accent2"/>
                </a:solidFill>
              </a:rPr>
              <a:t>From trimming to count amtrix</a:t>
            </a:r>
            <a:endParaRPr b="1" sz="3100">
              <a:solidFill>
                <a:schemeClr val="accent2"/>
              </a:solidFill>
            </a:endParaRPr>
          </a:p>
          <a:p>
            <a:pPr indent="0" lvl="0" marL="0" rtl="0" algn="l">
              <a:lnSpc>
                <a:spcPct val="90000"/>
              </a:lnSpc>
              <a:spcBef>
                <a:spcPts val="0"/>
              </a:spcBef>
              <a:spcAft>
                <a:spcPts val="0"/>
              </a:spcAft>
              <a:buNone/>
            </a:pPr>
            <a:r>
              <a:t/>
            </a:r>
            <a:endParaRPr b="1" i="1" sz="3100">
              <a:solidFill>
                <a:schemeClr val="dk1"/>
              </a:solidFill>
            </a:endParaRPr>
          </a:p>
          <a:p>
            <a:pPr indent="0" lvl="0" marL="0" rtl="0" algn="l">
              <a:lnSpc>
                <a:spcPct val="90000"/>
              </a:lnSpc>
              <a:spcBef>
                <a:spcPts val="0"/>
              </a:spcBef>
              <a:spcAft>
                <a:spcPts val="0"/>
              </a:spcAft>
              <a:buClr>
                <a:schemeClr val="dk1"/>
              </a:buClr>
              <a:buSzPts val="1100"/>
              <a:buFont typeface="Arial"/>
              <a:buNone/>
            </a:pPr>
            <a:r>
              <a:rPr b="1" lang="en" sz="3400">
                <a:solidFill>
                  <a:srgbClr val="002B42"/>
                </a:solidFill>
              </a:rPr>
              <a:t>Session 3</a:t>
            </a:r>
            <a:endParaRPr b="1" sz="3400">
              <a:solidFill>
                <a:srgbClr val="002B42"/>
              </a:solidFill>
            </a:endParaRPr>
          </a:p>
          <a:p>
            <a:pPr indent="0" lvl="0" marL="0" rtl="0" algn="l">
              <a:lnSpc>
                <a:spcPct val="90000"/>
              </a:lnSpc>
              <a:spcBef>
                <a:spcPts val="0"/>
              </a:spcBef>
              <a:spcAft>
                <a:spcPts val="0"/>
              </a:spcAft>
              <a:buClr>
                <a:schemeClr val="dk1"/>
              </a:buClr>
              <a:buSzPts val="1100"/>
              <a:buFont typeface="Arial"/>
              <a:buNone/>
            </a:pPr>
            <a:r>
              <a:rPr b="1" lang="en" sz="3100">
                <a:solidFill>
                  <a:schemeClr val="accent2"/>
                </a:solidFill>
              </a:rPr>
              <a:t>From count matrix to DEGs</a:t>
            </a:r>
            <a:endParaRPr b="1" sz="3100">
              <a:solidFill>
                <a:schemeClr val="accent2"/>
              </a:solidFill>
            </a:endParaRPr>
          </a:p>
          <a:p>
            <a:pPr indent="0" lvl="0" marL="0" rtl="0" algn="l">
              <a:lnSpc>
                <a:spcPct val="90000"/>
              </a:lnSpc>
              <a:spcBef>
                <a:spcPts val="0"/>
              </a:spcBef>
              <a:spcAft>
                <a:spcPts val="0"/>
              </a:spcAft>
              <a:buNone/>
            </a:pPr>
            <a:r>
              <a:t/>
            </a:r>
            <a:endParaRPr b="1" i="1" sz="3100">
              <a:solidFill>
                <a:schemeClr val="dk1"/>
              </a:solidFill>
            </a:endParaRPr>
          </a:p>
        </p:txBody>
      </p:sp>
      <p:sp>
        <p:nvSpPr>
          <p:cNvPr id="359" name="Google Shape;359;p79"/>
          <p:cNvSpPr txBox="1"/>
          <p:nvPr>
            <p:ph type="title"/>
          </p:nvPr>
        </p:nvSpPr>
        <p:spPr>
          <a:xfrm>
            <a:off x="134750" y="-4709"/>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Workshop outline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80"/>
          <p:cNvSpPr txBox="1"/>
          <p:nvPr>
            <p:ph type="title"/>
          </p:nvPr>
        </p:nvSpPr>
        <p:spPr>
          <a:xfrm>
            <a:off x="134750" y="-4709"/>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Workshop outline</a:t>
            </a:r>
            <a:endParaRPr/>
          </a:p>
        </p:txBody>
      </p:sp>
      <p:sp>
        <p:nvSpPr>
          <p:cNvPr id="365" name="Google Shape;365;p80"/>
          <p:cNvSpPr txBox="1"/>
          <p:nvPr>
            <p:ph idx="1" type="body"/>
          </p:nvPr>
        </p:nvSpPr>
        <p:spPr>
          <a:xfrm>
            <a:off x="134750" y="457575"/>
            <a:ext cx="4589400" cy="462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900">
                <a:solidFill>
                  <a:schemeClr val="accent2"/>
                </a:solidFill>
                <a:latin typeface="Arial"/>
                <a:ea typeface="Arial"/>
                <a:cs typeface="Arial"/>
                <a:sym typeface="Arial"/>
              </a:rPr>
              <a:t>Session I </a:t>
            </a:r>
            <a:endParaRPr b="1" sz="1900">
              <a:solidFill>
                <a:schemeClr val="accent2"/>
              </a:solidFill>
              <a:latin typeface="Arial"/>
              <a:ea typeface="Arial"/>
              <a:cs typeface="Arial"/>
              <a:sym typeface="Arial"/>
            </a:endParaRPr>
          </a:p>
          <a:p>
            <a:pPr indent="0" lvl="0" marL="0" rtl="0" algn="l">
              <a:lnSpc>
                <a:spcPct val="100000"/>
              </a:lnSpc>
              <a:spcBef>
                <a:spcPts val="0"/>
              </a:spcBef>
              <a:spcAft>
                <a:spcPts val="0"/>
              </a:spcAft>
              <a:buNone/>
            </a:pPr>
            <a:r>
              <a:t/>
            </a:r>
            <a:endParaRPr sz="600">
              <a:solidFill>
                <a:schemeClr val="accent2"/>
              </a:solidFill>
              <a:latin typeface="Arial"/>
              <a:ea typeface="Arial"/>
              <a:cs typeface="Arial"/>
              <a:sym typeface="Arial"/>
            </a:endParaRPr>
          </a:p>
          <a:p>
            <a:pPr indent="-336550" lvl="0" marL="457200" rtl="0" algn="l">
              <a:lnSpc>
                <a:spcPct val="100000"/>
              </a:lnSpc>
              <a:spcBef>
                <a:spcPts val="0"/>
              </a:spcBef>
              <a:spcAft>
                <a:spcPts val="0"/>
              </a:spcAft>
              <a:buSzPts val="1700"/>
              <a:buFont typeface="Arial"/>
              <a:buChar char="•"/>
            </a:pPr>
            <a:r>
              <a:rPr lang="en" sz="1700">
                <a:latin typeface="Arial"/>
                <a:ea typeface="Arial"/>
                <a:cs typeface="Arial"/>
                <a:sym typeface="Arial"/>
              </a:rPr>
              <a:t>RNA-seq analysis overview</a:t>
            </a:r>
            <a:endParaRPr sz="1700">
              <a:latin typeface="Arial"/>
              <a:ea typeface="Arial"/>
              <a:cs typeface="Arial"/>
              <a:sym typeface="Arial"/>
            </a:endParaRPr>
          </a:p>
          <a:p>
            <a:pPr indent="-336550" lvl="0" marL="457200" rtl="0" algn="l">
              <a:lnSpc>
                <a:spcPct val="100000"/>
              </a:lnSpc>
              <a:spcBef>
                <a:spcPts val="0"/>
              </a:spcBef>
              <a:spcAft>
                <a:spcPts val="0"/>
              </a:spcAft>
              <a:buSzPts val="1700"/>
              <a:buFont typeface="Arial"/>
              <a:buChar char="•"/>
            </a:pPr>
            <a:r>
              <a:rPr lang="en" sz="1700">
                <a:latin typeface="Arial"/>
                <a:ea typeface="Arial"/>
                <a:cs typeface="Arial"/>
                <a:sym typeface="Arial"/>
              </a:rPr>
              <a:t>Understanding</a:t>
            </a:r>
            <a:r>
              <a:rPr lang="en" sz="1700">
                <a:latin typeface="Arial"/>
                <a:ea typeface="Arial"/>
                <a:cs typeface="Arial"/>
                <a:sym typeface="Arial"/>
              </a:rPr>
              <a:t> the </a:t>
            </a:r>
            <a:r>
              <a:rPr lang="en" sz="1700">
                <a:latin typeface="Arial"/>
                <a:ea typeface="Arial"/>
                <a:cs typeface="Arial"/>
                <a:sym typeface="Arial"/>
              </a:rPr>
              <a:t>sequencer</a:t>
            </a:r>
            <a:r>
              <a:rPr lang="en" sz="1700">
                <a:latin typeface="Arial"/>
                <a:ea typeface="Arial"/>
                <a:cs typeface="Arial"/>
                <a:sym typeface="Arial"/>
              </a:rPr>
              <a:t> output</a:t>
            </a:r>
            <a:endParaRPr sz="1500">
              <a:latin typeface="Arial"/>
              <a:ea typeface="Arial"/>
              <a:cs typeface="Arial"/>
              <a:sym typeface="Arial"/>
            </a:endParaRPr>
          </a:p>
          <a:p>
            <a:pPr indent="-336550" lvl="0" marL="457200" rtl="0" algn="l">
              <a:lnSpc>
                <a:spcPct val="100000"/>
              </a:lnSpc>
              <a:spcBef>
                <a:spcPts val="0"/>
              </a:spcBef>
              <a:spcAft>
                <a:spcPts val="0"/>
              </a:spcAft>
              <a:buSzPts val="1700"/>
              <a:buFont typeface="Arial"/>
              <a:buChar char="•"/>
            </a:pPr>
            <a:r>
              <a:rPr lang="en" sz="1700">
                <a:latin typeface="Arial"/>
                <a:ea typeface="Arial"/>
                <a:cs typeface="Arial"/>
                <a:sym typeface="Arial"/>
              </a:rPr>
              <a:t>Quality checks</a:t>
            </a:r>
            <a:endParaRPr b="1" sz="1400">
              <a:latin typeface="Arial"/>
              <a:ea typeface="Arial"/>
              <a:cs typeface="Arial"/>
              <a:sym typeface="Arial"/>
            </a:endParaRPr>
          </a:p>
          <a:p>
            <a:pPr indent="-336550" lvl="0" marL="457200" rtl="0" algn="l">
              <a:lnSpc>
                <a:spcPct val="100000"/>
              </a:lnSpc>
              <a:spcBef>
                <a:spcPts val="0"/>
              </a:spcBef>
              <a:spcAft>
                <a:spcPts val="0"/>
              </a:spcAft>
              <a:buSzPts val="1700"/>
              <a:buChar char="•"/>
            </a:pPr>
            <a:r>
              <a:rPr lang="en" sz="1700">
                <a:latin typeface="Arial"/>
                <a:ea typeface="Arial"/>
                <a:cs typeface="Arial"/>
                <a:sym typeface="Arial"/>
              </a:rPr>
              <a:t>Trimming of adapters</a:t>
            </a:r>
            <a:endParaRPr sz="1700">
              <a:latin typeface="Arial"/>
              <a:ea typeface="Arial"/>
              <a:cs typeface="Arial"/>
              <a:sym typeface="Arial"/>
            </a:endParaRPr>
          </a:p>
          <a:p>
            <a:pPr indent="0" lvl="0" marL="914400" rtl="0" algn="l">
              <a:lnSpc>
                <a:spcPct val="100000"/>
              </a:lnSpc>
              <a:spcBef>
                <a:spcPts val="1000"/>
              </a:spcBef>
              <a:spcAft>
                <a:spcPts val="0"/>
              </a:spcAft>
              <a:buNone/>
            </a:pPr>
            <a:r>
              <a:rPr lang="en" sz="1700">
                <a:latin typeface="Arial"/>
                <a:ea typeface="Arial"/>
                <a:cs typeface="Arial"/>
                <a:sym typeface="Arial"/>
              </a:rPr>
              <a:t>Break</a:t>
            </a:r>
            <a:endParaRPr sz="1700">
              <a:latin typeface="Arial"/>
              <a:ea typeface="Arial"/>
              <a:cs typeface="Arial"/>
              <a:sym typeface="Arial"/>
            </a:endParaRPr>
          </a:p>
          <a:p>
            <a:pPr indent="-336550" lvl="0" marL="457200" rtl="0" algn="l">
              <a:lnSpc>
                <a:spcPct val="100000"/>
              </a:lnSpc>
              <a:spcBef>
                <a:spcPts val="0"/>
              </a:spcBef>
              <a:spcAft>
                <a:spcPts val="0"/>
              </a:spcAft>
              <a:buSzPts val="1700"/>
              <a:buChar char="•"/>
            </a:pPr>
            <a:r>
              <a:rPr lang="en" sz="1700">
                <a:latin typeface="Arial"/>
                <a:ea typeface="Arial"/>
                <a:cs typeface="Arial"/>
                <a:sym typeface="Arial"/>
              </a:rPr>
              <a:t>Introduction to docker and setup</a:t>
            </a:r>
            <a:endParaRPr sz="1700">
              <a:latin typeface="Arial"/>
              <a:ea typeface="Arial"/>
              <a:cs typeface="Arial"/>
              <a:sym typeface="Arial"/>
            </a:endParaRPr>
          </a:p>
          <a:p>
            <a:pPr indent="-336550" lvl="0" marL="457200" rtl="0" algn="l">
              <a:lnSpc>
                <a:spcPct val="100000"/>
              </a:lnSpc>
              <a:spcBef>
                <a:spcPts val="0"/>
              </a:spcBef>
              <a:spcAft>
                <a:spcPts val="0"/>
              </a:spcAft>
              <a:buSzPts val="1700"/>
              <a:buFont typeface="Arial"/>
              <a:buChar char="•"/>
            </a:pPr>
            <a:r>
              <a:rPr lang="en" sz="1700">
                <a:latin typeface="Arial"/>
                <a:ea typeface="Arial"/>
                <a:cs typeface="Arial"/>
                <a:sym typeface="Arial"/>
              </a:rPr>
              <a:t>Demo - QC steps </a:t>
            </a:r>
            <a:endParaRPr sz="1700">
              <a:latin typeface="Arial"/>
              <a:ea typeface="Arial"/>
              <a:cs typeface="Arial"/>
              <a:sym typeface="Arial"/>
            </a:endParaRPr>
          </a:p>
          <a:p>
            <a:pPr indent="0" lvl="0" marL="0" rtl="0" algn="l">
              <a:spcBef>
                <a:spcPts val="0"/>
              </a:spcBef>
              <a:spcAft>
                <a:spcPts val="0"/>
              </a:spcAft>
              <a:buNone/>
            </a:pPr>
            <a:r>
              <a:t/>
            </a:r>
            <a:endParaRPr b="1" sz="1000">
              <a:latin typeface="Arial"/>
              <a:ea typeface="Arial"/>
              <a:cs typeface="Arial"/>
              <a:sym typeface="Arial"/>
            </a:endParaRPr>
          </a:p>
          <a:p>
            <a:pPr indent="0" lvl="0" marL="0" rtl="0" algn="l">
              <a:spcBef>
                <a:spcPts val="0"/>
              </a:spcBef>
              <a:spcAft>
                <a:spcPts val="0"/>
              </a:spcAft>
              <a:buNone/>
            </a:pPr>
            <a:r>
              <a:rPr b="1" lang="en" sz="1900">
                <a:solidFill>
                  <a:srgbClr val="B7B7B7"/>
                </a:solidFill>
                <a:latin typeface="Arial"/>
                <a:ea typeface="Arial"/>
                <a:cs typeface="Arial"/>
                <a:sym typeface="Arial"/>
              </a:rPr>
              <a:t>Session II </a:t>
            </a:r>
            <a:endParaRPr b="1" sz="1900">
              <a:solidFill>
                <a:srgbClr val="B7B7B7"/>
              </a:solidFill>
              <a:latin typeface="Arial"/>
              <a:ea typeface="Arial"/>
              <a:cs typeface="Arial"/>
              <a:sym typeface="Arial"/>
            </a:endParaRPr>
          </a:p>
          <a:p>
            <a:pPr indent="-336550" lvl="0" marL="457200" rtl="0" algn="l">
              <a:lnSpc>
                <a:spcPct val="100000"/>
              </a:lnSpc>
              <a:spcBef>
                <a:spcPts val="1000"/>
              </a:spcBef>
              <a:spcAft>
                <a:spcPts val="0"/>
              </a:spcAft>
              <a:buClr>
                <a:srgbClr val="B7B7B7"/>
              </a:buClr>
              <a:buSzPts val="1700"/>
              <a:buFont typeface="Arial"/>
              <a:buChar char="•"/>
            </a:pPr>
            <a:r>
              <a:rPr lang="en" sz="1700">
                <a:solidFill>
                  <a:srgbClr val="B7B7B7"/>
                </a:solidFill>
                <a:latin typeface="Arial"/>
                <a:ea typeface="Arial"/>
                <a:cs typeface="Arial"/>
                <a:sym typeface="Arial"/>
              </a:rPr>
              <a:t>Mapping the read to reference genome</a:t>
            </a:r>
            <a:endParaRPr sz="1700">
              <a:solidFill>
                <a:srgbClr val="B7B7B7"/>
              </a:solidFill>
              <a:latin typeface="Arial"/>
              <a:ea typeface="Arial"/>
              <a:cs typeface="Arial"/>
              <a:sym typeface="Arial"/>
            </a:endParaRPr>
          </a:p>
          <a:p>
            <a:pPr indent="-336550" lvl="0" marL="457200" rtl="0" algn="l">
              <a:lnSpc>
                <a:spcPct val="100000"/>
              </a:lnSpc>
              <a:spcBef>
                <a:spcPts val="0"/>
              </a:spcBef>
              <a:spcAft>
                <a:spcPts val="0"/>
              </a:spcAft>
              <a:buClr>
                <a:srgbClr val="B7B7B7"/>
              </a:buClr>
              <a:buSzPts val="1700"/>
              <a:buFont typeface="Arial"/>
              <a:buChar char="•"/>
            </a:pPr>
            <a:r>
              <a:rPr lang="en" sz="1700">
                <a:solidFill>
                  <a:srgbClr val="B7B7B7"/>
                </a:solidFill>
                <a:latin typeface="Arial"/>
                <a:ea typeface="Arial"/>
                <a:cs typeface="Arial"/>
                <a:sym typeface="Arial"/>
              </a:rPr>
              <a:t>From alignment to counting</a:t>
            </a:r>
            <a:r>
              <a:rPr lang="en" sz="1700">
                <a:solidFill>
                  <a:srgbClr val="B7B7B7"/>
                </a:solidFill>
                <a:latin typeface="Arial"/>
                <a:ea typeface="Arial"/>
                <a:cs typeface="Arial"/>
                <a:sym typeface="Arial"/>
              </a:rPr>
              <a:t> </a:t>
            </a:r>
            <a:r>
              <a:rPr lang="en" sz="1700">
                <a:solidFill>
                  <a:srgbClr val="B7B7B7"/>
                </a:solidFill>
                <a:latin typeface="Arial"/>
                <a:ea typeface="Arial"/>
                <a:cs typeface="Arial"/>
                <a:sym typeface="Arial"/>
              </a:rPr>
              <a:t>features </a:t>
            </a:r>
            <a:endParaRPr sz="1700">
              <a:solidFill>
                <a:srgbClr val="B7B7B7"/>
              </a:solidFill>
              <a:latin typeface="Arial"/>
              <a:ea typeface="Arial"/>
              <a:cs typeface="Arial"/>
              <a:sym typeface="Arial"/>
            </a:endParaRPr>
          </a:p>
          <a:p>
            <a:pPr indent="457200" lvl="0" marL="457200" rtl="0" algn="l">
              <a:lnSpc>
                <a:spcPct val="100000"/>
              </a:lnSpc>
              <a:spcBef>
                <a:spcPts val="1000"/>
              </a:spcBef>
              <a:spcAft>
                <a:spcPts val="0"/>
              </a:spcAft>
              <a:buNone/>
            </a:pPr>
            <a:r>
              <a:rPr lang="en" sz="1600">
                <a:solidFill>
                  <a:srgbClr val="B7B7B7"/>
                </a:solidFill>
                <a:latin typeface="Arial"/>
                <a:ea typeface="Arial"/>
                <a:cs typeface="Arial"/>
                <a:sym typeface="Arial"/>
              </a:rPr>
              <a:t>Break</a:t>
            </a:r>
            <a:endParaRPr sz="1600">
              <a:solidFill>
                <a:srgbClr val="B7B7B7"/>
              </a:solidFill>
              <a:latin typeface="Arial"/>
              <a:ea typeface="Arial"/>
              <a:cs typeface="Arial"/>
              <a:sym typeface="Arial"/>
            </a:endParaRPr>
          </a:p>
          <a:p>
            <a:pPr indent="-336550" lvl="0" marL="457200" rtl="0" algn="l">
              <a:lnSpc>
                <a:spcPct val="100000"/>
              </a:lnSpc>
              <a:spcBef>
                <a:spcPts val="1000"/>
              </a:spcBef>
              <a:spcAft>
                <a:spcPts val="0"/>
              </a:spcAft>
              <a:buClr>
                <a:srgbClr val="B7B7B7"/>
              </a:buClr>
              <a:buSzPts val="1700"/>
              <a:buFont typeface="Arial"/>
              <a:buChar char="•"/>
            </a:pPr>
            <a:r>
              <a:rPr lang="en" sz="1700">
                <a:solidFill>
                  <a:srgbClr val="B7B7B7"/>
                </a:solidFill>
                <a:latin typeface="Arial"/>
                <a:ea typeface="Arial"/>
                <a:cs typeface="Arial"/>
                <a:sym typeface="Arial"/>
              </a:rPr>
              <a:t>Demo - from Mapping to the count matrix</a:t>
            </a:r>
            <a:endParaRPr sz="1700">
              <a:solidFill>
                <a:srgbClr val="B7B7B7"/>
              </a:solidFill>
              <a:latin typeface="Arial"/>
              <a:ea typeface="Arial"/>
              <a:cs typeface="Arial"/>
              <a:sym typeface="Arial"/>
            </a:endParaRPr>
          </a:p>
          <a:p>
            <a:pPr indent="0" lvl="0" marL="0" rtl="0" algn="l">
              <a:lnSpc>
                <a:spcPct val="100000"/>
              </a:lnSpc>
              <a:spcBef>
                <a:spcPts val="0"/>
              </a:spcBef>
              <a:spcAft>
                <a:spcPts val="0"/>
              </a:spcAft>
              <a:buNone/>
            </a:pPr>
            <a:r>
              <a:t/>
            </a:r>
            <a:endParaRPr b="1" sz="1800">
              <a:solidFill>
                <a:srgbClr val="B7B7B7"/>
              </a:solidFill>
              <a:latin typeface="Arial"/>
              <a:ea typeface="Arial"/>
              <a:cs typeface="Arial"/>
              <a:sym typeface="Arial"/>
            </a:endParaRPr>
          </a:p>
          <a:p>
            <a:pPr indent="0" lvl="0" marL="0" rtl="0" algn="l">
              <a:spcBef>
                <a:spcPts val="0"/>
              </a:spcBef>
              <a:spcAft>
                <a:spcPts val="0"/>
              </a:spcAft>
              <a:buNone/>
            </a:pPr>
            <a:r>
              <a:t/>
            </a:r>
            <a:endParaRPr b="1" sz="1800">
              <a:solidFill>
                <a:srgbClr val="B7B7B7"/>
              </a:solidFill>
              <a:latin typeface="Arial"/>
              <a:ea typeface="Arial"/>
              <a:cs typeface="Arial"/>
              <a:sym typeface="Arial"/>
            </a:endParaRPr>
          </a:p>
        </p:txBody>
      </p:sp>
      <p:sp>
        <p:nvSpPr>
          <p:cNvPr id="366" name="Google Shape;366;p80"/>
          <p:cNvSpPr txBox="1"/>
          <p:nvPr>
            <p:ph idx="1" type="body"/>
          </p:nvPr>
        </p:nvSpPr>
        <p:spPr>
          <a:xfrm>
            <a:off x="4662900" y="457575"/>
            <a:ext cx="4481100" cy="462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900">
                <a:solidFill>
                  <a:srgbClr val="B7B7B7"/>
                </a:solidFill>
                <a:latin typeface="Arial"/>
                <a:ea typeface="Arial"/>
                <a:cs typeface="Arial"/>
                <a:sym typeface="Arial"/>
              </a:rPr>
              <a:t>Session III </a:t>
            </a:r>
            <a:endParaRPr b="1" sz="1900">
              <a:solidFill>
                <a:srgbClr val="B7B7B7"/>
              </a:solidFill>
              <a:latin typeface="Arial"/>
              <a:ea typeface="Arial"/>
              <a:cs typeface="Arial"/>
              <a:sym typeface="Arial"/>
            </a:endParaRPr>
          </a:p>
          <a:p>
            <a:pPr indent="0" lvl="0" marL="0" rtl="0" algn="l">
              <a:lnSpc>
                <a:spcPct val="100000"/>
              </a:lnSpc>
              <a:spcBef>
                <a:spcPts val="0"/>
              </a:spcBef>
              <a:spcAft>
                <a:spcPts val="0"/>
              </a:spcAft>
              <a:buNone/>
            </a:pPr>
            <a:r>
              <a:t/>
            </a:r>
            <a:endParaRPr sz="600">
              <a:solidFill>
                <a:srgbClr val="B7B7B7"/>
              </a:solidFill>
              <a:latin typeface="Arial"/>
              <a:ea typeface="Arial"/>
              <a:cs typeface="Arial"/>
              <a:sym typeface="Arial"/>
            </a:endParaRPr>
          </a:p>
          <a:p>
            <a:pPr indent="-336550" lvl="0" marL="457200" rtl="0" algn="l">
              <a:lnSpc>
                <a:spcPct val="100000"/>
              </a:lnSpc>
              <a:spcBef>
                <a:spcPts val="0"/>
              </a:spcBef>
              <a:spcAft>
                <a:spcPts val="0"/>
              </a:spcAft>
              <a:buClr>
                <a:srgbClr val="B7B7B7"/>
              </a:buClr>
              <a:buSzPts val="1700"/>
              <a:buFont typeface="Arial"/>
              <a:buChar char="•"/>
            </a:pPr>
            <a:r>
              <a:rPr lang="en" sz="1700">
                <a:solidFill>
                  <a:srgbClr val="B7B7B7"/>
                </a:solidFill>
                <a:latin typeface="Arial"/>
                <a:ea typeface="Arial"/>
                <a:cs typeface="Arial"/>
                <a:sym typeface="Arial"/>
              </a:rPr>
              <a:t>Filtering low counts genes</a:t>
            </a:r>
            <a:endParaRPr sz="1700">
              <a:solidFill>
                <a:srgbClr val="B7B7B7"/>
              </a:solidFill>
              <a:latin typeface="Arial"/>
              <a:ea typeface="Arial"/>
              <a:cs typeface="Arial"/>
              <a:sym typeface="Arial"/>
            </a:endParaRPr>
          </a:p>
          <a:p>
            <a:pPr indent="-336550" lvl="0" marL="457200" rtl="0" algn="l">
              <a:lnSpc>
                <a:spcPct val="100000"/>
              </a:lnSpc>
              <a:spcBef>
                <a:spcPts val="0"/>
              </a:spcBef>
              <a:spcAft>
                <a:spcPts val="0"/>
              </a:spcAft>
              <a:buClr>
                <a:srgbClr val="B7B7B7"/>
              </a:buClr>
              <a:buSzPts val="1700"/>
              <a:buFont typeface="Arial"/>
              <a:buChar char="•"/>
            </a:pPr>
            <a:r>
              <a:rPr lang="en" sz="1700">
                <a:solidFill>
                  <a:srgbClr val="B7B7B7"/>
                </a:solidFill>
                <a:latin typeface="Arial"/>
                <a:ea typeface="Arial"/>
                <a:cs typeface="Arial"/>
                <a:sym typeface="Arial"/>
              </a:rPr>
              <a:t>Dimensionality reduction </a:t>
            </a:r>
            <a:endParaRPr sz="1700">
              <a:solidFill>
                <a:srgbClr val="B7B7B7"/>
              </a:solidFill>
              <a:latin typeface="Arial"/>
              <a:ea typeface="Arial"/>
              <a:cs typeface="Arial"/>
              <a:sym typeface="Arial"/>
            </a:endParaRPr>
          </a:p>
          <a:p>
            <a:pPr indent="-336550" lvl="0" marL="457200" rtl="0" algn="l">
              <a:lnSpc>
                <a:spcPct val="100000"/>
              </a:lnSpc>
              <a:spcBef>
                <a:spcPts val="0"/>
              </a:spcBef>
              <a:spcAft>
                <a:spcPts val="0"/>
              </a:spcAft>
              <a:buClr>
                <a:srgbClr val="B7B7B7"/>
              </a:buClr>
              <a:buSzPts val="1700"/>
              <a:buFont typeface="Arial"/>
              <a:buChar char="•"/>
            </a:pPr>
            <a:r>
              <a:rPr lang="en" sz="1700">
                <a:solidFill>
                  <a:srgbClr val="B7B7B7"/>
                </a:solidFill>
                <a:latin typeface="Arial"/>
                <a:ea typeface="Arial"/>
                <a:cs typeface="Arial"/>
                <a:sym typeface="Arial"/>
              </a:rPr>
              <a:t>Normalization</a:t>
            </a:r>
            <a:endParaRPr sz="1700">
              <a:solidFill>
                <a:srgbClr val="B7B7B7"/>
              </a:solidFill>
              <a:latin typeface="Arial"/>
              <a:ea typeface="Arial"/>
              <a:cs typeface="Arial"/>
              <a:sym typeface="Arial"/>
            </a:endParaRPr>
          </a:p>
          <a:p>
            <a:pPr indent="0" lvl="0" marL="914400" rtl="0" algn="l">
              <a:lnSpc>
                <a:spcPct val="100000"/>
              </a:lnSpc>
              <a:spcBef>
                <a:spcPts val="1000"/>
              </a:spcBef>
              <a:spcAft>
                <a:spcPts val="0"/>
              </a:spcAft>
              <a:buNone/>
            </a:pPr>
            <a:r>
              <a:rPr lang="en" sz="1700">
                <a:solidFill>
                  <a:srgbClr val="B7B7B7"/>
                </a:solidFill>
                <a:latin typeface="Arial"/>
                <a:ea typeface="Arial"/>
                <a:cs typeface="Arial"/>
                <a:sym typeface="Arial"/>
              </a:rPr>
              <a:t>Break</a:t>
            </a:r>
            <a:endParaRPr sz="1700">
              <a:solidFill>
                <a:srgbClr val="B7B7B7"/>
              </a:solidFill>
              <a:latin typeface="Arial"/>
              <a:ea typeface="Arial"/>
              <a:cs typeface="Arial"/>
              <a:sym typeface="Arial"/>
            </a:endParaRPr>
          </a:p>
          <a:p>
            <a:pPr indent="-336550" lvl="0" marL="457200" rtl="0" algn="l">
              <a:lnSpc>
                <a:spcPct val="100000"/>
              </a:lnSpc>
              <a:spcBef>
                <a:spcPts val="1000"/>
              </a:spcBef>
              <a:spcAft>
                <a:spcPts val="0"/>
              </a:spcAft>
              <a:buClr>
                <a:srgbClr val="B7B7B7"/>
              </a:buClr>
              <a:buSzPts val="1700"/>
              <a:buChar char="•"/>
            </a:pPr>
            <a:r>
              <a:rPr lang="en" sz="1700">
                <a:solidFill>
                  <a:srgbClr val="B7B7B7"/>
                </a:solidFill>
                <a:latin typeface="Arial"/>
                <a:ea typeface="Arial"/>
                <a:cs typeface="Arial"/>
                <a:sym typeface="Arial"/>
              </a:rPr>
              <a:t>Model fitting</a:t>
            </a:r>
            <a:endParaRPr sz="1700">
              <a:solidFill>
                <a:srgbClr val="B7B7B7"/>
              </a:solidFill>
              <a:latin typeface="Arial"/>
              <a:ea typeface="Arial"/>
              <a:cs typeface="Arial"/>
              <a:sym typeface="Arial"/>
            </a:endParaRPr>
          </a:p>
          <a:p>
            <a:pPr indent="-336550" lvl="0" marL="457200" rtl="0" algn="l">
              <a:lnSpc>
                <a:spcPct val="100000"/>
              </a:lnSpc>
              <a:spcBef>
                <a:spcPts val="0"/>
              </a:spcBef>
              <a:spcAft>
                <a:spcPts val="0"/>
              </a:spcAft>
              <a:buClr>
                <a:srgbClr val="B7B7B7"/>
              </a:buClr>
              <a:buSzPts val="1700"/>
              <a:buFont typeface="Arial"/>
              <a:buChar char="•"/>
            </a:pPr>
            <a:r>
              <a:rPr lang="en" sz="1700">
                <a:solidFill>
                  <a:srgbClr val="B7B7B7"/>
                </a:solidFill>
                <a:latin typeface="Arial"/>
                <a:ea typeface="Arial"/>
                <a:cs typeface="Arial"/>
                <a:sym typeface="Arial"/>
              </a:rPr>
              <a:t>DEG and visualization</a:t>
            </a:r>
            <a:endParaRPr sz="1700">
              <a:solidFill>
                <a:srgbClr val="B7B7B7"/>
              </a:solidFill>
              <a:latin typeface="Arial"/>
              <a:ea typeface="Arial"/>
              <a:cs typeface="Arial"/>
              <a:sym typeface="Arial"/>
            </a:endParaRPr>
          </a:p>
          <a:p>
            <a:pPr indent="0" lvl="0" marL="914400" rtl="0" algn="l">
              <a:lnSpc>
                <a:spcPct val="100000"/>
              </a:lnSpc>
              <a:spcBef>
                <a:spcPts val="1000"/>
              </a:spcBef>
              <a:spcAft>
                <a:spcPts val="0"/>
              </a:spcAft>
              <a:buNone/>
            </a:pPr>
            <a:r>
              <a:rPr lang="en" sz="1700">
                <a:solidFill>
                  <a:srgbClr val="B7B7B7"/>
                </a:solidFill>
                <a:latin typeface="Arial"/>
                <a:ea typeface="Arial"/>
                <a:cs typeface="Arial"/>
                <a:sym typeface="Arial"/>
              </a:rPr>
              <a:t>Break</a:t>
            </a:r>
            <a:endParaRPr sz="1700">
              <a:solidFill>
                <a:srgbClr val="B7B7B7"/>
              </a:solidFill>
              <a:latin typeface="Arial"/>
              <a:ea typeface="Arial"/>
              <a:cs typeface="Arial"/>
              <a:sym typeface="Arial"/>
            </a:endParaRPr>
          </a:p>
          <a:p>
            <a:pPr indent="-336550" lvl="0" marL="457200" rtl="0" algn="l">
              <a:lnSpc>
                <a:spcPct val="100000"/>
              </a:lnSpc>
              <a:spcBef>
                <a:spcPts val="0"/>
              </a:spcBef>
              <a:spcAft>
                <a:spcPts val="0"/>
              </a:spcAft>
              <a:buClr>
                <a:srgbClr val="B7B7B7"/>
              </a:buClr>
              <a:buSzPts val="1700"/>
              <a:buFont typeface="Arial"/>
              <a:buChar char="•"/>
            </a:pPr>
            <a:r>
              <a:rPr lang="en" sz="1700">
                <a:solidFill>
                  <a:srgbClr val="B7B7B7"/>
                </a:solidFill>
                <a:latin typeface="Arial"/>
                <a:ea typeface="Arial"/>
                <a:cs typeface="Arial"/>
                <a:sym typeface="Arial"/>
              </a:rPr>
              <a:t>Demo - from count matrix to DEG</a:t>
            </a:r>
            <a:endParaRPr sz="1700">
              <a:solidFill>
                <a:srgbClr val="B7B7B7"/>
              </a:solidFill>
              <a:latin typeface="Arial"/>
              <a:ea typeface="Arial"/>
              <a:cs typeface="Arial"/>
              <a:sym typeface="Arial"/>
            </a:endParaRPr>
          </a:p>
          <a:p>
            <a:pPr indent="0" lvl="0" marL="0" rtl="0" algn="l">
              <a:spcBef>
                <a:spcPts val="0"/>
              </a:spcBef>
              <a:spcAft>
                <a:spcPts val="0"/>
              </a:spcAft>
              <a:buNone/>
            </a:pPr>
            <a:r>
              <a:t/>
            </a:r>
            <a:endParaRPr b="1" sz="1800">
              <a:solidFill>
                <a:srgbClr val="B7B7B7"/>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81"/>
          <p:cNvSpPr txBox="1"/>
          <p:nvPr>
            <p:ph idx="1" type="body"/>
          </p:nvPr>
        </p:nvSpPr>
        <p:spPr>
          <a:xfrm>
            <a:off x="628650" y="851769"/>
            <a:ext cx="7886700" cy="3263400"/>
          </a:xfrm>
          <a:prstGeom prst="rect">
            <a:avLst/>
          </a:prstGeom>
        </p:spPr>
        <p:txBody>
          <a:bodyPr anchorCtr="0" anchor="t" bIns="0" lIns="0" spcFirstLastPara="1" rIns="0" wrap="square" tIns="0">
            <a:normAutofit lnSpcReduction="10000"/>
          </a:bodyPr>
          <a:lstStyle/>
          <a:p>
            <a:pPr indent="0" lvl="0" marL="0" rtl="0" algn="l">
              <a:spcBef>
                <a:spcPts val="800"/>
              </a:spcBef>
              <a:spcAft>
                <a:spcPts val="0"/>
              </a:spcAft>
              <a:buNone/>
            </a:pPr>
            <a:r>
              <a:rPr b="1" lang="en"/>
              <a:t>What you will learn today:</a:t>
            </a:r>
            <a:endParaRPr b="1"/>
          </a:p>
          <a:p>
            <a:pPr indent="0" lvl="0" marL="0" rtl="0" algn="l">
              <a:spcBef>
                <a:spcPts val="800"/>
              </a:spcBef>
              <a:spcAft>
                <a:spcPts val="0"/>
              </a:spcAft>
              <a:buNone/>
            </a:pPr>
            <a:r>
              <a:rPr lang="en"/>
              <a:t>Individual tools (FastQC, cutadapt, STAR, featureCounts)</a:t>
            </a:r>
            <a:endParaRPr/>
          </a:p>
          <a:p>
            <a:pPr indent="0" lvl="0" marL="0" rtl="0" algn="l">
              <a:spcBef>
                <a:spcPts val="800"/>
              </a:spcBef>
              <a:spcAft>
                <a:spcPts val="0"/>
              </a:spcAft>
              <a:buNone/>
            </a:pPr>
            <a:r>
              <a:t/>
            </a:r>
            <a:endParaRPr/>
          </a:p>
          <a:p>
            <a:pPr indent="0" lvl="0" marL="0" rtl="0" algn="l">
              <a:spcBef>
                <a:spcPts val="800"/>
              </a:spcBef>
              <a:spcAft>
                <a:spcPts val="0"/>
              </a:spcAft>
              <a:buNone/>
            </a:pPr>
            <a:r>
              <a:rPr b="1" lang="en"/>
              <a:t>What we use at Gladstone Bioinformatics Core:</a:t>
            </a:r>
            <a:endParaRPr b="1"/>
          </a:p>
          <a:p>
            <a:pPr indent="0" lvl="0" marL="0" rtl="0" algn="l">
              <a:spcBef>
                <a:spcPts val="800"/>
              </a:spcBef>
              <a:spcAft>
                <a:spcPts val="0"/>
              </a:spcAft>
              <a:buNone/>
            </a:pPr>
            <a:r>
              <a:rPr lang="en"/>
              <a:t>Automated pipelines (nf-core/rnaseq)</a:t>
            </a:r>
            <a:endParaRPr/>
          </a:p>
          <a:p>
            <a:pPr indent="0" lvl="0" marL="457200" rtl="0" algn="l">
              <a:spcBef>
                <a:spcPts val="800"/>
              </a:spcBef>
              <a:spcAft>
                <a:spcPts val="0"/>
              </a:spcAft>
              <a:buNone/>
            </a:pPr>
            <a:r>
              <a:rPr lang="en"/>
              <a:t>• Runs all steps automatically</a:t>
            </a:r>
            <a:endParaRPr/>
          </a:p>
          <a:p>
            <a:pPr indent="0" lvl="0" marL="457200" rtl="0" algn="l">
              <a:spcBef>
                <a:spcPts val="800"/>
              </a:spcBef>
              <a:spcAft>
                <a:spcPts val="0"/>
              </a:spcAft>
              <a:buNone/>
            </a:pPr>
            <a:r>
              <a:rPr lang="en"/>
              <a:t>• Handles batch processing (100+ samples)</a:t>
            </a:r>
            <a:endParaRPr/>
          </a:p>
          <a:p>
            <a:pPr indent="0" lvl="0" marL="457200" rtl="0" algn="l">
              <a:spcBef>
                <a:spcPts val="800"/>
              </a:spcBef>
              <a:spcAft>
                <a:spcPts val="0"/>
              </a:spcAft>
              <a:buNone/>
            </a:pPr>
            <a:r>
              <a:rPr lang="en"/>
              <a:t>• Built-in best practices</a:t>
            </a:r>
            <a:endParaRPr/>
          </a:p>
          <a:p>
            <a:pPr indent="0" lvl="0" marL="457200" rtl="0" algn="l">
              <a:spcBef>
                <a:spcPts val="800"/>
              </a:spcBef>
              <a:spcAft>
                <a:spcPts val="0"/>
              </a:spcAft>
              <a:buNone/>
            </a:pPr>
            <a:r>
              <a:rPr lang="en"/>
              <a:t>• Comprehensive quality reports</a:t>
            </a:r>
            <a:endParaRPr/>
          </a:p>
        </p:txBody>
      </p:sp>
      <p:sp>
        <p:nvSpPr>
          <p:cNvPr id="372" name="Google Shape;372;p81"/>
          <p:cNvSpPr txBox="1"/>
          <p:nvPr>
            <p:ph type="title"/>
          </p:nvPr>
        </p:nvSpPr>
        <p:spPr>
          <a:xfrm>
            <a:off x="120000" y="7723"/>
            <a:ext cx="8607000" cy="7368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Production-ready pipelines: nf-core/rnase</a:t>
            </a:r>
            <a:r>
              <a:rPr lang="en"/>
              <a:t>q</a:t>
            </a:r>
            <a:endParaRPr/>
          </a:p>
          <a:p>
            <a:pPr indent="0" lvl="0" marL="0" rtl="0" algn="l">
              <a:spcBef>
                <a:spcPts val="0"/>
              </a:spcBef>
              <a:spcAft>
                <a:spcPts val="0"/>
              </a:spcAft>
              <a:buNone/>
            </a:pPr>
            <a:r>
              <a:t/>
            </a:r>
            <a:endParaRPr/>
          </a:p>
        </p:txBody>
      </p:sp>
      <p:sp>
        <p:nvSpPr>
          <p:cNvPr id="373" name="Google Shape;373;p81"/>
          <p:cNvSpPr txBox="1"/>
          <p:nvPr/>
        </p:nvSpPr>
        <p:spPr>
          <a:xfrm>
            <a:off x="4517925" y="4286250"/>
            <a:ext cx="4564200" cy="8796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0"/>
              </a:spcAft>
              <a:buNone/>
            </a:pPr>
            <a:r>
              <a:rPr lang="en" sz="1500">
                <a:solidFill>
                  <a:srgbClr val="0066CC"/>
                </a:solidFill>
                <a:latin typeface="Helvetica Neue"/>
                <a:ea typeface="Helvetica Neue"/>
                <a:cs typeface="Helvetica Neue"/>
                <a:sym typeface="Helvetica Neue"/>
              </a:rPr>
              <a:t>🔗 </a:t>
            </a:r>
            <a:r>
              <a:rPr lang="en" sz="2100">
                <a:solidFill>
                  <a:schemeClr val="accent2"/>
                </a:solidFill>
                <a:latin typeface="Helvetica Neue"/>
                <a:ea typeface="Helvetica Neue"/>
                <a:cs typeface="Helvetica Neue"/>
                <a:sym typeface="Helvetica Neue"/>
              </a:rPr>
              <a:t>nf-core/rnaseq documentation:</a:t>
            </a:r>
            <a:br>
              <a:rPr lang="en" sz="2100">
                <a:solidFill>
                  <a:srgbClr val="002B42"/>
                </a:solidFill>
                <a:latin typeface="Helvetica Neue"/>
                <a:ea typeface="Helvetica Neue"/>
                <a:cs typeface="Helvetica Neue"/>
                <a:sym typeface="Helvetica Neue"/>
              </a:rPr>
            </a:br>
            <a:r>
              <a:rPr lang="en" sz="2100" u="sng">
                <a:solidFill>
                  <a:schemeClr val="hlink"/>
                </a:solidFill>
                <a:latin typeface="Helvetica Neue"/>
                <a:ea typeface="Helvetica Neue"/>
                <a:cs typeface="Helvetica Neue"/>
                <a:sym typeface="Helvetica Neue"/>
                <a:hlinkClick r:id="rId3"/>
              </a:rPr>
              <a:t> https://nf-co.re/rnaseq</a:t>
            </a:r>
            <a:endParaRPr sz="2100">
              <a:solidFill>
                <a:srgbClr val="002B42"/>
              </a:solidFill>
              <a:latin typeface="Helvetica Neue"/>
              <a:ea typeface="Helvetica Neue"/>
              <a:cs typeface="Helvetica Neue"/>
              <a:sym typeface="Helvetica Neue"/>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2"/>
          <p:cNvSpPr txBox="1"/>
          <p:nvPr>
            <p:ph idx="1" type="body"/>
          </p:nvPr>
        </p:nvSpPr>
        <p:spPr>
          <a:xfrm>
            <a:off x="628650" y="851769"/>
            <a:ext cx="7886700" cy="3263400"/>
          </a:xfrm>
          <a:prstGeom prst="rect">
            <a:avLst/>
          </a:prstGeom>
        </p:spPr>
        <p:txBody>
          <a:bodyPr anchorCtr="0" anchor="t" bIns="0" lIns="0" spcFirstLastPara="1" rIns="0" wrap="square" tIns="0">
            <a:normAutofit/>
          </a:bodyPr>
          <a:lstStyle/>
          <a:p>
            <a:pPr indent="0" lvl="0" marL="0" rtl="0" algn="l">
              <a:spcBef>
                <a:spcPts val="800"/>
              </a:spcBef>
              <a:spcAft>
                <a:spcPts val="0"/>
              </a:spcAft>
              <a:buNone/>
            </a:pPr>
            <a:r>
              <a:rPr lang="en"/>
              <a:t>• </a:t>
            </a:r>
            <a:r>
              <a:rPr b="1" lang="en"/>
              <a:t>Debugging:</a:t>
            </a:r>
            <a:r>
              <a:rPr lang="en"/>
              <a:t> Know where the pipeline failed</a:t>
            </a:r>
            <a:endParaRPr/>
          </a:p>
          <a:p>
            <a:pPr indent="0" lvl="0" marL="0" rtl="0" algn="l">
              <a:spcBef>
                <a:spcPts val="800"/>
              </a:spcBef>
              <a:spcAft>
                <a:spcPts val="0"/>
              </a:spcAft>
              <a:buNone/>
            </a:pPr>
            <a:r>
              <a:rPr lang="en"/>
              <a:t>• </a:t>
            </a:r>
            <a:r>
              <a:rPr b="1" lang="en"/>
              <a:t>Customization:</a:t>
            </a:r>
            <a:r>
              <a:rPr lang="en"/>
              <a:t> Not all projects fit defaults</a:t>
            </a:r>
            <a:endParaRPr/>
          </a:p>
          <a:p>
            <a:pPr indent="0" lvl="0" marL="0" rtl="0" algn="l">
              <a:spcBef>
                <a:spcPts val="800"/>
              </a:spcBef>
              <a:spcAft>
                <a:spcPts val="0"/>
              </a:spcAft>
              <a:buNone/>
            </a:pPr>
            <a:r>
              <a:rPr lang="en"/>
              <a:t>• </a:t>
            </a:r>
            <a:r>
              <a:rPr b="1" lang="en"/>
              <a:t>Understanding:</a:t>
            </a:r>
            <a:r>
              <a:rPr lang="en"/>
              <a:t> Interpret results properly</a:t>
            </a:r>
            <a:endParaRPr/>
          </a:p>
          <a:p>
            <a:pPr indent="0" lvl="0" marL="0" rtl="0" algn="l">
              <a:spcBef>
                <a:spcPts val="800"/>
              </a:spcBef>
              <a:spcAft>
                <a:spcPts val="0"/>
              </a:spcAft>
              <a:buNone/>
            </a:pPr>
            <a:r>
              <a:rPr lang="en"/>
              <a:t>• </a:t>
            </a:r>
            <a:r>
              <a:rPr b="1" lang="en"/>
              <a:t>Troubleshooting:</a:t>
            </a:r>
            <a:r>
              <a:rPr lang="en"/>
              <a:t> Fix issues when they arise</a:t>
            </a:r>
            <a:endParaRPr/>
          </a:p>
          <a:p>
            <a:pPr indent="0" lvl="0" marL="0" rtl="0" algn="l">
              <a:spcBef>
                <a:spcPts val="800"/>
              </a:spcBef>
              <a:spcAft>
                <a:spcPts val="0"/>
              </a:spcAft>
              <a:buNone/>
            </a:pPr>
            <a:r>
              <a:t/>
            </a:r>
            <a:endParaRPr/>
          </a:p>
          <a:p>
            <a:pPr indent="0" lvl="0" marL="0" rtl="0" algn="l">
              <a:spcBef>
                <a:spcPts val="800"/>
              </a:spcBef>
              <a:spcAft>
                <a:spcPts val="0"/>
              </a:spcAft>
              <a:buNone/>
            </a:pPr>
            <a:r>
              <a:rPr i="1" lang="en"/>
              <a:t>Understanding the steps makes you a better bioinformatician and computational biologist.</a:t>
            </a:r>
            <a:endParaRPr i="1"/>
          </a:p>
          <a:p>
            <a:pPr indent="0" lvl="0" marL="0" rtl="0" algn="l">
              <a:spcBef>
                <a:spcPts val="800"/>
              </a:spcBef>
              <a:spcAft>
                <a:spcPts val="0"/>
              </a:spcAft>
              <a:buNone/>
            </a:pPr>
            <a:r>
              <a:t/>
            </a:r>
            <a:endParaRPr/>
          </a:p>
        </p:txBody>
      </p:sp>
      <p:sp>
        <p:nvSpPr>
          <p:cNvPr id="379" name="Google Shape;379;p82"/>
          <p:cNvSpPr txBox="1"/>
          <p:nvPr>
            <p:ph type="title"/>
          </p:nvPr>
        </p:nvSpPr>
        <p:spPr>
          <a:xfrm>
            <a:off x="120000" y="7723"/>
            <a:ext cx="8607000" cy="7368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Why learn manual steps first?</a:t>
            </a:r>
            <a:endParaRPr/>
          </a:p>
          <a:p>
            <a:pPr indent="0" lvl="0" marL="0" rtl="0" algn="l">
              <a:spcBef>
                <a:spcPts val="0"/>
              </a:spcBef>
              <a:spcAft>
                <a:spcPts val="0"/>
              </a:spcAft>
              <a:buNone/>
            </a:pPr>
            <a:r>
              <a:t/>
            </a:r>
            <a:endParaRPr/>
          </a:p>
        </p:txBody>
      </p:sp>
      <p:sp>
        <p:nvSpPr>
          <p:cNvPr id="380" name="Google Shape;380;p82"/>
          <p:cNvSpPr txBox="1"/>
          <p:nvPr/>
        </p:nvSpPr>
        <p:spPr>
          <a:xfrm>
            <a:off x="4517925" y="4286250"/>
            <a:ext cx="4564200" cy="8796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0"/>
              </a:spcAft>
              <a:buNone/>
            </a:pPr>
            <a:r>
              <a:rPr lang="en" sz="1500">
                <a:solidFill>
                  <a:srgbClr val="0066CC"/>
                </a:solidFill>
                <a:latin typeface="Helvetica Neue"/>
                <a:ea typeface="Helvetica Neue"/>
                <a:cs typeface="Helvetica Neue"/>
                <a:sym typeface="Helvetica Neue"/>
              </a:rPr>
              <a:t>🔗 </a:t>
            </a:r>
            <a:r>
              <a:rPr lang="en" sz="2100">
                <a:solidFill>
                  <a:schemeClr val="accent2"/>
                </a:solidFill>
                <a:latin typeface="Helvetica Neue"/>
                <a:ea typeface="Helvetica Neue"/>
                <a:cs typeface="Helvetica Neue"/>
                <a:sym typeface="Helvetica Neue"/>
              </a:rPr>
              <a:t>nf-core/rnaseq documentation:</a:t>
            </a:r>
            <a:br>
              <a:rPr lang="en" sz="2100">
                <a:solidFill>
                  <a:srgbClr val="002B42"/>
                </a:solidFill>
                <a:latin typeface="Helvetica Neue"/>
                <a:ea typeface="Helvetica Neue"/>
                <a:cs typeface="Helvetica Neue"/>
                <a:sym typeface="Helvetica Neue"/>
              </a:rPr>
            </a:br>
            <a:r>
              <a:rPr lang="en" sz="2100" u="sng">
                <a:solidFill>
                  <a:schemeClr val="hlink"/>
                </a:solidFill>
                <a:latin typeface="Helvetica Neue"/>
                <a:ea typeface="Helvetica Neue"/>
                <a:cs typeface="Helvetica Neue"/>
                <a:sym typeface="Helvetica Neue"/>
                <a:hlinkClick r:id="rId3"/>
              </a:rPr>
              <a:t> https://nf-co.re/rnaseq</a:t>
            </a:r>
            <a:endParaRPr sz="2100">
              <a:solidFill>
                <a:srgbClr val="002B42"/>
              </a:solidFill>
              <a:latin typeface="Helvetica Neue"/>
              <a:ea typeface="Helvetica Neue"/>
              <a:cs typeface="Helvetica Neue"/>
              <a:sym typeface="Helvetica Neue"/>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83"/>
          <p:cNvSpPr txBox="1"/>
          <p:nvPr/>
        </p:nvSpPr>
        <p:spPr>
          <a:xfrm>
            <a:off x="257850" y="2857425"/>
            <a:ext cx="8628300" cy="1860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 sz="3900">
                <a:solidFill>
                  <a:srgbClr val="002B42"/>
                </a:solidFill>
              </a:rPr>
              <a:t>Session 1</a:t>
            </a:r>
            <a:endParaRPr b="1" sz="3900">
              <a:solidFill>
                <a:srgbClr val="002B42"/>
              </a:solidFill>
            </a:endParaRPr>
          </a:p>
          <a:p>
            <a:pPr indent="0" lvl="0" marL="0" rtl="0" algn="l">
              <a:lnSpc>
                <a:spcPct val="90000"/>
              </a:lnSpc>
              <a:spcBef>
                <a:spcPts val="0"/>
              </a:spcBef>
              <a:spcAft>
                <a:spcPts val="0"/>
              </a:spcAft>
              <a:buNone/>
            </a:pPr>
            <a:r>
              <a:rPr b="1" lang="en" sz="3600">
                <a:solidFill>
                  <a:schemeClr val="accent2"/>
                </a:solidFill>
              </a:rPr>
              <a:t>From sequencer to adapter trimming</a:t>
            </a:r>
            <a:endParaRPr b="1" sz="3600">
              <a:solidFill>
                <a:schemeClr val="accent2"/>
              </a:solidFill>
            </a:endParaRPr>
          </a:p>
          <a:p>
            <a:pPr indent="0" lvl="0" marL="0" rtl="0" algn="l">
              <a:lnSpc>
                <a:spcPct val="90000"/>
              </a:lnSpc>
              <a:spcBef>
                <a:spcPts val="0"/>
              </a:spcBef>
              <a:spcAft>
                <a:spcPts val="0"/>
              </a:spcAft>
              <a:buNone/>
            </a:pPr>
            <a:r>
              <a:t/>
            </a:r>
            <a:endParaRPr b="1" sz="2300">
              <a:solidFill>
                <a:schemeClr val="dk1"/>
              </a:solidFill>
            </a:endParaRPr>
          </a:p>
          <a:p>
            <a:pPr indent="0" lvl="0" marL="0" rtl="0" algn="l">
              <a:lnSpc>
                <a:spcPct val="90000"/>
              </a:lnSpc>
              <a:spcBef>
                <a:spcPts val="0"/>
              </a:spcBef>
              <a:spcAft>
                <a:spcPts val="0"/>
              </a:spcAft>
              <a:buNone/>
            </a:pPr>
            <a:r>
              <a:rPr b="1" lang="en" sz="2300">
                <a:solidFill>
                  <a:schemeClr val="dk1"/>
                </a:solidFill>
              </a:rPr>
              <a:t>Tools: Docker, FastaQC, cutadapt</a:t>
            </a:r>
            <a:endParaRPr b="1" i="1" sz="36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84"/>
          <p:cNvSpPr txBox="1"/>
          <p:nvPr>
            <p:ph type="title"/>
          </p:nvPr>
        </p:nvSpPr>
        <p:spPr>
          <a:xfrm>
            <a:off x="120000" y="-9"/>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RNA-seq - analysis workflow (A) </a:t>
            </a:r>
            <a:endParaRPr/>
          </a:p>
        </p:txBody>
      </p:sp>
      <p:sp>
        <p:nvSpPr>
          <p:cNvPr id="391" name="Google Shape;391;p84"/>
          <p:cNvSpPr txBox="1"/>
          <p:nvPr/>
        </p:nvSpPr>
        <p:spPr>
          <a:xfrm>
            <a:off x="54700" y="2474075"/>
            <a:ext cx="312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741B47"/>
                </a:solidFill>
                <a:latin typeface="Helvetica Neue"/>
                <a:ea typeface="Helvetica Neue"/>
                <a:cs typeface="Helvetica Neue"/>
                <a:sym typeface="Helvetica Neue"/>
              </a:rPr>
              <a:t>Session 1 Concepts: </a:t>
            </a:r>
            <a:endParaRPr b="1" sz="1200">
              <a:solidFill>
                <a:srgbClr val="741B47"/>
              </a:solidFill>
              <a:highlight>
                <a:srgbClr val="F7F6F3"/>
              </a:highlight>
            </a:endParaRPr>
          </a:p>
        </p:txBody>
      </p:sp>
      <p:sp>
        <p:nvSpPr>
          <p:cNvPr id="392" name="Google Shape;392;p84"/>
          <p:cNvSpPr/>
          <p:nvPr/>
        </p:nvSpPr>
        <p:spPr>
          <a:xfrm flipH="1">
            <a:off x="2835850" y="2015275"/>
            <a:ext cx="207300" cy="10881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84"/>
          <p:cNvSpPr txBox="1"/>
          <p:nvPr/>
        </p:nvSpPr>
        <p:spPr>
          <a:xfrm>
            <a:off x="54700" y="3589413"/>
            <a:ext cx="3125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a:solidFill>
                  <a:srgbClr val="741B47"/>
                </a:solidFill>
                <a:latin typeface="Helvetica Neue"/>
                <a:ea typeface="Helvetica Neue"/>
                <a:cs typeface="Helvetica Neue"/>
                <a:sym typeface="Helvetica Neue"/>
              </a:rPr>
              <a:t>Session 2 Concepts: </a:t>
            </a:r>
            <a:endParaRPr b="1" sz="1200">
              <a:solidFill>
                <a:srgbClr val="741B47"/>
              </a:solidFill>
              <a:highlight>
                <a:srgbClr val="F7F6F3"/>
              </a:highlight>
            </a:endParaRPr>
          </a:p>
          <a:p>
            <a:pPr indent="0" lvl="0" marL="0" rtl="0" algn="l">
              <a:spcBef>
                <a:spcPts val="0"/>
              </a:spcBef>
              <a:spcAft>
                <a:spcPts val="0"/>
              </a:spcAft>
              <a:buNone/>
            </a:pPr>
            <a:r>
              <a:t/>
            </a:r>
            <a:endParaRPr b="1">
              <a:solidFill>
                <a:srgbClr val="741B47"/>
              </a:solidFill>
              <a:latin typeface="Helvetica Neue"/>
              <a:ea typeface="Helvetica Neue"/>
              <a:cs typeface="Helvetica Neue"/>
              <a:sym typeface="Helvetica Neue"/>
            </a:endParaRPr>
          </a:p>
        </p:txBody>
      </p:sp>
      <p:sp>
        <p:nvSpPr>
          <p:cNvPr id="394" name="Google Shape;394;p84"/>
          <p:cNvSpPr/>
          <p:nvPr/>
        </p:nvSpPr>
        <p:spPr>
          <a:xfrm>
            <a:off x="3316325" y="2030150"/>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Sequencer: Reads</a:t>
            </a:r>
            <a:r>
              <a:rPr lang="en"/>
              <a:t> </a:t>
            </a:r>
            <a:r>
              <a:rPr b="1" lang="en">
                <a:solidFill>
                  <a:schemeClr val="accent2"/>
                </a:solidFill>
              </a:rPr>
              <a:t>Fastq</a:t>
            </a:r>
            <a:endParaRPr b="1">
              <a:solidFill>
                <a:schemeClr val="accent2"/>
              </a:solidFill>
            </a:endParaRPr>
          </a:p>
        </p:txBody>
      </p:sp>
      <p:sp>
        <p:nvSpPr>
          <p:cNvPr id="395" name="Google Shape;395;p84"/>
          <p:cNvSpPr/>
          <p:nvPr/>
        </p:nvSpPr>
        <p:spPr>
          <a:xfrm>
            <a:off x="5445750" y="2030150"/>
            <a:ext cx="1727700" cy="493800"/>
          </a:xfrm>
          <a:prstGeom prst="roundRect">
            <a:avLst>
              <a:gd fmla="val 16667" name="adj"/>
            </a:avLst>
          </a:prstGeom>
          <a:solidFill>
            <a:srgbClr val="F7F6F3"/>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None/>
            </a:pPr>
            <a:r>
              <a:rPr b="1" lang="en">
                <a:solidFill>
                  <a:schemeClr val="accent2"/>
                </a:solidFill>
              </a:rPr>
              <a:t>FastQC </a:t>
            </a:r>
            <a:endParaRPr b="1">
              <a:solidFill>
                <a:schemeClr val="accent2"/>
              </a:solidFill>
            </a:endParaRPr>
          </a:p>
        </p:txBody>
      </p:sp>
      <p:sp>
        <p:nvSpPr>
          <p:cNvPr id="396" name="Google Shape;396;p84"/>
          <p:cNvSpPr/>
          <p:nvPr/>
        </p:nvSpPr>
        <p:spPr>
          <a:xfrm>
            <a:off x="3316325" y="3283863"/>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Alignment/Mapping</a:t>
            </a:r>
            <a:endParaRPr b="1"/>
          </a:p>
          <a:p>
            <a:pPr indent="0" lvl="0" marL="0" rtl="0" algn="ctr">
              <a:spcBef>
                <a:spcPts val="0"/>
              </a:spcBef>
              <a:spcAft>
                <a:spcPts val="0"/>
              </a:spcAft>
              <a:buNone/>
            </a:pPr>
            <a:r>
              <a:rPr b="1" lang="en">
                <a:solidFill>
                  <a:schemeClr val="accent2"/>
                </a:solidFill>
              </a:rPr>
              <a:t>STAR</a:t>
            </a:r>
            <a:r>
              <a:rPr lang="en"/>
              <a:t> </a:t>
            </a:r>
            <a:endParaRPr/>
          </a:p>
        </p:txBody>
      </p:sp>
      <p:sp>
        <p:nvSpPr>
          <p:cNvPr id="397" name="Google Shape;397;p84"/>
          <p:cNvSpPr/>
          <p:nvPr/>
        </p:nvSpPr>
        <p:spPr>
          <a:xfrm>
            <a:off x="3316325" y="3886175"/>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200">
                <a:solidFill>
                  <a:schemeClr val="dk1"/>
                </a:solidFill>
              </a:rPr>
              <a:t>Counting Reads </a:t>
            </a:r>
            <a:endParaRPr b="1" sz="1200">
              <a:solidFill>
                <a:schemeClr val="dk1"/>
              </a:solidFill>
            </a:endParaRPr>
          </a:p>
          <a:p>
            <a:pPr indent="0" lvl="0" marL="0" rtl="0" algn="ctr">
              <a:spcBef>
                <a:spcPts val="0"/>
              </a:spcBef>
              <a:spcAft>
                <a:spcPts val="0"/>
              </a:spcAft>
              <a:buNone/>
            </a:pPr>
            <a:r>
              <a:rPr b="1" lang="en">
                <a:solidFill>
                  <a:schemeClr val="accent2"/>
                </a:solidFill>
              </a:rPr>
              <a:t>featureCounts</a:t>
            </a:r>
            <a:endParaRPr b="1" sz="1200"/>
          </a:p>
        </p:txBody>
      </p:sp>
      <p:sp>
        <p:nvSpPr>
          <p:cNvPr id="398" name="Google Shape;398;p84"/>
          <p:cNvSpPr/>
          <p:nvPr/>
        </p:nvSpPr>
        <p:spPr>
          <a:xfrm>
            <a:off x="3316325" y="2681575"/>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Trimming</a:t>
            </a:r>
            <a:endParaRPr b="1"/>
          </a:p>
          <a:p>
            <a:pPr indent="0" lvl="0" marL="0" rtl="0" algn="ctr">
              <a:spcBef>
                <a:spcPts val="0"/>
              </a:spcBef>
              <a:spcAft>
                <a:spcPts val="0"/>
              </a:spcAft>
              <a:buNone/>
            </a:pPr>
            <a:r>
              <a:rPr b="1" lang="en">
                <a:solidFill>
                  <a:schemeClr val="accent2"/>
                </a:solidFill>
              </a:rPr>
              <a:t>cutadapt</a:t>
            </a:r>
            <a:endParaRPr b="1">
              <a:solidFill>
                <a:schemeClr val="accent2"/>
              </a:solidFill>
            </a:endParaRPr>
          </a:p>
        </p:txBody>
      </p:sp>
      <p:sp>
        <p:nvSpPr>
          <p:cNvPr id="399" name="Google Shape;399;p84"/>
          <p:cNvSpPr/>
          <p:nvPr/>
        </p:nvSpPr>
        <p:spPr>
          <a:xfrm>
            <a:off x="5445750" y="2681575"/>
            <a:ext cx="1727700" cy="493800"/>
          </a:xfrm>
          <a:prstGeom prst="roundRect">
            <a:avLst>
              <a:gd fmla="val 16667" name="adj"/>
            </a:avLst>
          </a:prstGeom>
          <a:solidFill>
            <a:srgbClr val="F7F6F3"/>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Clr>
                <a:schemeClr val="dk1"/>
              </a:buClr>
              <a:buSzPts val="1100"/>
              <a:buFont typeface="Arial"/>
              <a:buNone/>
            </a:pPr>
            <a:r>
              <a:rPr b="1" lang="en">
                <a:solidFill>
                  <a:schemeClr val="accent2"/>
                </a:solidFill>
              </a:rPr>
              <a:t>FastQC</a:t>
            </a:r>
            <a:endParaRPr b="1">
              <a:solidFill>
                <a:schemeClr val="accent2"/>
              </a:solidFill>
            </a:endParaRPr>
          </a:p>
        </p:txBody>
      </p:sp>
      <p:sp>
        <p:nvSpPr>
          <p:cNvPr id="400" name="Google Shape;400;p84"/>
          <p:cNvSpPr/>
          <p:nvPr/>
        </p:nvSpPr>
        <p:spPr>
          <a:xfrm>
            <a:off x="5445750" y="3283875"/>
            <a:ext cx="1727700" cy="493800"/>
          </a:xfrm>
          <a:prstGeom prst="roundRect">
            <a:avLst>
              <a:gd fmla="val 16667" name="adj"/>
            </a:avLst>
          </a:prstGeom>
          <a:solidFill>
            <a:srgbClr val="F7F6F3"/>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Clr>
                <a:schemeClr val="dk1"/>
              </a:buClr>
              <a:buSzPts val="1100"/>
              <a:buFont typeface="Arial"/>
              <a:buNone/>
            </a:pPr>
            <a:r>
              <a:t/>
            </a:r>
            <a:endParaRPr b="1">
              <a:solidFill>
                <a:schemeClr val="accent2"/>
              </a:solidFill>
            </a:endParaRPr>
          </a:p>
        </p:txBody>
      </p:sp>
      <p:sp>
        <p:nvSpPr>
          <p:cNvPr id="401" name="Google Shape;401;p84"/>
          <p:cNvSpPr/>
          <p:nvPr/>
        </p:nvSpPr>
        <p:spPr>
          <a:xfrm>
            <a:off x="3316325" y="776450"/>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Biological question</a:t>
            </a:r>
            <a:endParaRPr b="1">
              <a:solidFill>
                <a:schemeClr val="accent2"/>
              </a:solidFill>
            </a:endParaRPr>
          </a:p>
        </p:txBody>
      </p:sp>
      <p:sp>
        <p:nvSpPr>
          <p:cNvPr id="402" name="Google Shape;402;p84"/>
          <p:cNvSpPr/>
          <p:nvPr/>
        </p:nvSpPr>
        <p:spPr>
          <a:xfrm>
            <a:off x="3316325" y="1403288"/>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Library preparation</a:t>
            </a:r>
            <a:endParaRPr b="1">
              <a:solidFill>
                <a:schemeClr val="accent2"/>
              </a:solidFill>
            </a:endParaRPr>
          </a:p>
        </p:txBody>
      </p:sp>
      <p:sp>
        <p:nvSpPr>
          <p:cNvPr id="403" name="Google Shape;403;p84"/>
          <p:cNvSpPr/>
          <p:nvPr/>
        </p:nvSpPr>
        <p:spPr>
          <a:xfrm>
            <a:off x="5445750" y="3893249"/>
            <a:ext cx="1727700" cy="493800"/>
          </a:xfrm>
          <a:prstGeom prst="roundRect">
            <a:avLst>
              <a:gd fmla="val 16667" name="adj"/>
            </a:avLst>
          </a:prstGeom>
          <a:solidFill>
            <a:srgbClr val="F7F6F3"/>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Clr>
                <a:schemeClr val="dk1"/>
              </a:buClr>
              <a:buSzPts val="1100"/>
              <a:buFont typeface="Arial"/>
              <a:buNone/>
            </a:pPr>
            <a:r>
              <a:t/>
            </a:r>
            <a:endParaRPr b="1">
              <a:solidFill>
                <a:schemeClr val="accent2"/>
              </a:solidFill>
            </a:endParaRPr>
          </a:p>
        </p:txBody>
      </p:sp>
      <p:sp>
        <p:nvSpPr>
          <p:cNvPr id="404" name="Google Shape;404;p84"/>
          <p:cNvSpPr/>
          <p:nvPr/>
        </p:nvSpPr>
        <p:spPr>
          <a:xfrm flipH="1">
            <a:off x="2835850" y="3259650"/>
            <a:ext cx="207300" cy="10881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84"/>
          <p:cNvSpPr txBox="1"/>
          <p:nvPr/>
        </p:nvSpPr>
        <p:spPr>
          <a:xfrm>
            <a:off x="7592050" y="2282038"/>
            <a:ext cx="1568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accent2"/>
                </a:solidFill>
                <a:latin typeface="Helvetica Neue"/>
                <a:ea typeface="Helvetica Neue"/>
                <a:cs typeface="Helvetica Neue"/>
                <a:sym typeface="Helvetica Neue"/>
              </a:rPr>
              <a:t>Session 1 Demo</a:t>
            </a:r>
            <a:endParaRPr b="1" sz="1200">
              <a:solidFill>
                <a:schemeClr val="accent2"/>
              </a:solidFill>
              <a:highlight>
                <a:srgbClr val="F7F6F3"/>
              </a:highlight>
            </a:endParaRPr>
          </a:p>
          <a:p>
            <a:pPr indent="0" lvl="0" marL="0" rtl="0" algn="l">
              <a:spcBef>
                <a:spcPts val="0"/>
              </a:spcBef>
              <a:spcAft>
                <a:spcPts val="0"/>
              </a:spcAft>
              <a:buNone/>
            </a:pPr>
            <a:r>
              <a:t/>
            </a:r>
            <a:endParaRPr b="1">
              <a:latin typeface="Helvetica Neue"/>
              <a:ea typeface="Helvetica Neue"/>
              <a:cs typeface="Helvetica Neue"/>
              <a:sym typeface="Helvetica Neue"/>
            </a:endParaRPr>
          </a:p>
        </p:txBody>
      </p:sp>
      <p:sp>
        <p:nvSpPr>
          <p:cNvPr id="406" name="Google Shape;406;p84"/>
          <p:cNvSpPr/>
          <p:nvPr/>
        </p:nvSpPr>
        <p:spPr>
          <a:xfrm flipH="1" rot="10800000">
            <a:off x="7248950" y="2015175"/>
            <a:ext cx="267600" cy="10794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84"/>
          <p:cNvSpPr txBox="1"/>
          <p:nvPr/>
        </p:nvSpPr>
        <p:spPr>
          <a:xfrm>
            <a:off x="7581823" y="3495888"/>
            <a:ext cx="1568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accent2"/>
                </a:solidFill>
                <a:latin typeface="Helvetica Neue"/>
                <a:ea typeface="Helvetica Neue"/>
                <a:cs typeface="Helvetica Neue"/>
                <a:sym typeface="Helvetica Neue"/>
              </a:rPr>
              <a:t>Session 2 Demo</a:t>
            </a:r>
            <a:endParaRPr b="1" sz="1200">
              <a:solidFill>
                <a:schemeClr val="accent2"/>
              </a:solidFill>
              <a:highlight>
                <a:srgbClr val="F7F6F3"/>
              </a:highlight>
            </a:endParaRPr>
          </a:p>
          <a:p>
            <a:pPr indent="0" lvl="0" marL="0" rtl="0" algn="l">
              <a:spcBef>
                <a:spcPts val="0"/>
              </a:spcBef>
              <a:spcAft>
                <a:spcPts val="0"/>
              </a:spcAft>
              <a:buNone/>
            </a:pPr>
            <a:r>
              <a:t/>
            </a:r>
            <a:endParaRPr b="1">
              <a:latin typeface="Helvetica Neue"/>
              <a:ea typeface="Helvetica Neue"/>
              <a:cs typeface="Helvetica Neue"/>
              <a:sym typeface="Helvetica Neue"/>
            </a:endParaRPr>
          </a:p>
        </p:txBody>
      </p:sp>
      <p:sp>
        <p:nvSpPr>
          <p:cNvPr id="408" name="Google Shape;408;p84"/>
          <p:cNvSpPr/>
          <p:nvPr/>
        </p:nvSpPr>
        <p:spPr>
          <a:xfrm flipH="1" rot="10800000">
            <a:off x="7238725" y="3334925"/>
            <a:ext cx="292800" cy="9735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9" name="Google Shape;409;p84"/>
          <p:cNvPicPr preferRelativeResize="0"/>
          <p:nvPr/>
        </p:nvPicPr>
        <p:blipFill>
          <a:blip r:embed="rId3">
            <a:alphaModFix/>
          </a:blip>
          <a:stretch>
            <a:fillRect/>
          </a:stretch>
        </p:blipFill>
        <p:spPr>
          <a:xfrm>
            <a:off x="6767525" y="147869"/>
            <a:ext cx="2011679" cy="512979"/>
          </a:xfrm>
          <a:prstGeom prst="rect">
            <a:avLst/>
          </a:prstGeom>
          <a:noFill/>
          <a:ln>
            <a:noFill/>
          </a:ln>
        </p:spPr>
      </p:pic>
      <p:sp>
        <p:nvSpPr>
          <p:cNvPr id="410" name="Google Shape;410;p84"/>
          <p:cNvSpPr/>
          <p:nvPr/>
        </p:nvSpPr>
        <p:spPr>
          <a:xfrm>
            <a:off x="3316325" y="4488475"/>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dk1"/>
                </a:solidFill>
              </a:rPr>
              <a:t>Count Matrix</a:t>
            </a:r>
            <a:endParaRPr b="1" sz="15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85"/>
          <p:cNvSpPr txBox="1"/>
          <p:nvPr>
            <p:ph type="title"/>
          </p:nvPr>
        </p:nvSpPr>
        <p:spPr>
          <a:xfrm>
            <a:off x="120000" y="-9"/>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RNA-seq - analysis workflow (B) </a:t>
            </a:r>
            <a:endParaRPr/>
          </a:p>
        </p:txBody>
      </p:sp>
      <p:sp>
        <p:nvSpPr>
          <p:cNvPr id="416" name="Google Shape;416;p85"/>
          <p:cNvSpPr/>
          <p:nvPr/>
        </p:nvSpPr>
        <p:spPr>
          <a:xfrm>
            <a:off x="3316325" y="1763438"/>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Filtering low counts genes</a:t>
            </a:r>
            <a:endParaRPr b="1" sz="900"/>
          </a:p>
        </p:txBody>
      </p:sp>
      <p:sp>
        <p:nvSpPr>
          <p:cNvPr id="417" name="Google Shape;417;p85"/>
          <p:cNvSpPr/>
          <p:nvPr/>
        </p:nvSpPr>
        <p:spPr>
          <a:xfrm>
            <a:off x="3316325" y="2882500"/>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Normalization </a:t>
            </a:r>
            <a:endParaRPr/>
          </a:p>
        </p:txBody>
      </p:sp>
      <p:sp>
        <p:nvSpPr>
          <p:cNvPr id="418" name="Google Shape;418;p85"/>
          <p:cNvSpPr/>
          <p:nvPr/>
        </p:nvSpPr>
        <p:spPr>
          <a:xfrm>
            <a:off x="3316325" y="3436875"/>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Fit the model</a:t>
            </a:r>
            <a:endParaRPr b="1"/>
          </a:p>
        </p:txBody>
      </p:sp>
      <p:sp>
        <p:nvSpPr>
          <p:cNvPr id="419" name="Google Shape;419;p85"/>
          <p:cNvSpPr/>
          <p:nvPr/>
        </p:nvSpPr>
        <p:spPr>
          <a:xfrm>
            <a:off x="3316325" y="2328124"/>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Dimensionality reduction</a:t>
            </a:r>
            <a:endParaRPr b="1"/>
          </a:p>
        </p:txBody>
      </p:sp>
      <p:sp>
        <p:nvSpPr>
          <p:cNvPr id="420" name="Google Shape;420;p85"/>
          <p:cNvSpPr/>
          <p:nvPr/>
        </p:nvSpPr>
        <p:spPr>
          <a:xfrm>
            <a:off x="3316325" y="592375"/>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Count matrix</a:t>
            </a:r>
            <a:endParaRPr b="1"/>
          </a:p>
        </p:txBody>
      </p:sp>
      <p:sp>
        <p:nvSpPr>
          <p:cNvPr id="421" name="Google Shape;421;p85"/>
          <p:cNvSpPr/>
          <p:nvPr/>
        </p:nvSpPr>
        <p:spPr>
          <a:xfrm>
            <a:off x="3316325" y="1178313"/>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Source of variability</a:t>
            </a:r>
            <a:endParaRPr b="1">
              <a:solidFill>
                <a:schemeClr val="accent2"/>
              </a:solidFill>
            </a:endParaRPr>
          </a:p>
        </p:txBody>
      </p:sp>
      <p:sp>
        <p:nvSpPr>
          <p:cNvPr id="422" name="Google Shape;422;p85"/>
          <p:cNvSpPr txBox="1"/>
          <p:nvPr/>
        </p:nvSpPr>
        <p:spPr>
          <a:xfrm>
            <a:off x="3471100" y="4586663"/>
            <a:ext cx="156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76912"/>
                </a:solidFill>
                <a:latin typeface="Helvetica Neue"/>
                <a:ea typeface="Helvetica Neue"/>
                <a:cs typeface="Helvetica Neue"/>
                <a:sym typeface="Helvetica Neue"/>
              </a:rPr>
              <a:t>Session 3 Demo</a:t>
            </a:r>
            <a:endParaRPr b="1">
              <a:solidFill>
                <a:srgbClr val="F76912"/>
              </a:solidFill>
              <a:latin typeface="Helvetica Neue"/>
              <a:ea typeface="Helvetica Neue"/>
              <a:cs typeface="Helvetica Neue"/>
              <a:sym typeface="Helvetica Neue"/>
            </a:endParaRPr>
          </a:p>
        </p:txBody>
      </p:sp>
      <p:sp>
        <p:nvSpPr>
          <p:cNvPr id="423" name="Google Shape;423;p85"/>
          <p:cNvSpPr/>
          <p:nvPr/>
        </p:nvSpPr>
        <p:spPr>
          <a:xfrm>
            <a:off x="3316325" y="3991250"/>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DEG and visualization</a:t>
            </a:r>
            <a:endParaRPr b="1"/>
          </a:p>
        </p:txBody>
      </p:sp>
      <p:sp>
        <p:nvSpPr>
          <p:cNvPr id="424" name="Google Shape;424;p85"/>
          <p:cNvSpPr txBox="1"/>
          <p:nvPr/>
        </p:nvSpPr>
        <p:spPr>
          <a:xfrm>
            <a:off x="54700" y="2474075"/>
            <a:ext cx="312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741B47"/>
                </a:solidFill>
                <a:latin typeface="Helvetica Neue"/>
                <a:ea typeface="Helvetica Neue"/>
                <a:cs typeface="Helvetica Neue"/>
                <a:sym typeface="Helvetica Neue"/>
              </a:rPr>
              <a:t>Session 3 Concepts: </a:t>
            </a:r>
            <a:endParaRPr b="1" sz="1200">
              <a:solidFill>
                <a:srgbClr val="741B47"/>
              </a:solidFill>
              <a:highlight>
                <a:srgbClr val="F7F6F3"/>
              </a:high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86"/>
          <p:cNvSpPr txBox="1"/>
          <p:nvPr>
            <p:ph type="title"/>
          </p:nvPr>
        </p:nvSpPr>
        <p:spPr>
          <a:xfrm>
            <a:off x="205725" y="66591"/>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Bulk </a:t>
            </a:r>
            <a:r>
              <a:rPr lang="en"/>
              <a:t>RNA-seq - experiment</a:t>
            </a:r>
            <a:endParaRPr/>
          </a:p>
        </p:txBody>
      </p:sp>
      <p:pic>
        <p:nvPicPr>
          <p:cNvPr id="430" name="Google Shape;430;p86"/>
          <p:cNvPicPr preferRelativeResize="0"/>
          <p:nvPr/>
        </p:nvPicPr>
        <p:blipFill>
          <a:blip r:embed="rId3">
            <a:alphaModFix/>
          </a:blip>
          <a:stretch>
            <a:fillRect/>
          </a:stretch>
        </p:blipFill>
        <p:spPr>
          <a:xfrm>
            <a:off x="1140225" y="863766"/>
            <a:ext cx="6701295" cy="3871859"/>
          </a:xfrm>
          <a:prstGeom prst="rect">
            <a:avLst/>
          </a:prstGeom>
          <a:noFill/>
          <a:ln>
            <a:noFill/>
          </a:ln>
        </p:spPr>
      </p:pic>
      <p:sp>
        <p:nvSpPr>
          <p:cNvPr id="431" name="Google Shape;431;p86"/>
          <p:cNvSpPr txBox="1"/>
          <p:nvPr/>
        </p:nvSpPr>
        <p:spPr>
          <a:xfrm>
            <a:off x="4836925" y="4735625"/>
            <a:ext cx="42240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https://www.wikiwand.com/en/RNA-Seq</a:t>
            </a:r>
            <a:endParaRPr/>
          </a:p>
        </p:txBody>
      </p:sp>
      <p:sp>
        <p:nvSpPr>
          <p:cNvPr id="432" name="Google Shape;432;p86"/>
          <p:cNvSpPr/>
          <p:nvPr/>
        </p:nvSpPr>
        <p:spPr>
          <a:xfrm>
            <a:off x="1079100" y="759350"/>
            <a:ext cx="2292300" cy="1561800"/>
          </a:xfrm>
          <a:prstGeom prst="rect">
            <a:avLst/>
          </a:prstGeom>
          <a:noFill/>
          <a:ln cap="flat" cmpd="sng" w="38100">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86"/>
          <p:cNvSpPr txBox="1"/>
          <p:nvPr/>
        </p:nvSpPr>
        <p:spPr>
          <a:xfrm>
            <a:off x="3024825" y="4317275"/>
            <a:ext cx="24930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rgbClr val="A64D79"/>
                </a:solidFill>
              </a:rPr>
              <a:t>mean length of 300 bp (typically ranging 200–700 bp)</a:t>
            </a:r>
            <a:endParaRPr sz="1200">
              <a:solidFill>
                <a:srgbClr val="A64D79"/>
              </a:solidFill>
            </a:endParaRPr>
          </a:p>
        </p:txBody>
      </p:sp>
      <p:pic>
        <p:nvPicPr>
          <p:cNvPr id="434" name="Google Shape;434;p86"/>
          <p:cNvPicPr preferRelativeResize="0"/>
          <p:nvPr/>
        </p:nvPicPr>
        <p:blipFill>
          <a:blip r:embed="rId4">
            <a:alphaModFix/>
          </a:blip>
          <a:stretch>
            <a:fillRect/>
          </a:stretch>
        </p:blipFill>
        <p:spPr>
          <a:xfrm>
            <a:off x="143150" y="759350"/>
            <a:ext cx="783652" cy="5541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87"/>
          <p:cNvSpPr txBox="1"/>
          <p:nvPr/>
        </p:nvSpPr>
        <p:spPr>
          <a:xfrm>
            <a:off x="54700" y="2474075"/>
            <a:ext cx="312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741B47"/>
                </a:solidFill>
                <a:latin typeface="Helvetica Neue"/>
                <a:ea typeface="Helvetica Neue"/>
                <a:cs typeface="Helvetica Neue"/>
                <a:sym typeface="Helvetica Neue"/>
              </a:rPr>
              <a:t>Session 1 Concepts: </a:t>
            </a:r>
            <a:endParaRPr b="1" sz="1200">
              <a:solidFill>
                <a:srgbClr val="741B47"/>
              </a:solidFill>
              <a:highlight>
                <a:srgbClr val="F7F6F3"/>
              </a:highlight>
            </a:endParaRPr>
          </a:p>
        </p:txBody>
      </p:sp>
      <p:sp>
        <p:nvSpPr>
          <p:cNvPr id="440" name="Google Shape;440;p87"/>
          <p:cNvSpPr/>
          <p:nvPr/>
        </p:nvSpPr>
        <p:spPr>
          <a:xfrm flipH="1">
            <a:off x="2835850" y="2015275"/>
            <a:ext cx="207300" cy="10881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87"/>
          <p:cNvSpPr txBox="1"/>
          <p:nvPr/>
        </p:nvSpPr>
        <p:spPr>
          <a:xfrm>
            <a:off x="54700" y="3589413"/>
            <a:ext cx="3125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a:solidFill>
                  <a:srgbClr val="741B47"/>
                </a:solidFill>
                <a:latin typeface="Helvetica Neue"/>
                <a:ea typeface="Helvetica Neue"/>
                <a:cs typeface="Helvetica Neue"/>
                <a:sym typeface="Helvetica Neue"/>
              </a:rPr>
              <a:t>Session 2 Concepts: </a:t>
            </a:r>
            <a:endParaRPr b="1" sz="1200">
              <a:solidFill>
                <a:srgbClr val="741B47"/>
              </a:solidFill>
              <a:highlight>
                <a:srgbClr val="F7F6F3"/>
              </a:highlight>
            </a:endParaRPr>
          </a:p>
          <a:p>
            <a:pPr indent="0" lvl="0" marL="0" rtl="0" algn="l">
              <a:spcBef>
                <a:spcPts val="0"/>
              </a:spcBef>
              <a:spcAft>
                <a:spcPts val="0"/>
              </a:spcAft>
              <a:buNone/>
            </a:pPr>
            <a:r>
              <a:t/>
            </a:r>
            <a:endParaRPr b="1">
              <a:solidFill>
                <a:srgbClr val="741B47"/>
              </a:solidFill>
              <a:latin typeface="Helvetica Neue"/>
              <a:ea typeface="Helvetica Neue"/>
              <a:cs typeface="Helvetica Neue"/>
              <a:sym typeface="Helvetica Neue"/>
            </a:endParaRPr>
          </a:p>
        </p:txBody>
      </p:sp>
      <p:sp>
        <p:nvSpPr>
          <p:cNvPr id="442" name="Google Shape;442;p87"/>
          <p:cNvSpPr/>
          <p:nvPr/>
        </p:nvSpPr>
        <p:spPr>
          <a:xfrm>
            <a:off x="3316325" y="2030150"/>
            <a:ext cx="1993500" cy="493800"/>
          </a:xfrm>
          <a:prstGeom prst="roundRect">
            <a:avLst>
              <a:gd fmla="val 16667" name="adj"/>
            </a:avLst>
          </a:prstGeom>
          <a:solidFill>
            <a:srgbClr val="D5A6BD"/>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Sequencer: Reads</a:t>
            </a:r>
            <a:r>
              <a:rPr lang="en"/>
              <a:t> </a:t>
            </a:r>
            <a:r>
              <a:rPr b="1" lang="en">
                <a:solidFill>
                  <a:schemeClr val="accent2"/>
                </a:solidFill>
              </a:rPr>
              <a:t>Fastq</a:t>
            </a:r>
            <a:endParaRPr b="1">
              <a:solidFill>
                <a:schemeClr val="accent2"/>
              </a:solidFill>
            </a:endParaRPr>
          </a:p>
        </p:txBody>
      </p:sp>
      <p:sp>
        <p:nvSpPr>
          <p:cNvPr id="443" name="Google Shape;443;p87"/>
          <p:cNvSpPr/>
          <p:nvPr/>
        </p:nvSpPr>
        <p:spPr>
          <a:xfrm>
            <a:off x="5445750" y="2030150"/>
            <a:ext cx="1727700" cy="493800"/>
          </a:xfrm>
          <a:prstGeom prst="roundRect">
            <a:avLst>
              <a:gd fmla="val 16667" name="adj"/>
            </a:avLst>
          </a:prstGeom>
          <a:solidFill>
            <a:srgbClr val="F7F6F3"/>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None/>
            </a:pPr>
            <a:r>
              <a:rPr b="1" lang="en">
                <a:solidFill>
                  <a:schemeClr val="accent2"/>
                </a:solidFill>
              </a:rPr>
              <a:t>FastQC </a:t>
            </a:r>
            <a:endParaRPr b="1">
              <a:solidFill>
                <a:schemeClr val="accent2"/>
              </a:solidFill>
            </a:endParaRPr>
          </a:p>
        </p:txBody>
      </p:sp>
      <p:sp>
        <p:nvSpPr>
          <p:cNvPr id="444" name="Google Shape;444;p87"/>
          <p:cNvSpPr/>
          <p:nvPr/>
        </p:nvSpPr>
        <p:spPr>
          <a:xfrm>
            <a:off x="3316325" y="3283863"/>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Alignment/Mapping</a:t>
            </a:r>
            <a:endParaRPr b="1"/>
          </a:p>
          <a:p>
            <a:pPr indent="0" lvl="0" marL="0" rtl="0" algn="ctr">
              <a:spcBef>
                <a:spcPts val="0"/>
              </a:spcBef>
              <a:spcAft>
                <a:spcPts val="0"/>
              </a:spcAft>
              <a:buNone/>
            </a:pPr>
            <a:r>
              <a:rPr b="1" lang="en">
                <a:solidFill>
                  <a:schemeClr val="accent2"/>
                </a:solidFill>
              </a:rPr>
              <a:t>STAR</a:t>
            </a:r>
            <a:r>
              <a:rPr lang="en"/>
              <a:t> </a:t>
            </a:r>
            <a:endParaRPr/>
          </a:p>
        </p:txBody>
      </p:sp>
      <p:sp>
        <p:nvSpPr>
          <p:cNvPr id="445" name="Google Shape;445;p87"/>
          <p:cNvSpPr/>
          <p:nvPr/>
        </p:nvSpPr>
        <p:spPr>
          <a:xfrm>
            <a:off x="3316325" y="3886175"/>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200">
                <a:solidFill>
                  <a:schemeClr val="dk1"/>
                </a:solidFill>
              </a:rPr>
              <a:t>Counting Reads </a:t>
            </a:r>
            <a:endParaRPr b="1" sz="1200">
              <a:solidFill>
                <a:schemeClr val="dk1"/>
              </a:solidFill>
            </a:endParaRPr>
          </a:p>
          <a:p>
            <a:pPr indent="0" lvl="0" marL="0" rtl="0" algn="ctr">
              <a:spcBef>
                <a:spcPts val="0"/>
              </a:spcBef>
              <a:spcAft>
                <a:spcPts val="0"/>
              </a:spcAft>
              <a:buNone/>
            </a:pPr>
            <a:r>
              <a:rPr b="1" lang="en">
                <a:solidFill>
                  <a:schemeClr val="accent2"/>
                </a:solidFill>
              </a:rPr>
              <a:t>featureCounts</a:t>
            </a:r>
            <a:endParaRPr b="1" sz="1200"/>
          </a:p>
        </p:txBody>
      </p:sp>
      <p:sp>
        <p:nvSpPr>
          <p:cNvPr id="446" name="Google Shape;446;p87"/>
          <p:cNvSpPr/>
          <p:nvPr/>
        </p:nvSpPr>
        <p:spPr>
          <a:xfrm>
            <a:off x="3316325" y="2681575"/>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Trimming</a:t>
            </a:r>
            <a:endParaRPr b="1"/>
          </a:p>
          <a:p>
            <a:pPr indent="0" lvl="0" marL="0" rtl="0" algn="ctr">
              <a:spcBef>
                <a:spcPts val="0"/>
              </a:spcBef>
              <a:spcAft>
                <a:spcPts val="0"/>
              </a:spcAft>
              <a:buNone/>
            </a:pPr>
            <a:r>
              <a:rPr b="1" lang="en">
                <a:solidFill>
                  <a:schemeClr val="accent2"/>
                </a:solidFill>
              </a:rPr>
              <a:t>cutadapt</a:t>
            </a:r>
            <a:endParaRPr b="1">
              <a:solidFill>
                <a:schemeClr val="accent2"/>
              </a:solidFill>
            </a:endParaRPr>
          </a:p>
        </p:txBody>
      </p:sp>
      <p:sp>
        <p:nvSpPr>
          <p:cNvPr id="447" name="Google Shape;447;p87"/>
          <p:cNvSpPr/>
          <p:nvPr/>
        </p:nvSpPr>
        <p:spPr>
          <a:xfrm>
            <a:off x="5445750" y="2681575"/>
            <a:ext cx="1727700" cy="493800"/>
          </a:xfrm>
          <a:prstGeom prst="roundRect">
            <a:avLst>
              <a:gd fmla="val 16667" name="adj"/>
            </a:avLst>
          </a:prstGeom>
          <a:solidFill>
            <a:srgbClr val="F7F6F3"/>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Clr>
                <a:schemeClr val="dk1"/>
              </a:buClr>
              <a:buSzPts val="1100"/>
              <a:buFont typeface="Arial"/>
              <a:buNone/>
            </a:pPr>
            <a:r>
              <a:rPr b="1" lang="en">
                <a:solidFill>
                  <a:schemeClr val="accent2"/>
                </a:solidFill>
              </a:rPr>
              <a:t>FastQC</a:t>
            </a:r>
            <a:endParaRPr b="1">
              <a:solidFill>
                <a:schemeClr val="accent2"/>
              </a:solidFill>
            </a:endParaRPr>
          </a:p>
        </p:txBody>
      </p:sp>
      <p:sp>
        <p:nvSpPr>
          <p:cNvPr id="448" name="Google Shape;448;p87"/>
          <p:cNvSpPr/>
          <p:nvPr/>
        </p:nvSpPr>
        <p:spPr>
          <a:xfrm>
            <a:off x="5445750" y="3283875"/>
            <a:ext cx="1727700" cy="493800"/>
          </a:xfrm>
          <a:prstGeom prst="roundRect">
            <a:avLst>
              <a:gd fmla="val 16667" name="adj"/>
            </a:avLst>
          </a:prstGeom>
          <a:solidFill>
            <a:srgbClr val="F7F6F3"/>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Clr>
                <a:schemeClr val="dk1"/>
              </a:buClr>
              <a:buSzPts val="1100"/>
              <a:buFont typeface="Arial"/>
              <a:buNone/>
            </a:pPr>
            <a:r>
              <a:t/>
            </a:r>
            <a:endParaRPr b="1">
              <a:solidFill>
                <a:schemeClr val="accent2"/>
              </a:solidFill>
            </a:endParaRPr>
          </a:p>
        </p:txBody>
      </p:sp>
      <p:sp>
        <p:nvSpPr>
          <p:cNvPr id="449" name="Google Shape;449;p87"/>
          <p:cNvSpPr/>
          <p:nvPr/>
        </p:nvSpPr>
        <p:spPr>
          <a:xfrm>
            <a:off x="3316325" y="776450"/>
            <a:ext cx="1993500" cy="493800"/>
          </a:xfrm>
          <a:prstGeom prst="roundRect">
            <a:avLst>
              <a:gd fmla="val 16667" name="adj"/>
            </a:avLst>
          </a:prstGeom>
          <a:solidFill>
            <a:srgbClr val="B7B7B7"/>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Biological question</a:t>
            </a:r>
            <a:endParaRPr b="1">
              <a:solidFill>
                <a:schemeClr val="accent2"/>
              </a:solidFill>
            </a:endParaRPr>
          </a:p>
        </p:txBody>
      </p:sp>
      <p:sp>
        <p:nvSpPr>
          <p:cNvPr id="450" name="Google Shape;450;p87"/>
          <p:cNvSpPr/>
          <p:nvPr/>
        </p:nvSpPr>
        <p:spPr>
          <a:xfrm>
            <a:off x="3316325" y="1403288"/>
            <a:ext cx="1993500" cy="493800"/>
          </a:xfrm>
          <a:prstGeom prst="roundRect">
            <a:avLst>
              <a:gd fmla="val 16667" name="adj"/>
            </a:avLst>
          </a:prstGeom>
          <a:solidFill>
            <a:srgbClr val="B7B7B7"/>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Library preparation</a:t>
            </a:r>
            <a:endParaRPr b="1">
              <a:solidFill>
                <a:schemeClr val="accent2"/>
              </a:solidFill>
            </a:endParaRPr>
          </a:p>
        </p:txBody>
      </p:sp>
      <p:sp>
        <p:nvSpPr>
          <p:cNvPr id="451" name="Google Shape;451;p87"/>
          <p:cNvSpPr/>
          <p:nvPr/>
        </p:nvSpPr>
        <p:spPr>
          <a:xfrm>
            <a:off x="5445750" y="3893249"/>
            <a:ext cx="1727700" cy="493800"/>
          </a:xfrm>
          <a:prstGeom prst="roundRect">
            <a:avLst>
              <a:gd fmla="val 16667" name="adj"/>
            </a:avLst>
          </a:prstGeom>
          <a:solidFill>
            <a:srgbClr val="F7F6F3"/>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Clr>
                <a:schemeClr val="dk1"/>
              </a:buClr>
              <a:buSzPts val="1100"/>
              <a:buFont typeface="Arial"/>
              <a:buNone/>
            </a:pPr>
            <a:r>
              <a:t/>
            </a:r>
            <a:endParaRPr b="1">
              <a:solidFill>
                <a:schemeClr val="accent2"/>
              </a:solidFill>
            </a:endParaRPr>
          </a:p>
        </p:txBody>
      </p:sp>
      <p:sp>
        <p:nvSpPr>
          <p:cNvPr id="452" name="Google Shape;452;p87"/>
          <p:cNvSpPr/>
          <p:nvPr/>
        </p:nvSpPr>
        <p:spPr>
          <a:xfrm flipH="1">
            <a:off x="2835850" y="3259650"/>
            <a:ext cx="207300" cy="10881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87"/>
          <p:cNvSpPr txBox="1"/>
          <p:nvPr/>
        </p:nvSpPr>
        <p:spPr>
          <a:xfrm>
            <a:off x="7592050" y="2282038"/>
            <a:ext cx="1568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accent2"/>
                </a:solidFill>
                <a:latin typeface="Helvetica Neue"/>
                <a:ea typeface="Helvetica Neue"/>
                <a:cs typeface="Helvetica Neue"/>
                <a:sym typeface="Helvetica Neue"/>
              </a:rPr>
              <a:t>Session 1 Demo</a:t>
            </a:r>
            <a:endParaRPr b="1" sz="1200">
              <a:solidFill>
                <a:schemeClr val="accent2"/>
              </a:solidFill>
              <a:highlight>
                <a:srgbClr val="F7F6F3"/>
              </a:highlight>
            </a:endParaRPr>
          </a:p>
          <a:p>
            <a:pPr indent="0" lvl="0" marL="0" rtl="0" algn="l">
              <a:spcBef>
                <a:spcPts val="0"/>
              </a:spcBef>
              <a:spcAft>
                <a:spcPts val="0"/>
              </a:spcAft>
              <a:buNone/>
            </a:pPr>
            <a:r>
              <a:t/>
            </a:r>
            <a:endParaRPr b="1">
              <a:latin typeface="Helvetica Neue"/>
              <a:ea typeface="Helvetica Neue"/>
              <a:cs typeface="Helvetica Neue"/>
              <a:sym typeface="Helvetica Neue"/>
            </a:endParaRPr>
          </a:p>
        </p:txBody>
      </p:sp>
      <p:sp>
        <p:nvSpPr>
          <p:cNvPr id="454" name="Google Shape;454;p87"/>
          <p:cNvSpPr/>
          <p:nvPr/>
        </p:nvSpPr>
        <p:spPr>
          <a:xfrm flipH="1" rot="10800000">
            <a:off x="7248950" y="2015175"/>
            <a:ext cx="267600" cy="10794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87"/>
          <p:cNvSpPr txBox="1"/>
          <p:nvPr/>
        </p:nvSpPr>
        <p:spPr>
          <a:xfrm>
            <a:off x="7581823" y="3495888"/>
            <a:ext cx="1568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accent2"/>
                </a:solidFill>
                <a:latin typeface="Helvetica Neue"/>
                <a:ea typeface="Helvetica Neue"/>
                <a:cs typeface="Helvetica Neue"/>
                <a:sym typeface="Helvetica Neue"/>
              </a:rPr>
              <a:t>Session 2 Demo</a:t>
            </a:r>
            <a:endParaRPr b="1" sz="1200">
              <a:solidFill>
                <a:schemeClr val="accent2"/>
              </a:solidFill>
              <a:highlight>
                <a:srgbClr val="F7F6F3"/>
              </a:highlight>
            </a:endParaRPr>
          </a:p>
          <a:p>
            <a:pPr indent="0" lvl="0" marL="0" rtl="0" algn="l">
              <a:spcBef>
                <a:spcPts val="0"/>
              </a:spcBef>
              <a:spcAft>
                <a:spcPts val="0"/>
              </a:spcAft>
              <a:buNone/>
            </a:pPr>
            <a:r>
              <a:t/>
            </a:r>
            <a:endParaRPr b="1">
              <a:latin typeface="Helvetica Neue"/>
              <a:ea typeface="Helvetica Neue"/>
              <a:cs typeface="Helvetica Neue"/>
              <a:sym typeface="Helvetica Neue"/>
            </a:endParaRPr>
          </a:p>
        </p:txBody>
      </p:sp>
      <p:sp>
        <p:nvSpPr>
          <p:cNvPr id="456" name="Google Shape;456;p87"/>
          <p:cNvSpPr/>
          <p:nvPr/>
        </p:nvSpPr>
        <p:spPr>
          <a:xfrm flipH="1" rot="10800000">
            <a:off x="7238725" y="3334925"/>
            <a:ext cx="292800" cy="9735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7" name="Google Shape;457;p87"/>
          <p:cNvPicPr preferRelativeResize="0"/>
          <p:nvPr/>
        </p:nvPicPr>
        <p:blipFill>
          <a:blip r:embed="rId3">
            <a:alphaModFix/>
          </a:blip>
          <a:stretch>
            <a:fillRect/>
          </a:stretch>
        </p:blipFill>
        <p:spPr>
          <a:xfrm>
            <a:off x="6767525" y="147869"/>
            <a:ext cx="2011679" cy="512979"/>
          </a:xfrm>
          <a:prstGeom prst="rect">
            <a:avLst/>
          </a:prstGeom>
          <a:noFill/>
          <a:ln>
            <a:noFill/>
          </a:ln>
        </p:spPr>
      </p:pic>
      <p:sp>
        <p:nvSpPr>
          <p:cNvPr id="458" name="Google Shape;458;p87"/>
          <p:cNvSpPr/>
          <p:nvPr/>
        </p:nvSpPr>
        <p:spPr>
          <a:xfrm>
            <a:off x="3316325" y="4488475"/>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dk1"/>
                </a:solidFill>
              </a:rPr>
              <a:t>Count Matrix</a:t>
            </a:r>
            <a:endParaRPr b="1" sz="15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88"/>
          <p:cNvSpPr txBox="1"/>
          <p:nvPr>
            <p:ph idx="1" type="body"/>
          </p:nvPr>
        </p:nvSpPr>
        <p:spPr>
          <a:xfrm>
            <a:off x="0" y="666450"/>
            <a:ext cx="8799900" cy="3810600"/>
          </a:xfrm>
          <a:prstGeom prst="rect">
            <a:avLst/>
          </a:prstGeom>
        </p:spPr>
        <p:txBody>
          <a:bodyPr anchorCtr="0" anchor="t" bIns="0" lIns="0" spcFirstLastPara="1" rIns="0" wrap="square" tIns="0">
            <a:normAutofit/>
          </a:bodyPr>
          <a:lstStyle/>
          <a:p>
            <a:pPr indent="-292100" lvl="0" marL="457200" rtl="0" algn="l">
              <a:spcBef>
                <a:spcPts val="800"/>
              </a:spcBef>
              <a:spcAft>
                <a:spcPts val="0"/>
              </a:spcAft>
              <a:buSzPts val="1000"/>
              <a:buChar char="●"/>
            </a:pPr>
            <a:r>
              <a:rPr lang="en" sz="1700"/>
              <a:t>File names often follow a format.</a:t>
            </a:r>
            <a:endParaRPr sz="1700"/>
          </a:p>
          <a:p>
            <a:pPr indent="-292100" lvl="1" marL="914400" rtl="0" algn="l">
              <a:spcBef>
                <a:spcPts val="0"/>
              </a:spcBef>
              <a:spcAft>
                <a:spcPts val="0"/>
              </a:spcAft>
              <a:buSzPts val="1000"/>
              <a:buChar char="○"/>
            </a:pPr>
            <a:r>
              <a:rPr lang="en" sz="1400"/>
              <a:t>SampleName_SampleNumber_LaneNumber_ReadNumber_SetNumber.fastq</a:t>
            </a:r>
            <a:endParaRPr sz="1400"/>
          </a:p>
          <a:p>
            <a:pPr indent="-292100" lvl="1" marL="914400" rtl="0" algn="l">
              <a:spcBef>
                <a:spcPts val="0"/>
              </a:spcBef>
              <a:spcAft>
                <a:spcPts val="0"/>
              </a:spcAft>
              <a:buSzPts val="1000"/>
              <a:buChar char="○"/>
            </a:pPr>
            <a:r>
              <a:rPr lang="en" sz="1400"/>
              <a:t>Eg – Bacteria_S1_L001_R1_001.fastq</a:t>
            </a:r>
            <a:endParaRPr sz="1400"/>
          </a:p>
          <a:p>
            <a:pPr indent="0" lvl="0" marL="0" rtl="0" algn="l">
              <a:spcBef>
                <a:spcPts val="800"/>
              </a:spcBef>
              <a:spcAft>
                <a:spcPts val="0"/>
              </a:spcAft>
              <a:buNone/>
            </a:pPr>
            <a:r>
              <a:t/>
            </a:r>
            <a:endParaRPr sz="600"/>
          </a:p>
          <a:p>
            <a:pPr indent="-292100" lvl="0" marL="457200" rtl="0" algn="l">
              <a:spcBef>
                <a:spcPts val="800"/>
              </a:spcBef>
              <a:spcAft>
                <a:spcPts val="0"/>
              </a:spcAft>
              <a:buSzPts val="1000"/>
              <a:buChar char="●"/>
            </a:pPr>
            <a:r>
              <a:rPr lang="en" sz="1700"/>
              <a:t>Paired-end reads named with R1 and R2 in file name.</a:t>
            </a:r>
            <a:endParaRPr sz="1700"/>
          </a:p>
          <a:p>
            <a:pPr indent="-292100" lvl="1" marL="914400" rtl="0" algn="l">
              <a:spcBef>
                <a:spcPts val="0"/>
              </a:spcBef>
              <a:spcAft>
                <a:spcPts val="0"/>
              </a:spcAft>
              <a:buSzPts val="1000"/>
              <a:buChar char="○"/>
            </a:pPr>
            <a:r>
              <a:rPr lang="en" sz="1400"/>
              <a:t>Eg – Bacteria_</a:t>
            </a:r>
            <a:r>
              <a:rPr lang="en" sz="1400"/>
              <a:t>GATTACA</a:t>
            </a:r>
            <a:r>
              <a:rPr lang="en" sz="1400"/>
              <a:t>_L001_R1_001.fastq and Bacteria_</a:t>
            </a:r>
            <a:r>
              <a:rPr lang="en" sz="1400"/>
              <a:t>GATTACA</a:t>
            </a:r>
            <a:r>
              <a:rPr lang="en" sz="1400"/>
              <a:t>_L001_R2_001.fastq</a:t>
            </a:r>
            <a:endParaRPr sz="1400"/>
          </a:p>
          <a:p>
            <a:pPr indent="0" lvl="0" marL="457200" rtl="0" algn="l">
              <a:spcBef>
                <a:spcPts val="800"/>
              </a:spcBef>
              <a:spcAft>
                <a:spcPts val="0"/>
              </a:spcAft>
              <a:buNone/>
            </a:pPr>
            <a:r>
              <a:t/>
            </a:r>
            <a:endParaRPr sz="1700"/>
          </a:p>
          <a:p>
            <a:pPr indent="0" lvl="0" marL="457200" rtl="0" algn="l">
              <a:spcBef>
                <a:spcPts val="800"/>
              </a:spcBef>
              <a:spcAft>
                <a:spcPts val="0"/>
              </a:spcAft>
              <a:buNone/>
            </a:pPr>
            <a:r>
              <a:t/>
            </a:r>
            <a:endParaRPr sz="600"/>
          </a:p>
          <a:p>
            <a:pPr indent="-292100" lvl="0" marL="457200" rtl="0" algn="l">
              <a:spcBef>
                <a:spcPts val="800"/>
              </a:spcBef>
              <a:spcAft>
                <a:spcPts val="0"/>
              </a:spcAft>
              <a:buSzPts val="1000"/>
              <a:buChar char="●"/>
            </a:pPr>
            <a:r>
              <a:rPr lang="en" sz="1700"/>
              <a:t>File extensions may be .fq or even .txt</a:t>
            </a:r>
            <a:endParaRPr sz="1700"/>
          </a:p>
          <a:p>
            <a:pPr indent="-292100" lvl="0" marL="457200" rtl="0" algn="l">
              <a:spcBef>
                <a:spcPts val="0"/>
              </a:spcBef>
              <a:spcAft>
                <a:spcPts val="0"/>
              </a:spcAft>
              <a:buSzPts val="1000"/>
              <a:buChar char="●"/>
            </a:pPr>
            <a:r>
              <a:rPr lang="en" sz="1700"/>
              <a:t>Often compressed using gzip.</a:t>
            </a:r>
            <a:endParaRPr sz="1700"/>
          </a:p>
          <a:p>
            <a:pPr indent="-292100" lvl="1" marL="914400" rtl="0" algn="l">
              <a:spcBef>
                <a:spcPts val="0"/>
              </a:spcBef>
              <a:spcAft>
                <a:spcPts val="0"/>
              </a:spcAft>
              <a:buSzPts val="1000"/>
              <a:buChar char="○"/>
            </a:pPr>
            <a:r>
              <a:rPr lang="en" sz="1400"/>
              <a:t>gzip is free and open-source.</a:t>
            </a:r>
            <a:endParaRPr sz="1400"/>
          </a:p>
          <a:p>
            <a:pPr indent="-292100" lvl="1" marL="914400" rtl="0" algn="l">
              <a:spcBef>
                <a:spcPts val="0"/>
              </a:spcBef>
              <a:spcAft>
                <a:spcPts val="0"/>
              </a:spcAft>
              <a:buSzPts val="1000"/>
              <a:buChar char="○"/>
            </a:pPr>
            <a:r>
              <a:rPr lang="en" sz="1400"/>
              <a:t>Resulting file names have .gz added. Example – .fq.gz.</a:t>
            </a:r>
            <a:endParaRPr sz="1400"/>
          </a:p>
        </p:txBody>
      </p:sp>
      <p:sp>
        <p:nvSpPr>
          <p:cNvPr id="464" name="Google Shape;464;p88"/>
          <p:cNvSpPr txBox="1"/>
          <p:nvPr>
            <p:ph type="title"/>
          </p:nvPr>
        </p:nvSpPr>
        <p:spPr>
          <a:xfrm>
            <a:off x="118872" y="0"/>
            <a:ext cx="9144000" cy="7368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Clr>
                <a:schemeClr val="dk1"/>
              </a:buClr>
              <a:buSzPct val="33333"/>
              <a:buFont typeface="Arial"/>
              <a:buNone/>
            </a:pPr>
            <a:r>
              <a:rPr lang="en"/>
              <a:t>Naming conventions for fastq files</a:t>
            </a:r>
            <a:endParaRPr/>
          </a:p>
          <a:p>
            <a:pPr indent="0" lvl="0" marL="0" rtl="0" algn="l">
              <a:spcBef>
                <a:spcPts val="0"/>
              </a:spcBef>
              <a:spcAft>
                <a:spcPts val="0"/>
              </a:spcAft>
              <a:buNone/>
            </a:pPr>
            <a:r>
              <a:t/>
            </a:r>
            <a:endParaRPr/>
          </a:p>
        </p:txBody>
      </p:sp>
      <p:pic>
        <p:nvPicPr>
          <p:cNvPr id="465" name="Google Shape;465;p88"/>
          <p:cNvPicPr preferRelativeResize="0"/>
          <p:nvPr/>
        </p:nvPicPr>
        <p:blipFill>
          <a:blip r:embed="rId3">
            <a:alphaModFix/>
          </a:blip>
          <a:stretch>
            <a:fillRect/>
          </a:stretch>
        </p:blipFill>
        <p:spPr>
          <a:xfrm>
            <a:off x="4840000" y="2200500"/>
            <a:ext cx="3959901" cy="1006750"/>
          </a:xfrm>
          <a:prstGeom prst="rect">
            <a:avLst/>
          </a:prstGeom>
          <a:noFill/>
          <a:ln>
            <a:noFill/>
          </a:ln>
        </p:spPr>
      </p:pic>
      <p:pic>
        <p:nvPicPr>
          <p:cNvPr id="466" name="Google Shape;466;p88"/>
          <p:cNvPicPr preferRelativeResize="0"/>
          <p:nvPr/>
        </p:nvPicPr>
        <p:blipFill>
          <a:blip r:embed="rId4">
            <a:alphaModFix/>
          </a:blip>
          <a:stretch>
            <a:fillRect/>
          </a:stretch>
        </p:blipFill>
        <p:spPr>
          <a:xfrm>
            <a:off x="7186375" y="0"/>
            <a:ext cx="1957625" cy="17575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89"/>
          <p:cNvSpPr txBox="1"/>
          <p:nvPr>
            <p:ph type="title"/>
          </p:nvPr>
        </p:nvSpPr>
        <p:spPr>
          <a:xfrm>
            <a:off x="118872" y="0"/>
            <a:ext cx="9144000" cy="7368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sz="3000"/>
              <a:t>FASTQ files are text files with detailed information about each read.</a:t>
            </a:r>
            <a:endParaRPr sz="2800">
              <a:latin typeface="Arial"/>
              <a:ea typeface="Arial"/>
              <a:cs typeface="Arial"/>
              <a:sym typeface="Arial"/>
            </a:endParaRPr>
          </a:p>
        </p:txBody>
      </p:sp>
      <p:sp>
        <p:nvSpPr>
          <p:cNvPr id="472" name="Google Shape;472;p89"/>
          <p:cNvSpPr txBox="1"/>
          <p:nvPr/>
        </p:nvSpPr>
        <p:spPr>
          <a:xfrm>
            <a:off x="1031950" y="4743300"/>
            <a:ext cx="7344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Image adapted from Robert Edgar's web site https://www.drive5.com/</a:t>
            </a:r>
            <a:endParaRPr sz="1200"/>
          </a:p>
        </p:txBody>
      </p:sp>
      <p:grpSp>
        <p:nvGrpSpPr>
          <p:cNvPr id="473" name="Google Shape;473;p89"/>
          <p:cNvGrpSpPr/>
          <p:nvPr/>
        </p:nvGrpSpPr>
        <p:grpSpPr>
          <a:xfrm>
            <a:off x="588674" y="784600"/>
            <a:ext cx="7976543" cy="3102700"/>
            <a:chOff x="1031950" y="638658"/>
            <a:chExt cx="9281526" cy="3989585"/>
          </a:xfrm>
        </p:grpSpPr>
        <p:grpSp>
          <p:nvGrpSpPr>
            <p:cNvPr id="474" name="Google Shape;474;p89"/>
            <p:cNvGrpSpPr/>
            <p:nvPr/>
          </p:nvGrpSpPr>
          <p:grpSpPr>
            <a:xfrm>
              <a:off x="1031951" y="638658"/>
              <a:ext cx="6332906" cy="3989585"/>
              <a:chOff x="1031951" y="638658"/>
              <a:chExt cx="6332906" cy="3989585"/>
            </a:xfrm>
          </p:grpSpPr>
          <p:pic>
            <p:nvPicPr>
              <p:cNvPr id="475" name="Google Shape;475;p89"/>
              <p:cNvPicPr preferRelativeResize="0"/>
              <p:nvPr/>
            </p:nvPicPr>
            <p:blipFill rotWithShape="1">
              <a:blip r:embed="rId3">
                <a:alphaModFix/>
              </a:blip>
              <a:srcRect b="1942" l="0" r="0" t="0"/>
              <a:stretch/>
            </p:blipFill>
            <p:spPr>
              <a:xfrm>
                <a:off x="1031951" y="638658"/>
                <a:ext cx="6332906" cy="3989585"/>
              </a:xfrm>
              <a:prstGeom prst="rect">
                <a:avLst/>
              </a:prstGeom>
              <a:noFill/>
              <a:ln>
                <a:noFill/>
              </a:ln>
            </p:spPr>
          </p:pic>
          <p:sp>
            <p:nvSpPr>
              <p:cNvPr id="476" name="Google Shape;476;p89"/>
              <p:cNvSpPr/>
              <p:nvPr/>
            </p:nvSpPr>
            <p:spPr>
              <a:xfrm>
                <a:off x="4008763" y="1060126"/>
                <a:ext cx="2221800" cy="784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89"/>
              <p:cNvSpPr/>
              <p:nvPr/>
            </p:nvSpPr>
            <p:spPr>
              <a:xfrm>
                <a:off x="2142000" y="3267121"/>
                <a:ext cx="904200" cy="104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89"/>
              <p:cNvSpPr/>
              <p:nvPr/>
            </p:nvSpPr>
            <p:spPr>
              <a:xfrm>
                <a:off x="2419137" y="3146695"/>
                <a:ext cx="904200" cy="914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79" name="Google Shape;479;p89"/>
            <p:cNvPicPr preferRelativeResize="0"/>
            <p:nvPr/>
          </p:nvPicPr>
          <p:blipFill>
            <a:blip r:embed="rId4">
              <a:alphaModFix/>
            </a:blip>
            <a:stretch>
              <a:fillRect/>
            </a:stretch>
          </p:blipFill>
          <p:spPr>
            <a:xfrm>
              <a:off x="1031950" y="1736165"/>
              <a:ext cx="9281526" cy="1440600"/>
            </a:xfrm>
            <a:prstGeom prst="rect">
              <a:avLst/>
            </a:prstGeom>
            <a:noFill/>
            <a:ln>
              <a:noFill/>
            </a:ln>
          </p:spPr>
        </p:pic>
        <p:sp>
          <p:nvSpPr>
            <p:cNvPr id="480" name="Google Shape;480;p89"/>
            <p:cNvSpPr/>
            <p:nvPr/>
          </p:nvSpPr>
          <p:spPr>
            <a:xfrm>
              <a:off x="2277525" y="2095786"/>
              <a:ext cx="141600" cy="969900"/>
            </a:xfrm>
            <a:prstGeom prst="rect">
              <a:avLst/>
            </a:prstGeom>
            <a:noFill/>
            <a:ln cap="flat" cmpd="sng" w="38100">
              <a:solidFill>
                <a:srgbClr val="6FA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89"/>
            <p:cNvSpPr/>
            <p:nvPr/>
          </p:nvSpPr>
          <p:spPr>
            <a:xfrm flipH="1">
              <a:off x="2212024" y="3389076"/>
              <a:ext cx="1026000" cy="802800"/>
            </a:xfrm>
            <a:prstGeom prst="bentUpArrow">
              <a:avLst>
                <a:gd fmla="val 11505" name="adj1"/>
                <a:gd fmla="val 18969" name="adj2"/>
                <a:gd fmla="val 25000" name="adj3"/>
              </a:avLst>
            </a:prstGeom>
            <a:solidFill>
              <a:srgbClr val="CFE2F3"/>
            </a:solidFill>
            <a:ln cap="flat" cmpd="sng" w="9525">
              <a:solidFill>
                <a:srgbClr val="3D85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2" name="Google Shape;482;p89"/>
          <p:cNvGrpSpPr/>
          <p:nvPr/>
        </p:nvGrpSpPr>
        <p:grpSpPr>
          <a:xfrm>
            <a:off x="2712225" y="2696050"/>
            <a:ext cx="5554225" cy="712350"/>
            <a:chOff x="2712225" y="2696050"/>
            <a:chExt cx="5554225" cy="712350"/>
          </a:xfrm>
        </p:grpSpPr>
        <p:sp>
          <p:nvSpPr>
            <p:cNvPr id="483" name="Google Shape;483;p89"/>
            <p:cNvSpPr/>
            <p:nvPr/>
          </p:nvSpPr>
          <p:spPr>
            <a:xfrm>
              <a:off x="2712225" y="2696050"/>
              <a:ext cx="801900" cy="289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4" name="Google Shape;484;p89"/>
            <p:cNvPicPr preferRelativeResize="0"/>
            <p:nvPr/>
          </p:nvPicPr>
          <p:blipFill>
            <a:blip r:embed="rId5">
              <a:alphaModFix/>
            </a:blip>
            <a:stretch>
              <a:fillRect/>
            </a:stretch>
          </p:blipFill>
          <p:spPr>
            <a:xfrm>
              <a:off x="6797900" y="2813700"/>
              <a:ext cx="1468550" cy="594700"/>
            </a:xfrm>
            <a:prstGeom prst="rect">
              <a:avLst/>
            </a:prstGeom>
            <a:noFill/>
            <a:ln>
              <a:noFill/>
            </a:ln>
          </p:spPr>
        </p:pic>
      </p:grpSp>
      <p:sp>
        <p:nvSpPr>
          <p:cNvPr id="485" name="Google Shape;485;p89"/>
          <p:cNvSpPr/>
          <p:nvPr/>
        </p:nvSpPr>
        <p:spPr>
          <a:xfrm rot="-5401094">
            <a:off x="6832126" y="2331848"/>
            <a:ext cx="942900" cy="299700"/>
          </a:xfrm>
          <a:prstGeom prst="bentUpArrow">
            <a:avLst>
              <a:gd fmla="val 25000" name="adj1"/>
              <a:gd fmla="val 25000" name="adj2"/>
              <a:gd fmla="val 25000" name="adj3"/>
            </a:avLst>
          </a:prstGeom>
          <a:solidFill>
            <a:srgbClr val="CFE2F3"/>
          </a:solidFill>
          <a:ln cap="flat" cmpd="sng" w="19050">
            <a:solidFill>
              <a:srgbClr val="6FA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90"/>
          <p:cNvSpPr txBox="1"/>
          <p:nvPr>
            <p:ph type="title"/>
          </p:nvPr>
        </p:nvSpPr>
        <p:spPr>
          <a:xfrm>
            <a:off x="118872" y="0"/>
            <a:ext cx="9144000" cy="736800"/>
          </a:xfrm>
          <a:prstGeom prst="rect">
            <a:avLst/>
          </a:prstGeom>
        </p:spPr>
        <p:txBody>
          <a:bodyPr anchorCtr="0" anchor="t" bIns="0" lIns="0" spcFirstLastPara="1" rIns="0" wrap="square" tIns="0">
            <a:normAutofit fontScale="90000"/>
          </a:bodyPr>
          <a:lstStyle/>
          <a:p>
            <a:pPr indent="0" lvl="0" marL="0" rtl="0" algn="l">
              <a:lnSpc>
                <a:spcPct val="100000"/>
              </a:lnSpc>
              <a:spcBef>
                <a:spcPts val="0"/>
              </a:spcBef>
              <a:spcAft>
                <a:spcPts val="0"/>
              </a:spcAft>
              <a:buNone/>
            </a:pPr>
            <a:r>
              <a:rPr lang="en" sz="3200">
                <a:latin typeface="Arial"/>
                <a:ea typeface="Arial"/>
                <a:cs typeface="Arial"/>
                <a:sym typeface="Arial"/>
              </a:rPr>
              <a:t>Quality score encoding based on ASCII table</a:t>
            </a:r>
            <a:endParaRPr sz="1400">
              <a:latin typeface="Arial"/>
              <a:ea typeface="Arial"/>
              <a:cs typeface="Arial"/>
              <a:sym typeface="Arial"/>
            </a:endParaRPr>
          </a:p>
          <a:p>
            <a:pPr indent="0" lvl="0" marL="0" rtl="0" algn="l">
              <a:spcBef>
                <a:spcPts val="0"/>
              </a:spcBef>
              <a:spcAft>
                <a:spcPts val="0"/>
              </a:spcAft>
              <a:buNone/>
            </a:pPr>
            <a:r>
              <a:t/>
            </a:r>
            <a:endParaRPr/>
          </a:p>
        </p:txBody>
      </p:sp>
      <p:pic>
        <p:nvPicPr>
          <p:cNvPr id="491" name="Google Shape;491;p90"/>
          <p:cNvPicPr preferRelativeResize="0"/>
          <p:nvPr/>
        </p:nvPicPr>
        <p:blipFill>
          <a:blip r:embed="rId3">
            <a:alphaModFix/>
          </a:blip>
          <a:stretch>
            <a:fillRect/>
          </a:stretch>
        </p:blipFill>
        <p:spPr>
          <a:xfrm>
            <a:off x="41450" y="2192200"/>
            <a:ext cx="9026350" cy="1243635"/>
          </a:xfrm>
          <a:prstGeom prst="rect">
            <a:avLst/>
          </a:prstGeom>
          <a:noFill/>
          <a:ln>
            <a:noFill/>
          </a:ln>
        </p:spPr>
      </p:pic>
      <p:pic>
        <p:nvPicPr>
          <p:cNvPr id="492" name="Google Shape;492;p90"/>
          <p:cNvPicPr preferRelativeResize="0"/>
          <p:nvPr/>
        </p:nvPicPr>
        <p:blipFill>
          <a:blip r:embed="rId4">
            <a:alphaModFix/>
          </a:blip>
          <a:stretch>
            <a:fillRect/>
          </a:stretch>
        </p:blipFill>
        <p:spPr>
          <a:xfrm>
            <a:off x="117654" y="974350"/>
            <a:ext cx="9026347" cy="1217850"/>
          </a:xfrm>
          <a:prstGeom prst="rect">
            <a:avLst/>
          </a:prstGeom>
          <a:noFill/>
          <a:ln>
            <a:noFill/>
          </a:ln>
        </p:spPr>
      </p:pic>
      <p:sp>
        <p:nvSpPr>
          <p:cNvPr id="493" name="Google Shape;493;p90"/>
          <p:cNvSpPr txBox="1"/>
          <p:nvPr/>
        </p:nvSpPr>
        <p:spPr>
          <a:xfrm>
            <a:off x="255475" y="3435825"/>
            <a:ext cx="8812200" cy="1177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600"/>
              <a:t>Each symbol is a pr</a:t>
            </a:r>
            <a:r>
              <a:rPr lang="en" sz="1600"/>
              <a:t>obability p that the base call is incorrect.</a:t>
            </a:r>
            <a:endParaRPr sz="1600"/>
          </a:p>
          <a:p>
            <a:pPr indent="0" lvl="0" marL="0" rtl="0" algn="l">
              <a:lnSpc>
                <a:spcPct val="150000"/>
              </a:lnSpc>
              <a:spcBef>
                <a:spcPts val="0"/>
              </a:spcBef>
              <a:spcAft>
                <a:spcPts val="0"/>
              </a:spcAft>
              <a:buNone/>
            </a:pPr>
            <a:r>
              <a:rPr lang="en" sz="1600"/>
              <a:t>The standard Sanger sequencing score to assess reliability of a base call is Q=−10 log10(p)</a:t>
            </a:r>
            <a:endParaRPr sz="1600"/>
          </a:p>
          <a:p>
            <a:pPr indent="0" lvl="0" marL="0" rtl="0" algn="l">
              <a:lnSpc>
                <a:spcPct val="150000"/>
              </a:lnSpc>
              <a:spcBef>
                <a:spcPts val="0"/>
              </a:spcBef>
              <a:spcAft>
                <a:spcPts val="0"/>
              </a:spcAft>
              <a:buNone/>
            </a:pPr>
            <a:r>
              <a:rPr b="1" i="1" lang="en" sz="1650">
                <a:solidFill>
                  <a:srgbClr val="A64D79"/>
                </a:solidFill>
                <a:highlight>
                  <a:srgbClr val="FFFFFF"/>
                </a:highlight>
                <a:latin typeface="Helvetica Neue"/>
                <a:ea typeface="Helvetica Neue"/>
                <a:cs typeface="Helvetica Neue"/>
                <a:sym typeface="Helvetica Neue"/>
              </a:rPr>
              <a:t>p</a:t>
            </a:r>
            <a:r>
              <a:rPr lang="en" sz="1650">
                <a:solidFill>
                  <a:srgbClr val="A64D79"/>
                </a:solidFill>
                <a:highlight>
                  <a:srgbClr val="FFFFFF"/>
                </a:highlight>
                <a:latin typeface="Helvetica Neue"/>
                <a:ea typeface="Helvetica Neue"/>
                <a:cs typeface="Helvetica Neue"/>
                <a:sym typeface="Helvetica Neue"/>
              </a:rPr>
              <a:t>, the probability that a given base is incorrectly called</a:t>
            </a:r>
            <a:endParaRPr sz="1900">
              <a:solidFill>
                <a:srgbClr val="A64D79"/>
              </a:solidFill>
            </a:endParaRPr>
          </a:p>
        </p:txBody>
      </p:sp>
      <p:sp>
        <p:nvSpPr>
          <p:cNvPr id="494" name="Google Shape;494;p90"/>
          <p:cNvSpPr txBox="1"/>
          <p:nvPr/>
        </p:nvSpPr>
        <p:spPr>
          <a:xfrm>
            <a:off x="118875" y="489000"/>
            <a:ext cx="8839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A64D79"/>
                </a:solidFill>
              </a:rPr>
              <a:t>Measurement of the likelihood that a base call in DNA sequencing is incorrect</a:t>
            </a:r>
            <a:endParaRPr sz="1600">
              <a:solidFill>
                <a:srgbClr val="A64D79"/>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91"/>
          <p:cNvSpPr txBox="1"/>
          <p:nvPr>
            <p:ph type="title"/>
          </p:nvPr>
        </p:nvSpPr>
        <p:spPr>
          <a:xfrm>
            <a:off x="135975" y="176616"/>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Phred quality score calculation</a:t>
            </a:r>
            <a:endParaRPr/>
          </a:p>
        </p:txBody>
      </p:sp>
      <p:pic>
        <p:nvPicPr>
          <p:cNvPr id="500" name="Google Shape;500;p91"/>
          <p:cNvPicPr preferRelativeResize="0"/>
          <p:nvPr/>
        </p:nvPicPr>
        <p:blipFill>
          <a:blip r:embed="rId3">
            <a:alphaModFix/>
          </a:blip>
          <a:stretch>
            <a:fillRect/>
          </a:stretch>
        </p:blipFill>
        <p:spPr>
          <a:xfrm>
            <a:off x="812575" y="642116"/>
            <a:ext cx="7260580" cy="3570559"/>
          </a:xfrm>
          <a:prstGeom prst="rect">
            <a:avLst/>
          </a:prstGeom>
          <a:noFill/>
          <a:ln>
            <a:noFill/>
          </a:ln>
        </p:spPr>
      </p:pic>
      <p:sp>
        <p:nvSpPr>
          <p:cNvPr id="501" name="Google Shape;501;p91"/>
          <p:cNvSpPr txBox="1"/>
          <p:nvPr/>
        </p:nvSpPr>
        <p:spPr>
          <a:xfrm>
            <a:off x="255475" y="4250925"/>
            <a:ext cx="8812200" cy="71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800"/>
              </a:spcAft>
              <a:buNone/>
            </a:pPr>
            <a:r>
              <a:rPr lang="en" sz="1600">
                <a:solidFill>
                  <a:schemeClr val="dk1"/>
                </a:solidFill>
                <a:highlight>
                  <a:srgbClr val="FFFFFF"/>
                </a:highlight>
              </a:rPr>
              <a:t>A quality score of 20 (Q20) represents an error rate of 1 in 100 (meaning every 100 bp sequencing read may contain an error), with a corresponding call accuracy of 99%.</a:t>
            </a:r>
            <a:endParaRPr sz="15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92"/>
          <p:cNvSpPr txBox="1"/>
          <p:nvPr>
            <p:ph type="title"/>
          </p:nvPr>
        </p:nvSpPr>
        <p:spPr>
          <a:xfrm>
            <a:off x="628650" y="531341"/>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Poll 2</a:t>
            </a:r>
            <a:endParaRPr/>
          </a:p>
        </p:txBody>
      </p:sp>
      <p:sp>
        <p:nvSpPr>
          <p:cNvPr id="507" name="Google Shape;507;p92"/>
          <p:cNvSpPr txBox="1"/>
          <p:nvPr>
            <p:ph idx="1" type="body"/>
          </p:nvPr>
        </p:nvSpPr>
        <p:spPr>
          <a:xfrm>
            <a:off x="628650" y="1369219"/>
            <a:ext cx="7886700" cy="3263400"/>
          </a:xfrm>
          <a:prstGeom prst="rect">
            <a:avLst/>
          </a:prstGeom>
        </p:spPr>
        <p:txBody>
          <a:bodyPr anchorCtr="0" anchor="t" bIns="0" lIns="0" spcFirstLastPara="1" rIns="0" wrap="square" tIns="0">
            <a:normAutofit fontScale="85000" lnSpcReduction="20000"/>
          </a:bodyPr>
          <a:lstStyle/>
          <a:p>
            <a:pPr indent="0" lvl="0" marL="0" rtl="0" algn="l">
              <a:spcBef>
                <a:spcPts val="800"/>
              </a:spcBef>
              <a:spcAft>
                <a:spcPts val="0"/>
              </a:spcAft>
              <a:buNone/>
            </a:pPr>
            <a:r>
              <a:rPr lang="en"/>
              <a:t>What is the Q-score (ASCII) of the 3rd base?</a:t>
            </a:r>
            <a:endParaRPr/>
          </a:p>
          <a:p>
            <a:pPr indent="0" lvl="0" marL="0" rtl="0" algn="l">
              <a:spcBef>
                <a:spcPts val="800"/>
              </a:spcBef>
              <a:spcAft>
                <a:spcPts val="0"/>
              </a:spcAft>
              <a:buNone/>
            </a:pPr>
            <a:r>
              <a:t/>
            </a:r>
            <a:endParaRPr/>
          </a:p>
          <a:p>
            <a:pPr indent="0" lvl="0" marL="0" rtl="0" algn="l">
              <a:spcBef>
                <a:spcPts val="800"/>
              </a:spcBef>
              <a:spcAft>
                <a:spcPts val="0"/>
              </a:spcAft>
              <a:buNone/>
            </a:pPr>
            <a:r>
              <a:rPr lang="en"/>
              <a:t>@SIM:1:FCX:1:15:6329:1045 1:N:0:2</a:t>
            </a:r>
            <a:endParaRPr/>
          </a:p>
          <a:p>
            <a:pPr indent="0" lvl="0" marL="0" rtl="0" algn="l">
              <a:spcBef>
                <a:spcPts val="800"/>
              </a:spcBef>
              <a:spcAft>
                <a:spcPts val="0"/>
              </a:spcAft>
              <a:buNone/>
            </a:pPr>
            <a:r>
              <a:rPr lang="en"/>
              <a:t>TCGCACTCAACGCCCTGCATA</a:t>
            </a:r>
            <a:endParaRPr/>
          </a:p>
          <a:p>
            <a:pPr indent="0" lvl="0" marL="0" rtl="0" algn="l">
              <a:spcBef>
                <a:spcPts val="800"/>
              </a:spcBef>
              <a:spcAft>
                <a:spcPts val="0"/>
              </a:spcAft>
              <a:buNone/>
            </a:pPr>
            <a:r>
              <a:rPr lang="en"/>
              <a:t>+</a:t>
            </a:r>
            <a:endParaRPr/>
          </a:p>
          <a:p>
            <a:pPr indent="0" lvl="0" marL="0" rtl="0" algn="l">
              <a:spcBef>
                <a:spcPts val="800"/>
              </a:spcBef>
              <a:spcAft>
                <a:spcPts val="0"/>
              </a:spcAft>
              <a:buNone/>
            </a:pPr>
            <a:r>
              <a:rPr lang="en"/>
              <a:t>&lt;&gt;;##=&gt;&lt;9=AAAAAAAAA9#</a:t>
            </a:r>
            <a:endParaRPr/>
          </a:p>
          <a:p>
            <a:pPr indent="0" lvl="0" marL="0" rtl="0" algn="l">
              <a:spcBef>
                <a:spcPts val="800"/>
              </a:spcBef>
              <a:spcAft>
                <a:spcPts val="0"/>
              </a:spcAft>
              <a:buNone/>
            </a:pPr>
            <a:r>
              <a:t/>
            </a:r>
            <a:endParaRPr/>
          </a:p>
          <a:p>
            <a:pPr indent="-304165" lvl="0" marL="914400" rtl="0" algn="l">
              <a:lnSpc>
                <a:spcPct val="100000"/>
              </a:lnSpc>
              <a:spcBef>
                <a:spcPts val="800"/>
              </a:spcBef>
              <a:spcAft>
                <a:spcPts val="0"/>
              </a:spcAft>
              <a:buSzPct val="66667"/>
              <a:buAutoNum type="arabicPeriod"/>
            </a:pPr>
            <a:r>
              <a:rPr lang="en"/>
              <a:t>G</a:t>
            </a:r>
            <a:endParaRPr/>
          </a:p>
          <a:p>
            <a:pPr indent="-304165" lvl="0" marL="914400" rtl="0" algn="l">
              <a:lnSpc>
                <a:spcPct val="100000"/>
              </a:lnSpc>
              <a:spcBef>
                <a:spcPts val="0"/>
              </a:spcBef>
              <a:spcAft>
                <a:spcPts val="0"/>
              </a:spcAft>
              <a:buSzPct val="66667"/>
              <a:buAutoNum type="arabicPeriod"/>
            </a:pPr>
            <a:r>
              <a:rPr lang="en"/>
              <a:t>&gt;</a:t>
            </a:r>
            <a:endParaRPr/>
          </a:p>
          <a:p>
            <a:pPr indent="-304165" lvl="0" marL="914400" rtl="0" algn="l">
              <a:lnSpc>
                <a:spcPct val="100000"/>
              </a:lnSpc>
              <a:spcBef>
                <a:spcPts val="0"/>
              </a:spcBef>
              <a:spcAft>
                <a:spcPts val="0"/>
              </a:spcAft>
              <a:buSzPct val="66667"/>
              <a:buAutoNum type="arabicPeriod"/>
            </a:pPr>
            <a:r>
              <a:rPr lang="en"/>
              <a:t>;</a:t>
            </a:r>
            <a:endParaRPr/>
          </a:p>
          <a:p>
            <a:pPr indent="-304165" lvl="0" marL="914400" rtl="0" algn="l">
              <a:lnSpc>
                <a:spcPct val="100000"/>
              </a:lnSpc>
              <a:spcBef>
                <a:spcPts val="0"/>
              </a:spcBef>
              <a:spcAft>
                <a:spcPts val="0"/>
              </a:spcAft>
              <a:buSzPct val="66667"/>
              <a:buAutoNum type="arabicPeriod"/>
            </a:pPr>
            <a:r>
              <a:rPr lang="en"/>
              <a:t>I</a:t>
            </a:r>
            <a:endParaRPr/>
          </a:p>
          <a:p>
            <a:pPr indent="-304165" lvl="0" marL="914400" rtl="0" algn="l">
              <a:lnSpc>
                <a:spcPct val="100000"/>
              </a:lnSpc>
              <a:spcBef>
                <a:spcPts val="0"/>
              </a:spcBef>
              <a:spcAft>
                <a:spcPts val="0"/>
              </a:spcAft>
              <a:buSzPct val="66667"/>
              <a:buAutoNum type="arabicPeriod"/>
            </a:pPr>
            <a:r>
              <a:rPr lang="en"/>
              <a:t>None of the above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93"/>
          <p:cNvSpPr txBox="1"/>
          <p:nvPr>
            <p:ph type="title"/>
          </p:nvPr>
        </p:nvSpPr>
        <p:spPr>
          <a:xfrm>
            <a:off x="118872" y="0"/>
            <a:ext cx="9008100" cy="736800"/>
          </a:xfrm>
          <a:prstGeom prst="rect">
            <a:avLst/>
          </a:prstGeom>
        </p:spPr>
        <p:txBody>
          <a:bodyPr anchorCtr="0" anchor="t" bIns="0" lIns="0" spcFirstLastPara="1" rIns="0" wrap="square" tIns="0">
            <a:noAutofit/>
          </a:bodyPr>
          <a:lstStyle/>
          <a:p>
            <a:pPr indent="0" lvl="0" marL="0" rtl="0" algn="l">
              <a:spcBef>
                <a:spcPts val="0"/>
              </a:spcBef>
              <a:spcAft>
                <a:spcPts val="0"/>
              </a:spcAft>
              <a:buSzPts val="990"/>
              <a:buNone/>
            </a:pPr>
            <a:r>
              <a:rPr lang="en" sz="3260">
                <a:solidFill>
                  <a:srgbClr val="1155CC"/>
                </a:solidFill>
                <a:latin typeface="Arial"/>
                <a:ea typeface="Arial"/>
                <a:cs typeface="Arial"/>
                <a:sym typeface="Arial"/>
              </a:rPr>
              <a:t>Base calling may not be accurate</a:t>
            </a:r>
            <a:endParaRPr sz="3260">
              <a:solidFill>
                <a:srgbClr val="1155CC"/>
              </a:solidFill>
              <a:latin typeface="Arial"/>
              <a:ea typeface="Arial"/>
              <a:cs typeface="Arial"/>
              <a:sym typeface="Arial"/>
            </a:endParaRPr>
          </a:p>
          <a:p>
            <a:pPr indent="0" lvl="0" marL="0" rtl="0" algn="l">
              <a:spcBef>
                <a:spcPts val="0"/>
              </a:spcBef>
              <a:spcAft>
                <a:spcPts val="0"/>
              </a:spcAft>
              <a:buSzPts val="990"/>
              <a:buNone/>
            </a:pPr>
            <a:r>
              <a:rPr lang="en" sz="1960">
                <a:solidFill>
                  <a:srgbClr val="1155CC"/>
                </a:solidFill>
                <a:latin typeface="Arial"/>
                <a:ea typeface="Arial"/>
                <a:cs typeface="Arial"/>
                <a:sym typeface="Arial"/>
              </a:rPr>
              <a:t>Possible causes</a:t>
            </a:r>
            <a:endParaRPr sz="1660">
              <a:solidFill>
                <a:srgbClr val="1155CC"/>
              </a:solidFill>
              <a:latin typeface="Arial"/>
              <a:ea typeface="Arial"/>
              <a:cs typeface="Arial"/>
              <a:sym typeface="Arial"/>
            </a:endParaRPr>
          </a:p>
        </p:txBody>
      </p:sp>
      <p:sp>
        <p:nvSpPr>
          <p:cNvPr id="513" name="Google Shape;513;p93"/>
          <p:cNvSpPr txBox="1"/>
          <p:nvPr/>
        </p:nvSpPr>
        <p:spPr>
          <a:xfrm>
            <a:off x="135900" y="1126000"/>
            <a:ext cx="6537000" cy="3955800"/>
          </a:xfrm>
          <a:prstGeom prst="rect">
            <a:avLst/>
          </a:prstGeom>
          <a:noFill/>
          <a:ln>
            <a:noFill/>
          </a:ln>
        </p:spPr>
        <p:txBody>
          <a:bodyPr anchorCtr="0" anchor="t" bIns="91425" lIns="91425" spcFirstLastPara="1" rIns="91425" wrap="square" tIns="91425">
            <a:spAutoFit/>
          </a:bodyPr>
          <a:lstStyle/>
          <a:p>
            <a:pPr indent="-317500" lvl="0" marL="457200" rtl="0" algn="l">
              <a:lnSpc>
                <a:spcPct val="90000"/>
              </a:lnSpc>
              <a:spcBef>
                <a:spcPts val="1000"/>
              </a:spcBef>
              <a:spcAft>
                <a:spcPts val="0"/>
              </a:spcAft>
              <a:buSzPts val="1400"/>
              <a:buChar char="●"/>
            </a:pPr>
            <a:r>
              <a:rPr lang="en" sz="1800">
                <a:solidFill>
                  <a:srgbClr val="002B42"/>
                </a:solidFill>
              </a:rPr>
              <a:t>Blocking of synthesis after one nucleotide addition may be inefficient.</a:t>
            </a:r>
            <a:endParaRPr sz="1800">
              <a:solidFill>
                <a:srgbClr val="002B42"/>
              </a:solidFill>
            </a:endParaRPr>
          </a:p>
          <a:p>
            <a:pPr indent="-317500" lvl="0" marL="457200" rtl="0" algn="l">
              <a:lnSpc>
                <a:spcPct val="90000"/>
              </a:lnSpc>
              <a:spcBef>
                <a:spcPts val="0"/>
              </a:spcBef>
              <a:spcAft>
                <a:spcPts val="0"/>
              </a:spcAft>
              <a:buSzPts val="1400"/>
              <a:buChar char="●"/>
            </a:pPr>
            <a:r>
              <a:rPr lang="en" sz="1800">
                <a:solidFill>
                  <a:srgbClr val="002B42"/>
                </a:solidFill>
              </a:rPr>
              <a:t>Clusters might not be monoclonal.</a:t>
            </a:r>
            <a:endParaRPr sz="1800">
              <a:solidFill>
                <a:srgbClr val="002B42"/>
              </a:solidFill>
            </a:endParaRPr>
          </a:p>
          <a:p>
            <a:pPr indent="-317500" lvl="0" marL="457200" rtl="0" algn="l">
              <a:lnSpc>
                <a:spcPct val="90000"/>
              </a:lnSpc>
              <a:spcBef>
                <a:spcPts val="0"/>
              </a:spcBef>
              <a:spcAft>
                <a:spcPts val="0"/>
              </a:spcAft>
              <a:buSzPts val="1400"/>
              <a:buChar char="●"/>
            </a:pPr>
            <a:r>
              <a:rPr lang="en" sz="1800">
                <a:solidFill>
                  <a:srgbClr val="002B42"/>
                </a:solidFill>
              </a:rPr>
              <a:t>A tile may be out of focus.</a:t>
            </a:r>
            <a:endParaRPr sz="1800">
              <a:solidFill>
                <a:srgbClr val="002B42"/>
              </a:solidFill>
            </a:endParaRPr>
          </a:p>
          <a:p>
            <a:pPr indent="-317500" lvl="0" marL="457200" rtl="0" algn="l">
              <a:lnSpc>
                <a:spcPct val="90000"/>
              </a:lnSpc>
              <a:spcBef>
                <a:spcPts val="0"/>
              </a:spcBef>
              <a:spcAft>
                <a:spcPts val="0"/>
              </a:spcAft>
              <a:buSzPts val="1400"/>
              <a:buChar char="●"/>
            </a:pPr>
            <a:r>
              <a:rPr lang="en" sz="1800">
                <a:solidFill>
                  <a:srgbClr val="002B42"/>
                </a:solidFill>
              </a:rPr>
              <a:t>Oil, reagent, etc. on flow cell or imaging component, etc.</a:t>
            </a:r>
            <a:endParaRPr sz="1800">
              <a:solidFill>
                <a:srgbClr val="002B42"/>
              </a:solidFill>
            </a:endParaRPr>
          </a:p>
          <a:p>
            <a:pPr indent="0" lvl="0" marL="457200" rtl="0" algn="l">
              <a:lnSpc>
                <a:spcPct val="90000"/>
              </a:lnSpc>
              <a:spcBef>
                <a:spcPts val="1000"/>
              </a:spcBef>
              <a:spcAft>
                <a:spcPts val="0"/>
              </a:spcAft>
              <a:buNone/>
            </a:pPr>
            <a:r>
              <a:t/>
            </a:r>
            <a:endParaRPr sz="800">
              <a:solidFill>
                <a:schemeClr val="dk1"/>
              </a:solidFill>
            </a:endParaRPr>
          </a:p>
          <a:p>
            <a:pPr indent="0" lvl="0" marL="457200" rtl="0" algn="l">
              <a:lnSpc>
                <a:spcPct val="90000"/>
              </a:lnSpc>
              <a:spcBef>
                <a:spcPts val="1000"/>
              </a:spcBef>
              <a:spcAft>
                <a:spcPts val="0"/>
              </a:spcAft>
              <a:buNone/>
            </a:pPr>
            <a:r>
              <a:t/>
            </a:r>
            <a:endParaRPr sz="800">
              <a:solidFill>
                <a:schemeClr val="dk1"/>
              </a:solidFill>
            </a:endParaRPr>
          </a:p>
          <a:p>
            <a:pPr indent="0" lvl="0" marL="457200" rtl="0" algn="l">
              <a:lnSpc>
                <a:spcPct val="90000"/>
              </a:lnSpc>
              <a:spcBef>
                <a:spcPts val="1000"/>
              </a:spcBef>
              <a:spcAft>
                <a:spcPts val="0"/>
              </a:spcAft>
              <a:buNone/>
            </a:pPr>
            <a:r>
              <a:t/>
            </a:r>
            <a:endParaRPr sz="800">
              <a:solidFill>
                <a:schemeClr val="dk1"/>
              </a:solidFill>
            </a:endParaRPr>
          </a:p>
          <a:p>
            <a:pPr indent="0" lvl="0" marL="457200" rtl="0" algn="l">
              <a:lnSpc>
                <a:spcPct val="90000"/>
              </a:lnSpc>
              <a:spcBef>
                <a:spcPts val="1000"/>
              </a:spcBef>
              <a:spcAft>
                <a:spcPts val="0"/>
              </a:spcAft>
              <a:buNone/>
            </a:pPr>
            <a:r>
              <a:t/>
            </a:r>
            <a:endParaRPr sz="800">
              <a:solidFill>
                <a:schemeClr val="dk1"/>
              </a:solidFill>
            </a:endParaRPr>
          </a:p>
          <a:p>
            <a:pPr indent="0" lvl="0" marL="457200" rtl="0" algn="l">
              <a:lnSpc>
                <a:spcPct val="90000"/>
              </a:lnSpc>
              <a:spcBef>
                <a:spcPts val="1000"/>
              </a:spcBef>
              <a:spcAft>
                <a:spcPts val="0"/>
              </a:spcAft>
              <a:buNone/>
            </a:pPr>
            <a:r>
              <a:t/>
            </a:r>
            <a:endParaRPr sz="800">
              <a:solidFill>
                <a:schemeClr val="dk1"/>
              </a:solidFill>
            </a:endParaRPr>
          </a:p>
          <a:p>
            <a:pPr indent="0" lvl="0" marL="457200" rtl="0" algn="l">
              <a:lnSpc>
                <a:spcPct val="90000"/>
              </a:lnSpc>
              <a:spcBef>
                <a:spcPts val="1000"/>
              </a:spcBef>
              <a:spcAft>
                <a:spcPts val="0"/>
              </a:spcAft>
              <a:buNone/>
            </a:pPr>
            <a:r>
              <a:t/>
            </a:r>
            <a:endParaRPr sz="800">
              <a:solidFill>
                <a:schemeClr val="dk1"/>
              </a:solidFill>
            </a:endParaRPr>
          </a:p>
          <a:p>
            <a:pPr indent="0" lvl="0" marL="457200" rtl="0" algn="l">
              <a:lnSpc>
                <a:spcPct val="90000"/>
              </a:lnSpc>
              <a:spcBef>
                <a:spcPts val="1000"/>
              </a:spcBef>
              <a:spcAft>
                <a:spcPts val="0"/>
              </a:spcAft>
              <a:buNone/>
            </a:pPr>
            <a:r>
              <a:t/>
            </a:r>
            <a:endParaRPr sz="800">
              <a:solidFill>
                <a:schemeClr val="dk1"/>
              </a:solidFill>
            </a:endParaRPr>
          </a:p>
          <a:p>
            <a:pPr indent="0" lvl="0" marL="457200" rtl="0" algn="l">
              <a:lnSpc>
                <a:spcPct val="90000"/>
              </a:lnSpc>
              <a:spcBef>
                <a:spcPts val="1000"/>
              </a:spcBef>
              <a:spcAft>
                <a:spcPts val="0"/>
              </a:spcAft>
              <a:buNone/>
            </a:pPr>
            <a:r>
              <a:t/>
            </a:r>
            <a:endParaRPr sz="800">
              <a:solidFill>
                <a:schemeClr val="dk1"/>
              </a:solidFill>
            </a:endParaRPr>
          </a:p>
          <a:p>
            <a:pPr indent="0" lvl="0" marL="0" rtl="0" algn="l">
              <a:lnSpc>
                <a:spcPct val="90000"/>
              </a:lnSpc>
              <a:spcBef>
                <a:spcPts val="1000"/>
              </a:spcBef>
              <a:spcAft>
                <a:spcPts val="0"/>
              </a:spcAft>
              <a:buNone/>
            </a:pPr>
            <a:r>
              <a:rPr lang="en" sz="1600">
                <a:solidFill>
                  <a:srgbClr val="002B42"/>
                </a:solidFill>
              </a:rPr>
              <a:t>=&gt; Need to record quality of each base call.</a:t>
            </a:r>
            <a:endParaRPr sz="1600">
              <a:solidFill>
                <a:srgbClr val="002B42"/>
              </a:solidFill>
            </a:endParaRPr>
          </a:p>
        </p:txBody>
      </p:sp>
      <p:pic>
        <p:nvPicPr>
          <p:cNvPr id="514" name="Google Shape;514;p93"/>
          <p:cNvPicPr preferRelativeResize="0"/>
          <p:nvPr/>
        </p:nvPicPr>
        <p:blipFill>
          <a:blip r:embed="rId3">
            <a:alphaModFix/>
          </a:blip>
          <a:stretch>
            <a:fillRect/>
          </a:stretch>
        </p:blipFill>
        <p:spPr>
          <a:xfrm>
            <a:off x="391000" y="2851425"/>
            <a:ext cx="5351999" cy="1809750"/>
          </a:xfrm>
          <a:prstGeom prst="rect">
            <a:avLst/>
          </a:prstGeom>
          <a:noFill/>
          <a:ln>
            <a:noFill/>
          </a:ln>
        </p:spPr>
      </p:pic>
      <p:pic>
        <p:nvPicPr>
          <p:cNvPr id="515" name="Google Shape;515;p93"/>
          <p:cNvPicPr preferRelativeResize="0"/>
          <p:nvPr/>
        </p:nvPicPr>
        <p:blipFill>
          <a:blip r:embed="rId4">
            <a:alphaModFix/>
          </a:blip>
          <a:stretch>
            <a:fillRect/>
          </a:stretch>
        </p:blipFill>
        <p:spPr>
          <a:xfrm>
            <a:off x="6673050" y="2489200"/>
            <a:ext cx="2133100" cy="1703300"/>
          </a:xfrm>
          <a:prstGeom prst="rect">
            <a:avLst/>
          </a:prstGeom>
          <a:noFill/>
          <a:ln>
            <a:noFill/>
          </a:ln>
        </p:spPr>
      </p:pic>
      <p:pic>
        <p:nvPicPr>
          <p:cNvPr id="516" name="Google Shape;516;p93"/>
          <p:cNvPicPr preferRelativeResize="0"/>
          <p:nvPr/>
        </p:nvPicPr>
        <p:blipFill>
          <a:blip r:embed="rId5">
            <a:alphaModFix/>
          </a:blip>
          <a:stretch>
            <a:fillRect/>
          </a:stretch>
        </p:blipFill>
        <p:spPr>
          <a:xfrm>
            <a:off x="6742000" y="4192500"/>
            <a:ext cx="943350" cy="951000"/>
          </a:xfrm>
          <a:prstGeom prst="rect">
            <a:avLst/>
          </a:prstGeom>
          <a:noFill/>
          <a:ln>
            <a:noFill/>
          </a:ln>
        </p:spPr>
      </p:pic>
      <p:pic>
        <p:nvPicPr>
          <p:cNvPr id="517" name="Google Shape;517;p93"/>
          <p:cNvPicPr preferRelativeResize="0"/>
          <p:nvPr/>
        </p:nvPicPr>
        <p:blipFill>
          <a:blip r:embed="rId6">
            <a:alphaModFix/>
          </a:blip>
          <a:stretch>
            <a:fillRect/>
          </a:stretch>
        </p:blipFill>
        <p:spPr>
          <a:xfrm>
            <a:off x="7685350" y="4153637"/>
            <a:ext cx="1028725" cy="1028725"/>
          </a:xfrm>
          <a:prstGeom prst="rect">
            <a:avLst/>
          </a:prstGeom>
          <a:noFill/>
          <a:ln>
            <a:noFill/>
          </a:ln>
        </p:spPr>
      </p:pic>
      <p:pic>
        <p:nvPicPr>
          <p:cNvPr id="518" name="Google Shape;518;p93"/>
          <p:cNvPicPr preferRelativeResize="0"/>
          <p:nvPr/>
        </p:nvPicPr>
        <p:blipFill>
          <a:blip r:embed="rId7">
            <a:alphaModFix/>
          </a:blip>
          <a:stretch>
            <a:fillRect/>
          </a:stretch>
        </p:blipFill>
        <p:spPr>
          <a:xfrm>
            <a:off x="6741998" y="195902"/>
            <a:ext cx="2257975" cy="20271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94"/>
          <p:cNvSpPr txBox="1"/>
          <p:nvPr>
            <p:ph type="title"/>
          </p:nvPr>
        </p:nvSpPr>
        <p:spPr>
          <a:xfrm>
            <a:off x="118872" y="0"/>
            <a:ext cx="9008100" cy="736800"/>
          </a:xfrm>
          <a:prstGeom prst="rect">
            <a:avLst/>
          </a:prstGeom>
        </p:spPr>
        <p:txBody>
          <a:bodyPr anchorCtr="0" anchor="t" bIns="0" lIns="0" spcFirstLastPara="1" rIns="0" wrap="square" tIns="0">
            <a:noAutofit/>
          </a:bodyPr>
          <a:lstStyle/>
          <a:p>
            <a:pPr indent="0" lvl="0" marL="0" rtl="0" algn="l">
              <a:spcBef>
                <a:spcPts val="0"/>
              </a:spcBef>
              <a:spcAft>
                <a:spcPts val="0"/>
              </a:spcAft>
              <a:buSzPts val="990"/>
              <a:buNone/>
            </a:pPr>
            <a:r>
              <a:rPr lang="en" sz="3260">
                <a:latin typeface="Arial"/>
                <a:ea typeface="Arial"/>
                <a:cs typeface="Arial"/>
                <a:sym typeface="Arial"/>
              </a:rPr>
              <a:t>FastQC: </a:t>
            </a:r>
            <a:r>
              <a:rPr lang="en" sz="3260">
                <a:solidFill>
                  <a:srgbClr val="1155CC"/>
                </a:solidFill>
                <a:latin typeface="Arial"/>
                <a:ea typeface="Arial"/>
                <a:cs typeface="Arial"/>
                <a:sym typeface="Arial"/>
              </a:rPr>
              <a:t>Quality check of </a:t>
            </a:r>
            <a:r>
              <a:rPr lang="en" sz="3260">
                <a:latin typeface="Arial"/>
                <a:ea typeface="Arial"/>
                <a:cs typeface="Arial"/>
                <a:sym typeface="Arial"/>
              </a:rPr>
              <a:t>sequencing data</a:t>
            </a:r>
            <a:endParaRPr sz="1660">
              <a:solidFill>
                <a:srgbClr val="1155CC"/>
              </a:solidFill>
              <a:latin typeface="Arial"/>
              <a:ea typeface="Arial"/>
              <a:cs typeface="Arial"/>
              <a:sym typeface="Arial"/>
            </a:endParaRPr>
          </a:p>
        </p:txBody>
      </p:sp>
      <p:sp>
        <p:nvSpPr>
          <p:cNvPr id="524" name="Google Shape;524;p94"/>
          <p:cNvSpPr txBox="1"/>
          <p:nvPr/>
        </p:nvSpPr>
        <p:spPr>
          <a:xfrm>
            <a:off x="135900" y="1126000"/>
            <a:ext cx="9008100" cy="3336300"/>
          </a:xfrm>
          <a:prstGeom prst="rect">
            <a:avLst/>
          </a:prstGeom>
          <a:noFill/>
          <a:ln>
            <a:noFill/>
          </a:ln>
        </p:spPr>
        <p:txBody>
          <a:bodyPr anchorCtr="0" anchor="t" bIns="91425" lIns="91425" spcFirstLastPara="1" rIns="91425" wrap="square" tIns="91425">
            <a:spAutoFit/>
          </a:bodyPr>
          <a:lstStyle/>
          <a:p>
            <a:pPr indent="-387350" lvl="0" marL="457200" rtl="0" algn="l">
              <a:lnSpc>
                <a:spcPct val="115000"/>
              </a:lnSpc>
              <a:spcBef>
                <a:spcPts val="1000"/>
              </a:spcBef>
              <a:spcAft>
                <a:spcPts val="0"/>
              </a:spcAft>
              <a:buClr>
                <a:srgbClr val="002B42"/>
              </a:buClr>
              <a:buSzPts val="2500"/>
              <a:buChar char="●"/>
            </a:pPr>
            <a:r>
              <a:rPr lang="en" sz="2500">
                <a:solidFill>
                  <a:srgbClr val="002B42"/>
                </a:solidFill>
              </a:rPr>
              <a:t>Summarizes quality of base calls</a:t>
            </a:r>
            <a:endParaRPr sz="2500">
              <a:solidFill>
                <a:srgbClr val="002B42"/>
              </a:solidFill>
            </a:endParaRPr>
          </a:p>
          <a:p>
            <a:pPr indent="-387350" lvl="0" marL="457200" rtl="0" algn="l">
              <a:lnSpc>
                <a:spcPct val="115000"/>
              </a:lnSpc>
              <a:spcBef>
                <a:spcPts val="0"/>
              </a:spcBef>
              <a:spcAft>
                <a:spcPts val="0"/>
              </a:spcAft>
              <a:buClr>
                <a:srgbClr val="002B42"/>
              </a:buClr>
              <a:buSzPts val="2500"/>
              <a:buChar char="●"/>
            </a:pPr>
            <a:r>
              <a:rPr lang="en" sz="2500">
                <a:solidFill>
                  <a:srgbClr val="002B42"/>
                </a:solidFill>
              </a:rPr>
              <a:t>Any sequences more frequently observed than expected?</a:t>
            </a:r>
            <a:endParaRPr sz="2500">
              <a:solidFill>
                <a:srgbClr val="002B42"/>
              </a:solidFill>
            </a:endParaRPr>
          </a:p>
          <a:p>
            <a:pPr indent="-387350" lvl="0" marL="457200" rtl="0" algn="l">
              <a:lnSpc>
                <a:spcPct val="115000"/>
              </a:lnSpc>
              <a:spcBef>
                <a:spcPts val="0"/>
              </a:spcBef>
              <a:spcAft>
                <a:spcPts val="0"/>
              </a:spcAft>
              <a:buClr>
                <a:srgbClr val="002B42"/>
              </a:buClr>
              <a:buSzPts val="2500"/>
              <a:buChar char="●"/>
            </a:pPr>
            <a:r>
              <a:rPr lang="en" sz="2500">
                <a:solidFill>
                  <a:srgbClr val="002B42"/>
                </a:solidFill>
              </a:rPr>
              <a:t>Any sequence biases?</a:t>
            </a:r>
            <a:endParaRPr sz="2500">
              <a:solidFill>
                <a:srgbClr val="002B42"/>
              </a:solidFill>
            </a:endParaRPr>
          </a:p>
          <a:p>
            <a:pPr indent="-387350" lvl="0" marL="457200" rtl="0" algn="l">
              <a:lnSpc>
                <a:spcPct val="115000"/>
              </a:lnSpc>
              <a:spcBef>
                <a:spcPts val="0"/>
              </a:spcBef>
              <a:spcAft>
                <a:spcPts val="0"/>
              </a:spcAft>
              <a:buClr>
                <a:srgbClr val="002B42"/>
              </a:buClr>
              <a:buSzPts val="2500"/>
              <a:buChar char="●"/>
            </a:pPr>
            <a:r>
              <a:rPr lang="en" sz="2500">
                <a:solidFill>
                  <a:srgbClr val="002B42"/>
                </a:solidFill>
              </a:rPr>
              <a:t>Any GC biases?</a:t>
            </a:r>
            <a:endParaRPr sz="2500">
              <a:solidFill>
                <a:srgbClr val="002B42"/>
              </a:solidFill>
            </a:endParaRPr>
          </a:p>
          <a:p>
            <a:pPr indent="-387350" lvl="0" marL="457200" rtl="0" algn="l">
              <a:lnSpc>
                <a:spcPct val="115000"/>
              </a:lnSpc>
              <a:spcBef>
                <a:spcPts val="0"/>
              </a:spcBef>
              <a:spcAft>
                <a:spcPts val="0"/>
              </a:spcAft>
              <a:buClr>
                <a:srgbClr val="002B42"/>
              </a:buClr>
              <a:buSzPts val="2500"/>
              <a:buChar char="●"/>
            </a:pPr>
            <a:r>
              <a:rPr lang="en" sz="2500">
                <a:solidFill>
                  <a:srgbClr val="002B42"/>
                </a:solidFill>
              </a:rPr>
              <a:t>Checks for presence of known adapters</a:t>
            </a:r>
            <a:endParaRPr sz="2500">
              <a:solidFill>
                <a:srgbClr val="002B42"/>
              </a:solidFill>
            </a:endParaRPr>
          </a:p>
          <a:p>
            <a:pPr indent="0" lvl="0" marL="0" rtl="0" algn="l">
              <a:lnSpc>
                <a:spcPct val="115000"/>
              </a:lnSpc>
              <a:spcBef>
                <a:spcPts val="1000"/>
              </a:spcBef>
              <a:spcAft>
                <a:spcPts val="0"/>
              </a:spcAft>
              <a:buNone/>
            </a:pPr>
            <a:r>
              <a:t/>
            </a:r>
            <a:endParaRPr sz="1500">
              <a:solidFill>
                <a:srgbClr val="002B42"/>
              </a:solidFill>
            </a:endParaRPr>
          </a:p>
          <a:p>
            <a:pPr indent="0" lvl="0" marL="0" rtl="0" algn="l">
              <a:lnSpc>
                <a:spcPct val="115000"/>
              </a:lnSpc>
              <a:spcBef>
                <a:spcPts val="1000"/>
              </a:spcBef>
              <a:spcAft>
                <a:spcPts val="0"/>
              </a:spcAft>
              <a:buNone/>
            </a:pPr>
            <a:r>
              <a:t/>
            </a:r>
            <a:endParaRPr sz="500">
              <a:solidFill>
                <a:schemeClr val="dk1"/>
              </a:solidFill>
            </a:endParaRPr>
          </a:p>
          <a:p>
            <a:pPr indent="0" lvl="0" marL="0" rtl="0" algn="l">
              <a:lnSpc>
                <a:spcPct val="115000"/>
              </a:lnSpc>
              <a:spcBef>
                <a:spcPts val="1000"/>
              </a:spcBef>
              <a:spcAft>
                <a:spcPts val="0"/>
              </a:spcAft>
              <a:buNone/>
            </a:pPr>
            <a:r>
              <a:t/>
            </a:r>
            <a:endParaRPr sz="1300">
              <a:solidFill>
                <a:srgbClr val="002B42"/>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95"/>
          <p:cNvSpPr txBox="1"/>
          <p:nvPr>
            <p:ph type="title"/>
          </p:nvPr>
        </p:nvSpPr>
        <p:spPr>
          <a:xfrm>
            <a:off x="118872" y="0"/>
            <a:ext cx="9008100" cy="736800"/>
          </a:xfrm>
          <a:prstGeom prst="rect">
            <a:avLst/>
          </a:prstGeom>
        </p:spPr>
        <p:txBody>
          <a:bodyPr anchorCtr="0" anchor="t" bIns="0" lIns="0" spcFirstLastPara="1" rIns="0" wrap="square" tIns="0">
            <a:noAutofit/>
          </a:bodyPr>
          <a:lstStyle/>
          <a:p>
            <a:pPr indent="0" lvl="0" marL="0" rtl="0" algn="l">
              <a:spcBef>
                <a:spcPts val="0"/>
              </a:spcBef>
              <a:spcAft>
                <a:spcPts val="0"/>
              </a:spcAft>
              <a:buSzPts val="990"/>
              <a:buNone/>
            </a:pPr>
            <a:r>
              <a:rPr lang="en" sz="3260">
                <a:latin typeface="Arial"/>
                <a:ea typeface="Arial"/>
                <a:cs typeface="Arial"/>
                <a:sym typeface="Arial"/>
              </a:rPr>
              <a:t>Examples of FastQC reports</a:t>
            </a:r>
            <a:endParaRPr sz="1660">
              <a:solidFill>
                <a:srgbClr val="1155CC"/>
              </a:solidFill>
              <a:latin typeface="Arial"/>
              <a:ea typeface="Arial"/>
              <a:cs typeface="Arial"/>
              <a:sym typeface="Arial"/>
            </a:endParaRPr>
          </a:p>
        </p:txBody>
      </p:sp>
      <p:sp>
        <p:nvSpPr>
          <p:cNvPr id="530" name="Google Shape;530;p95"/>
          <p:cNvSpPr txBox="1"/>
          <p:nvPr/>
        </p:nvSpPr>
        <p:spPr>
          <a:xfrm>
            <a:off x="318600" y="1126000"/>
            <a:ext cx="8506800" cy="33735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000"/>
              </a:spcBef>
              <a:spcAft>
                <a:spcPts val="0"/>
              </a:spcAft>
              <a:buClr>
                <a:schemeClr val="dk1"/>
              </a:buClr>
              <a:buSzPts val="1100"/>
              <a:buFont typeface="Arial"/>
              <a:buNone/>
            </a:pPr>
            <a:r>
              <a:rPr lang="en" sz="2800">
                <a:solidFill>
                  <a:srgbClr val="002B42"/>
                </a:solidFill>
              </a:rPr>
              <a:t>Good Illumina data:</a:t>
            </a:r>
            <a:r>
              <a:rPr lang="en" sz="2800">
                <a:solidFill>
                  <a:srgbClr val="002B42"/>
                </a:solidFill>
                <a:uFill>
                  <a:noFill/>
                </a:uFill>
                <a:hlinkClick r:id="rId3">
                  <a:extLst>
                    <a:ext uri="{A12FA001-AC4F-418D-AE19-62706E023703}">
                      <ahyp:hlinkClr val="tx"/>
                    </a:ext>
                  </a:extLst>
                </a:hlinkClick>
              </a:rPr>
              <a:t> </a:t>
            </a:r>
            <a:r>
              <a:rPr lang="en" sz="2800" u="sng">
                <a:solidFill>
                  <a:schemeClr val="hlink"/>
                </a:solidFill>
                <a:hlinkClick r:id="rId4"/>
              </a:rPr>
              <a:t>https://www.bioinformatics.babraham.ac.uk/projects/fastqc/good_sequence_short_fastqc.html</a:t>
            </a:r>
            <a:endParaRPr sz="2800" u="sng">
              <a:solidFill>
                <a:schemeClr val="hlink"/>
              </a:solidFill>
            </a:endParaRPr>
          </a:p>
          <a:p>
            <a:pPr indent="0" lvl="0" marL="0" rtl="0" algn="l">
              <a:lnSpc>
                <a:spcPct val="90000"/>
              </a:lnSpc>
              <a:spcBef>
                <a:spcPts val="1000"/>
              </a:spcBef>
              <a:spcAft>
                <a:spcPts val="0"/>
              </a:spcAft>
              <a:buNone/>
            </a:pPr>
            <a:r>
              <a:t/>
            </a:r>
            <a:endParaRPr sz="2250">
              <a:solidFill>
                <a:schemeClr val="dk1"/>
              </a:solidFill>
            </a:endParaRPr>
          </a:p>
          <a:p>
            <a:pPr indent="0" lvl="0" marL="0" rtl="0" algn="l">
              <a:lnSpc>
                <a:spcPct val="90000"/>
              </a:lnSpc>
              <a:spcBef>
                <a:spcPts val="1000"/>
              </a:spcBef>
              <a:spcAft>
                <a:spcPts val="0"/>
              </a:spcAft>
              <a:buNone/>
            </a:pPr>
            <a:r>
              <a:rPr lang="en" sz="2800">
                <a:solidFill>
                  <a:srgbClr val="002B42"/>
                </a:solidFill>
              </a:rPr>
              <a:t>Bad Illumina data:</a:t>
            </a:r>
            <a:r>
              <a:rPr lang="en" sz="2800">
                <a:solidFill>
                  <a:srgbClr val="002B42"/>
                </a:solidFill>
                <a:uFill>
                  <a:noFill/>
                </a:uFill>
                <a:hlinkClick r:id="rId5">
                  <a:extLst>
                    <a:ext uri="{A12FA001-AC4F-418D-AE19-62706E023703}">
                      <ahyp:hlinkClr val="tx"/>
                    </a:ext>
                  </a:extLst>
                </a:hlinkClick>
              </a:rPr>
              <a:t> </a:t>
            </a:r>
            <a:r>
              <a:rPr lang="en" sz="2800" u="sng">
                <a:solidFill>
                  <a:schemeClr val="hlink"/>
                </a:solidFill>
                <a:hlinkClick r:id="rId6"/>
              </a:rPr>
              <a:t>https://www.bioinformatics.babraham.ac.uk/projects/fastqc/bad_sequence_fastqc.html</a:t>
            </a:r>
            <a:endParaRPr sz="2500">
              <a:solidFill>
                <a:srgbClr val="002B42"/>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96"/>
          <p:cNvSpPr txBox="1"/>
          <p:nvPr>
            <p:ph type="title"/>
          </p:nvPr>
        </p:nvSpPr>
        <p:spPr>
          <a:xfrm>
            <a:off x="118872" y="0"/>
            <a:ext cx="9008100" cy="736800"/>
          </a:xfrm>
          <a:prstGeom prst="rect">
            <a:avLst/>
          </a:prstGeom>
        </p:spPr>
        <p:txBody>
          <a:bodyPr anchorCtr="0" anchor="t" bIns="0" lIns="0" spcFirstLastPara="1" rIns="0" wrap="square" tIns="0">
            <a:noAutofit/>
          </a:bodyPr>
          <a:lstStyle/>
          <a:p>
            <a:pPr indent="0" lvl="0" marL="0" rtl="0" algn="l">
              <a:spcBef>
                <a:spcPts val="0"/>
              </a:spcBef>
              <a:spcAft>
                <a:spcPts val="0"/>
              </a:spcAft>
              <a:buSzPts val="990"/>
              <a:buNone/>
            </a:pPr>
            <a:r>
              <a:rPr lang="en" sz="3260">
                <a:latin typeface="Arial"/>
                <a:ea typeface="Arial"/>
                <a:cs typeface="Arial"/>
                <a:sym typeface="Arial"/>
              </a:rPr>
              <a:t>What if QC gives warn/fail flag?</a:t>
            </a:r>
            <a:endParaRPr sz="1660">
              <a:solidFill>
                <a:srgbClr val="1155CC"/>
              </a:solidFill>
              <a:latin typeface="Arial"/>
              <a:ea typeface="Arial"/>
              <a:cs typeface="Arial"/>
              <a:sym typeface="Arial"/>
            </a:endParaRPr>
          </a:p>
        </p:txBody>
      </p:sp>
      <p:sp>
        <p:nvSpPr>
          <p:cNvPr id="536" name="Google Shape;536;p96"/>
          <p:cNvSpPr txBox="1"/>
          <p:nvPr/>
        </p:nvSpPr>
        <p:spPr>
          <a:xfrm>
            <a:off x="118875" y="622050"/>
            <a:ext cx="9008100" cy="3899400"/>
          </a:xfrm>
          <a:prstGeom prst="rect">
            <a:avLst/>
          </a:prstGeom>
          <a:noFill/>
          <a:ln>
            <a:noFill/>
          </a:ln>
        </p:spPr>
        <p:txBody>
          <a:bodyPr anchorCtr="0" anchor="t" bIns="91425" lIns="91425" spcFirstLastPara="1" rIns="91425" wrap="square" tIns="91425">
            <a:spAutoFit/>
          </a:bodyPr>
          <a:lstStyle/>
          <a:p>
            <a:pPr indent="-355600" lvl="0" marL="457200" rtl="0" algn="l">
              <a:lnSpc>
                <a:spcPct val="90000"/>
              </a:lnSpc>
              <a:spcBef>
                <a:spcPts val="1000"/>
              </a:spcBef>
              <a:spcAft>
                <a:spcPts val="0"/>
              </a:spcAft>
              <a:buClr>
                <a:srgbClr val="002B42"/>
              </a:buClr>
              <a:buSzPts val="2000"/>
              <a:buChar char="●"/>
            </a:pPr>
            <a:r>
              <a:rPr lang="en" sz="2000">
                <a:solidFill>
                  <a:srgbClr val="002B42"/>
                </a:solidFill>
              </a:rPr>
              <a:t>Non-normal GC content per read?</a:t>
            </a:r>
            <a:endParaRPr sz="2000">
              <a:solidFill>
                <a:srgbClr val="002B42"/>
              </a:solidFill>
            </a:endParaRPr>
          </a:p>
          <a:p>
            <a:pPr indent="-355600" lvl="1" marL="914400" rtl="0" algn="l">
              <a:lnSpc>
                <a:spcPct val="90000"/>
              </a:lnSpc>
              <a:spcBef>
                <a:spcPts val="0"/>
              </a:spcBef>
              <a:spcAft>
                <a:spcPts val="0"/>
              </a:spcAft>
              <a:buClr>
                <a:srgbClr val="002B42"/>
              </a:buClr>
              <a:buSzPts val="2000"/>
              <a:buChar char="○"/>
            </a:pPr>
            <a:r>
              <a:rPr lang="en" sz="2000">
                <a:solidFill>
                  <a:srgbClr val="002B42"/>
                </a:solidFill>
              </a:rPr>
              <a:t>Normal expected for whole-genome shotgun sequencing.</a:t>
            </a:r>
            <a:endParaRPr sz="2000">
              <a:solidFill>
                <a:srgbClr val="002B42"/>
              </a:solidFill>
            </a:endParaRPr>
          </a:p>
          <a:p>
            <a:pPr indent="-355600" lvl="1" marL="914400" rtl="0" algn="l">
              <a:lnSpc>
                <a:spcPct val="90000"/>
              </a:lnSpc>
              <a:spcBef>
                <a:spcPts val="0"/>
              </a:spcBef>
              <a:spcAft>
                <a:spcPts val="0"/>
              </a:spcAft>
              <a:buClr>
                <a:srgbClr val="002B42"/>
              </a:buClr>
              <a:buSzPts val="2000"/>
              <a:buChar char="○"/>
            </a:pPr>
            <a:r>
              <a:rPr lang="en" sz="2000">
                <a:solidFill>
                  <a:srgbClr val="002B42"/>
                </a:solidFill>
              </a:rPr>
              <a:t>RNA-seq might give different distributions.</a:t>
            </a:r>
            <a:endParaRPr sz="2000">
              <a:solidFill>
                <a:srgbClr val="002B42"/>
              </a:solidFill>
            </a:endParaRPr>
          </a:p>
          <a:p>
            <a:pPr indent="0" lvl="0" marL="457200" rtl="0" algn="l">
              <a:lnSpc>
                <a:spcPct val="90000"/>
              </a:lnSpc>
              <a:spcBef>
                <a:spcPts val="1000"/>
              </a:spcBef>
              <a:spcAft>
                <a:spcPts val="0"/>
              </a:spcAft>
              <a:buNone/>
            </a:pPr>
            <a:r>
              <a:t/>
            </a:r>
            <a:endParaRPr>
              <a:solidFill>
                <a:schemeClr val="dk1"/>
              </a:solidFill>
            </a:endParaRPr>
          </a:p>
          <a:p>
            <a:pPr indent="-355600" lvl="0" marL="457200" rtl="0" algn="l">
              <a:lnSpc>
                <a:spcPct val="90000"/>
              </a:lnSpc>
              <a:spcBef>
                <a:spcPts val="1000"/>
              </a:spcBef>
              <a:spcAft>
                <a:spcPts val="0"/>
              </a:spcAft>
              <a:buClr>
                <a:srgbClr val="002B42"/>
              </a:buClr>
              <a:buSzPts val="2000"/>
              <a:buChar char="●"/>
            </a:pPr>
            <a:r>
              <a:rPr lang="en" sz="2000">
                <a:solidFill>
                  <a:srgbClr val="002B42"/>
                </a:solidFill>
              </a:rPr>
              <a:t>Non-uniform sequence content per nucleotide?</a:t>
            </a:r>
            <a:endParaRPr sz="2000">
              <a:solidFill>
                <a:srgbClr val="002B42"/>
              </a:solidFill>
            </a:endParaRPr>
          </a:p>
          <a:p>
            <a:pPr indent="-355600" lvl="1" marL="914400" rtl="0" algn="l">
              <a:lnSpc>
                <a:spcPct val="90000"/>
              </a:lnSpc>
              <a:spcBef>
                <a:spcPts val="0"/>
              </a:spcBef>
              <a:spcAft>
                <a:spcPts val="0"/>
              </a:spcAft>
              <a:buClr>
                <a:srgbClr val="002B42"/>
              </a:buClr>
              <a:buSzPts val="2000"/>
              <a:buChar char="○"/>
            </a:pPr>
            <a:r>
              <a:rPr lang="en" sz="2000">
                <a:solidFill>
                  <a:srgbClr val="002B42"/>
                </a:solidFill>
              </a:rPr>
              <a:t>First 10-15 nt in RNA-seq often non-uniform.</a:t>
            </a:r>
            <a:endParaRPr sz="2000">
              <a:solidFill>
                <a:srgbClr val="002B42"/>
              </a:solidFill>
            </a:endParaRPr>
          </a:p>
          <a:p>
            <a:pPr indent="0" lvl="0" marL="457200" rtl="0" algn="l">
              <a:lnSpc>
                <a:spcPct val="90000"/>
              </a:lnSpc>
              <a:spcBef>
                <a:spcPts val="1000"/>
              </a:spcBef>
              <a:spcAft>
                <a:spcPts val="0"/>
              </a:spcAft>
              <a:buNone/>
            </a:pPr>
            <a:r>
              <a:t/>
            </a:r>
            <a:endParaRPr>
              <a:solidFill>
                <a:schemeClr val="dk1"/>
              </a:solidFill>
            </a:endParaRPr>
          </a:p>
          <a:p>
            <a:pPr indent="-355600" lvl="0" marL="457200" rtl="0" algn="l">
              <a:lnSpc>
                <a:spcPct val="90000"/>
              </a:lnSpc>
              <a:spcBef>
                <a:spcPts val="1000"/>
              </a:spcBef>
              <a:spcAft>
                <a:spcPts val="0"/>
              </a:spcAft>
              <a:buClr>
                <a:srgbClr val="002B42"/>
              </a:buClr>
              <a:buSzPts val="2000"/>
              <a:buChar char="●"/>
            </a:pPr>
            <a:r>
              <a:rPr lang="en" sz="2000">
                <a:solidFill>
                  <a:srgbClr val="002B42"/>
                </a:solidFill>
              </a:rPr>
              <a:t>High duplication levels or </a:t>
            </a:r>
            <a:r>
              <a:rPr lang="en" sz="2000">
                <a:solidFill>
                  <a:srgbClr val="002B42"/>
                </a:solidFill>
              </a:rPr>
              <a:t>overrepresented</a:t>
            </a:r>
            <a:r>
              <a:rPr lang="en" sz="2000">
                <a:solidFill>
                  <a:srgbClr val="002B42"/>
                </a:solidFill>
              </a:rPr>
              <a:t> sequences?</a:t>
            </a:r>
            <a:endParaRPr sz="2000">
              <a:solidFill>
                <a:srgbClr val="002B42"/>
              </a:solidFill>
            </a:endParaRPr>
          </a:p>
          <a:p>
            <a:pPr indent="-355600" lvl="1" marL="914400" rtl="0" algn="l">
              <a:lnSpc>
                <a:spcPct val="90000"/>
              </a:lnSpc>
              <a:spcBef>
                <a:spcPts val="0"/>
              </a:spcBef>
              <a:spcAft>
                <a:spcPts val="0"/>
              </a:spcAft>
              <a:buClr>
                <a:srgbClr val="002B42"/>
              </a:buClr>
              <a:buSzPts val="2000"/>
              <a:buChar char="○"/>
            </a:pPr>
            <a:r>
              <a:rPr lang="en" sz="2000">
                <a:solidFill>
                  <a:srgbClr val="002B42"/>
                </a:solidFill>
              </a:rPr>
              <a:t>Are they contaminants, e,g. adapters or PCR duplicates?</a:t>
            </a:r>
            <a:endParaRPr sz="2000">
              <a:solidFill>
                <a:srgbClr val="002B42"/>
              </a:solidFill>
            </a:endParaRPr>
          </a:p>
          <a:p>
            <a:pPr indent="-355600" lvl="1" marL="914400" rtl="0" algn="l">
              <a:lnSpc>
                <a:spcPct val="90000"/>
              </a:lnSpc>
              <a:spcBef>
                <a:spcPts val="0"/>
              </a:spcBef>
              <a:spcAft>
                <a:spcPts val="0"/>
              </a:spcAft>
              <a:buClr>
                <a:srgbClr val="002B42"/>
              </a:buClr>
              <a:buSzPts val="2000"/>
              <a:buChar char="○"/>
            </a:pPr>
            <a:r>
              <a:rPr lang="en" sz="2000">
                <a:solidFill>
                  <a:srgbClr val="002B42"/>
                </a:solidFill>
              </a:rPr>
              <a:t>If so, clean up contaminants.</a:t>
            </a:r>
            <a:endParaRPr sz="2000">
              <a:solidFill>
                <a:srgbClr val="002B42"/>
              </a:solidFill>
            </a:endParaRPr>
          </a:p>
          <a:p>
            <a:pPr indent="-355600" lvl="1" marL="914400" rtl="0" algn="l">
              <a:lnSpc>
                <a:spcPct val="90000"/>
              </a:lnSpc>
              <a:spcBef>
                <a:spcPts val="0"/>
              </a:spcBef>
              <a:spcAft>
                <a:spcPts val="0"/>
              </a:spcAft>
              <a:buClr>
                <a:srgbClr val="002B42"/>
              </a:buClr>
              <a:buSzPts val="2000"/>
              <a:buChar char="○"/>
            </a:pPr>
            <a:r>
              <a:rPr lang="en" sz="2000">
                <a:solidFill>
                  <a:srgbClr val="002B42"/>
                </a:solidFill>
              </a:rPr>
              <a:t>Could be attributed to highly abundant transcripts.</a:t>
            </a:r>
            <a:endParaRPr sz="2000">
              <a:solidFill>
                <a:srgbClr val="002B4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97"/>
          <p:cNvSpPr txBox="1"/>
          <p:nvPr/>
        </p:nvSpPr>
        <p:spPr>
          <a:xfrm>
            <a:off x="54700" y="2474075"/>
            <a:ext cx="312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741B47"/>
                </a:solidFill>
                <a:latin typeface="Helvetica Neue"/>
                <a:ea typeface="Helvetica Neue"/>
                <a:cs typeface="Helvetica Neue"/>
                <a:sym typeface="Helvetica Neue"/>
              </a:rPr>
              <a:t>Session 1 Concepts: </a:t>
            </a:r>
            <a:endParaRPr b="1" sz="1200">
              <a:solidFill>
                <a:srgbClr val="741B47"/>
              </a:solidFill>
              <a:highlight>
                <a:srgbClr val="F7F6F3"/>
              </a:highlight>
            </a:endParaRPr>
          </a:p>
        </p:txBody>
      </p:sp>
      <p:sp>
        <p:nvSpPr>
          <p:cNvPr id="542" name="Google Shape;542;p97"/>
          <p:cNvSpPr/>
          <p:nvPr/>
        </p:nvSpPr>
        <p:spPr>
          <a:xfrm flipH="1">
            <a:off x="2835850" y="2015275"/>
            <a:ext cx="207300" cy="10881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97"/>
          <p:cNvSpPr txBox="1"/>
          <p:nvPr/>
        </p:nvSpPr>
        <p:spPr>
          <a:xfrm>
            <a:off x="54700" y="3589413"/>
            <a:ext cx="3125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a:solidFill>
                  <a:srgbClr val="741B47"/>
                </a:solidFill>
                <a:latin typeface="Helvetica Neue"/>
                <a:ea typeface="Helvetica Neue"/>
                <a:cs typeface="Helvetica Neue"/>
                <a:sym typeface="Helvetica Neue"/>
              </a:rPr>
              <a:t>Session 2 Concepts: </a:t>
            </a:r>
            <a:endParaRPr b="1" sz="1200">
              <a:solidFill>
                <a:srgbClr val="741B47"/>
              </a:solidFill>
              <a:highlight>
                <a:srgbClr val="F7F6F3"/>
              </a:highlight>
            </a:endParaRPr>
          </a:p>
          <a:p>
            <a:pPr indent="0" lvl="0" marL="0" rtl="0" algn="l">
              <a:spcBef>
                <a:spcPts val="0"/>
              </a:spcBef>
              <a:spcAft>
                <a:spcPts val="0"/>
              </a:spcAft>
              <a:buNone/>
            </a:pPr>
            <a:r>
              <a:t/>
            </a:r>
            <a:endParaRPr b="1">
              <a:solidFill>
                <a:srgbClr val="741B47"/>
              </a:solidFill>
              <a:latin typeface="Helvetica Neue"/>
              <a:ea typeface="Helvetica Neue"/>
              <a:cs typeface="Helvetica Neue"/>
              <a:sym typeface="Helvetica Neue"/>
            </a:endParaRPr>
          </a:p>
        </p:txBody>
      </p:sp>
      <p:sp>
        <p:nvSpPr>
          <p:cNvPr id="544" name="Google Shape;544;p97"/>
          <p:cNvSpPr/>
          <p:nvPr/>
        </p:nvSpPr>
        <p:spPr>
          <a:xfrm>
            <a:off x="3316325" y="2030150"/>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Sequencer: Reads</a:t>
            </a:r>
            <a:r>
              <a:rPr lang="en"/>
              <a:t> </a:t>
            </a:r>
            <a:r>
              <a:rPr b="1" lang="en">
                <a:solidFill>
                  <a:schemeClr val="accent2"/>
                </a:solidFill>
              </a:rPr>
              <a:t>Fastq</a:t>
            </a:r>
            <a:endParaRPr b="1">
              <a:solidFill>
                <a:schemeClr val="accent2"/>
              </a:solidFill>
            </a:endParaRPr>
          </a:p>
        </p:txBody>
      </p:sp>
      <p:sp>
        <p:nvSpPr>
          <p:cNvPr id="545" name="Google Shape;545;p97"/>
          <p:cNvSpPr/>
          <p:nvPr/>
        </p:nvSpPr>
        <p:spPr>
          <a:xfrm>
            <a:off x="5445750" y="2030150"/>
            <a:ext cx="1727700" cy="493800"/>
          </a:xfrm>
          <a:prstGeom prst="roundRect">
            <a:avLst>
              <a:gd fmla="val 16667" name="adj"/>
            </a:avLst>
          </a:prstGeom>
          <a:solidFill>
            <a:srgbClr val="F7F6F3"/>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None/>
            </a:pPr>
            <a:r>
              <a:rPr b="1" lang="en">
                <a:solidFill>
                  <a:schemeClr val="accent2"/>
                </a:solidFill>
              </a:rPr>
              <a:t>FastQC </a:t>
            </a:r>
            <a:endParaRPr b="1">
              <a:solidFill>
                <a:schemeClr val="accent2"/>
              </a:solidFill>
            </a:endParaRPr>
          </a:p>
        </p:txBody>
      </p:sp>
      <p:sp>
        <p:nvSpPr>
          <p:cNvPr id="546" name="Google Shape;546;p97"/>
          <p:cNvSpPr/>
          <p:nvPr/>
        </p:nvSpPr>
        <p:spPr>
          <a:xfrm>
            <a:off x="3316325" y="3283863"/>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Alignment/Mapping</a:t>
            </a:r>
            <a:endParaRPr b="1"/>
          </a:p>
          <a:p>
            <a:pPr indent="0" lvl="0" marL="0" rtl="0" algn="ctr">
              <a:spcBef>
                <a:spcPts val="0"/>
              </a:spcBef>
              <a:spcAft>
                <a:spcPts val="0"/>
              </a:spcAft>
              <a:buNone/>
            </a:pPr>
            <a:r>
              <a:rPr b="1" lang="en">
                <a:solidFill>
                  <a:schemeClr val="accent2"/>
                </a:solidFill>
              </a:rPr>
              <a:t>STAR</a:t>
            </a:r>
            <a:r>
              <a:rPr lang="en"/>
              <a:t> </a:t>
            </a:r>
            <a:endParaRPr/>
          </a:p>
        </p:txBody>
      </p:sp>
      <p:sp>
        <p:nvSpPr>
          <p:cNvPr id="547" name="Google Shape;547;p97"/>
          <p:cNvSpPr/>
          <p:nvPr/>
        </p:nvSpPr>
        <p:spPr>
          <a:xfrm>
            <a:off x="3316325" y="3886175"/>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200">
                <a:solidFill>
                  <a:schemeClr val="dk1"/>
                </a:solidFill>
              </a:rPr>
              <a:t>Counting Reads </a:t>
            </a:r>
            <a:endParaRPr b="1" sz="1200">
              <a:solidFill>
                <a:schemeClr val="dk1"/>
              </a:solidFill>
            </a:endParaRPr>
          </a:p>
          <a:p>
            <a:pPr indent="0" lvl="0" marL="0" rtl="0" algn="ctr">
              <a:spcBef>
                <a:spcPts val="0"/>
              </a:spcBef>
              <a:spcAft>
                <a:spcPts val="0"/>
              </a:spcAft>
              <a:buNone/>
            </a:pPr>
            <a:r>
              <a:rPr b="1" lang="en">
                <a:solidFill>
                  <a:schemeClr val="accent2"/>
                </a:solidFill>
              </a:rPr>
              <a:t>featureCounts</a:t>
            </a:r>
            <a:endParaRPr b="1" sz="1200"/>
          </a:p>
        </p:txBody>
      </p:sp>
      <p:sp>
        <p:nvSpPr>
          <p:cNvPr id="548" name="Google Shape;548;p97"/>
          <p:cNvSpPr/>
          <p:nvPr/>
        </p:nvSpPr>
        <p:spPr>
          <a:xfrm>
            <a:off x="3316325" y="2681575"/>
            <a:ext cx="1993500" cy="493800"/>
          </a:xfrm>
          <a:prstGeom prst="roundRect">
            <a:avLst>
              <a:gd fmla="val 16667" name="adj"/>
            </a:avLst>
          </a:prstGeom>
          <a:solidFill>
            <a:srgbClr val="EAD1D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Trimming</a:t>
            </a:r>
            <a:endParaRPr b="1"/>
          </a:p>
          <a:p>
            <a:pPr indent="0" lvl="0" marL="0" rtl="0" algn="ctr">
              <a:spcBef>
                <a:spcPts val="0"/>
              </a:spcBef>
              <a:spcAft>
                <a:spcPts val="0"/>
              </a:spcAft>
              <a:buNone/>
            </a:pPr>
            <a:r>
              <a:rPr b="1" lang="en">
                <a:solidFill>
                  <a:schemeClr val="accent2"/>
                </a:solidFill>
              </a:rPr>
              <a:t>cutadapt</a:t>
            </a:r>
            <a:endParaRPr b="1">
              <a:solidFill>
                <a:schemeClr val="accent2"/>
              </a:solidFill>
            </a:endParaRPr>
          </a:p>
        </p:txBody>
      </p:sp>
      <p:sp>
        <p:nvSpPr>
          <p:cNvPr id="549" name="Google Shape;549;p97"/>
          <p:cNvSpPr/>
          <p:nvPr/>
        </p:nvSpPr>
        <p:spPr>
          <a:xfrm>
            <a:off x="5445750" y="2681575"/>
            <a:ext cx="1727700" cy="493800"/>
          </a:xfrm>
          <a:prstGeom prst="roundRect">
            <a:avLst>
              <a:gd fmla="val 16667" name="adj"/>
            </a:avLst>
          </a:prstGeom>
          <a:solidFill>
            <a:srgbClr val="F7F6F3"/>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Clr>
                <a:schemeClr val="dk1"/>
              </a:buClr>
              <a:buSzPts val="1100"/>
              <a:buFont typeface="Arial"/>
              <a:buNone/>
            </a:pPr>
            <a:r>
              <a:rPr b="1" lang="en">
                <a:solidFill>
                  <a:schemeClr val="accent2"/>
                </a:solidFill>
              </a:rPr>
              <a:t>FastQC</a:t>
            </a:r>
            <a:endParaRPr b="1">
              <a:solidFill>
                <a:schemeClr val="accent2"/>
              </a:solidFill>
            </a:endParaRPr>
          </a:p>
        </p:txBody>
      </p:sp>
      <p:sp>
        <p:nvSpPr>
          <p:cNvPr id="550" name="Google Shape;550;p97"/>
          <p:cNvSpPr/>
          <p:nvPr/>
        </p:nvSpPr>
        <p:spPr>
          <a:xfrm>
            <a:off x="5445750" y="3283875"/>
            <a:ext cx="1727700" cy="493800"/>
          </a:xfrm>
          <a:prstGeom prst="roundRect">
            <a:avLst>
              <a:gd fmla="val 16667" name="adj"/>
            </a:avLst>
          </a:prstGeom>
          <a:solidFill>
            <a:srgbClr val="F7F6F3"/>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Clr>
                <a:schemeClr val="dk1"/>
              </a:buClr>
              <a:buSzPts val="1100"/>
              <a:buFont typeface="Arial"/>
              <a:buNone/>
            </a:pPr>
            <a:r>
              <a:t/>
            </a:r>
            <a:endParaRPr b="1">
              <a:solidFill>
                <a:schemeClr val="accent2"/>
              </a:solidFill>
            </a:endParaRPr>
          </a:p>
        </p:txBody>
      </p:sp>
      <p:sp>
        <p:nvSpPr>
          <p:cNvPr id="551" name="Google Shape;551;p97"/>
          <p:cNvSpPr/>
          <p:nvPr/>
        </p:nvSpPr>
        <p:spPr>
          <a:xfrm>
            <a:off x="3316325" y="776450"/>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Biological question</a:t>
            </a:r>
            <a:endParaRPr b="1">
              <a:solidFill>
                <a:schemeClr val="accent2"/>
              </a:solidFill>
            </a:endParaRPr>
          </a:p>
        </p:txBody>
      </p:sp>
      <p:sp>
        <p:nvSpPr>
          <p:cNvPr id="552" name="Google Shape;552;p97"/>
          <p:cNvSpPr/>
          <p:nvPr/>
        </p:nvSpPr>
        <p:spPr>
          <a:xfrm>
            <a:off x="3316325" y="1403288"/>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Library preparation</a:t>
            </a:r>
            <a:endParaRPr b="1">
              <a:solidFill>
                <a:schemeClr val="accent2"/>
              </a:solidFill>
            </a:endParaRPr>
          </a:p>
        </p:txBody>
      </p:sp>
      <p:sp>
        <p:nvSpPr>
          <p:cNvPr id="553" name="Google Shape;553;p97"/>
          <p:cNvSpPr/>
          <p:nvPr/>
        </p:nvSpPr>
        <p:spPr>
          <a:xfrm>
            <a:off x="5445750" y="3893249"/>
            <a:ext cx="1727700" cy="493800"/>
          </a:xfrm>
          <a:prstGeom prst="roundRect">
            <a:avLst>
              <a:gd fmla="val 16667" name="adj"/>
            </a:avLst>
          </a:prstGeom>
          <a:solidFill>
            <a:srgbClr val="F7F6F3"/>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Clr>
                <a:schemeClr val="dk1"/>
              </a:buClr>
              <a:buSzPts val="1100"/>
              <a:buFont typeface="Arial"/>
              <a:buNone/>
            </a:pPr>
            <a:r>
              <a:t/>
            </a:r>
            <a:endParaRPr b="1">
              <a:solidFill>
                <a:schemeClr val="accent2"/>
              </a:solidFill>
            </a:endParaRPr>
          </a:p>
        </p:txBody>
      </p:sp>
      <p:sp>
        <p:nvSpPr>
          <p:cNvPr id="554" name="Google Shape;554;p97"/>
          <p:cNvSpPr/>
          <p:nvPr/>
        </p:nvSpPr>
        <p:spPr>
          <a:xfrm flipH="1">
            <a:off x="2835850" y="3259650"/>
            <a:ext cx="207300" cy="10881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97"/>
          <p:cNvSpPr txBox="1"/>
          <p:nvPr/>
        </p:nvSpPr>
        <p:spPr>
          <a:xfrm>
            <a:off x="7592050" y="2282038"/>
            <a:ext cx="1568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accent2"/>
                </a:solidFill>
                <a:latin typeface="Helvetica Neue"/>
                <a:ea typeface="Helvetica Neue"/>
                <a:cs typeface="Helvetica Neue"/>
                <a:sym typeface="Helvetica Neue"/>
              </a:rPr>
              <a:t>Session 1 Demo</a:t>
            </a:r>
            <a:endParaRPr b="1" sz="1200">
              <a:solidFill>
                <a:schemeClr val="accent2"/>
              </a:solidFill>
              <a:highlight>
                <a:srgbClr val="F7F6F3"/>
              </a:highlight>
            </a:endParaRPr>
          </a:p>
          <a:p>
            <a:pPr indent="0" lvl="0" marL="0" rtl="0" algn="l">
              <a:spcBef>
                <a:spcPts val="0"/>
              </a:spcBef>
              <a:spcAft>
                <a:spcPts val="0"/>
              </a:spcAft>
              <a:buNone/>
            </a:pPr>
            <a:r>
              <a:t/>
            </a:r>
            <a:endParaRPr b="1">
              <a:latin typeface="Helvetica Neue"/>
              <a:ea typeface="Helvetica Neue"/>
              <a:cs typeface="Helvetica Neue"/>
              <a:sym typeface="Helvetica Neue"/>
            </a:endParaRPr>
          </a:p>
        </p:txBody>
      </p:sp>
      <p:sp>
        <p:nvSpPr>
          <p:cNvPr id="556" name="Google Shape;556;p97"/>
          <p:cNvSpPr/>
          <p:nvPr/>
        </p:nvSpPr>
        <p:spPr>
          <a:xfrm flipH="1" rot="10800000">
            <a:off x="7248950" y="2015175"/>
            <a:ext cx="267600" cy="10794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97"/>
          <p:cNvSpPr txBox="1"/>
          <p:nvPr/>
        </p:nvSpPr>
        <p:spPr>
          <a:xfrm>
            <a:off x="7581823" y="3495888"/>
            <a:ext cx="1568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accent2"/>
                </a:solidFill>
                <a:latin typeface="Helvetica Neue"/>
                <a:ea typeface="Helvetica Neue"/>
                <a:cs typeface="Helvetica Neue"/>
                <a:sym typeface="Helvetica Neue"/>
              </a:rPr>
              <a:t>Session 2 Demo</a:t>
            </a:r>
            <a:endParaRPr b="1" sz="1200">
              <a:solidFill>
                <a:schemeClr val="accent2"/>
              </a:solidFill>
              <a:highlight>
                <a:srgbClr val="F7F6F3"/>
              </a:highlight>
            </a:endParaRPr>
          </a:p>
          <a:p>
            <a:pPr indent="0" lvl="0" marL="0" rtl="0" algn="l">
              <a:spcBef>
                <a:spcPts val="0"/>
              </a:spcBef>
              <a:spcAft>
                <a:spcPts val="0"/>
              </a:spcAft>
              <a:buNone/>
            </a:pPr>
            <a:r>
              <a:t/>
            </a:r>
            <a:endParaRPr b="1">
              <a:latin typeface="Helvetica Neue"/>
              <a:ea typeface="Helvetica Neue"/>
              <a:cs typeface="Helvetica Neue"/>
              <a:sym typeface="Helvetica Neue"/>
            </a:endParaRPr>
          </a:p>
        </p:txBody>
      </p:sp>
      <p:sp>
        <p:nvSpPr>
          <p:cNvPr id="558" name="Google Shape;558;p97"/>
          <p:cNvSpPr/>
          <p:nvPr/>
        </p:nvSpPr>
        <p:spPr>
          <a:xfrm flipH="1" rot="10800000">
            <a:off x="7238725" y="3334925"/>
            <a:ext cx="292800" cy="9735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9" name="Google Shape;559;p97"/>
          <p:cNvPicPr preferRelativeResize="0"/>
          <p:nvPr/>
        </p:nvPicPr>
        <p:blipFill>
          <a:blip r:embed="rId3">
            <a:alphaModFix/>
          </a:blip>
          <a:stretch>
            <a:fillRect/>
          </a:stretch>
        </p:blipFill>
        <p:spPr>
          <a:xfrm>
            <a:off x="6767525" y="147869"/>
            <a:ext cx="2011679" cy="512979"/>
          </a:xfrm>
          <a:prstGeom prst="rect">
            <a:avLst/>
          </a:prstGeom>
          <a:noFill/>
          <a:ln>
            <a:noFill/>
          </a:ln>
        </p:spPr>
      </p:pic>
      <p:sp>
        <p:nvSpPr>
          <p:cNvPr id="560" name="Google Shape;560;p97"/>
          <p:cNvSpPr/>
          <p:nvPr/>
        </p:nvSpPr>
        <p:spPr>
          <a:xfrm>
            <a:off x="3316325" y="4488475"/>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dk1"/>
                </a:solidFill>
              </a:rPr>
              <a:t>Count Matrix</a:t>
            </a:r>
            <a:endParaRPr b="1" sz="15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98"/>
          <p:cNvSpPr txBox="1"/>
          <p:nvPr>
            <p:ph type="title"/>
          </p:nvPr>
        </p:nvSpPr>
        <p:spPr>
          <a:xfrm>
            <a:off x="152397" y="76200"/>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sz="2500">
                <a:solidFill>
                  <a:srgbClr val="1155CC"/>
                </a:solidFill>
              </a:rPr>
              <a:t>Trimming - </a:t>
            </a:r>
            <a:r>
              <a:rPr lang="en" sz="2500">
                <a:solidFill>
                  <a:srgbClr val="1155CC"/>
                </a:solidFill>
                <a:latin typeface="Arial"/>
                <a:ea typeface="Arial"/>
                <a:cs typeface="Arial"/>
                <a:sym typeface="Arial"/>
              </a:rPr>
              <a:t>Removing adapters  </a:t>
            </a:r>
            <a:endParaRPr sz="2500">
              <a:solidFill>
                <a:srgbClr val="1155CC"/>
              </a:solidFill>
            </a:endParaRPr>
          </a:p>
        </p:txBody>
      </p:sp>
      <p:sp>
        <p:nvSpPr>
          <p:cNvPr id="566" name="Google Shape;566;p98"/>
          <p:cNvSpPr txBox="1"/>
          <p:nvPr/>
        </p:nvSpPr>
        <p:spPr>
          <a:xfrm>
            <a:off x="118863" y="4583475"/>
            <a:ext cx="4363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accent2"/>
                </a:solidFill>
              </a:rPr>
              <a:t>Tools: cutadapt, Trimmomatic</a:t>
            </a:r>
            <a:endParaRPr b="1" sz="300">
              <a:solidFill>
                <a:schemeClr val="accent2"/>
              </a:solidFill>
            </a:endParaRPr>
          </a:p>
        </p:txBody>
      </p:sp>
      <p:pic>
        <p:nvPicPr>
          <p:cNvPr id="567" name="Google Shape;567;p98"/>
          <p:cNvPicPr preferRelativeResize="0"/>
          <p:nvPr/>
        </p:nvPicPr>
        <p:blipFill>
          <a:blip r:embed="rId3">
            <a:alphaModFix/>
          </a:blip>
          <a:stretch>
            <a:fillRect/>
          </a:stretch>
        </p:blipFill>
        <p:spPr>
          <a:xfrm>
            <a:off x="118874" y="421125"/>
            <a:ext cx="3376947" cy="2444276"/>
          </a:xfrm>
          <a:prstGeom prst="rect">
            <a:avLst/>
          </a:prstGeom>
          <a:noFill/>
          <a:ln>
            <a:noFill/>
          </a:ln>
        </p:spPr>
      </p:pic>
      <p:pic>
        <p:nvPicPr>
          <p:cNvPr id="568" name="Google Shape;568;p98"/>
          <p:cNvPicPr preferRelativeResize="0"/>
          <p:nvPr/>
        </p:nvPicPr>
        <p:blipFill>
          <a:blip r:embed="rId4">
            <a:alphaModFix/>
          </a:blip>
          <a:stretch>
            <a:fillRect/>
          </a:stretch>
        </p:blipFill>
        <p:spPr>
          <a:xfrm>
            <a:off x="2470000" y="1929975"/>
            <a:ext cx="6553326" cy="255606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9"/>
          <p:cNvSpPr txBox="1"/>
          <p:nvPr>
            <p:ph type="title"/>
          </p:nvPr>
        </p:nvSpPr>
        <p:spPr>
          <a:xfrm>
            <a:off x="118872" y="0"/>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cutadapt removes adapters</a:t>
            </a:r>
            <a:endParaRPr/>
          </a:p>
        </p:txBody>
      </p:sp>
      <p:sp>
        <p:nvSpPr>
          <p:cNvPr id="574" name="Google Shape;574;p99"/>
          <p:cNvSpPr txBox="1"/>
          <p:nvPr>
            <p:ph idx="1" type="body"/>
          </p:nvPr>
        </p:nvSpPr>
        <p:spPr>
          <a:xfrm>
            <a:off x="4138200" y="700975"/>
            <a:ext cx="5005800" cy="1348200"/>
          </a:xfrm>
          <a:prstGeom prst="rect">
            <a:avLst/>
          </a:prstGeom>
        </p:spPr>
        <p:txBody>
          <a:bodyPr anchorCtr="0" anchor="t" bIns="0" lIns="0" spcFirstLastPara="1" rIns="0" wrap="square" tIns="0">
            <a:normAutofit/>
          </a:bodyPr>
          <a:lstStyle/>
          <a:p>
            <a:pPr indent="-292100" lvl="0" marL="457200" rtl="0" algn="l">
              <a:lnSpc>
                <a:spcPct val="150000"/>
              </a:lnSpc>
              <a:spcBef>
                <a:spcPts val="800"/>
              </a:spcBef>
              <a:spcAft>
                <a:spcPts val="0"/>
              </a:spcAft>
              <a:buSzPts val="1000"/>
              <a:buChar char="●"/>
            </a:pPr>
            <a:r>
              <a:rPr lang="en" sz="1700"/>
              <a:t>Search for adapter sequence in read.</a:t>
            </a:r>
            <a:endParaRPr sz="1700"/>
          </a:p>
          <a:p>
            <a:pPr indent="-292100" lvl="0" marL="457200" rtl="0" algn="l">
              <a:lnSpc>
                <a:spcPct val="150000"/>
              </a:lnSpc>
              <a:spcBef>
                <a:spcPts val="0"/>
              </a:spcBef>
              <a:spcAft>
                <a:spcPts val="0"/>
              </a:spcAft>
              <a:buSzPts val="1000"/>
              <a:buChar char="●"/>
            </a:pPr>
            <a:r>
              <a:rPr lang="en" sz="1700"/>
              <a:t>Allow for mismatches in sequence.</a:t>
            </a:r>
            <a:endParaRPr sz="1700"/>
          </a:p>
          <a:p>
            <a:pPr indent="-292100" lvl="0" marL="457200" rtl="0" algn="l">
              <a:lnSpc>
                <a:spcPct val="150000"/>
              </a:lnSpc>
              <a:spcBef>
                <a:spcPts val="0"/>
              </a:spcBef>
              <a:spcAft>
                <a:spcPts val="0"/>
              </a:spcAft>
              <a:buSzPts val="1000"/>
              <a:buChar char="●"/>
            </a:pPr>
            <a:r>
              <a:rPr lang="en" sz="1700"/>
              <a:t>If significant alignment, cut.</a:t>
            </a:r>
            <a:endParaRPr sz="1700"/>
          </a:p>
        </p:txBody>
      </p:sp>
      <p:pic>
        <p:nvPicPr>
          <p:cNvPr id="575" name="Google Shape;575;p99"/>
          <p:cNvPicPr preferRelativeResize="0"/>
          <p:nvPr/>
        </p:nvPicPr>
        <p:blipFill rotWithShape="1">
          <a:blip r:embed="rId3">
            <a:alphaModFix/>
          </a:blip>
          <a:srcRect b="0" l="0" r="0" t="-4603"/>
          <a:stretch/>
        </p:blipFill>
        <p:spPr>
          <a:xfrm>
            <a:off x="118875" y="586300"/>
            <a:ext cx="3874325" cy="1025125"/>
          </a:xfrm>
          <a:prstGeom prst="rect">
            <a:avLst/>
          </a:prstGeom>
          <a:noFill/>
          <a:ln>
            <a:noFill/>
          </a:ln>
        </p:spPr>
      </p:pic>
      <p:grpSp>
        <p:nvGrpSpPr>
          <p:cNvPr id="576" name="Google Shape;576;p99"/>
          <p:cNvGrpSpPr/>
          <p:nvPr/>
        </p:nvGrpSpPr>
        <p:grpSpPr>
          <a:xfrm>
            <a:off x="254087" y="1809812"/>
            <a:ext cx="7569025" cy="3288488"/>
            <a:chOff x="787487" y="1809812"/>
            <a:chExt cx="7569025" cy="3288488"/>
          </a:xfrm>
        </p:grpSpPr>
        <p:grpSp>
          <p:nvGrpSpPr>
            <p:cNvPr id="577" name="Google Shape;577;p99"/>
            <p:cNvGrpSpPr/>
            <p:nvPr/>
          </p:nvGrpSpPr>
          <p:grpSpPr>
            <a:xfrm>
              <a:off x="787487" y="1809812"/>
              <a:ext cx="7569025" cy="1916013"/>
              <a:chOff x="206050" y="2637937"/>
              <a:chExt cx="7569025" cy="1916013"/>
            </a:xfrm>
          </p:grpSpPr>
          <p:pic>
            <p:nvPicPr>
              <p:cNvPr id="578" name="Google Shape;578;p99"/>
              <p:cNvPicPr preferRelativeResize="0"/>
              <p:nvPr/>
            </p:nvPicPr>
            <p:blipFill>
              <a:blip r:embed="rId4">
                <a:alphaModFix/>
              </a:blip>
              <a:stretch>
                <a:fillRect/>
              </a:stretch>
            </p:blipFill>
            <p:spPr>
              <a:xfrm>
                <a:off x="206050" y="2637937"/>
                <a:ext cx="7370799" cy="1916013"/>
              </a:xfrm>
              <a:prstGeom prst="rect">
                <a:avLst/>
              </a:prstGeom>
              <a:noFill/>
              <a:ln>
                <a:noFill/>
              </a:ln>
            </p:spPr>
          </p:pic>
          <p:sp>
            <p:nvSpPr>
              <p:cNvPr id="579" name="Google Shape;579;p99"/>
              <p:cNvSpPr txBox="1"/>
              <p:nvPr/>
            </p:nvSpPr>
            <p:spPr>
              <a:xfrm>
                <a:off x="1209850" y="3472025"/>
                <a:ext cx="5247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latin typeface="Helvetica Neue"/>
                    <a:ea typeface="Helvetica Neue"/>
                    <a:cs typeface="Helvetica Neue"/>
                    <a:sym typeface="Helvetica Neue"/>
                  </a:rPr>
                  <a:t>5’</a:t>
                </a:r>
                <a:endParaRPr sz="1100">
                  <a:latin typeface="Helvetica Neue"/>
                  <a:ea typeface="Helvetica Neue"/>
                  <a:cs typeface="Helvetica Neue"/>
                  <a:sym typeface="Helvetica Neue"/>
                </a:endParaRPr>
              </a:p>
            </p:txBody>
          </p:sp>
          <p:sp>
            <p:nvSpPr>
              <p:cNvPr id="580" name="Google Shape;580;p99"/>
              <p:cNvSpPr txBox="1"/>
              <p:nvPr/>
            </p:nvSpPr>
            <p:spPr>
              <a:xfrm>
                <a:off x="3033625" y="3472025"/>
                <a:ext cx="524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Helvetica Neue"/>
                    <a:ea typeface="Helvetica Neue"/>
                    <a:cs typeface="Helvetica Neue"/>
                    <a:sym typeface="Helvetica Neue"/>
                  </a:rPr>
                  <a:t>3’</a:t>
                </a:r>
                <a:endParaRPr sz="1100">
                  <a:latin typeface="Helvetica Neue"/>
                  <a:ea typeface="Helvetica Neue"/>
                  <a:cs typeface="Helvetica Neue"/>
                  <a:sym typeface="Helvetica Neue"/>
                </a:endParaRPr>
              </a:p>
            </p:txBody>
          </p:sp>
          <p:sp>
            <p:nvSpPr>
              <p:cNvPr id="581" name="Google Shape;581;p99"/>
              <p:cNvSpPr txBox="1"/>
              <p:nvPr/>
            </p:nvSpPr>
            <p:spPr>
              <a:xfrm>
                <a:off x="3665350" y="3471775"/>
                <a:ext cx="524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Helvetica Neue"/>
                    <a:ea typeface="Helvetica Neue"/>
                    <a:cs typeface="Helvetica Neue"/>
                    <a:sym typeface="Helvetica Neue"/>
                  </a:rPr>
                  <a:t>5’</a:t>
                </a:r>
                <a:endParaRPr sz="1100">
                  <a:latin typeface="Helvetica Neue"/>
                  <a:ea typeface="Helvetica Neue"/>
                  <a:cs typeface="Helvetica Neue"/>
                  <a:sym typeface="Helvetica Neue"/>
                </a:endParaRPr>
              </a:p>
            </p:txBody>
          </p:sp>
          <p:sp>
            <p:nvSpPr>
              <p:cNvPr id="582" name="Google Shape;582;p99"/>
              <p:cNvSpPr txBox="1"/>
              <p:nvPr/>
            </p:nvSpPr>
            <p:spPr>
              <a:xfrm>
                <a:off x="1209775" y="4180175"/>
                <a:ext cx="524700" cy="354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latin typeface="Helvetica Neue"/>
                    <a:ea typeface="Helvetica Neue"/>
                    <a:cs typeface="Helvetica Neue"/>
                    <a:sym typeface="Helvetica Neue"/>
                  </a:rPr>
                  <a:t>5’</a:t>
                </a:r>
                <a:endParaRPr sz="1100">
                  <a:latin typeface="Helvetica Neue"/>
                  <a:ea typeface="Helvetica Neue"/>
                  <a:cs typeface="Helvetica Neue"/>
                  <a:sym typeface="Helvetica Neue"/>
                </a:endParaRPr>
              </a:p>
            </p:txBody>
          </p:sp>
          <p:sp>
            <p:nvSpPr>
              <p:cNvPr id="583" name="Google Shape;583;p99"/>
              <p:cNvSpPr txBox="1"/>
              <p:nvPr/>
            </p:nvSpPr>
            <p:spPr>
              <a:xfrm>
                <a:off x="3403975" y="4180175"/>
                <a:ext cx="524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Helvetica Neue"/>
                    <a:ea typeface="Helvetica Neue"/>
                    <a:cs typeface="Helvetica Neue"/>
                    <a:sym typeface="Helvetica Neue"/>
                  </a:rPr>
                  <a:t>3’</a:t>
                </a:r>
                <a:endParaRPr sz="1100">
                  <a:latin typeface="Helvetica Neue"/>
                  <a:ea typeface="Helvetica Neue"/>
                  <a:cs typeface="Helvetica Neue"/>
                  <a:sym typeface="Helvetica Neue"/>
                </a:endParaRPr>
              </a:p>
            </p:txBody>
          </p:sp>
          <p:sp>
            <p:nvSpPr>
              <p:cNvPr id="584" name="Google Shape;584;p99"/>
              <p:cNvSpPr txBox="1"/>
              <p:nvPr/>
            </p:nvSpPr>
            <p:spPr>
              <a:xfrm>
                <a:off x="5289025" y="3471775"/>
                <a:ext cx="524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Helvetica Neue"/>
                    <a:ea typeface="Helvetica Neue"/>
                    <a:cs typeface="Helvetica Neue"/>
                    <a:sym typeface="Helvetica Neue"/>
                  </a:rPr>
                  <a:t>3’</a:t>
                </a:r>
                <a:endParaRPr sz="1100">
                  <a:latin typeface="Helvetica Neue"/>
                  <a:ea typeface="Helvetica Neue"/>
                  <a:cs typeface="Helvetica Neue"/>
                  <a:sym typeface="Helvetica Neue"/>
                </a:endParaRPr>
              </a:p>
            </p:txBody>
          </p:sp>
          <p:sp>
            <p:nvSpPr>
              <p:cNvPr id="585" name="Google Shape;585;p99"/>
              <p:cNvSpPr txBox="1"/>
              <p:nvPr/>
            </p:nvSpPr>
            <p:spPr>
              <a:xfrm>
                <a:off x="7250375" y="3471775"/>
                <a:ext cx="524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Helvetica Neue"/>
                    <a:ea typeface="Helvetica Neue"/>
                    <a:cs typeface="Helvetica Neue"/>
                    <a:sym typeface="Helvetica Neue"/>
                  </a:rPr>
                  <a:t>3’</a:t>
                </a:r>
                <a:endParaRPr sz="1100">
                  <a:latin typeface="Helvetica Neue"/>
                  <a:ea typeface="Helvetica Neue"/>
                  <a:cs typeface="Helvetica Neue"/>
                  <a:sym typeface="Helvetica Neue"/>
                </a:endParaRPr>
              </a:p>
            </p:txBody>
          </p:sp>
          <p:sp>
            <p:nvSpPr>
              <p:cNvPr id="586" name="Google Shape;586;p99"/>
              <p:cNvSpPr txBox="1"/>
              <p:nvPr/>
            </p:nvSpPr>
            <p:spPr>
              <a:xfrm>
                <a:off x="5648400" y="3471775"/>
                <a:ext cx="524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Helvetica Neue"/>
                    <a:ea typeface="Helvetica Neue"/>
                    <a:cs typeface="Helvetica Neue"/>
                    <a:sym typeface="Helvetica Neue"/>
                  </a:rPr>
                  <a:t>5’</a:t>
                </a:r>
                <a:endParaRPr sz="1100">
                  <a:latin typeface="Helvetica Neue"/>
                  <a:ea typeface="Helvetica Neue"/>
                  <a:cs typeface="Helvetica Neue"/>
                  <a:sym typeface="Helvetica Neue"/>
                </a:endParaRPr>
              </a:p>
            </p:txBody>
          </p:sp>
        </p:grpSp>
        <p:grpSp>
          <p:nvGrpSpPr>
            <p:cNvPr id="587" name="Google Shape;587;p99"/>
            <p:cNvGrpSpPr/>
            <p:nvPr/>
          </p:nvGrpSpPr>
          <p:grpSpPr>
            <a:xfrm>
              <a:off x="1199025" y="3763100"/>
              <a:ext cx="3693875" cy="1335200"/>
              <a:chOff x="1199025" y="3763100"/>
              <a:chExt cx="3693875" cy="1335200"/>
            </a:xfrm>
          </p:grpSpPr>
          <p:pic>
            <p:nvPicPr>
              <p:cNvPr id="588" name="Google Shape;588;p99"/>
              <p:cNvPicPr preferRelativeResize="0"/>
              <p:nvPr/>
            </p:nvPicPr>
            <p:blipFill rotWithShape="1">
              <a:blip r:embed="rId5">
                <a:alphaModFix/>
              </a:blip>
              <a:srcRect b="0" l="0" r="0" t="41827"/>
              <a:stretch/>
            </p:blipFill>
            <p:spPr>
              <a:xfrm>
                <a:off x="1199025" y="4467950"/>
                <a:ext cx="3181350" cy="387875"/>
              </a:xfrm>
              <a:prstGeom prst="rect">
                <a:avLst/>
              </a:prstGeom>
              <a:noFill/>
              <a:ln>
                <a:noFill/>
              </a:ln>
            </p:spPr>
          </p:pic>
          <p:pic>
            <p:nvPicPr>
              <p:cNvPr id="589" name="Google Shape;589;p99"/>
              <p:cNvPicPr preferRelativeResize="0"/>
              <p:nvPr/>
            </p:nvPicPr>
            <p:blipFill rotWithShape="1">
              <a:blip r:embed="rId5">
                <a:alphaModFix/>
              </a:blip>
              <a:srcRect b="49977" l="0" r="0" t="0"/>
              <a:stretch/>
            </p:blipFill>
            <p:spPr>
              <a:xfrm>
                <a:off x="1216125" y="4754525"/>
                <a:ext cx="3181350" cy="333525"/>
              </a:xfrm>
              <a:prstGeom prst="rect">
                <a:avLst/>
              </a:prstGeom>
              <a:noFill/>
              <a:ln>
                <a:noFill/>
              </a:ln>
            </p:spPr>
          </p:pic>
          <p:pic>
            <p:nvPicPr>
              <p:cNvPr id="590" name="Google Shape;590;p99"/>
              <p:cNvPicPr preferRelativeResize="0"/>
              <p:nvPr/>
            </p:nvPicPr>
            <p:blipFill>
              <a:blip r:embed="rId6">
                <a:alphaModFix/>
              </a:blip>
              <a:stretch>
                <a:fillRect/>
              </a:stretch>
            </p:blipFill>
            <p:spPr>
              <a:xfrm>
                <a:off x="2767925" y="3763100"/>
                <a:ext cx="2124950" cy="628650"/>
              </a:xfrm>
              <a:prstGeom prst="rect">
                <a:avLst/>
              </a:prstGeom>
              <a:noFill/>
              <a:ln>
                <a:noFill/>
              </a:ln>
            </p:spPr>
          </p:pic>
          <p:sp>
            <p:nvSpPr>
              <p:cNvPr id="591" name="Google Shape;591;p99"/>
              <p:cNvSpPr txBox="1"/>
              <p:nvPr/>
            </p:nvSpPr>
            <p:spPr>
              <a:xfrm>
                <a:off x="2713400" y="3848000"/>
                <a:ext cx="2179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Helvetica Neue"/>
                    <a:ea typeface="Helvetica Neue"/>
                    <a:cs typeface="Helvetica Neue"/>
                    <a:sym typeface="Helvetica Neue"/>
                  </a:rPr>
                  <a:t>Forward read -&gt;</a:t>
                </a:r>
                <a:endParaRPr sz="1100">
                  <a:latin typeface="Helvetica Neue"/>
                  <a:ea typeface="Helvetica Neue"/>
                  <a:cs typeface="Helvetica Neue"/>
                  <a:sym typeface="Helvetica Neue"/>
                </a:endParaRPr>
              </a:p>
            </p:txBody>
          </p:sp>
          <p:sp>
            <p:nvSpPr>
              <p:cNvPr id="592" name="Google Shape;592;p99"/>
              <p:cNvSpPr txBox="1"/>
              <p:nvPr/>
            </p:nvSpPr>
            <p:spPr>
              <a:xfrm>
                <a:off x="2867100" y="4744300"/>
                <a:ext cx="1416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Helvetica Neue"/>
                    <a:ea typeface="Helvetica Neue"/>
                    <a:cs typeface="Helvetica Neue"/>
                    <a:sym typeface="Helvetica Neue"/>
                  </a:rPr>
                  <a:t>&lt;- Reverse read</a:t>
                </a:r>
                <a:endParaRPr sz="1100">
                  <a:latin typeface="Helvetica Neue"/>
                  <a:ea typeface="Helvetica Neue"/>
                  <a:cs typeface="Helvetica Neue"/>
                  <a:sym typeface="Helvetica Neue"/>
                </a:endParaRPr>
              </a:p>
            </p:txBody>
          </p:sp>
          <p:sp>
            <p:nvSpPr>
              <p:cNvPr id="593" name="Google Shape;593;p99"/>
              <p:cNvSpPr txBox="1"/>
              <p:nvPr/>
            </p:nvSpPr>
            <p:spPr>
              <a:xfrm>
                <a:off x="2767925" y="4258050"/>
                <a:ext cx="1416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Helvetica Neue"/>
                    <a:ea typeface="Helvetica Neue"/>
                    <a:cs typeface="Helvetica Neue"/>
                    <a:sym typeface="Helvetica Neue"/>
                  </a:rPr>
                  <a:t>Aligned region</a:t>
                </a:r>
                <a:endParaRPr sz="1100">
                  <a:latin typeface="Helvetica Neue"/>
                  <a:ea typeface="Helvetica Neue"/>
                  <a:cs typeface="Helvetica Neue"/>
                  <a:sym typeface="Helvetica Neue"/>
                </a:endParaRPr>
              </a:p>
            </p:txBody>
          </p:sp>
        </p:grpSp>
        <p:sp>
          <p:nvSpPr>
            <p:cNvPr id="594" name="Google Shape;594;p99"/>
            <p:cNvSpPr/>
            <p:nvPr/>
          </p:nvSpPr>
          <p:spPr>
            <a:xfrm>
              <a:off x="4456975" y="4097375"/>
              <a:ext cx="207000" cy="315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5" name="Google Shape;595;p99"/>
          <p:cNvGrpSpPr/>
          <p:nvPr/>
        </p:nvGrpSpPr>
        <p:grpSpPr>
          <a:xfrm>
            <a:off x="415019" y="4463600"/>
            <a:ext cx="4103136" cy="354000"/>
            <a:chOff x="787819" y="4463600"/>
            <a:chExt cx="3730123" cy="354000"/>
          </a:xfrm>
        </p:grpSpPr>
        <p:sp>
          <p:nvSpPr>
            <p:cNvPr id="596" name="Google Shape;596;p99"/>
            <p:cNvSpPr txBox="1"/>
            <p:nvPr/>
          </p:nvSpPr>
          <p:spPr>
            <a:xfrm>
              <a:off x="787819" y="4463600"/>
              <a:ext cx="524700" cy="354000"/>
            </a:xfrm>
            <a:prstGeom prst="rect">
              <a:avLst/>
            </a:prstGeom>
            <a:solidFill>
              <a:schemeClr val="lt1"/>
            </a:solid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latin typeface="Helvetica Neue"/>
                  <a:ea typeface="Helvetica Neue"/>
                  <a:cs typeface="Helvetica Neue"/>
                  <a:sym typeface="Helvetica Neue"/>
                </a:rPr>
                <a:t>5’</a:t>
              </a:r>
              <a:endParaRPr sz="1100">
                <a:latin typeface="Helvetica Neue"/>
                <a:ea typeface="Helvetica Neue"/>
                <a:cs typeface="Helvetica Neue"/>
                <a:sym typeface="Helvetica Neue"/>
              </a:endParaRPr>
            </a:p>
          </p:txBody>
        </p:sp>
        <p:sp>
          <p:nvSpPr>
            <p:cNvPr id="597" name="Google Shape;597;p99"/>
            <p:cNvSpPr txBox="1"/>
            <p:nvPr/>
          </p:nvSpPr>
          <p:spPr>
            <a:xfrm>
              <a:off x="3634443" y="4463600"/>
              <a:ext cx="883500" cy="3540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Helvetica Neue"/>
                  <a:ea typeface="Helvetica Neue"/>
                  <a:cs typeface="Helvetica Neue"/>
                  <a:sym typeface="Helvetica Neue"/>
                </a:rPr>
                <a:t>3’</a:t>
              </a:r>
              <a:endParaRPr sz="1100">
                <a:latin typeface="Helvetica Neue"/>
                <a:ea typeface="Helvetica Neue"/>
                <a:cs typeface="Helvetica Neue"/>
                <a:sym typeface="Helvetica Neue"/>
              </a:endParaRPr>
            </a:p>
          </p:txBody>
        </p:sp>
      </p:grpSp>
      <p:sp>
        <p:nvSpPr>
          <p:cNvPr id="598" name="Google Shape;598;p99"/>
          <p:cNvSpPr txBox="1"/>
          <p:nvPr/>
        </p:nvSpPr>
        <p:spPr>
          <a:xfrm>
            <a:off x="5896900" y="3817100"/>
            <a:ext cx="3000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404040"/>
                </a:solidFill>
                <a:highlight>
                  <a:srgbClr val="FCFCFC"/>
                </a:highlight>
                <a:latin typeface="Helvetica Neue"/>
                <a:ea typeface="Helvetica Neue"/>
                <a:cs typeface="Helvetica Neue"/>
                <a:sym typeface="Helvetica Neue"/>
              </a:rPr>
              <a:t>Set max</a:t>
            </a:r>
            <a:r>
              <a:rPr lang="en" sz="1500">
                <a:solidFill>
                  <a:srgbClr val="404040"/>
                </a:solidFill>
                <a:highlight>
                  <a:srgbClr val="FCFCFC"/>
                </a:highlight>
                <a:latin typeface="Helvetica Neue"/>
                <a:ea typeface="Helvetica Neue"/>
                <a:cs typeface="Helvetica Neue"/>
                <a:sym typeface="Helvetica Neue"/>
              </a:rPr>
              <a:t> error rate (default 1%)</a:t>
            </a:r>
            <a:endParaRPr sz="1500">
              <a:solidFill>
                <a:srgbClr val="404040"/>
              </a:solidFill>
              <a:highlight>
                <a:srgbClr val="FCFCFC"/>
              </a:highlight>
              <a:latin typeface="Helvetica Neue"/>
              <a:ea typeface="Helvetica Neue"/>
              <a:cs typeface="Helvetica Neue"/>
              <a:sym typeface="Helvetica Neue"/>
            </a:endParaRPr>
          </a:p>
          <a:p>
            <a:pPr indent="0" lvl="0" marL="0" rtl="0" algn="l">
              <a:spcBef>
                <a:spcPts val="0"/>
              </a:spcBef>
              <a:spcAft>
                <a:spcPts val="0"/>
              </a:spcAft>
              <a:buNone/>
            </a:pPr>
            <a:r>
              <a:rPr lang="en" sz="1500">
                <a:solidFill>
                  <a:srgbClr val="404040"/>
                </a:solidFill>
                <a:highlight>
                  <a:srgbClr val="FCFCFC"/>
                </a:highlight>
                <a:latin typeface="Helvetica Neue"/>
                <a:ea typeface="Helvetica Neue"/>
                <a:cs typeface="Helvetica Neue"/>
                <a:sym typeface="Helvetica Neue"/>
              </a:rPr>
              <a:t>Min overlap (default 3)</a:t>
            </a:r>
            <a:endParaRPr sz="1500">
              <a:solidFill>
                <a:srgbClr val="404040"/>
              </a:solidFill>
              <a:highlight>
                <a:srgbClr val="FCFCFC"/>
              </a:highlight>
              <a:latin typeface="Helvetica Neue"/>
              <a:ea typeface="Helvetica Neue"/>
              <a:cs typeface="Helvetica Neue"/>
              <a:sym typeface="Helvetica Neue"/>
            </a:endParaRPr>
          </a:p>
        </p:txBody>
      </p:sp>
      <p:sp>
        <p:nvSpPr>
          <p:cNvPr id="599" name="Google Shape;599;p99"/>
          <p:cNvSpPr txBox="1"/>
          <p:nvPr/>
        </p:nvSpPr>
        <p:spPr>
          <a:xfrm>
            <a:off x="4427475" y="4463600"/>
            <a:ext cx="4606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404040"/>
                </a:solidFill>
                <a:highlight>
                  <a:srgbClr val="FCFCFC"/>
                </a:highlight>
                <a:latin typeface="Helvetica Neue"/>
                <a:ea typeface="Helvetica Neue"/>
                <a:cs typeface="Helvetica Neue"/>
                <a:sym typeface="Helvetica Neue"/>
              </a:rPr>
              <a:t>The actual error rate is computed as the </a:t>
            </a:r>
            <a:r>
              <a:rPr i="1" lang="en" sz="1200">
                <a:solidFill>
                  <a:srgbClr val="404040"/>
                </a:solidFill>
                <a:highlight>
                  <a:srgbClr val="FCFCFC"/>
                </a:highlight>
                <a:latin typeface="Helvetica Neue"/>
                <a:ea typeface="Helvetica Neue"/>
                <a:cs typeface="Helvetica Neue"/>
                <a:sym typeface="Helvetica Neue"/>
              </a:rPr>
              <a:t>number of errors in the match</a:t>
            </a:r>
            <a:r>
              <a:rPr lang="en" sz="1200">
                <a:solidFill>
                  <a:srgbClr val="404040"/>
                </a:solidFill>
                <a:highlight>
                  <a:srgbClr val="FCFCFC"/>
                </a:highlight>
                <a:latin typeface="Helvetica Neue"/>
                <a:ea typeface="Helvetica Neue"/>
                <a:cs typeface="Helvetica Neue"/>
                <a:sym typeface="Helvetica Neue"/>
              </a:rPr>
              <a:t> divided by the </a:t>
            </a:r>
            <a:r>
              <a:rPr i="1" lang="en" sz="1200">
                <a:solidFill>
                  <a:srgbClr val="404040"/>
                </a:solidFill>
                <a:highlight>
                  <a:srgbClr val="FCFCFC"/>
                </a:highlight>
                <a:latin typeface="Helvetica Neue"/>
                <a:ea typeface="Helvetica Neue"/>
                <a:cs typeface="Helvetica Neue"/>
                <a:sym typeface="Helvetica Neue"/>
              </a:rPr>
              <a:t>length of the matching part of the adapter</a:t>
            </a:r>
            <a:r>
              <a:rPr lang="en" sz="1200">
                <a:solidFill>
                  <a:srgbClr val="404040"/>
                </a:solidFill>
                <a:highlight>
                  <a:srgbClr val="FCFCFC"/>
                </a:highlight>
                <a:latin typeface="Helvetica Neue"/>
                <a:ea typeface="Helvetica Neue"/>
                <a:cs typeface="Helvetica Neue"/>
                <a:sym typeface="Helvetica Neue"/>
              </a:rPr>
              <a: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100"/>
          <p:cNvSpPr txBox="1"/>
          <p:nvPr>
            <p:ph idx="1" type="body"/>
          </p:nvPr>
        </p:nvSpPr>
        <p:spPr>
          <a:xfrm>
            <a:off x="628650" y="1369219"/>
            <a:ext cx="7886700" cy="3263400"/>
          </a:xfrm>
          <a:prstGeom prst="rect">
            <a:avLst/>
          </a:prstGeom>
        </p:spPr>
        <p:txBody>
          <a:bodyPr anchorCtr="0" anchor="t" bIns="0" lIns="0" spcFirstLastPara="1" rIns="0" wrap="square" tIns="0">
            <a:normAutofit/>
          </a:bodyPr>
          <a:lstStyle/>
          <a:p>
            <a:pPr indent="0" lvl="0" marL="0" rtl="0" algn="l">
              <a:spcBef>
                <a:spcPts val="800"/>
              </a:spcBef>
              <a:spcAft>
                <a:spcPts val="0"/>
              </a:spcAft>
              <a:buClr>
                <a:schemeClr val="dk1"/>
              </a:buClr>
              <a:buSzPts val="1400"/>
              <a:buFont typeface="Arial"/>
              <a:buNone/>
            </a:pPr>
            <a:r>
              <a:rPr lang="en">
                <a:latin typeface="Arial"/>
                <a:ea typeface="Arial"/>
                <a:cs typeface="Arial"/>
                <a:sym typeface="Arial"/>
              </a:rPr>
              <a:t>How are you feeling about the content covered so far?</a:t>
            </a:r>
            <a:endParaRPr>
              <a:latin typeface="Arial"/>
              <a:ea typeface="Arial"/>
              <a:cs typeface="Arial"/>
              <a:sym typeface="Arial"/>
            </a:endParaRPr>
          </a:p>
          <a:p>
            <a:pPr indent="0" lvl="0" marL="0" rtl="0" algn="l">
              <a:spcBef>
                <a:spcPts val="800"/>
              </a:spcBef>
              <a:spcAft>
                <a:spcPts val="0"/>
              </a:spcAft>
              <a:buClr>
                <a:schemeClr val="dk1"/>
              </a:buClr>
              <a:buSzPts val="1400"/>
              <a:buFont typeface="Arial"/>
              <a:buNone/>
            </a:pPr>
            <a:r>
              <a:t/>
            </a:r>
            <a:endParaRPr>
              <a:latin typeface="Arial"/>
              <a:ea typeface="Arial"/>
              <a:cs typeface="Arial"/>
              <a:sym typeface="Arial"/>
            </a:endParaRPr>
          </a:p>
          <a:p>
            <a:pPr indent="-273050" lvl="0" marL="685800" rtl="0" algn="l">
              <a:spcBef>
                <a:spcPts val="800"/>
              </a:spcBef>
              <a:spcAft>
                <a:spcPts val="0"/>
              </a:spcAft>
              <a:buSzPts val="1700"/>
              <a:buAutoNum type="arabicPeriod"/>
            </a:pPr>
            <a:r>
              <a:rPr lang="en">
                <a:latin typeface="Arial"/>
                <a:ea typeface="Arial"/>
                <a:cs typeface="Arial"/>
                <a:sym typeface="Arial"/>
              </a:rPr>
              <a:t>Great - I am getting it</a:t>
            </a:r>
            <a:endParaRPr>
              <a:latin typeface="Arial"/>
              <a:ea typeface="Arial"/>
              <a:cs typeface="Arial"/>
              <a:sym typeface="Arial"/>
            </a:endParaRPr>
          </a:p>
          <a:p>
            <a:pPr indent="-273050" lvl="0" marL="685800" rtl="0" algn="l">
              <a:spcBef>
                <a:spcPts val="0"/>
              </a:spcBef>
              <a:spcAft>
                <a:spcPts val="0"/>
              </a:spcAft>
              <a:buSzPts val="1700"/>
              <a:buAutoNum type="arabicPeriod"/>
            </a:pPr>
            <a:r>
              <a:rPr lang="en">
                <a:latin typeface="Arial"/>
                <a:ea typeface="Arial"/>
                <a:cs typeface="Arial"/>
                <a:sym typeface="Arial"/>
              </a:rPr>
              <a:t>Okay - I am hanging in there</a:t>
            </a:r>
            <a:endParaRPr>
              <a:latin typeface="Arial"/>
              <a:ea typeface="Arial"/>
              <a:cs typeface="Arial"/>
              <a:sym typeface="Arial"/>
            </a:endParaRPr>
          </a:p>
          <a:p>
            <a:pPr indent="-273050" lvl="0" marL="685800" rtl="0" algn="l">
              <a:spcBef>
                <a:spcPts val="0"/>
              </a:spcBef>
              <a:spcAft>
                <a:spcPts val="0"/>
              </a:spcAft>
              <a:buSzPts val="1700"/>
              <a:buAutoNum type="arabicPeriod"/>
            </a:pPr>
            <a:r>
              <a:rPr lang="en">
                <a:latin typeface="Arial"/>
                <a:ea typeface="Arial"/>
                <a:cs typeface="Arial"/>
                <a:sym typeface="Arial"/>
              </a:rPr>
              <a:t>I am learning a lot</a:t>
            </a:r>
            <a:endParaRPr>
              <a:latin typeface="Arial"/>
              <a:ea typeface="Arial"/>
              <a:cs typeface="Arial"/>
              <a:sym typeface="Arial"/>
            </a:endParaRPr>
          </a:p>
          <a:p>
            <a:pPr indent="-273050" lvl="0" marL="685800" rtl="0" algn="l">
              <a:spcBef>
                <a:spcPts val="0"/>
              </a:spcBef>
              <a:spcAft>
                <a:spcPts val="0"/>
              </a:spcAft>
              <a:buSzPts val="1700"/>
              <a:buAutoNum type="arabicPeriod"/>
            </a:pPr>
            <a:r>
              <a:rPr lang="en">
                <a:latin typeface="Arial"/>
                <a:ea typeface="Arial"/>
                <a:cs typeface="Arial"/>
                <a:sym typeface="Arial"/>
              </a:rPr>
              <a:t>I need help</a:t>
            </a:r>
            <a:endParaRPr>
              <a:latin typeface="Arial"/>
              <a:ea typeface="Arial"/>
              <a:cs typeface="Arial"/>
              <a:sym typeface="Arial"/>
            </a:endParaRPr>
          </a:p>
          <a:p>
            <a:pPr indent="0" lvl="0" marL="457200" rtl="0" algn="l">
              <a:spcBef>
                <a:spcPts val="800"/>
              </a:spcBef>
              <a:spcAft>
                <a:spcPts val="0"/>
              </a:spcAft>
              <a:buClr>
                <a:schemeClr val="dk1"/>
              </a:buClr>
              <a:buSzPts val="1400"/>
              <a:buFont typeface="Arial"/>
              <a:buNone/>
            </a:pPr>
            <a:r>
              <a:t/>
            </a:r>
            <a:endParaRPr>
              <a:latin typeface="Arial"/>
              <a:ea typeface="Arial"/>
              <a:cs typeface="Arial"/>
              <a:sym typeface="Arial"/>
            </a:endParaRPr>
          </a:p>
          <a:p>
            <a:pPr indent="0" lvl="0" marL="0" rtl="0" algn="l">
              <a:spcBef>
                <a:spcPts val="800"/>
              </a:spcBef>
              <a:spcAft>
                <a:spcPts val="0"/>
              </a:spcAft>
              <a:buNone/>
            </a:pPr>
            <a:r>
              <a:t/>
            </a:r>
            <a:endParaRPr/>
          </a:p>
        </p:txBody>
      </p:sp>
      <p:sp>
        <p:nvSpPr>
          <p:cNvPr id="605" name="Google Shape;605;p100"/>
          <p:cNvSpPr txBox="1"/>
          <p:nvPr>
            <p:ph type="title"/>
          </p:nvPr>
        </p:nvSpPr>
        <p:spPr>
          <a:xfrm>
            <a:off x="628650" y="531341"/>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Poll 3</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101"/>
          <p:cNvSpPr txBox="1"/>
          <p:nvPr>
            <p:ph type="title"/>
          </p:nvPr>
        </p:nvSpPr>
        <p:spPr>
          <a:xfrm>
            <a:off x="157850" y="2393350"/>
            <a:ext cx="8567100" cy="26214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sz="2600"/>
          </a:p>
          <a:p>
            <a:pPr indent="0" lvl="0" marL="0" rtl="0" algn="l">
              <a:spcBef>
                <a:spcPts val="0"/>
              </a:spcBef>
              <a:spcAft>
                <a:spcPts val="0"/>
              </a:spcAft>
              <a:buNone/>
            </a:pPr>
            <a:r>
              <a:rPr lang="en" sz="2600"/>
              <a:t>Please drop a question in the chat or speak up </a:t>
            </a:r>
            <a:endParaRPr sz="2600"/>
          </a:p>
          <a:p>
            <a:pPr indent="0" lvl="0" marL="0" rtl="0" algn="l">
              <a:spcBef>
                <a:spcPts val="0"/>
              </a:spcBef>
              <a:spcAft>
                <a:spcPts val="0"/>
              </a:spcAft>
              <a:buNone/>
            </a:pPr>
            <a:r>
              <a:t/>
            </a:r>
            <a:endParaRPr sz="2600"/>
          </a:p>
          <a:p>
            <a:pPr indent="0" lvl="0" marL="0" rtl="0" algn="l">
              <a:spcBef>
                <a:spcPts val="0"/>
              </a:spcBef>
              <a:spcAft>
                <a:spcPts val="0"/>
              </a:spcAft>
              <a:buNone/>
            </a:pPr>
            <a:r>
              <a:t/>
            </a:r>
            <a:endParaRPr sz="2600"/>
          </a:p>
        </p:txBody>
      </p:sp>
      <p:sp>
        <p:nvSpPr>
          <p:cNvPr id="611" name="Google Shape;611;p101"/>
          <p:cNvSpPr txBox="1"/>
          <p:nvPr>
            <p:ph type="title"/>
          </p:nvPr>
        </p:nvSpPr>
        <p:spPr>
          <a:xfrm>
            <a:off x="628650" y="604616"/>
            <a:ext cx="7886700" cy="736800"/>
          </a:xfrm>
          <a:prstGeom prst="rect">
            <a:avLst/>
          </a:prstGeom>
        </p:spPr>
        <p:txBody>
          <a:bodyPr anchorCtr="0" anchor="t" bIns="0" lIns="0" spcFirstLastPara="1" rIns="0" wrap="square" tIns="0">
            <a:normAutofit fontScale="90000"/>
          </a:bodyPr>
          <a:lstStyle/>
          <a:p>
            <a:pPr indent="0" lvl="0" marL="0" rtl="0" algn="ctr">
              <a:spcBef>
                <a:spcPts val="0"/>
              </a:spcBef>
              <a:spcAft>
                <a:spcPts val="0"/>
              </a:spcAft>
              <a:buClr>
                <a:schemeClr val="dk1"/>
              </a:buClr>
              <a:buSzPct val="33333"/>
              <a:buFont typeface="Arial"/>
              <a:buNone/>
            </a:pPr>
            <a:r>
              <a:rPr lang="en">
                <a:solidFill>
                  <a:srgbClr val="A64D79"/>
                </a:solidFill>
              </a:rPr>
              <a:t>Break</a:t>
            </a:r>
            <a:endParaRPr>
              <a:solidFill>
                <a:srgbClr val="A64D79"/>
              </a:solidFill>
            </a:endParaRPr>
          </a:p>
          <a:p>
            <a:pPr indent="0" lvl="0" marL="0" rtl="0" algn="ctr">
              <a:spcBef>
                <a:spcPts val="0"/>
              </a:spcBef>
              <a:spcAft>
                <a:spcPts val="0"/>
              </a:spcAft>
              <a:buClr>
                <a:schemeClr val="dk1"/>
              </a:buClr>
              <a:buSzPct val="33333"/>
              <a:buFont typeface="Arial"/>
              <a:buNone/>
            </a:pPr>
            <a:r>
              <a:rPr lang="en">
                <a:solidFill>
                  <a:srgbClr val="A64D79"/>
                </a:solidFill>
              </a:rPr>
              <a:t>(5 min) </a:t>
            </a:r>
            <a:endParaRPr>
              <a:solidFill>
                <a:srgbClr val="A64D79"/>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102"/>
          <p:cNvSpPr txBox="1"/>
          <p:nvPr/>
        </p:nvSpPr>
        <p:spPr>
          <a:xfrm>
            <a:off x="54700" y="2474075"/>
            <a:ext cx="312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741B47"/>
                </a:solidFill>
                <a:latin typeface="Helvetica Neue"/>
                <a:ea typeface="Helvetica Neue"/>
                <a:cs typeface="Helvetica Neue"/>
                <a:sym typeface="Helvetica Neue"/>
              </a:rPr>
              <a:t>Session 1 Concepts: </a:t>
            </a:r>
            <a:endParaRPr b="1" sz="1200">
              <a:solidFill>
                <a:srgbClr val="741B47"/>
              </a:solidFill>
              <a:highlight>
                <a:srgbClr val="F7F6F3"/>
              </a:highlight>
            </a:endParaRPr>
          </a:p>
        </p:txBody>
      </p:sp>
      <p:sp>
        <p:nvSpPr>
          <p:cNvPr id="617" name="Google Shape;617;p102"/>
          <p:cNvSpPr/>
          <p:nvPr/>
        </p:nvSpPr>
        <p:spPr>
          <a:xfrm flipH="1">
            <a:off x="2835850" y="2015275"/>
            <a:ext cx="207300" cy="10881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02"/>
          <p:cNvSpPr txBox="1"/>
          <p:nvPr/>
        </p:nvSpPr>
        <p:spPr>
          <a:xfrm>
            <a:off x="54700" y="3589413"/>
            <a:ext cx="3125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a:solidFill>
                  <a:srgbClr val="741B47"/>
                </a:solidFill>
                <a:latin typeface="Helvetica Neue"/>
                <a:ea typeface="Helvetica Neue"/>
                <a:cs typeface="Helvetica Neue"/>
                <a:sym typeface="Helvetica Neue"/>
              </a:rPr>
              <a:t>Session 2 Concepts: </a:t>
            </a:r>
            <a:endParaRPr b="1" sz="1200">
              <a:solidFill>
                <a:srgbClr val="741B47"/>
              </a:solidFill>
              <a:highlight>
                <a:srgbClr val="F7F6F3"/>
              </a:highlight>
            </a:endParaRPr>
          </a:p>
          <a:p>
            <a:pPr indent="0" lvl="0" marL="0" rtl="0" algn="l">
              <a:spcBef>
                <a:spcPts val="0"/>
              </a:spcBef>
              <a:spcAft>
                <a:spcPts val="0"/>
              </a:spcAft>
              <a:buNone/>
            </a:pPr>
            <a:r>
              <a:t/>
            </a:r>
            <a:endParaRPr b="1">
              <a:solidFill>
                <a:srgbClr val="741B47"/>
              </a:solidFill>
              <a:latin typeface="Helvetica Neue"/>
              <a:ea typeface="Helvetica Neue"/>
              <a:cs typeface="Helvetica Neue"/>
              <a:sym typeface="Helvetica Neue"/>
            </a:endParaRPr>
          </a:p>
        </p:txBody>
      </p:sp>
      <p:sp>
        <p:nvSpPr>
          <p:cNvPr id="619" name="Google Shape;619;p102"/>
          <p:cNvSpPr/>
          <p:nvPr/>
        </p:nvSpPr>
        <p:spPr>
          <a:xfrm>
            <a:off x="3316325" y="2030150"/>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Sequencer: Reads</a:t>
            </a:r>
            <a:r>
              <a:rPr lang="en"/>
              <a:t> </a:t>
            </a:r>
            <a:r>
              <a:rPr b="1" lang="en">
                <a:solidFill>
                  <a:schemeClr val="accent2"/>
                </a:solidFill>
              </a:rPr>
              <a:t>Fastq</a:t>
            </a:r>
            <a:endParaRPr b="1">
              <a:solidFill>
                <a:schemeClr val="accent2"/>
              </a:solidFill>
            </a:endParaRPr>
          </a:p>
        </p:txBody>
      </p:sp>
      <p:sp>
        <p:nvSpPr>
          <p:cNvPr id="620" name="Google Shape;620;p102"/>
          <p:cNvSpPr/>
          <p:nvPr/>
        </p:nvSpPr>
        <p:spPr>
          <a:xfrm>
            <a:off x="5445750" y="2030150"/>
            <a:ext cx="1727700" cy="493800"/>
          </a:xfrm>
          <a:prstGeom prst="roundRect">
            <a:avLst>
              <a:gd fmla="val 16667" name="adj"/>
            </a:avLst>
          </a:prstGeom>
          <a:solidFill>
            <a:srgbClr val="F6B26B"/>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None/>
            </a:pPr>
            <a:r>
              <a:rPr b="1" lang="en">
                <a:solidFill>
                  <a:schemeClr val="accent2"/>
                </a:solidFill>
              </a:rPr>
              <a:t>FastQC </a:t>
            </a:r>
            <a:endParaRPr b="1">
              <a:solidFill>
                <a:schemeClr val="accent2"/>
              </a:solidFill>
            </a:endParaRPr>
          </a:p>
        </p:txBody>
      </p:sp>
      <p:sp>
        <p:nvSpPr>
          <p:cNvPr id="621" name="Google Shape;621;p102"/>
          <p:cNvSpPr/>
          <p:nvPr/>
        </p:nvSpPr>
        <p:spPr>
          <a:xfrm>
            <a:off x="3316325" y="3283863"/>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Alignment/Mapping</a:t>
            </a:r>
            <a:endParaRPr b="1"/>
          </a:p>
          <a:p>
            <a:pPr indent="0" lvl="0" marL="0" rtl="0" algn="ctr">
              <a:spcBef>
                <a:spcPts val="0"/>
              </a:spcBef>
              <a:spcAft>
                <a:spcPts val="0"/>
              </a:spcAft>
              <a:buNone/>
            </a:pPr>
            <a:r>
              <a:rPr b="1" lang="en">
                <a:solidFill>
                  <a:schemeClr val="accent2"/>
                </a:solidFill>
              </a:rPr>
              <a:t>STAR</a:t>
            </a:r>
            <a:r>
              <a:rPr lang="en"/>
              <a:t> </a:t>
            </a:r>
            <a:endParaRPr/>
          </a:p>
        </p:txBody>
      </p:sp>
      <p:sp>
        <p:nvSpPr>
          <p:cNvPr id="622" name="Google Shape;622;p102"/>
          <p:cNvSpPr/>
          <p:nvPr/>
        </p:nvSpPr>
        <p:spPr>
          <a:xfrm>
            <a:off x="3316325" y="3886175"/>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200">
                <a:solidFill>
                  <a:schemeClr val="dk1"/>
                </a:solidFill>
              </a:rPr>
              <a:t>Counting Reads </a:t>
            </a:r>
            <a:endParaRPr b="1" sz="1200">
              <a:solidFill>
                <a:schemeClr val="dk1"/>
              </a:solidFill>
            </a:endParaRPr>
          </a:p>
          <a:p>
            <a:pPr indent="0" lvl="0" marL="0" rtl="0" algn="ctr">
              <a:spcBef>
                <a:spcPts val="0"/>
              </a:spcBef>
              <a:spcAft>
                <a:spcPts val="0"/>
              </a:spcAft>
              <a:buNone/>
            </a:pPr>
            <a:r>
              <a:rPr b="1" lang="en">
                <a:solidFill>
                  <a:schemeClr val="accent2"/>
                </a:solidFill>
              </a:rPr>
              <a:t>featureCounts</a:t>
            </a:r>
            <a:endParaRPr b="1" sz="1200"/>
          </a:p>
        </p:txBody>
      </p:sp>
      <p:sp>
        <p:nvSpPr>
          <p:cNvPr id="623" name="Google Shape;623;p102"/>
          <p:cNvSpPr/>
          <p:nvPr/>
        </p:nvSpPr>
        <p:spPr>
          <a:xfrm>
            <a:off x="3316325" y="2681575"/>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Trimming</a:t>
            </a:r>
            <a:endParaRPr b="1"/>
          </a:p>
          <a:p>
            <a:pPr indent="0" lvl="0" marL="0" rtl="0" algn="ctr">
              <a:spcBef>
                <a:spcPts val="0"/>
              </a:spcBef>
              <a:spcAft>
                <a:spcPts val="0"/>
              </a:spcAft>
              <a:buNone/>
            </a:pPr>
            <a:r>
              <a:rPr b="1" lang="en">
                <a:solidFill>
                  <a:schemeClr val="accent2"/>
                </a:solidFill>
              </a:rPr>
              <a:t>cutadapt</a:t>
            </a:r>
            <a:endParaRPr b="1">
              <a:solidFill>
                <a:schemeClr val="accent2"/>
              </a:solidFill>
            </a:endParaRPr>
          </a:p>
        </p:txBody>
      </p:sp>
      <p:sp>
        <p:nvSpPr>
          <p:cNvPr id="624" name="Google Shape;624;p102"/>
          <p:cNvSpPr/>
          <p:nvPr/>
        </p:nvSpPr>
        <p:spPr>
          <a:xfrm>
            <a:off x="5445750" y="2681575"/>
            <a:ext cx="1727700" cy="493800"/>
          </a:xfrm>
          <a:prstGeom prst="roundRect">
            <a:avLst>
              <a:gd fmla="val 16667" name="adj"/>
            </a:avLst>
          </a:prstGeom>
          <a:solidFill>
            <a:srgbClr val="F6B26B"/>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Clr>
                <a:schemeClr val="dk1"/>
              </a:buClr>
              <a:buSzPts val="1100"/>
              <a:buFont typeface="Arial"/>
              <a:buNone/>
            </a:pPr>
            <a:r>
              <a:rPr b="1" lang="en">
                <a:solidFill>
                  <a:schemeClr val="accent2"/>
                </a:solidFill>
              </a:rPr>
              <a:t>FastQC</a:t>
            </a:r>
            <a:endParaRPr b="1">
              <a:solidFill>
                <a:schemeClr val="accent2"/>
              </a:solidFill>
            </a:endParaRPr>
          </a:p>
        </p:txBody>
      </p:sp>
      <p:sp>
        <p:nvSpPr>
          <p:cNvPr id="625" name="Google Shape;625;p102"/>
          <p:cNvSpPr/>
          <p:nvPr/>
        </p:nvSpPr>
        <p:spPr>
          <a:xfrm>
            <a:off x="5445750" y="3283875"/>
            <a:ext cx="1727700" cy="493800"/>
          </a:xfrm>
          <a:prstGeom prst="roundRect">
            <a:avLst>
              <a:gd fmla="val 16667" name="adj"/>
            </a:avLst>
          </a:prstGeom>
          <a:solidFill>
            <a:srgbClr val="F7F6F3"/>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Clr>
                <a:schemeClr val="dk1"/>
              </a:buClr>
              <a:buSzPts val="1100"/>
              <a:buFont typeface="Arial"/>
              <a:buNone/>
            </a:pPr>
            <a:r>
              <a:t/>
            </a:r>
            <a:endParaRPr b="1">
              <a:solidFill>
                <a:schemeClr val="accent2"/>
              </a:solidFill>
            </a:endParaRPr>
          </a:p>
        </p:txBody>
      </p:sp>
      <p:sp>
        <p:nvSpPr>
          <p:cNvPr id="626" name="Google Shape;626;p102"/>
          <p:cNvSpPr/>
          <p:nvPr/>
        </p:nvSpPr>
        <p:spPr>
          <a:xfrm>
            <a:off x="3316325" y="776450"/>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Biological question</a:t>
            </a:r>
            <a:endParaRPr b="1">
              <a:solidFill>
                <a:schemeClr val="accent2"/>
              </a:solidFill>
            </a:endParaRPr>
          </a:p>
        </p:txBody>
      </p:sp>
      <p:sp>
        <p:nvSpPr>
          <p:cNvPr id="627" name="Google Shape;627;p102"/>
          <p:cNvSpPr/>
          <p:nvPr/>
        </p:nvSpPr>
        <p:spPr>
          <a:xfrm>
            <a:off x="3316325" y="1403288"/>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Library preparation</a:t>
            </a:r>
            <a:endParaRPr b="1">
              <a:solidFill>
                <a:schemeClr val="accent2"/>
              </a:solidFill>
            </a:endParaRPr>
          </a:p>
        </p:txBody>
      </p:sp>
      <p:sp>
        <p:nvSpPr>
          <p:cNvPr id="628" name="Google Shape;628;p102"/>
          <p:cNvSpPr/>
          <p:nvPr/>
        </p:nvSpPr>
        <p:spPr>
          <a:xfrm>
            <a:off x="5445750" y="3893249"/>
            <a:ext cx="1727700" cy="493800"/>
          </a:xfrm>
          <a:prstGeom prst="roundRect">
            <a:avLst>
              <a:gd fmla="val 16667" name="adj"/>
            </a:avLst>
          </a:prstGeom>
          <a:solidFill>
            <a:srgbClr val="F7F6F3"/>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Clr>
                <a:schemeClr val="dk1"/>
              </a:buClr>
              <a:buSzPts val="1100"/>
              <a:buFont typeface="Arial"/>
              <a:buNone/>
            </a:pPr>
            <a:r>
              <a:t/>
            </a:r>
            <a:endParaRPr b="1">
              <a:solidFill>
                <a:schemeClr val="accent2"/>
              </a:solidFill>
            </a:endParaRPr>
          </a:p>
        </p:txBody>
      </p:sp>
      <p:sp>
        <p:nvSpPr>
          <p:cNvPr id="629" name="Google Shape;629;p102"/>
          <p:cNvSpPr/>
          <p:nvPr/>
        </p:nvSpPr>
        <p:spPr>
          <a:xfrm flipH="1">
            <a:off x="2835850" y="3259650"/>
            <a:ext cx="207300" cy="10881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02"/>
          <p:cNvSpPr txBox="1"/>
          <p:nvPr/>
        </p:nvSpPr>
        <p:spPr>
          <a:xfrm>
            <a:off x="7592050" y="2282038"/>
            <a:ext cx="1568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accent2"/>
                </a:solidFill>
                <a:latin typeface="Helvetica Neue"/>
                <a:ea typeface="Helvetica Neue"/>
                <a:cs typeface="Helvetica Neue"/>
                <a:sym typeface="Helvetica Neue"/>
              </a:rPr>
              <a:t>Session 1 Demo</a:t>
            </a:r>
            <a:endParaRPr b="1" sz="1200">
              <a:solidFill>
                <a:schemeClr val="accent2"/>
              </a:solidFill>
              <a:highlight>
                <a:srgbClr val="F7F6F3"/>
              </a:highlight>
            </a:endParaRPr>
          </a:p>
          <a:p>
            <a:pPr indent="0" lvl="0" marL="0" rtl="0" algn="l">
              <a:spcBef>
                <a:spcPts val="0"/>
              </a:spcBef>
              <a:spcAft>
                <a:spcPts val="0"/>
              </a:spcAft>
              <a:buNone/>
            </a:pPr>
            <a:r>
              <a:t/>
            </a:r>
            <a:endParaRPr b="1">
              <a:latin typeface="Helvetica Neue"/>
              <a:ea typeface="Helvetica Neue"/>
              <a:cs typeface="Helvetica Neue"/>
              <a:sym typeface="Helvetica Neue"/>
            </a:endParaRPr>
          </a:p>
        </p:txBody>
      </p:sp>
      <p:sp>
        <p:nvSpPr>
          <p:cNvPr id="631" name="Google Shape;631;p102"/>
          <p:cNvSpPr/>
          <p:nvPr/>
        </p:nvSpPr>
        <p:spPr>
          <a:xfrm flipH="1" rot="10800000">
            <a:off x="7248950" y="2015175"/>
            <a:ext cx="267600" cy="10794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02"/>
          <p:cNvSpPr txBox="1"/>
          <p:nvPr/>
        </p:nvSpPr>
        <p:spPr>
          <a:xfrm>
            <a:off x="7581823" y="3495888"/>
            <a:ext cx="1568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accent2"/>
                </a:solidFill>
                <a:latin typeface="Helvetica Neue"/>
                <a:ea typeface="Helvetica Neue"/>
                <a:cs typeface="Helvetica Neue"/>
                <a:sym typeface="Helvetica Neue"/>
              </a:rPr>
              <a:t>Session 2 Demo</a:t>
            </a:r>
            <a:endParaRPr b="1" sz="1200">
              <a:solidFill>
                <a:schemeClr val="accent2"/>
              </a:solidFill>
              <a:highlight>
                <a:srgbClr val="F7F6F3"/>
              </a:highlight>
            </a:endParaRPr>
          </a:p>
          <a:p>
            <a:pPr indent="0" lvl="0" marL="0" rtl="0" algn="l">
              <a:spcBef>
                <a:spcPts val="0"/>
              </a:spcBef>
              <a:spcAft>
                <a:spcPts val="0"/>
              </a:spcAft>
              <a:buNone/>
            </a:pPr>
            <a:r>
              <a:t/>
            </a:r>
            <a:endParaRPr b="1">
              <a:latin typeface="Helvetica Neue"/>
              <a:ea typeface="Helvetica Neue"/>
              <a:cs typeface="Helvetica Neue"/>
              <a:sym typeface="Helvetica Neue"/>
            </a:endParaRPr>
          </a:p>
        </p:txBody>
      </p:sp>
      <p:sp>
        <p:nvSpPr>
          <p:cNvPr id="633" name="Google Shape;633;p102"/>
          <p:cNvSpPr/>
          <p:nvPr/>
        </p:nvSpPr>
        <p:spPr>
          <a:xfrm flipH="1" rot="10800000">
            <a:off x="7238725" y="3334925"/>
            <a:ext cx="292800" cy="9735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34" name="Google Shape;634;p102"/>
          <p:cNvPicPr preferRelativeResize="0"/>
          <p:nvPr/>
        </p:nvPicPr>
        <p:blipFill>
          <a:blip r:embed="rId3">
            <a:alphaModFix/>
          </a:blip>
          <a:stretch>
            <a:fillRect/>
          </a:stretch>
        </p:blipFill>
        <p:spPr>
          <a:xfrm>
            <a:off x="6767525" y="147869"/>
            <a:ext cx="2011679" cy="512979"/>
          </a:xfrm>
          <a:prstGeom prst="rect">
            <a:avLst/>
          </a:prstGeom>
          <a:noFill/>
          <a:ln>
            <a:noFill/>
          </a:ln>
        </p:spPr>
      </p:pic>
      <p:sp>
        <p:nvSpPr>
          <p:cNvPr id="635" name="Google Shape;635;p102"/>
          <p:cNvSpPr/>
          <p:nvPr/>
        </p:nvSpPr>
        <p:spPr>
          <a:xfrm>
            <a:off x="3316325" y="4488475"/>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dk1"/>
                </a:solidFill>
              </a:rPr>
              <a:t>Count Matrix</a:t>
            </a:r>
            <a:endParaRPr b="1" sz="15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103"/>
          <p:cNvSpPr txBox="1"/>
          <p:nvPr>
            <p:ph idx="1" type="body"/>
          </p:nvPr>
        </p:nvSpPr>
        <p:spPr>
          <a:xfrm>
            <a:off x="628650" y="1369219"/>
            <a:ext cx="7886700" cy="3263400"/>
          </a:xfrm>
          <a:prstGeom prst="rect">
            <a:avLst/>
          </a:prstGeom>
        </p:spPr>
        <p:txBody>
          <a:bodyPr anchorCtr="0" anchor="t" bIns="0" lIns="0" spcFirstLastPara="1" rIns="0" wrap="square" tIns="0">
            <a:noAutofit/>
          </a:bodyPr>
          <a:lstStyle/>
          <a:p>
            <a:pPr indent="-441960" lvl="0" marL="457200" rtl="0" algn="l">
              <a:spcBef>
                <a:spcPts val="0"/>
              </a:spcBef>
              <a:spcAft>
                <a:spcPts val="0"/>
              </a:spcAft>
              <a:buSzPts val="2000"/>
              <a:buFont typeface="Arial"/>
              <a:buChar char="●"/>
            </a:pPr>
            <a:r>
              <a:rPr lang="en" sz="2000">
                <a:latin typeface="Arial"/>
                <a:ea typeface="Arial"/>
                <a:cs typeface="Arial"/>
                <a:sym typeface="Arial"/>
              </a:rPr>
              <a:t>Tools that “do one thing, and do it well”.</a:t>
            </a:r>
            <a:endParaRPr sz="2000">
              <a:latin typeface="Arial"/>
              <a:ea typeface="Arial"/>
              <a:cs typeface="Arial"/>
              <a:sym typeface="Arial"/>
            </a:endParaRPr>
          </a:p>
          <a:p>
            <a:pPr indent="0" lvl="0" marL="0" rtl="0" algn="l">
              <a:spcBef>
                <a:spcPts val="0"/>
              </a:spcBef>
              <a:spcAft>
                <a:spcPts val="0"/>
              </a:spcAft>
              <a:buNone/>
            </a:pPr>
            <a:r>
              <a:t/>
            </a:r>
            <a:endParaRPr sz="2000">
              <a:latin typeface="Arial"/>
              <a:ea typeface="Arial"/>
              <a:cs typeface="Arial"/>
              <a:sym typeface="Arial"/>
            </a:endParaRPr>
          </a:p>
          <a:p>
            <a:pPr indent="-441960" lvl="0" marL="457200" rtl="0" algn="l">
              <a:spcBef>
                <a:spcPts val="0"/>
              </a:spcBef>
              <a:spcAft>
                <a:spcPts val="0"/>
              </a:spcAft>
              <a:buSzPts val="2000"/>
              <a:buFont typeface="Arial"/>
              <a:buChar char="●"/>
            </a:pPr>
            <a:r>
              <a:rPr lang="en" sz="2000">
                <a:latin typeface="Arial"/>
                <a:ea typeface="Arial"/>
                <a:cs typeface="Arial"/>
                <a:sym typeface="Arial"/>
              </a:rPr>
              <a:t>Tools for this workshop: fastqc, cutadapt, STAR, featureCounts</a:t>
            </a:r>
            <a:endParaRPr sz="2000">
              <a:latin typeface="Arial"/>
              <a:ea typeface="Arial"/>
              <a:cs typeface="Arial"/>
              <a:sym typeface="Arial"/>
            </a:endParaRPr>
          </a:p>
          <a:p>
            <a:pPr indent="-368300" lvl="2" marL="1257300" rtl="0" algn="l">
              <a:spcBef>
                <a:spcPts val="500"/>
              </a:spcBef>
              <a:spcAft>
                <a:spcPts val="0"/>
              </a:spcAft>
              <a:buSzPts val="2000"/>
              <a:buChar char="●"/>
            </a:pPr>
            <a:r>
              <a:rPr lang="en" sz="2000">
                <a:latin typeface="Arial"/>
                <a:ea typeface="Arial"/>
                <a:cs typeface="Arial"/>
                <a:sym typeface="Arial"/>
              </a:rPr>
              <a:t>Available via docker hub </a:t>
            </a:r>
            <a:endParaRPr sz="2000">
              <a:latin typeface="Arial"/>
              <a:ea typeface="Arial"/>
              <a:cs typeface="Arial"/>
              <a:sym typeface="Arial"/>
            </a:endParaRPr>
          </a:p>
          <a:p>
            <a:pPr indent="-368300" lvl="2" marL="1257300" rtl="0" algn="l">
              <a:spcBef>
                <a:spcPts val="500"/>
              </a:spcBef>
              <a:spcAft>
                <a:spcPts val="0"/>
              </a:spcAft>
              <a:buSzPts val="2000"/>
              <a:buChar char="●"/>
            </a:pPr>
            <a:r>
              <a:rPr lang="en" sz="2000">
                <a:latin typeface="Arial"/>
                <a:ea typeface="Arial"/>
                <a:cs typeface="Arial"/>
                <a:sym typeface="Arial"/>
              </a:rPr>
              <a:t>Some are pre-installed on Wynton; others we can install ourselves</a:t>
            </a:r>
            <a:endParaRPr sz="2000">
              <a:latin typeface="Arial"/>
              <a:ea typeface="Arial"/>
              <a:cs typeface="Arial"/>
              <a:sym typeface="Arial"/>
            </a:endParaRPr>
          </a:p>
          <a:p>
            <a:pPr indent="-368300" lvl="2" marL="1257300" rtl="0" algn="l">
              <a:spcBef>
                <a:spcPts val="500"/>
              </a:spcBef>
              <a:spcAft>
                <a:spcPts val="0"/>
              </a:spcAft>
              <a:buSzPts val="2000"/>
              <a:buChar char="●"/>
            </a:pPr>
            <a:r>
              <a:rPr lang="en" sz="2000">
                <a:latin typeface="Arial"/>
                <a:ea typeface="Arial"/>
                <a:cs typeface="Arial"/>
                <a:sym typeface="Arial"/>
              </a:rPr>
              <a:t>Download a </a:t>
            </a:r>
            <a:r>
              <a:rPr i="1" lang="en" sz="2000">
                <a:latin typeface="Arial"/>
                <a:ea typeface="Arial"/>
                <a:cs typeface="Arial"/>
                <a:sym typeface="Arial"/>
              </a:rPr>
              <a:t>container</a:t>
            </a:r>
            <a:r>
              <a:rPr lang="en" sz="2000">
                <a:latin typeface="Arial"/>
                <a:ea typeface="Arial"/>
                <a:cs typeface="Arial"/>
                <a:sym typeface="Arial"/>
              </a:rPr>
              <a:t> with all tools installed; use anywhere</a:t>
            </a:r>
            <a:endParaRPr sz="2000">
              <a:latin typeface="Arial"/>
              <a:ea typeface="Arial"/>
              <a:cs typeface="Arial"/>
              <a:sym typeface="Arial"/>
            </a:endParaRPr>
          </a:p>
          <a:p>
            <a:pPr indent="-368300" lvl="2" marL="1257300" rtl="0" algn="l">
              <a:spcBef>
                <a:spcPts val="500"/>
              </a:spcBef>
              <a:spcAft>
                <a:spcPts val="0"/>
              </a:spcAft>
              <a:buSzPts val="2000"/>
              <a:buChar char="●"/>
            </a:pPr>
            <a:r>
              <a:rPr lang="en" sz="2000">
                <a:latin typeface="Arial"/>
                <a:ea typeface="Arial"/>
                <a:cs typeface="Arial"/>
                <a:sym typeface="Arial"/>
              </a:rPr>
              <a:t>Everything can be installed on a laptop</a:t>
            </a:r>
            <a:endParaRPr sz="2000">
              <a:latin typeface="Arial"/>
              <a:ea typeface="Arial"/>
              <a:cs typeface="Arial"/>
              <a:sym typeface="Arial"/>
            </a:endParaRPr>
          </a:p>
          <a:p>
            <a:pPr indent="-314960" lvl="0" marL="457200" rtl="0" algn="l">
              <a:spcBef>
                <a:spcPts val="1000"/>
              </a:spcBef>
              <a:spcAft>
                <a:spcPts val="0"/>
              </a:spcAft>
              <a:buNone/>
            </a:pPr>
            <a:r>
              <a:t/>
            </a:r>
            <a:endParaRPr sz="2000">
              <a:latin typeface="Arial"/>
              <a:ea typeface="Arial"/>
              <a:cs typeface="Arial"/>
              <a:sym typeface="Arial"/>
            </a:endParaRPr>
          </a:p>
          <a:p>
            <a:pPr indent="-314960" lvl="0" marL="457200" rtl="0" algn="l">
              <a:spcBef>
                <a:spcPts val="1000"/>
              </a:spcBef>
              <a:spcAft>
                <a:spcPts val="0"/>
              </a:spcAft>
              <a:buNone/>
            </a:pPr>
            <a:r>
              <a:t/>
            </a:r>
            <a:endParaRPr sz="2000">
              <a:latin typeface="Arial"/>
              <a:ea typeface="Arial"/>
              <a:cs typeface="Arial"/>
              <a:sym typeface="Arial"/>
            </a:endParaRPr>
          </a:p>
          <a:p>
            <a:pPr indent="0" lvl="0" marL="0" rtl="0" algn="l">
              <a:spcBef>
                <a:spcPts val="800"/>
              </a:spcBef>
              <a:spcAft>
                <a:spcPts val="0"/>
              </a:spcAft>
              <a:buNone/>
            </a:pPr>
            <a:r>
              <a:t/>
            </a:r>
            <a:endParaRPr sz="2000">
              <a:latin typeface="Arial"/>
              <a:ea typeface="Arial"/>
              <a:cs typeface="Arial"/>
              <a:sym typeface="Arial"/>
            </a:endParaRPr>
          </a:p>
        </p:txBody>
      </p:sp>
      <p:sp>
        <p:nvSpPr>
          <p:cNvPr id="641" name="Google Shape;641;p103"/>
          <p:cNvSpPr txBox="1"/>
          <p:nvPr>
            <p:ph type="title"/>
          </p:nvPr>
        </p:nvSpPr>
        <p:spPr>
          <a:xfrm>
            <a:off x="272400" y="152391"/>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Bioinformatics software ecosystem</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104"/>
          <p:cNvSpPr txBox="1"/>
          <p:nvPr>
            <p:ph idx="1" type="body"/>
          </p:nvPr>
        </p:nvSpPr>
        <p:spPr>
          <a:xfrm>
            <a:off x="628650" y="1369219"/>
            <a:ext cx="7886700" cy="3263400"/>
          </a:xfrm>
          <a:prstGeom prst="rect">
            <a:avLst/>
          </a:prstGeom>
        </p:spPr>
        <p:txBody>
          <a:bodyPr anchorCtr="0" anchor="t" bIns="0" lIns="0" spcFirstLastPara="1" rIns="0" wrap="square" tIns="0">
            <a:noAutofit/>
          </a:bodyPr>
          <a:lstStyle/>
          <a:p>
            <a:pPr indent="-461010" lvl="0" marL="457200" rtl="0" algn="l">
              <a:spcBef>
                <a:spcPts val="0"/>
              </a:spcBef>
              <a:spcAft>
                <a:spcPts val="0"/>
              </a:spcAft>
              <a:buSzPts val="2300"/>
              <a:buChar char="●"/>
            </a:pPr>
            <a:r>
              <a:rPr lang="en" sz="2300">
                <a:latin typeface="Arial"/>
                <a:ea typeface="Arial"/>
                <a:cs typeface="Arial"/>
                <a:sym typeface="Arial"/>
              </a:rPr>
              <a:t>Web-based platforms</a:t>
            </a:r>
            <a:endParaRPr sz="2300">
              <a:latin typeface="Arial"/>
              <a:ea typeface="Arial"/>
              <a:cs typeface="Arial"/>
              <a:sym typeface="Arial"/>
            </a:endParaRPr>
          </a:p>
          <a:p>
            <a:pPr indent="0" lvl="0" marL="0" rtl="0" algn="l">
              <a:spcBef>
                <a:spcPts val="0"/>
              </a:spcBef>
              <a:spcAft>
                <a:spcPts val="0"/>
              </a:spcAft>
              <a:buNone/>
            </a:pPr>
            <a:r>
              <a:t/>
            </a:r>
            <a:endParaRPr sz="2300">
              <a:latin typeface="Arial"/>
              <a:ea typeface="Arial"/>
              <a:cs typeface="Arial"/>
              <a:sym typeface="Arial"/>
            </a:endParaRPr>
          </a:p>
          <a:p>
            <a:pPr indent="-461010" lvl="0" marL="457200" rtl="0" algn="l">
              <a:spcBef>
                <a:spcPts val="0"/>
              </a:spcBef>
              <a:spcAft>
                <a:spcPts val="0"/>
              </a:spcAft>
              <a:buSzPts val="2300"/>
              <a:buChar char="●"/>
            </a:pPr>
            <a:r>
              <a:rPr lang="en" sz="2300">
                <a:latin typeface="Arial"/>
                <a:ea typeface="Arial"/>
                <a:cs typeface="Arial"/>
                <a:sym typeface="Arial"/>
              </a:rPr>
              <a:t>Graphical User Interface</a:t>
            </a:r>
            <a:endParaRPr sz="2300">
              <a:latin typeface="Arial"/>
              <a:ea typeface="Arial"/>
              <a:cs typeface="Arial"/>
              <a:sym typeface="Arial"/>
            </a:endParaRPr>
          </a:p>
          <a:p>
            <a:pPr indent="0" lvl="0" marL="457200" rtl="0" algn="l">
              <a:spcBef>
                <a:spcPts val="0"/>
              </a:spcBef>
              <a:spcAft>
                <a:spcPts val="0"/>
              </a:spcAft>
              <a:buNone/>
            </a:pPr>
            <a:r>
              <a:t/>
            </a:r>
            <a:endParaRPr sz="2300">
              <a:latin typeface="Arial"/>
              <a:ea typeface="Arial"/>
              <a:cs typeface="Arial"/>
              <a:sym typeface="Arial"/>
            </a:endParaRPr>
          </a:p>
          <a:p>
            <a:pPr indent="-461010" lvl="0" marL="457200" rtl="0" algn="l">
              <a:spcBef>
                <a:spcPts val="800"/>
              </a:spcBef>
              <a:spcAft>
                <a:spcPts val="0"/>
              </a:spcAft>
              <a:buSzPts val="2300"/>
              <a:buChar char="●"/>
            </a:pPr>
            <a:r>
              <a:rPr lang="en" sz="2300">
                <a:latin typeface="Arial"/>
                <a:ea typeface="Arial"/>
                <a:cs typeface="Arial"/>
                <a:sym typeface="Arial"/>
              </a:rPr>
              <a:t>Command Line Interface</a:t>
            </a:r>
            <a:endParaRPr sz="2300">
              <a:latin typeface="Arial"/>
              <a:ea typeface="Arial"/>
              <a:cs typeface="Arial"/>
              <a:sym typeface="Arial"/>
            </a:endParaRPr>
          </a:p>
          <a:p>
            <a:pPr indent="0" lvl="0" marL="457200" rtl="0" algn="l">
              <a:spcBef>
                <a:spcPts val="800"/>
              </a:spcBef>
              <a:spcAft>
                <a:spcPts val="0"/>
              </a:spcAft>
              <a:buNone/>
            </a:pPr>
            <a:r>
              <a:t/>
            </a:r>
            <a:endParaRPr sz="2300">
              <a:latin typeface="Arial"/>
              <a:ea typeface="Arial"/>
              <a:cs typeface="Arial"/>
              <a:sym typeface="Arial"/>
            </a:endParaRPr>
          </a:p>
          <a:p>
            <a:pPr indent="-461010" lvl="0" marL="457200" rtl="0" algn="l">
              <a:spcBef>
                <a:spcPts val="800"/>
              </a:spcBef>
              <a:spcAft>
                <a:spcPts val="0"/>
              </a:spcAft>
              <a:buSzPts val="2300"/>
              <a:buFont typeface="Arial"/>
              <a:buChar char="●"/>
            </a:pPr>
            <a:r>
              <a:rPr lang="en" sz="2300">
                <a:latin typeface="Arial"/>
                <a:ea typeface="Arial"/>
                <a:cs typeface="Arial"/>
                <a:sym typeface="Arial"/>
              </a:rPr>
              <a:t>etc..</a:t>
            </a:r>
            <a:endParaRPr sz="2300">
              <a:latin typeface="Arial"/>
              <a:ea typeface="Arial"/>
              <a:cs typeface="Arial"/>
              <a:sym typeface="Arial"/>
            </a:endParaRPr>
          </a:p>
          <a:p>
            <a:pPr indent="0" lvl="0" marL="0" rtl="0" algn="l">
              <a:spcBef>
                <a:spcPts val="0"/>
              </a:spcBef>
              <a:spcAft>
                <a:spcPts val="0"/>
              </a:spcAft>
              <a:buNone/>
            </a:pPr>
            <a:r>
              <a:t/>
            </a:r>
            <a:endParaRPr sz="2300">
              <a:latin typeface="Arial"/>
              <a:ea typeface="Arial"/>
              <a:cs typeface="Arial"/>
              <a:sym typeface="Arial"/>
            </a:endParaRPr>
          </a:p>
          <a:p>
            <a:pPr indent="0" lvl="0" marL="0" rtl="0" algn="l">
              <a:spcBef>
                <a:spcPts val="0"/>
              </a:spcBef>
              <a:spcAft>
                <a:spcPts val="0"/>
              </a:spcAft>
              <a:buNone/>
            </a:pPr>
            <a:r>
              <a:t/>
            </a:r>
            <a:endParaRPr sz="2300">
              <a:latin typeface="Arial"/>
              <a:ea typeface="Arial"/>
              <a:cs typeface="Arial"/>
              <a:sym typeface="Arial"/>
            </a:endParaRPr>
          </a:p>
          <a:p>
            <a:pPr indent="-314960" lvl="0" marL="457200" rtl="0" algn="l">
              <a:spcBef>
                <a:spcPts val="1000"/>
              </a:spcBef>
              <a:spcAft>
                <a:spcPts val="0"/>
              </a:spcAft>
              <a:buNone/>
            </a:pPr>
            <a:r>
              <a:t/>
            </a:r>
            <a:endParaRPr sz="2300">
              <a:latin typeface="Arial"/>
              <a:ea typeface="Arial"/>
              <a:cs typeface="Arial"/>
              <a:sym typeface="Arial"/>
            </a:endParaRPr>
          </a:p>
          <a:p>
            <a:pPr indent="-314960" lvl="0" marL="457200" rtl="0" algn="l">
              <a:spcBef>
                <a:spcPts val="1000"/>
              </a:spcBef>
              <a:spcAft>
                <a:spcPts val="0"/>
              </a:spcAft>
              <a:buNone/>
            </a:pPr>
            <a:r>
              <a:t/>
            </a:r>
            <a:endParaRPr sz="2300">
              <a:latin typeface="Arial"/>
              <a:ea typeface="Arial"/>
              <a:cs typeface="Arial"/>
              <a:sym typeface="Arial"/>
            </a:endParaRPr>
          </a:p>
          <a:p>
            <a:pPr indent="0" lvl="0" marL="0" rtl="0" algn="l">
              <a:spcBef>
                <a:spcPts val="800"/>
              </a:spcBef>
              <a:spcAft>
                <a:spcPts val="0"/>
              </a:spcAft>
              <a:buNone/>
            </a:pPr>
            <a:r>
              <a:t/>
            </a:r>
            <a:endParaRPr sz="2300">
              <a:latin typeface="Arial"/>
              <a:ea typeface="Arial"/>
              <a:cs typeface="Arial"/>
              <a:sym typeface="Arial"/>
            </a:endParaRPr>
          </a:p>
        </p:txBody>
      </p:sp>
      <p:sp>
        <p:nvSpPr>
          <p:cNvPr id="647" name="Google Shape;647;p104"/>
          <p:cNvSpPr txBox="1"/>
          <p:nvPr>
            <p:ph type="title"/>
          </p:nvPr>
        </p:nvSpPr>
        <p:spPr>
          <a:xfrm>
            <a:off x="272400" y="152391"/>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Different platforms for computing</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105"/>
          <p:cNvSpPr txBox="1"/>
          <p:nvPr>
            <p:ph type="title"/>
          </p:nvPr>
        </p:nvSpPr>
        <p:spPr>
          <a:xfrm>
            <a:off x="274325" y="155450"/>
            <a:ext cx="8624100" cy="1023000"/>
          </a:xfrm>
          <a:prstGeom prst="rect">
            <a:avLst/>
          </a:prstGeom>
        </p:spPr>
        <p:txBody>
          <a:bodyPr anchorCtr="0" anchor="t" bIns="0" lIns="0" spcFirstLastPara="1" rIns="0" wrap="square" tIns="0">
            <a:noAutofit/>
          </a:bodyPr>
          <a:lstStyle/>
          <a:p>
            <a:pPr indent="0" lvl="0" marL="0" rtl="0" algn="l">
              <a:spcBef>
                <a:spcPts val="0"/>
              </a:spcBef>
              <a:spcAft>
                <a:spcPts val="0"/>
              </a:spcAft>
              <a:buSzPts val="990"/>
              <a:buNone/>
            </a:pPr>
            <a:r>
              <a:rPr lang="en" sz="3260">
                <a:latin typeface="Arial"/>
                <a:ea typeface="Arial"/>
                <a:cs typeface="Arial"/>
                <a:sym typeface="Arial"/>
              </a:rPr>
              <a:t>Galaxy: Open source, web-based platform that integrates many tools.</a:t>
            </a:r>
            <a:endParaRPr sz="1660">
              <a:solidFill>
                <a:srgbClr val="1155CC"/>
              </a:solidFill>
              <a:latin typeface="Arial"/>
              <a:ea typeface="Arial"/>
              <a:cs typeface="Arial"/>
              <a:sym typeface="Arial"/>
            </a:endParaRPr>
          </a:p>
        </p:txBody>
      </p:sp>
      <p:sp>
        <p:nvSpPr>
          <p:cNvPr id="653" name="Google Shape;653;p105"/>
          <p:cNvSpPr txBox="1"/>
          <p:nvPr/>
        </p:nvSpPr>
        <p:spPr>
          <a:xfrm>
            <a:off x="630936" y="1735600"/>
            <a:ext cx="8457000" cy="2160600"/>
          </a:xfrm>
          <a:prstGeom prst="rect">
            <a:avLst/>
          </a:prstGeom>
          <a:noFill/>
          <a:ln>
            <a:noFill/>
          </a:ln>
        </p:spPr>
        <p:txBody>
          <a:bodyPr anchorCtr="0" anchor="t" bIns="91425" lIns="91425" spcFirstLastPara="1" rIns="91425" wrap="square" tIns="91425">
            <a:spAutoFit/>
          </a:bodyPr>
          <a:lstStyle/>
          <a:p>
            <a:pPr indent="-374650" lvl="0" marL="457200" rtl="0" algn="l">
              <a:lnSpc>
                <a:spcPct val="115000"/>
              </a:lnSpc>
              <a:spcBef>
                <a:spcPts val="1000"/>
              </a:spcBef>
              <a:spcAft>
                <a:spcPts val="0"/>
              </a:spcAft>
              <a:buClr>
                <a:srgbClr val="002B42"/>
              </a:buClr>
              <a:buSzPts val="2300"/>
              <a:buChar char="●"/>
            </a:pPr>
            <a:r>
              <a:rPr lang="en" sz="2300">
                <a:solidFill>
                  <a:srgbClr val="002B42"/>
                </a:solidFill>
              </a:rPr>
              <a:t>Free, public, internet accessible resource.</a:t>
            </a:r>
            <a:endParaRPr sz="2300">
              <a:solidFill>
                <a:srgbClr val="002B42"/>
              </a:solidFill>
            </a:endParaRPr>
          </a:p>
          <a:p>
            <a:pPr indent="-368300" lvl="1" marL="914400" rtl="0" algn="l">
              <a:lnSpc>
                <a:spcPct val="115000"/>
              </a:lnSpc>
              <a:spcBef>
                <a:spcPts val="0"/>
              </a:spcBef>
              <a:spcAft>
                <a:spcPts val="0"/>
              </a:spcAft>
              <a:buClr>
                <a:srgbClr val="002B42"/>
              </a:buClr>
              <a:buSzPts val="2200"/>
              <a:buChar char="○"/>
            </a:pPr>
            <a:r>
              <a:rPr lang="en" sz="2200">
                <a:solidFill>
                  <a:srgbClr val="002B42"/>
                </a:solidFill>
              </a:rPr>
              <a:t>https://usegalaxy.org/</a:t>
            </a:r>
            <a:endParaRPr sz="2200">
              <a:solidFill>
                <a:srgbClr val="002B42"/>
              </a:solidFill>
            </a:endParaRPr>
          </a:p>
          <a:p>
            <a:pPr indent="0" lvl="0" marL="457200" rtl="0" algn="l">
              <a:lnSpc>
                <a:spcPct val="115000"/>
              </a:lnSpc>
              <a:spcBef>
                <a:spcPts val="1000"/>
              </a:spcBef>
              <a:spcAft>
                <a:spcPts val="0"/>
              </a:spcAft>
              <a:buNone/>
            </a:pPr>
            <a:r>
              <a:t/>
            </a:r>
            <a:endParaRPr sz="1000">
              <a:solidFill>
                <a:srgbClr val="002B42"/>
              </a:solidFill>
            </a:endParaRPr>
          </a:p>
          <a:p>
            <a:pPr indent="-374650" lvl="0" marL="457200" rtl="0" algn="l">
              <a:lnSpc>
                <a:spcPct val="115000"/>
              </a:lnSpc>
              <a:spcBef>
                <a:spcPts val="1000"/>
              </a:spcBef>
              <a:spcAft>
                <a:spcPts val="0"/>
              </a:spcAft>
              <a:buClr>
                <a:srgbClr val="002B42"/>
              </a:buClr>
              <a:buSzPts val="2300"/>
              <a:buChar char="●"/>
            </a:pPr>
            <a:r>
              <a:rPr lang="en" sz="2300">
                <a:solidFill>
                  <a:srgbClr val="002B42"/>
                </a:solidFill>
              </a:rPr>
              <a:t>Data transfer and data storage are not encrypted.</a:t>
            </a:r>
            <a:endParaRPr sz="2300">
              <a:solidFill>
                <a:srgbClr val="002B42"/>
              </a:solidFill>
            </a:endParaRPr>
          </a:p>
          <a:p>
            <a:pPr indent="-368300" lvl="1" marL="914400" rtl="0" algn="l">
              <a:lnSpc>
                <a:spcPct val="115000"/>
              </a:lnSpc>
              <a:spcBef>
                <a:spcPts val="0"/>
              </a:spcBef>
              <a:spcAft>
                <a:spcPts val="0"/>
              </a:spcAft>
              <a:buClr>
                <a:srgbClr val="002B42"/>
              </a:buClr>
              <a:buSzPts val="2200"/>
              <a:buChar char="○"/>
            </a:pPr>
            <a:r>
              <a:rPr lang="en" sz="2200">
                <a:solidFill>
                  <a:srgbClr val="002B42"/>
                </a:solidFill>
              </a:rPr>
              <a:t>DO NOT UPLOAD PROTECTED DATA!!!</a:t>
            </a:r>
            <a:endParaRPr sz="2200">
              <a:solidFill>
                <a:srgbClr val="002B42"/>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106"/>
          <p:cNvSpPr txBox="1"/>
          <p:nvPr>
            <p:ph idx="1" type="body"/>
          </p:nvPr>
        </p:nvSpPr>
        <p:spPr>
          <a:xfrm>
            <a:off x="628650" y="1143000"/>
            <a:ext cx="7886700" cy="3584400"/>
          </a:xfrm>
          <a:prstGeom prst="rect">
            <a:avLst/>
          </a:prstGeom>
          <a:noFill/>
          <a:ln>
            <a:noFill/>
          </a:ln>
        </p:spPr>
        <p:txBody>
          <a:bodyPr anchorCtr="0" anchor="t" bIns="0" lIns="137150" spcFirstLastPara="1" rIns="0" wrap="square" tIns="0">
            <a:spAutoFit/>
          </a:bodyPr>
          <a:lstStyle/>
          <a:p>
            <a:pPr indent="-381000" lvl="0" marL="342900" rtl="0" algn="l">
              <a:lnSpc>
                <a:spcPct val="90000"/>
              </a:lnSpc>
              <a:spcBef>
                <a:spcPts val="0"/>
              </a:spcBef>
              <a:spcAft>
                <a:spcPts val="0"/>
              </a:spcAft>
              <a:buClr>
                <a:srgbClr val="002B42"/>
              </a:buClr>
              <a:buSzPts val="2200"/>
              <a:buChar char="●"/>
            </a:pPr>
            <a:r>
              <a:rPr b="1" lang="en" sz="2200"/>
              <a:t>Graphical User Interface</a:t>
            </a:r>
            <a:endParaRPr b="1" sz="2200"/>
          </a:p>
          <a:p>
            <a:pPr indent="-304800" lvl="2" marL="939800" rtl="0" algn="l">
              <a:lnSpc>
                <a:spcPct val="90000"/>
              </a:lnSpc>
              <a:spcBef>
                <a:spcPts val="400"/>
              </a:spcBef>
              <a:spcAft>
                <a:spcPts val="0"/>
              </a:spcAft>
              <a:buClr>
                <a:srgbClr val="002B42"/>
              </a:buClr>
              <a:buSzPts val="2000"/>
              <a:buChar char="●"/>
            </a:pPr>
            <a:r>
              <a:rPr lang="en" sz="2000"/>
              <a:t>Consists of windows, icons, menus, pointers</a:t>
            </a:r>
            <a:endParaRPr sz="2000"/>
          </a:p>
          <a:p>
            <a:pPr indent="-304800" lvl="2" marL="939800" rtl="0" algn="l">
              <a:lnSpc>
                <a:spcPct val="90000"/>
              </a:lnSpc>
              <a:spcBef>
                <a:spcPts val="400"/>
              </a:spcBef>
              <a:spcAft>
                <a:spcPts val="0"/>
              </a:spcAft>
              <a:buClr>
                <a:srgbClr val="002B42"/>
              </a:buClr>
              <a:buSzPts val="2000"/>
              <a:buChar char="●"/>
            </a:pPr>
            <a:r>
              <a:rPr lang="en" sz="2000"/>
              <a:t>Not always available for bioinformatics</a:t>
            </a:r>
            <a:endParaRPr sz="2000"/>
          </a:p>
          <a:p>
            <a:pPr indent="-165100" lvl="1" marL="596900" rtl="0" algn="l">
              <a:lnSpc>
                <a:spcPct val="90000"/>
              </a:lnSpc>
              <a:spcBef>
                <a:spcPts val="400"/>
              </a:spcBef>
              <a:spcAft>
                <a:spcPts val="0"/>
              </a:spcAft>
              <a:buClr>
                <a:srgbClr val="002B42"/>
              </a:buClr>
              <a:buSzPts val="1400"/>
              <a:buNone/>
            </a:pPr>
            <a:r>
              <a:t/>
            </a:r>
            <a:endParaRPr sz="2000"/>
          </a:p>
          <a:p>
            <a:pPr indent="-381000" lvl="0" marL="342900" rtl="0" algn="l">
              <a:lnSpc>
                <a:spcPct val="90000"/>
              </a:lnSpc>
              <a:spcBef>
                <a:spcPts val="800"/>
              </a:spcBef>
              <a:spcAft>
                <a:spcPts val="0"/>
              </a:spcAft>
              <a:buClr>
                <a:srgbClr val="002B42"/>
              </a:buClr>
              <a:buSzPts val="2200"/>
              <a:buChar char="●"/>
            </a:pPr>
            <a:r>
              <a:rPr b="1" lang="en" sz="2200"/>
              <a:t>Command Line Interface</a:t>
            </a:r>
            <a:endParaRPr b="1" sz="2200"/>
          </a:p>
          <a:p>
            <a:pPr indent="-304800" lvl="2" marL="939800" rtl="0" algn="l">
              <a:lnSpc>
                <a:spcPct val="90000"/>
              </a:lnSpc>
              <a:spcBef>
                <a:spcPts val="400"/>
              </a:spcBef>
              <a:spcAft>
                <a:spcPts val="0"/>
              </a:spcAft>
              <a:buClr>
                <a:srgbClr val="002B42"/>
              </a:buClr>
              <a:buSzPts val="2000"/>
              <a:buChar char="●"/>
            </a:pPr>
            <a:r>
              <a:rPr lang="en" sz="2000"/>
              <a:t>Text based </a:t>
            </a:r>
            <a:endParaRPr sz="2000"/>
          </a:p>
          <a:p>
            <a:pPr indent="-304800" lvl="2" marL="939800" rtl="0" algn="l">
              <a:lnSpc>
                <a:spcPct val="90000"/>
              </a:lnSpc>
              <a:spcBef>
                <a:spcPts val="400"/>
              </a:spcBef>
              <a:spcAft>
                <a:spcPts val="0"/>
              </a:spcAft>
              <a:buClr>
                <a:srgbClr val="002B42"/>
              </a:buClr>
              <a:buSzPts val="2000"/>
              <a:buChar char="●"/>
            </a:pPr>
            <a:r>
              <a:rPr lang="en" sz="2000"/>
              <a:t>Allow automation by scripting</a:t>
            </a:r>
            <a:endParaRPr sz="2000"/>
          </a:p>
          <a:p>
            <a:pPr indent="-304800" lvl="2" marL="939800" rtl="0" algn="l">
              <a:lnSpc>
                <a:spcPct val="90000"/>
              </a:lnSpc>
              <a:spcBef>
                <a:spcPts val="400"/>
              </a:spcBef>
              <a:spcAft>
                <a:spcPts val="0"/>
              </a:spcAft>
              <a:buClr>
                <a:srgbClr val="002B42"/>
              </a:buClr>
              <a:buSzPts val="2000"/>
              <a:buChar char="●"/>
            </a:pPr>
            <a:r>
              <a:rPr lang="en" sz="2000"/>
              <a:t>Examples</a:t>
            </a:r>
            <a:endParaRPr sz="2000"/>
          </a:p>
          <a:p>
            <a:pPr indent="-266700" lvl="4" marL="1587500" rtl="0" algn="l">
              <a:lnSpc>
                <a:spcPct val="90000"/>
              </a:lnSpc>
              <a:spcBef>
                <a:spcPts val="400"/>
              </a:spcBef>
              <a:spcAft>
                <a:spcPts val="0"/>
              </a:spcAft>
              <a:buClr>
                <a:srgbClr val="002B42"/>
              </a:buClr>
              <a:buSzPts val="1800"/>
              <a:buChar char="●"/>
            </a:pPr>
            <a:r>
              <a:rPr lang="en" sz="1800"/>
              <a:t>Wynton CLI</a:t>
            </a:r>
            <a:endParaRPr sz="1800"/>
          </a:p>
          <a:p>
            <a:pPr indent="-266700" lvl="4" marL="1587500" rtl="0" algn="l">
              <a:lnSpc>
                <a:spcPct val="90000"/>
              </a:lnSpc>
              <a:spcBef>
                <a:spcPts val="400"/>
              </a:spcBef>
              <a:spcAft>
                <a:spcPts val="0"/>
              </a:spcAft>
              <a:buClr>
                <a:srgbClr val="002B42"/>
              </a:buClr>
              <a:buSzPts val="1800"/>
              <a:buChar char="●"/>
            </a:pPr>
            <a:r>
              <a:rPr lang="en" sz="1800"/>
              <a:t>MacOS: Terminal</a:t>
            </a:r>
            <a:endParaRPr sz="1800"/>
          </a:p>
          <a:p>
            <a:pPr indent="-266700" lvl="4" marL="1587500" rtl="0" algn="l">
              <a:lnSpc>
                <a:spcPct val="90000"/>
              </a:lnSpc>
              <a:spcBef>
                <a:spcPts val="400"/>
              </a:spcBef>
              <a:spcAft>
                <a:spcPts val="0"/>
              </a:spcAft>
              <a:buClr>
                <a:srgbClr val="002B42"/>
              </a:buClr>
              <a:buSzPts val="1800"/>
              <a:buChar char="●"/>
            </a:pPr>
            <a:r>
              <a:rPr lang="en" sz="1800"/>
              <a:t>Windows: Command Prompt, PuTTY</a:t>
            </a:r>
            <a:endParaRPr sz="1800"/>
          </a:p>
        </p:txBody>
      </p:sp>
      <p:sp>
        <p:nvSpPr>
          <p:cNvPr id="659" name="Google Shape;659;p106"/>
          <p:cNvSpPr txBox="1"/>
          <p:nvPr/>
        </p:nvSpPr>
        <p:spPr>
          <a:xfrm>
            <a:off x="272400" y="152400"/>
            <a:ext cx="8571000" cy="7368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None/>
            </a:pPr>
            <a:r>
              <a:rPr b="1" lang="en" sz="3300">
                <a:solidFill>
                  <a:srgbClr val="1155CC"/>
                </a:solidFill>
                <a:latin typeface="Helvetica Neue"/>
                <a:ea typeface="Helvetica Neue"/>
                <a:cs typeface="Helvetica Neue"/>
                <a:sym typeface="Helvetica Neue"/>
              </a:rPr>
              <a:t>Command line interfaces allow scripting</a:t>
            </a:r>
            <a:endParaRPr b="1" sz="3300">
              <a:solidFill>
                <a:srgbClr val="1155CC"/>
              </a:solidFill>
              <a:latin typeface="Helvetica Neue"/>
              <a:ea typeface="Helvetica Neue"/>
              <a:cs typeface="Helvetica Neue"/>
              <a:sym typeface="Helvetica Neue"/>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107"/>
          <p:cNvSpPr txBox="1"/>
          <p:nvPr>
            <p:ph idx="1" type="body"/>
          </p:nvPr>
        </p:nvSpPr>
        <p:spPr>
          <a:xfrm>
            <a:off x="628650" y="1632697"/>
            <a:ext cx="3682200" cy="3082500"/>
          </a:xfrm>
          <a:prstGeom prst="rect">
            <a:avLst/>
          </a:prstGeom>
          <a:noFill/>
          <a:ln>
            <a:noFill/>
          </a:ln>
        </p:spPr>
        <p:txBody>
          <a:bodyPr anchorCtr="0" anchor="t" bIns="0" lIns="137150" spcFirstLastPara="1" rIns="0" wrap="square" tIns="0">
            <a:spAutoFit/>
          </a:bodyPr>
          <a:lstStyle/>
          <a:p>
            <a:pPr indent="-349250" lvl="0" marL="342900" rtl="0" algn="l">
              <a:lnSpc>
                <a:spcPct val="90000"/>
              </a:lnSpc>
              <a:spcBef>
                <a:spcPts val="0"/>
              </a:spcBef>
              <a:spcAft>
                <a:spcPts val="0"/>
              </a:spcAft>
              <a:buClr>
                <a:srgbClr val="002B42"/>
              </a:buClr>
              <a:buSzPts val="1700"/>
              <a:buFont typeface="Arial"/>
              <a:buChar char="●"/>
            </a:pPr>
            <a:r>
              <a:rPr lang="en"/>
              <a:t>How to access Wynton? Visit:</a:t>
            </a:r>
            <a:endParaRPr/>
          </a:p>
          <a:p>
            <a:pPr indent="0" lvl="1" marL="342900" rtl="0" algn="l">
              <a:lnSpc>
                <a:spcPct val="90000"/>
              </a:lnSpc>
              <a:spcBef>
                <a:spcPts val="400"/>
              </a:spcBef>
              <a:spcAft>
                <a:spcPts val="0"/>
              </a:spcAft>
              <a:buClr>
                <a:srgbClr val="002B42"/>
              </a:buClr>
              <a:buSzPts val="1400"/>
              <a:buNone/>
            </a:pPr>
            <a:r>
              <a:rPr lang="en" u="sng">
                <a:solidFill>
                  <a:schemeClr val="hlink"/>
                </a:solidFill>
                <a:hlinkClick r:id="rId3"/>
              </a:rPr>
              <a:t>https://wynton.ucsf.edu/hpc/get-started/access-cluster.html</a:t>
            </a:r>
            <a:endParaRPr/>
          </a:p>
          <a:p>
            <a:pPr indent="0" lvl="0" marL="88900" rtl="0" algn="l">
              <a:lnSpc>
                <a:spcPct val="90000"/>
              </a:lnSpc>
              <a:spcBef>
                <a:spcPts val="800"/>
              </a:spcBef>
              <a:spcAft>
                <a:spcPts val="0"/>
              </a:spcAft>
              <a:buClr>
                <a:srgbClr val="002B42"/>
              </a:buClr>
              <a:buSzPts val="1700"/>
              <a:buNone/>
            </a:pPr>
            <a:r>
              <a:t/>
            </a:r>
            <a:endParaRPr/>
          </a:p>
          <a:p>
            <a:pPr indent="-349250" lvl="0" marL="431800" rtl="0" algn="l">
              <a:lnSpc>
                <a:spcPct val="90000"/>
              </a:lnSpc>
              <a:spcBef>
                <a:spcPts val="800"/>
              </a:spcBef>
              <a:spcAft>
                <a:spcPts val="0"/>
              </a:spcAft>
              <a:buClr>
                <a:srgbClr val="002B42"/>
              </a:buClr>
              <a:buSzPts val="1700"/>
              <a:buChar char="●"/>
            </a:pPr>
            <a:r>
              <a:rPr lang="en"/>
              <a:t>Most universities/ institutions doing data-intensive science have HPC cluster on campus.</a:t>
            </a:r>
            <a:endParaRPr/>
          </a:p>
        </p:txBody>
      </p:sp>
      <p:sp>
        <p:nvSpPr>
          <p:cNvPr id="666" name="Google Shape;666;p107"/>
          <p:cNvSpPr txBox="1"/>
          <p:nvPr>
            <p:ph idx="12" type="sldNum"/>
          </p:nvPr>
        </p:nvSpPr>
        <p:spPr>
          <a:xfrm>
            <a:off x="4843463" y="3575447"/>
            <a:ext cx="1543200" cy="2055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id="667" name="Google Shape;667;p107"/>
          <p:cNvPicPr preferRelativeResize="0"/>
          <p:nvPr/>
        </p:nvPicPr>
        <p:blipFill rotWithShape="1">
          <a:blip r:embed="rId4">
            <a:alphaModFix/>
          </a:blip>
          <a:srcRect b="0" l="0" r="0" t="0"/>
          <a:stretch/>
        </p:blipFill>
        <p:spPr>
          <a:xfrm>
            <a:off x="4310743" y="1358384"/>
            <a:ext cx="4650377" cy="3044190"/>
          </a:xfrm>
          <a:prstGeom prst="rect">
            <a:avLst/>
          </a:prstGeom>
          <a:noFill/>
          <a:ln>
            <a:noFill/>
          </a:ln>
        </p:spPr>
      </p:pic>
      <p:sp>
        <p:nvSpPr>
          <p:cNvPr id="668" name="Google Shape;668;p107"/>
          <p:cNvSpPr txBox="1"/>
          <p:nvPr/>
        </p:nvSpPr>
        <p:spPr>
          <a:xfrm>
            <a:off x="6368143" y="4767263"/>
            <a:ext cx="1655700" cy="1524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 sz="800" u="none" cap="none" strike="noStrike">
                <a:solidFill>
                  <a:schemeClr val="dk1"/>
                </a:solidFill>
                <a:latin typeface="Helvetica Neue"/>
                <a:ea typeface="Helvetica Neue"/>
                <a:cs typeface="Helvetica Neue"/>
                <a:sym typeface="Helvetica Neue"/>
              </a:rPr>
              <a:t>(see Description for image source)</a:t>
            </a:r>
            <a:endParaRPr sz="1100"/>
          </a:p>
        </p:txBody>
      </p:sp>
      <p:sp>
        <p:nvSpPr>
          <p:cNvPr id="669" name="Google Shape;669;p107"/>
          <p:cNvSpPr txBox="1"/>
          <p:nvPr/>
        </p:nvSpPr>
        <p:spPr>
          <a:xfrm>
            <a:off x="272400" y="152400"/>
            <a:ext cx="8571000" cy="10809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None/>
            </a:pPr>
            <a:r>
              <a:rPr b="1" lang="en" sz="3300">
                <a:solidFill>
                  <a:srgbClr val="1155CC"/>
                </a:solidFill>
                <a:latin typeface="Helvetica Neue"/>
                <a:ea typeface="Helvetica Neue"/>
                <a:cs typeface="Helvetica Neue"/>
                <a:sym typeface="Helvetica Neue"/>
              </a:rPr>
              <a:t>Wynton is a high-performance computing (HPC) system for UCSF affiliates</a:t>
            </a:r>
            <a:endParaRPr b="1" sz="3300">
              <a:solidFill>
                <a:srgbClr val="1155CC"/>
              </a:solidFill>
              <a:latin typeface="Helvetica Neue"/>
              <a:ea typeface="Helvetica Neue"/>
              <a:cs typeface="Helvetica Neue"/>
              <a:sym typeface="Helvetica Neue"/>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108"/>
          <p:cNvSpPr txBox="1"/>
          <p:nvPr>
            <p:ph idx="1" type="body"/>
          </p:nvPr>
        </p:nvSpPr>
        <p:spPr>
          <a:xfrm>
            <a:off x="628650" y="1371600"/>
            <a:ext cx="3966300" cy="3477600"/>
          </a:xfrm>
          <a:prstGeom prst="rect">
            <a:avLst/>
          </a:prstGeom>
          <a:noFill/>
          <a:ln>
            <a:noFill/>
          </a:ln>
        </p:spPr>
        <p:txBody>
          <a:bodyPr anchorCtr="0" anchor="t" bIns="0" lIns="137150" spcFirstLastPara="1" rIns="0" wrap="square" tIns="0">
            <a:spAutoFit/>
          </a:bodyPr>
          <a:lstStyle/>
          <a:p>
            <a:pPr indent="-349250" lvl="0" marL="342900" rtl="0" algn="l">
              <a:lnSpc>
                <a:spcPct val="90000"/>
              </a:lnSpc>
              <a:spcBef>
                <a:spcPts val="0"/>
              </a:spcBef>
              <a:spcAft>
                <a:spcPts val="0"/>
              </a:spcAft>
              <a:buClr>
                <a:srgbClr val="002B42"/>
              </a:buClr>
              <a:buSzPts val="1700"/>
              <a:buFont typeface="Arial"/>
              <a:buChar char="●"/>
            </a:pPr>
            <a:r>
              <a:rPr lang="en"/>
              <a:t>Tools are constantly under development</a:t>
            </a:r>
            <a:endParaRPr/>
          </a:p>
          <a:p>
            <a:pPr indent="-254000" lvl="1" marL="596900" rtl="0" algn="l">
              <a:lnSpc>
                <a:spcPct val="90000"/>
              </a:lnSpc>
              <a:spcBef>
                <a:spcPts val="400"/>
              </a:spcBef>
              <a:spcAft>
                <a:spcPts val="0"/>
              </a:spcAft>
              <a:buClr>
                <a:srgbClr val="002B42"/>
              </a:buClr>
              <a:buSzPts val="1400"/>
              <a:buChar char="●"/>
            </a:pPr>
            <a:r>
              <a:rPr lang="en"/>
              <a:t>=&gt; Many versions around</a:t>
            </a:r>
            <a:endParaRPr/>
          </a:p>
          <a:p>
            <a:pPr indent="-215900" lvl="1" marL="596900" rtl="0" algn="l">
              <a:lnSpc>
                <a:spcPct val="90000"/>
              </a:lnSpc>
              <a:spcBef>
                <a:spcPts val="400"/>
              </a:spcBef>
              <a:spcAft>
                <a:spcPts val="0"/>
              </a:spcAft>
              <a:buClr>
                <a:srgbClr val="002B42"/>
              </a:buClr>
              <a:buSzPts val="700"/>
              <a:buNone/>
            </a:pPr>
            <a:r>
              <a:t/>
            </a:r>
            <a:endParaRPr sz="800"/>
          </a:p>
          <a:p>
            <a:pPr indent="-349250" lvl="0" marL="342900" rtl="0" algn="l">
              <a:lnSpc>
                <a:spcPct val="90000"/>
              </a:lnSpc>
              <a:spcBef>
                <a:spcPts val="800"/>
              </a:spcBef>
              <a:spcAft>
                <a:spcPts val="0"/>
              </a:spcAft>
              <a:buClr>
                <a:srgbClr val="002B42"/>
              </a:buClr>
              <a:buSzPts val="1700"/>
              <a:buFont typeface="Arial"/>
              <a:buChar char="●"/>
            </a:pPr>
            <a:r>
              <a:rPr lang="en"/>
              <a:t>Dependencies complicate installations</a:t>
            </a:r>
            <a:endParaRPr/>
          </a:p>
          <a:p>
            <a:pPr indent="-254000" lvl="1" marL="596900" rtl="0" algn="l">
              <a:lnSpc>
                <a:spcPct val="90000"/>
              </a:lnSpc>
              <a:spcBef>
                <a:spcPts val="400"/>
              </a:spcBef>
              <a:spcAft>
                <a:spcPts val="0"/>
              </a:spcAft>
              <a:buClr>
                <a:srgbClr val="002B42"/>
              </a:buClr>
              <a:buSzPts val="1400"/>
              <a:buChar char="●"/>
            </a:pPr>
            <a:r>
              <a:rPr lang="en"/>
              <a:t>Dependencies are also constantly under development</a:t>
            </a:r>
            <a:endParaRPr/>
          </a:p>
          <a:p>
            <a:pPr indent="-254000" lvl="1" marL="596900" rtl="0" algn="l">
              <a:lnSpc>
                <a:spcPct val="90000"/>
              </a:lnSpc>
              <a:spcBef>
                <a:spcPts val="400"/>
              </a:spcBef>
              <a:spcAft>
                <a:spcPts val="0"/>
              </a:spcAft>
              <a:buClr>
                <a:srgbClr val="002B42"/>
              </a:buClr>
              <a:buSzPts val="1400"/>
              <a:buChar char="●"/>
            </a:pPr>
            <a:r>
              <a:rPr lang="en"/>
              <a:t>=&gt; Many versions around</a:t>
            </a:r>
            <a:endParaRPr/>
          </a:p>
          <a:p>
            <a:pPr indent="-304800" lvl="0" marL="342900" rtl="0" algn="l">
              <a:lnSpc>
                <a:spcPct val="90000"/>
              </a:lnSpc>
              <a:spcBef>
                <a:spcPts val="800"/>
              </a:spcBef>
              <a:spcAft>
                <a:spcPts val="0"/>
              </a:spcAft>
              <a:buClr>
                <a:srgbClr val="002B42"/>
              </a:buClr>
              <a:buSzPts val="700"/>
              <a:buFont typeface="Arial"/>
              <a:buNone/>
            </a:pPr>
            <a:r>
              <a:t/>
            </a:r>
            <a:endParaRPr sz="800"/>
          </a:p>
          <a:p>
            <a:pPr indent="-349250" lvl="0" marL="342900" rtl="0" algn="l">
              <a:lnSpc>
                <a:spcPct val="90000"/>
              </a:lnSpc>
              <a:spcBef>
                <a:spcPts val="800"/>
              </a:spcBef>
              <a:spcAft>
                <a:spcPts val="0"/>
              </a:spcAft>
              <a:buClr>
                <a:srgbClr val="002B42"/>
              </a:buClr>
              <a:buSzPts val="1700"/>
              <a:buFont typeface="Arial"/>
              <a:buChar char="●"/>
            </a:pPr>
            <a:r>
              <a:rPr lang="en"/>
              <a:t>Different labs use different programming languages</a:t>
            </a:r>
            <a:endParaRPr/>
          </a:p>
        </p:txBody>
      </p:sp>
      <p:sp>
        <p:nvSpPr>
          <p:cNvPr id="676" name="Google Shape;676;p108"/>
          <p:cNvSpPr txBox="1"/>
          <p:nvPr>
            <p:ph idx="12" type="sldNum"/>
          </p:nvPr>
        </p:nvSpPr>
        <p:spPr>
          <a:xfrm>
            <a:off x="4843463" y="3575447"/>
            <a:ext cx="1543200" cy="2055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id="677" name="Google Shape;677;p108"/>
          <p:cNvPicPr preferRelativeResize="0"/>
          <p:nvPr/>
        </p:nvPicPr>
        <p:blipFill rotWithShape="1">
          <a:blip r:embed="rId3">
            <a:alphaModFix/>
          </a:blip>
          <a:srcRect b="0" l="0" r="0" t="0"/>
          <a:stretch/>
        </p:blipFill>
        <p:spPr>
          <a:xfrm>
            <a:off x="4999808" y="1331714"/>
            <a:ext cx="3886201" cy="3435549"/>
          </a:xfrm>
          <a:prstGeom prst="rect">
            <a:avLst/>
          </a:prstGeom>
          <a:noFill/>
          <a:ln>
            <a:noFill/>
          </a:ln>
        </p:spPr>
      </p:pic>
      <p:sp>
        <p:nvSpPr>
          <p:cNvPr id="678" name="Google Shape;678;p108"/>
          <p:cNvSpPr txBox="1"/>
          <p:nvPr/>
        </p:nvSpPr>
        <p:spPr>
          <a:xfrm>
            <a:off x="272400" y="152400"/>
            <a:ext cx="8571000" cy="7368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None/>
            </a:pPr>
            <a:r>
              <a:rPr b="1" lang="en" sz="3300">
                <a:solidFill>
                  <a:srgbClr val="1155CC"/>
                </a:solidFill>
                <a:latin typeface="Helvetica Neue"/>
                <a:ea typeface="Helvetica Neue"/>
                <a:cs typeface="Helvetica Neue"/>
                <a:sym typeface="Helvetica Neue"/>
              </a:rPr>
              <a:t>Containers enable reproducibility</a:t>
            </a:r>
            <a:endParaRPr b="1" sz="3300">
              <a:solidFill>
                <a:srgbClr val="1155CC"/>
              </a:solidFill>
              <a:latin typeface="Helvetica Neue"/>
              <a:ea typeface="Helvetica Neue"/>
              <a:cs typeface="Helvetica Neue"/>
              <a:sym typeface="Helvetica Neue"/>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109"/>
          <p:cNvSpPr txBox="1"/>
          <p:nvPr>
            <p:ph idx="1" type="body"/>
          </p:nvPr>
        </p:nvSpPr>
        <p:spPr>
          <a:xfrm>
            <a:off x="628649" y="1407362"/>
            <a:ext cx="3584100" cy="3138000"/>
          </a:xfrm>
          <a:prstGeom prst="rect">
            <a:avLst/>
          </a:prstGeom>
          <a:noFill/>
          <a:ln>
            <a:noFill/>
          </a:ln>
        </p:spPr>
        <p:txBody>
          <a:bodyPr anchorCtr="0" anchor="t" bIns="0" lIns="137150" spcFirstLastPara="1" rIns="0" wrap="square" tIns="0">
            <a:spAutoFit/>
          </a:bodyPr>
          <a:lstStyle/>
          <a:p>
            <a:pPr indent="-349250" lvl="0" marL="342900" rtl="0" algn="l">
              <a:lnSpc>
                <a:spcPct val="90000"/>
              </a:lnSpc>
              <a:spcBef>
                <a:spcPts val="0"/>
              </a:spcBef>
              <a:spcAft>
                <a:spcPts val="0"/>
              </a:spcAft>
              <a:buClr>
                <a:srgbClr val="002B42"/>
              </a:buClr>
              <a:buSzPts val="1700"/>
              <a:buFont typeface="Arial"/>
              <a:buChar char="●"/>
            </a:pPr>
            <a:r>
              <a:rPr lang="en"/>
              <a:t>Containerization software examples:</a:t>
            </a:r>
            <a:endParaRPr/>
          </a:p>
          <a:p>
            <a:pPr indent="-254000" lvl="1" marL="596900" rtl="0" algn="l">
              <a:lnSpc>
                <a:spcPct val="90000"/>
              </a:lnSpc>
              <a:spcBef>
                <a:spcPts val="400"/>
              </a:spcBef>
              <a:spcAft>
                <a:spcPts val="0"/>
              </a:spcAft>
              <a:buClr>
                <a:srgbClr val="002B42"/>
              </a:buClr>
              <a:buSzPts val="1400"/>
              <a:buChar char="●"/>
            </a:pPr>
            <a:r>
              <a:rPr lang="en"/>
              <a:t>Singularity </a:t>
            </a:r>
            <a:endParaRPr/>
          </a:p>
          <a:p>
            <a:pPr indent="-254000" lvl="1" marL="596900" rtl="0" algn="l">
              <a:lnSpc>
                <a:spcPct val="90000"/>
              </a:lnSpc>
              <a:spcBef>
                <a:spcPts val="400"/>
              </a:spcBef>
              <a:spcAft>
                <a:spcPts val="0"/>
              </a:spcAft>
              <a:buClr>
                <a:srgbClr val="002B42"/>
              </a:buClr>
              <a:buSzPts val="1400"/>
              <a:buChar char="●"/>
            </a:pPr>
            <a:r>
              <a:rPr lang="en"/>
              <a:t>Docker (has security issues in the context of HPC)</a:t>
            </a:r>
            <a:endParaRPr/>
          </a:p>
          <a:p>
            <a:pPr indent="-215900" lvl="1" marL="596900" rtl="0" algn="l">
              <a:lnSpc>
                <a:spcPct val="90000"/>
              </a:lnSpc>
              <a:spcBef>
                <a:spcPts val="400"/>
              </a:spcBef>
              <a:spcAft>
                <a:spcPts val="0"/>
              </a:spcAft>
              <a:buClr>
                <a:srgbClr val="002B42"/>
              </a:buClr>
              <a:buSzPts val="500"/>
              <a:buNone/>
            </a:pPr>
            <a:r>
              <a:t/>
            </a:r>
            <a:endParaRPr sz="700"/>
          </a:p>
          <a:p>
            <a:pPr indent="-349250" lvl="0" marL="342900" rtl="0" algn="l">
              <a:lnSpc>
                <a:spcPct val="90000"/>
              </a:lnSpc>
              <a:spcBef>
                <a:spcPts val="800"/>
              </a:spcBef>
              <a:spcAft>
                <a:spcPts val="0"/>
              </a:spcAft>
              <a:buClr>
                <a:srgbClr val="002B42"/>
              </a:buClr>
              <a:buSzPts val="1700"/>
              <a:buFont typeface="Arial"/>
              <a:buChar char="●"/>
            </a:pPr>
            <a:r>
              <a:rPr lang="en"/>
              <a:t>Containers can be deployed on commercial cloud computing platforms, e.g., Amazon Web Services</a:t>
            </a:r>
            <a:endParaRPr/>
          </a:p>
        </p:txBody>
      </p:sp>
      <p:sp>
        <p:nvSpPr>
          <p:cNvPr id="685" name="Google Shape;685;p109"/>
          <p:cNvSpPr txBox="1"/>
          <p:nvPr>
            <p:ph idx="12" type="sldNum"/>
          </p:nvPr>
        </p:nvSpPr>
        <p:spPr>
          <a:xfrm>
            <a:off x="4843463" y="3575447"/>
            <a:ext cx="1543200" cy="2055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id="686" name="Google Shape;686;p109"/>
          <p:cNvPicPr preferRelativeResize="0"/>
          <p:nvPr/>
        </p:nvPicPr>
        <p:blipFill rotWithShape="1">
          <a:blip r:embed="rId3">
            <a:alphaModFix/>
          </a:blip>
          <a:srcRect b="0" l="1739" r="0" t="1961"/>
          <a:stretch/>
        </p:blipFill>
        <p:spPr>
          <a:xfrm>
            <a:off x="4530575" y="1466025"/>
            <a:ext cx="4105656" cy="3067552"/>
          </a:xfrm>
          <a:prstGeom prst="rect">
            <a:avLst/>
          </a:prstGeom>
          <a:noFill/>
          <a:ln>
            <a:noFill/>
          </a:ln>
        </p:spPr>
      </p:pic>
      <p:sp>
        <p:nvSpPr>
          <p:cNvPr id="687" name="Google Shape;687;p109"/>
          <p:cNvSpPr txBox="1"/>
          <p:nvPr/>
        </p:nvSpPr>
        <p:spPr>
          <a:xfrm>
            <a:off x="6368151" y="4767275"/>
            <a:ext cx="1947900" cy="1524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 sz="800" u="none" cap="none" strike="noStrike">
                <a:solidFill>
                  <a:schemeClr val="dk1"/>
                </a:solidFill>
                <a:latin typeface="Helvetica Neue"/>
                <a:ea typeface="Helvetica Neue"/>
                <a:cs typeface="Helvetica Neue"/>
                <a:sym typeface="Helvetica Neue"/>
              </a:rPr>
              <a:t>(see Description for image source)</a:t>
            </a:r>
            <a:endParaRPr sz="1100"/>
          </a:p>
        </p:txBody>
      </p:sp>
      <p:sp>
        <p:nvSpPr>
          <p:cNvPr id="688" name="Google Shape;688;p109"/>
          <p:cNvSpPr txBox="1"/>
          <p:nvPr/>
        </p:nvSpPr>
        <p:spPr>
          <a:xfrm>
            <a:off x="272400" y="152400"/>
            <a:ext cx="8571000" cy="858000"/>
          </a:xfrm>
          <a:prstGeom prst="rect">
            <a:avLst/>
          </a:prstGeom>
          <a:noFill/>
          <a:ln>
            <a:noFill/>
          </a:ln>
        </p:spPr>
        <p:txBody>
          <a:bodyPr anchorCtr="0" anchor="t" bIns="0" lIns="0" spcFirstLastPara="1" rIns="0" wrap="square" tIns="0">
            <a:normAutofit lnSpcReduction="10000"/>
          </a:bodyPr>
          <a:lstStyle/>
          <a:p>
            <a:pPr indent="0" lvl="0" marL="0" rtl="0" algn="l">
              <a:lnSpc>
                <a:spcPct val="90000"/>
              </a:lnSpc>
              <a:spcBef>
                <a:spcPts val="0"/>
              </a:spcBef>
              <a:spcAft>
                <a:spcPts val="0"/>
              </a:spcAft>
              <a:buNone/>
            </a:pPr>
            <a:r>
              <a:rPr b="1" lang="en" sz="3300">
                <a:solidFill>
                  <a:srgbClr val="1155CC"/>
                </a:solidFill>
                <a:latin typeface="Helvetica Neue"/>
                <a:ea typeface="Helvetica Neue"/>
                <a:cs typeface="Helvetica Neue"/>
                <a:sym typeface="Helvetica Neue"/>
              </a:rPr>
              <a:t>A container is like a computer within a computer</a:t>
            </a:r>
            <a:endParaRPr b="1" sz="3300">
              <a:solidFill>
                <a:srgbClr val="1155CC"/>
              </a:solidFill>
              <a:latin typeface="Helvetica Neue"/>
              <a:ea typeface="Helvetica Neue"/>
              <a:cs typeface="Helvetica Neue"/>
              <a:sym typeface="Helvetica Neue"/>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110"/>
          <p:cNvSpPr txBox="1"/>
          <p:nvPr/>
        </p:nvSpPr>
        <p:spPr>
          <a:xfrm>
            <a:off x="4426850" y="4744200"/>
            <a:ext cx="4989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latin typeface="Helvetica Neue"/>
                <a:ea typeface="Helvetica Neue"/>
                <a:cs typeface="Helvetica Neue"/>
                <a:sym typeface="Helvetica Neue"/>
              </a:rPr>
              <a:t>Image source: https://pradeep-sg406.medium.com/introduction-to-docker-5212421782df</a:t>
            </a:r>
            <a:endParaRPr sz="900">
              <a:latin typeface="Helvetica Neue"/>
              <a:ea typeface="Helvetica Neue"/>
              <a:cs typeface="Helvetica Neue"/>
              <a:sym typeface="Helvetica Neue"/>
            </a:endParaRPr>
          </a:p>
        </p:txBody>
      </p:sp>
      <p:pic>
        <p:nvPicPr>
          <p:cNvPr id="694" name="Google Shape;694;p110"/>
          <p:cNvPicPr preferRelativeResize="0"/>
          <p:nvPr/>
        </p:nvPicPr>
        <p:blipFill>
          <a:blip r:embed="rId3">
            <a:alphaModFix/>
          </a:blip>
          <a:stretch>
            <a:fillRect/>
          </a:stretch>
        </p:blipFill>
        <p:spPr>
          <a:xfrm>
            <a:off x="632525" y="1087400"/>
            <a:ext cx="7878952" cy="3157200"/>
          </a:xfrm>
          <a:prstGeom prst="rect">
            <a:avLst/>
          </a:prstGeom>
          <a:noFill/>
          <a:ln>
            <a:noFill/>
          </a:ln>
        </p:spPr>
      </p:pic>
      <p:sp>
        <p:nvSpPr>
          <p:cNvPr id="695" name="Google Shape;695;p110"/>
          <p:cNvSpPr txBox="1"/>
          <p:nvPr/>
        </p:nvSpPr>
        <p:spPr>
          <a:xfrm>
            <a:off x="272400" y="152400"/>
            <a:ext cx="8571000" cy="8580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None/>
            </a:pPr>
            <a:r>
              <a:rPr b="1" lang="en" sz="3300">
                <a:solidFill>
                  <a:srgbClr val="1155CC"/>
                </a:solidFill>
                <a:latin typeface="Helvetica Neue"/>
                <a:ea typeface="Helvetica Neue"/>
                <a:cs typeface="Helvetica Neue"/>
                <a:sym typeface="Helvetica Neue"/>
              </a:rPr>
              <a:t>Docker Container Lifecycle</a:t>
            </a:r>
            <a:endParaRPr b="1" sz="3300">
              <a:solidFill>
                <a:srgbClr val="1155CC"/>
              </a:solidFill>
              <a:latin typeface="Helvetica Neue"/>
              <a:ea typeface="Helvetica Neue"/>
              <a:cs typeface="Helvetica Neue"/>
              <a:sym typeface="Helvetica Neue"/>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111"/>
          <p:cNvSpPr/>
          <p:nvPr/>
        </p:nvSpPr>
        <p:spPr>
          <a:xfrm>
            <a:off x="628650" y="1320771"/>
            <a:ext cx="7886700" cy="409500"/>
          </a:xfrm>
          <a:prstGeom prst="roundRect">
            <a:avLst>
              <a:gd fmla="val 16667" name="adj"/>
            </a:avLst>
          </a:prstGeom>
          <a:solidFill>
            <a:schemeClr val="accent1">
              <a:alpha val="3920"/>
            </a:schemeClr>
          </a:solidFill>
          <a:ln cap="flat" cmpd="sng" w="12700">
            <a:solidFill>
              <a:srgbClr val="001E2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01" name="Google Shape;701;p111"/>
          <p:cNvSpPr txBox="1"/>
          <p:nvPr>
            <p:ph idx="1" type="body"/>
          </p:nvPr>
        </p:nvSpPr>
        <p:spPr>
          <a:xfrm>
            <a:off x="628650" y="1407362"/>
            <a:ext cx="8334600" cy="4182000"/>
          </a:xfrm>
          <a:prstGeom prst="rect">
            <a:avLst/>
          </a:prstGeom>
          <a:noFill/>
          <a:ln>
            <a:noFill/>
          </a:ln>
        </p:spPr>
        <p:txBody>
          <a:bodyPr anchorCtr="0" anchor="t" bIns="0" lIns="137150" spcFirstLastPara="1" rIns="0" wrap="square" tIns="0">
            <a:spAutoFit/>
          </a:bodyPr>
          <a:lstStyle/>
          <a:p>
            <a:pPr indent="0" lvl="0" marL="0" rtl="0" algn="l">
              <a:lnSpc>
                <a:spcPct val="90000"/>
              </a:lnSpc>
              <a:spcBef>
                <a:spcPts val="0"/>
              </a:spcBef>
              <a:spcAft>
                <a:spcPts val="0"/>
              </a:spcAft>
              <a:buClr>
                <a:srgbClr val="002B42"/>
              </a:buClr>
              <a:buSzPts val="1200"/>
              <a:buNone/>
            </a:pPr>
            <a:r>
              <a:rPr b="1" lang="en" sz="1500">
                <a:latin typeface="Courier New"/>
                <a:ea typeface="Courier New"/>
                <a:cs typeface="Courier New"/>
                <a:sym typeface="Courier New"/>
              </a:rPr>
              <a:t>$ Toolname [options] input</a:t>
            </a:r>
            <a:endParaRPr b="1" sz="1500">
              <a:latin typeface="Courier New"/>
              <a:ea typeface="Courier New"/>
              <a:cs typeface="Courier New"/>
              <a:sym typeface="Courier New"/>
            </a:endParaRPr>
          </a:p>
          <a:p>
            <a:pPr indent="0" lvl="0" marL="0" rtl="0" algn="l">
              <a:lnSpc>
                <a:spcPct val="90000"/>
              </a:lnSpc>
              <a:spcBef>
                <a:spcPts val="800"/>
              </a:spcBef>
              <a:spcAft>
                <a:spcPts val="0"/>
              </a:spcAft>
              <a:buClr>
                <a:srgbClr val="002B42"/>
              </a:buClr>
              <a:buSzPts val="1000"/>
              <a:buNone/>
            </a:pPr>
            <a:r>
              <a:t/>
            </a:r>
            <a:endParaRPr sz="1200">
              <a:latin typeface="Lemon"/>
              <a:ea typeface="Lemon"/>
              <a:cs typeface="Lemon"/>
              <a:sym typeface="Lemon"/>
            </a:endParaRPr>
          </a:p>
          <a:p>
            <a:pPr indent="0" lvl="0" marL="0" rtl="0" algn="l">
              <a:lnSpc>
                <a:spcPct val="90000"/>
              </a:lnSpc>
              <a:spcBef>
                <a:spcPts val="800"/>
              </a:spcBef>
              <a:spcAft>
                <a:spcPts val="0"/>
              </a:spcAft>
              <a:buClr>
                <a:srgbClr val="002B42"/>
              </a:buClr>
              <a:buSzPts val="1200"/>
              <a:buNone/>
            </a:pPr>
            <a:r>
              <a:rPr b="1" lang="en" sz="1500">
                <a:latin typeface="Courier New"/>
                <a:ea typeface="Courier New"/>
                <a:cs typeface="Courier New"/>
                <a:sym typeface="Courier New"/>
              </a:rPr>
              <a:t>$ Toolname --paramA 10 –b file.txt –c xyz.fq –outFile pqrs.tuv</a:t>
            </a:r>
            <a:endParaRPr b="1" sz="1500">
              <a:latin typeface="Courier New"/>
              <a:ea typeface="Courier New"/>
              <a:cs typeface="Courier New"/>
              <a:sym typeface="Courier New"/>
            </a:endParaRPr>
          </a:p>
          <a:p>
            <a:pPr indent="-279400" lvl="0" marL="342900" rtl="0" algn="l">
              <a:lnSpc>
                <a:spcPct val="90000"/>
              </a:lnSpc>
              <a:spcBef>
                <a:spcPts val="800"/>
              </a:spcBef>
              <a:spcAft>
                <a:spcPts val="0"/>
              </a:spcAft>
              <a:buClr>
                <a:srgbClr val="002B42"/>
              </a:buClr>
              <a:buSzPts val="1000"/>
              <a:buFont typeface="Arial"/>
              <a:buNone/>
            </a:pPr>
            <a:r>
              <a:t/>
            </a:r>
            <a:endParaRPr sz="1200">
              <a:latin typeface="Arial"/>
              <a:ea typeface="Arial"/>
              <a:cs typeface="Arial"/>
              <a:sym typeface="Arial"/>
            </a:endParaRPr>
          </a:p>
          <a:p>
            <a:pPr indent="-349250" lvl="0" marL="342900" rtl="0" algn="l">
              <a:lnSpc>
                <a:spcPct val="90000"/>
              </a:lnSpc>
              <a:spcBef>
                <a:spcPts val="800"/>
              </a:spcBef>
              <a:spcAft>
                <a:spcPts val="0"/>
              </a:spcAft>
              <a:buClr>
                <a:srgbClr val="002B42"/>
              </a:buClr>
              <a:buSzPts val="1700"/>
              <a:buFont typeface="Arial"/>
              <a:buChar char="●"/>
            </a:pPr>
            <a:r>
              <a:rPr lang="en">
                <a:latin typeface="Arial"/>
                <a:ea typeface="Arial"/>
                <a:cs typeface="Arial"/>
                <a:sym typeface="Arial"/>
              </a:rPr>
              <a:t>Examples:</a:t>
            </a:r>
            <a:endParaRPr/>
          </a:p>
          <a:p>
            <a:pPr indent="-241300" lvl="0" marL="342900" rtl="0" algn="l">
              <a:lnSpc>
                <a:spcPct val="90000"/>
              </a:lnSpc>
              <a:spcBef>
                <a:spcPts val="800"/>
              </a:spcBef>
              <a:spcAft>
                <a:spcPts val="0"/>
              </a:spcAft>
              <a:buClr>
                <a:srgbClr val="002B42"/>
              </a:buClr>
              <a:buSzPts val="1700"/>
              <a:buFont typeface="Arial"/>
              <a:buNone/>
            </a:pPr>
            <a:r>
              <a:t/>
            </a:r>
            <a:endParaRPr b="1">
              <a:latin typeface="Courier New"/>
              <a:ea typeface="Courier New"/>
              <a:cs typeface="Courier New"/>
              <a:sym typeface="Courier New"/>
            </a:endParaRPr>
          </a:p>
          <a:p>
            <a:pPr indent="0" lvl="0" marL="0" rtl="0" algn="l">
              <a:lnSpc>
                <a:spcPct val="90000"/>
              </a:lnSpc>
              <a:spcBef>
                <a:spcPts val="800"/>
              </a:spcBef>
              <a:spcAft>
                <a:spcPts val="0"/>
              </a:spcAft>
              <a:buClr>
                <a:srgbClr val="002B42"/>
              </a:buClr>
              <a:buSzPts val="1200"/>
              <a:buNone/>
            </a:pPr>
            <a:r>
              <a:rPr b="1" lang="en" sz="1500">
                <a:latin typeface="Courier New"/>
                <a:ea typeface="Courier New"/>
                <a:cs typeface="Courier New"/>
                <a:sym typeface="Courier New"/>
              </a:rPr>
              <a:t>$ fastqc –t 16 –o ./ Bacteria_GATTACA_L001_R1_001.fastq</a:t>
            </a:r>
            <a:endParaRPr b="1">
              <a:latin typeface="Courier New"/>
              <a:ea typeface="Courier New"/>
              <a:cs typeface="Courier New"/>
              <a:sym typeface="Courier New"/>
            </a:endParaRPr>
          </a:p>
          <a:p>
            <a:pPr indent="0" lvl="0" marL="0" rtl="0" algn="l">
              <a:lnSpc>
                <a:spcPct val="90000"/>
              </a:lnSpc>
              <a:spcBef>
                <a:spcPts val="800"/>
              </a:spcBef>
              <a:spcAft>
                <a:spcPts val="0"/>
              </a:spcAft>
              <a:buClr>
                <a:srgbClr val="002B42"/>
              </a:buClr>
              <a:buSzPts val="1200"/>
              <a:buNone/>
            </a:pPr>
            <a:r>
              <a:t/>
            </a:r>
            <a:endParaRPr b="1" sz="1500">
              <a:latin typeface="Courier New"/>
              <a:ea typeface="Courier New"/>
              <a:cs typeface="Courier New"/>
              <a:sym typeface="Courier New"/>
            </a:endParaRPr>
          </a:p>
          <a:p>
            <a:pPr indent="0" lvl="0" marL="0" rtl="0" algn="l">
              <a:lnSpc>
                <a:spcPct val="90000"/>
              </a:lnSpc>
              <a:spcBef>
                <a:spcPts val="800"/>
              </a:spcBef>
              <a:spcAft>
                <a:spcPts val="0"/>
              </a:spcAft>
              <a:buClr>
                <a:srgbClr val="002B42"/>
              </a:buClr>
              <a:buSzPts val="1200"/>
              <a:buNone/>
            </a:pPr>
            <a:r>
              <a:rPr b="1" lang="en" sz="1500">
                <a:latin typeface="Courier New"/>
                <a:ea typeface="Courier New"/>
                <a:cs typeface="Courier New"/>
                <a:sym typeface="Courier New"/>
              </a:rPr>
              <a:t>$ fastqc *.fastq</a:t>
            </a:r>
            <a:endParaRPr b="1" sz="1500">
              <a:latin typeface="Courier New"/>
              <a:ea typeface="Courier New"/>
              <a:cs typeface="Courier New"/>
              <a:sym typeface="Courier New"/>
            </a:endParaRPr>
          </a:p>
          <a:p>
            <a:pPr indent="0" lvl="0" marL="0" rtl="0" algn="l">
              <a:lnSpc>
                <a:spcPct val="90000"/>
              </a:lnSpc>
              <a:spcBef>
                <a:spcPts val="800"/>
              </a:spcBef>
              <a:spcAft>
                <a:spcPts val="0"/>
              </a:spcAft>
              <a:buClr>
                <a:srgbClr val="002B42"/>
              </a:buClr>
              <a:buSzPts val="1200"/>
              <a:buNone/>
            </a:pPr>
            <a:r>
              <a:t/>
            </a:r>
            <a:endParaRPr b="1" sz="1500">
              <a:latin typeface="Courier New"/>
              <a:ea typeface="Courier New"/>
              <a:cs typeface="Courier New"/>
              <a:sym typeface="Courier New"/>
            </a:endParaRPr>
          </a:p>
          <a:p>
            <a:pPr indent="0" lvl="0" marL="0" rtl="0" algn="l">
              <a:lnSpc>
                <a:spcPct val="90000"/>
              </a:lnSpc>
              <a:spcBef>
                <a:spcPts val="800"/>
              </a:spcBef>
              <a:spcAft>
                <a:spcPts val="0"/>
              </a:spcAft>
              <a:buClr>
                <a:srgbClr val="002B42"/>
              </a:buClr>
              <a:buSzPts val="1200"/>
              <a:buNone/>
            </a:pPr>
            <a:r>
              <a:rPr b="1" lang="en" sz="1500">
                <a:latin typeface="Courier New"/>
                <a:ea typeface="Courier New"/>
                <a:cs typeface="Courier New"/>
                <a:sym typeface="Courier New"/>
              </a:rPr>
              <a:t>$ cutadapt –a GATTACA –o ./trimmed.fastq input.fastq</a:t>
            </a:r>
            <a:endParaRPr b="1" sz="1500">
              <a:latin typeface="Courier New"/>
              <a:ea typeface="Courier New"/>
              <a:cs typeface="Courier New"/>
              <a:sym typeface="Courier New"/>
            </a:endParaRPr>
          </a:p>
          <a:p>
            <a:pPr indent="0" lvl="0" marL="0" rtl="0" algn="l">
              <a:lnSpc>
                <a:spcPct val="90000"/>
              </a:lnSpc>
              <a:spcBef>
                <a:spcPts val="800"/>
              </a:spcBef>
              <a:spcAft>
                <a:spcPts val="0"/>
              </a:spcAft>
              <a:buClr>
                <a:srgbClr val="002B42"/>
              </a:buClr>
              <a:buSzPts val="1700"/>
              <a:buNone/>
            </a:pPr>
            <a:r>
              <a:t/>
            </a:r>
            <a:endParaRPr>
              <a:latin typeface="Lemon"/>
              <a:ea typeface="Lemon"/>
              <a:cs typeface="Lemon"/>
              <a:sym typeface="Lemon"/>
            </a:endParaRPr>
          </a:p>
          <a:p>
            <a:pPr indent="0" lvl="0" marL="0" rtl="0" algn="l">
              <a:lnSpc>
                <a:spcPct val="90000"/>
              </a:lnSpc>
              <a:spcBef>
                <a:spcPts val="800"/>
              </a:spcBef>
              <a:spcAft>
                <a:spcPts val="0"/>
              </a:spcAft>
              <a:buClr>
                <a:srgbClr val="002B42"/>
              </a:buClr>
              <a:buSzPts val="1700"/>
              <a:buNone/>
            </a:pPr>
            <a:r>
              <a:t/>
            </a:r>
            <a:endParaRPr>
              <a:latin typeface="Lemon"/>
              <a:ea typeface="Lemon"/>
              <a:cs typeface="Lemon"/>
              <a:sym typeface="Lemon"/>
            </a:endParaRPr>
          </a:p>
        </p:txBody>
      </p:sp>
      <p:sp>
        <p:nvSpPr>
          <p:cNvPr id="702" name="Google Shape;702;p111"/>
          <p:cNvSpPr/>
          <p:nvPr/>
        </p:nvSpPr>
        <p:spPr>
          <a:xfrm>
            <a:off x="628650" y="3199336"/>
            <a:ext cx="7886700" cy="409500"/>
          </a:xfrm>
          <a:prstGeom prst="roundRect">
            <a:avLst>
              <a:gd fmla="val 16667" name="adj"/>
            </a:avLst>
          </a:prstGeom>
          <a:solidFill>
            <a:schemeClr val="accent1">
              <a:alpha val="3920"/>
            </a:schemeClr>
          </a:solidFill>
          <a:ln cap="flat" cmpd="sng" w="12700">
            <a:solidFill>
              <a:srgbClr val="001E2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03" name="Google Shape;703;p111"/>
          <p:cNvSpPr/>
          <p:nvPr/>
        </p:nvSpPr>
        <p:spPr>
          <a:xfrm>
            <a:off x="628650" y="3808997"/>
            <a:ext cx="7886700" cy="409500"/>
          </a:xfrm>
          <a:prstGeom prst="roundRect">
            <a:avLst>
              <a:gd fmla="val 16667" name="adj"/>
            </a:avLst>
          </a:prstGeom>
          <a:solidFill>
            <a:schemeClr val="accent1">
              <a:alpha val="3920"/>
            </a:schemeClr>
          </a:solidFill>
          <a:ln cap="flat" cmpd="sng" w="12700">
            <a:solidFill>
              <a:srgbClr val="001E2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04" name="Google Shape;704;p111"/>
          <p:cNvSpPr/>
          <p:nvPr/>
        </p:nvSpPr>
        <p:spPr>
          <a:xfrm>
            <a:off x="628650" y="4439399"/>
            <a:ext cx="7886700" cy="409500"/>
          </a:xfrm>
          <a:prstGeom prst="roundRect">
            <a:avLst>
              <a:gd fmla="val 16667" name="adj"/>
            </a:avLst>
          </a:prstGeom>
          <a:solidFill>
            <a:schemeClr val="accent1">
              <a:alpha val="3920"/>
            </a:schemeClr>
          </a:solidFill>
          <a:ln cap="flat" cmpd="sng" w="12700">
            <a:solidFill>
              <a:srgbClr val="001E2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05" name="Google Shape;705;p111"/>
          <p:cNvSpPr/>
          <p:nvPr/>
        </p:nvSpPr>
        <p:spPr>
          <a:xfrm>
            <a:off x="628650" y="1861189"/>
            <a:ext cx="7886700" cy="409500"/>
          </a:xfrm>
          <a:prstGeom prst="roundRect">
            <a:avLst>
              <a:gd fmla="val 16667" name="adj"/>
            </a:avLst>
          </a:prstGeom>
          <a:solidFill>
            <a:schemeClr val="accent1">
              <a:alpha val="3920"/>
            </a:schemeClr>
          </a:solidFill>
          <a:ln cap="flat" cmpd="sng" w="12700">
            <a:solidFill>
              <a:srgbClr val="001E2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06" name="Google Shape;706;p111"/>
          <p:cNvSpPr txBox="1"/>
          <p:nvPr/>
        </p:nvSpPr>
        <p:spPr>
          <a:xfrm>
            <a:off x="272400" y="152400"/>
            <a:ext cx="8571000" cy="9603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None/>
            </a:pPr>
            <a:r>
              <a:rPr b="1" lang="en" sz="3300">
                <a:solidFill>
                  <a:srgbClr val="1155CC"/>
                </a:solidFill>
                <a:latin typeface="Helvetica Neue"/>
                <a:ea typeface="Helvetica Neue"/>
                <a:cs typeface="Helvetica Neue"/>
                <a:sym typeface="Helvetica Neue"/>
              </a:rPr>
              <a:t>Typical command line syntax of bioinformatics tools</a:t>
            </a:r>
            <a:endParaRPr b="1" sz="3300">
              <a:solidFill>
                <a:srgbClr val="1155CC"/>
              </a:solidFill>
              <a:latin typeface="Helvetica Neue"/>
              <a:ea typeface="Helvetica Neue"/>
              <a:cs typeface="Helvetica Neue"/>
              <a:sym typeface="Helvetica Neue"/>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112"/>
          <p:cNvSpPr txBox="1"/>
          <p:nvPr>
            <p:ph idx="1" type="body"/>
          </p:nvPr>
        </p:nvSpPr>
        <p:spPr>
          <a:xfrm>
            <a:off x="628650" y="1207075"/>
            <a:ext cx="5580300" cy="3117600"/>
          </a:xfrm>
          <a:prstGeom prst="rect">
            <a:avLst/>
          </a:prstGeom>
          <a:noFill/>
          <a:ln>
            <a:noFill/>
          </a:ln>
        </p:spPr>
        <p:txBody>
          <a:bodyPr anchorCtr="0" anchor="t" bIns="0" lIns="137150" spcFirstLastPara="1" rIns="0" wrap="square" tIns="0">
            <a:spAutoFit/>
          </a:bodyPr>
          <a:lstStyle/>
          <a:p>
            <a:pPr indent="-349250" lvl="0" marL="342900" rtl="0" algn="l">
              <a:lnSpc>
                <a:spcPct val="90000"/>
              </a:lnSpc>
              <a:spcBef>
                <a:spcPts val="0"/>
              </a:spcBef>
              <a:spcAft>
                <a:spcPts val="0"/>
              </a:spcAft>
              <a:buClr>
                <a:srgbClr val="002B42"/>
              </a:buClr>
              <a:buSzPts val="1700"/>
              <a:buFont typeface="Arial"/>
              <a:buChar char="●"/>
            </a:pPr>
            <a:r>
              <a:rPr lang="en">
                <a:latin typeface="Lemon"/>
                <a:ea typeface="Lemon"/>
                <a:cs typeface="Lemon"/>
                <a:sym typeface="Lemon"/>
              </a:rPr>
              <a:t>./</a:t>
            </a:r>
            <a:r>
              <a:rPr lang="en"/>
              <a:t>   is for current working directory</a:t>
            </a:r>
            <a:endParaRPr/>
          </a:p>
          <a:p>
            <a:pPr indent="-349250" lvl="0" marL="342900" rtl="0" algn="l">
              <a:lnSpc>
                <a:spcPct val="90000"/>
              </a:lnSpc>
              <a:spcBef>
                <a:spcPts val="800"/>
              </a:spcBef>
              <a:spcAft>
                <a:spcPts val="0"/>
              </a:spcAft>
              <a:buClr>
                <a:srgbClr val="002B42"/>
              </a:buClr>
              <a:buSzPts val="1700"/>
              <a:buFont typeface="Arial"/>
              <a:buChar char="●"/>
            </a:pPr>
            <a:r>
              <a:rPr lang="en">
                <a:latin typeface="Lemon"/>
                <a:ea typeface="Lemon"/>
                <a:cs typeface="Lemon"/>
                <a:sym typeface="Lemon"/>
              </a:rPr>
              <a:t>../</a:t>
            </a:r>
            <a:r>
              <a:rPr lang="en"/>
              <a:t>  is for parent directory of current working directory</a:t>
            </a:r>
            <a:endParaRPr/>
          </a:p>
          <a:p>
            <a:pPr indent="-349250" lvl="0" marL="342900" rtl="0" algn="l">
              <a:lnSpc>
                <a:spcPct val="90000"/>
              </a:lnSpc>
              <a:spcBef>
                <a:spcPts val="800"/>
              </a:spcBef>
              <a:spcAft>
                <a:spcPts val="0"/>
              </a:spcAft>
              <a:buClr>
                <a:srgbClr val="002B42"/>
              </a:buClr>
              <a:buSzPts val="1700"/>
              <a:buFont typeface="Arial"/>
              <a:buChar char="●"/>
            </a:pPr>
            <a:r>
              <a:rPr lang="en">
                <a:latin typeface="Lemon"/>
                <a:ea typeface="Lemon"/>
                <a:cs typeface="Lemon"/>
                <a:sym typeface="Lemon"/>
              </a:rPr>
              <a:t>../../</a:t>
            </a:r>
            <a:r>
              <a:rPr lang="en"/>
              <a:t>  is for parent directory of parent directory of current working directory</a:t>
            </a:r>
            <a:endParaRPr/>
          </a:p>
          <a:p>
            <a:pPr indent="-241300" lvl="0" marL="342900" rtl="0" algn="l">
              <a:lnSpc>
                <a:spcPct val="90000"/>
              </a:lnSpc>
              <a:spcBef>
                <a:spcPts val="800"/>
              </a:spcBef>
              <a:spcAft>
                <a:spcPts val="0"/>
              </a:spcAft>
              <a:buClr>
                <a:srgbClr val="002B42"/>
              </a:buClr>
              <a:buSzPts val="1700"/>
              <a:buFont typeface="Arial"/>
              <a:buNone/>
            </a:pPr>
            <a:r>
              <a:t/>
            </a:r>
            <a:endParaRPr/>
          </a:p>
          <a:p>
            <a:pPr indent="-349250" lvl="0" marL="342900" rtl="0" algn="l">
              <a:lnSpc>
                <a:spcPct val="90000"/>
              </a:lnSpc>
              <a:spcBef>
                <a:spcPts val="800"/>
              </a:spcBef>
              <a:spcAft>
                <a:spcPts val="0"/>
              </a:spcAft>
              <a:buSzPts val="1700"/>
              <a:buChar char="●"/>
            </a:pPr>
            <a:r>
              <a:rPr b="1" lang="en"/>
              <a:t>Example:</a:t>
            </a:r>
            <a:r>
              <a:rPr lang="en"/>
              <a:t> If you are currently in data folder, then</a:t>
            </a:r>
            <a:endParaRPr/>
          </a:p>
          <a:p>
            <a:pPr indent="0" lvl="0" marL="457200" rtl="0" algn="l">
              <a:lnSpc>
                <a:spcPct val="90000"/>
              </a:lnSpc>
              <a:spcBef>
                <a:spcPts val="800"/>
              </a:spcBef>
              <a:spcAft>
                <a:spcPts val="0"/>
              </a:spcAft>
              <a:buNone/>
            </a:pPr>
            <a:r>
              <a:rPr b="1" i="1" lang="en" sz="2000">
                <a:solidFill>
                  <a:srgbClr val="1155CC"/>
                </a:solidFill>
                <a:latin typeface="Courier New"/>
                <a:ea typeface="Courier New"/>
                <a:cs typeface="Courier New"/>
                <a:sym typeface="Courier New"/>
              </a:rPr>
              <a:t>fastqc ./raw.fastq -o ./results/</a:t>
            </a:r>
            <a:endParaRPr b="1" i="1" sz="2000">
              <a:solidFill>
                <a:srgbClr val="1155CC"/>
              </a:solidFill>
              <a:latin typeface="Courier New"/>
              <a:ea typeface="Courier New"/>
              <a:cs typeface="Courier New"/>
              <a:sym typeface="Courier New"/>
            </a:endParaRPr>
          </a:p>
        </p:txBody>
      </p:sp>
      <p:sp>
        <p:nvSpPr>
          <p:cNvPr id="712" name="Google Shape;712;p112"/>
          <p:cNvSpPr txBox="1"/>
          <p:nvPr/>
        </p:nvSpPr>
        <p:spPr>
          <a:xfrm>
            <a:off x="272400" y="152400"/>
            <a:ext cx="8571000" cy="9603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None/>
            </a:pPr>
            <a:r>
              <a:rPr b="1" lang="en" sz="3300">
                <a:solidFill>
                  <a:srgbClr val="1155CC"/>
                </a:solidFill>
                <a:latin typeface="Helvetica Neue"/>
                <a:ea typeface="Helvetica Neue"/>
                <a:cs typeface="Helvetica Neue"/>
                <a:sym typeface="Helvetica Neue"/>
              </a:rPr>
              <a:t>File paths := Location of file on computer</a:t>
            </a:r>
            <a:endParaRPr b="1" sz="3300">
              <a:solidFill>
                <a:srgbClr val="1155CC"/>
              </a:solidFill>
              <a:latin typeface="Helvetica Neue"/>
              <a:ea typeface="Helvetica Neue"/>
              <a:cs typeface="Helvetica Neue"/>
              <a:sym typeface="Helvetica Neue"/>
            </a:endParaRPr>
          </a:p>
        </p:txBody>
      </p:sp>
      <p:sp>
        <p:nvSpPr>
          <p:cNvPr id="713" name="Google Shape;713;p112"/>
          <p:cNvSpPr/>
          <p:nvPr/>
        </p:nvSpPr>
        <p:spPr>
          <a:xfrm>
            <a:off x="6205027" y="3053875"/>
            <a:ext cx="2816100" cy="14106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374151"/>
              </a:buClr>
              <a:buSzPts val="1000"/>
              <a:buFont typeface="Courier New"/>
              <a:buNone/>
            </a:pPr>
            <a:r>
              <a:rPr b="0" i="0" lang="en" sz="1600" u="none" cap="none" strike="noStrike">
                <a:solidFill>
                  <a:srgbClr val="374151"/>
                </a:solidFill>
                <a:latin typeface="Courier New"/>
                <a:ea typeface="Courier New"/>
                <a:cs typeface="Courier New"/>
                <a:sym typeface="Courier New"/>
              </a:rPr>
              <a:t>/home/</a:t>
            </a:r>
            <a:br>
              <a:rPr b="0" i="0" lang="en" sz="1600" u="none" cap="none" strike="noStrike">
                <a:solidFill>
                  <a:srgbClr val="374151"/>
                </a:solidFill>
                <a:latin typeface="Courier New"/>
                <a:ea typeface="Courier New"/>
                <a:cs typeface="Courier New"/>
                <a:sym typeface="Courier New"/>
              </a:rPr>
            </a:br>
            <a:r>
              <a:rPr b="0" i="0" lang="en" sz="1600" u="none" cap="none" strike="noStrike">
                <a:solidFill>
                  <a:srgbClr val="374151"/>
                </a:solidFill>
                <a:latin typeface="Courier New"/>
                <a:ea typeface="Courier New"/>
                <a:cs typeface="Courier New"/>
                <a:sym typeface="Courier New"/>
              </a:rPr>
              <a:t>  └── </a:t>
            </a:r>
            <a:r>
              <a:rPr b="1" i="0" lang="en" sz="1600" u="none" cap="none" strike="noStrike">
                <a:solidFill>
                  <a:srgbClr val="374151"/>
                </a:solidFill>
                <a:latin typeface="Courier New"/>
                <a:ea typeface="Courier New"/>
                <a:cs typeface="Courier New"/>
                <a:sym typeface="Courier New"/>
              </a:rPr>
              <a:t>data/</a:t>
            </a:r>
            <a:br>
              <a:rPr b="0" i="0" lang="en" sz="1600" u="none" cap="none" strike="noStrike">
                <a:solidFill>
                  <a:srgbClr val="374151"/>
                </a:solidFill>
                <a:latin typeface="Courier New"/>
                <a:ea typeface="Courier New"/>
                <a:cs typeface="Courier New"/>
                <a:sym typeface="Courier New"/>
              </a:rPr>
            </a:br>
            <a:r>
              <a:rPr b="0" i="0" lang="en" sz="1600" u="none" cap="none" strike="noStrike">
                <a:solidFill>
                  <a:srgbClr val="1E3A8A"/>
                </a:solidFill>
                <a:latin typeface="Courier New"/>
                <a:ea typeface="Courier New"/>
                <a:cs typeface="Courier New"/>
                <a:sym typeface="Courier New"/>
              </a:rPr>
              <a:t>      ├── raw.fastq</a:t>
            </a:r>
            <a:br>
              <a:rPr b="0" i="0" lang="en" sz="1600" u="none" cap="none" strike="noStrike">
                <a:solidFill>
                  <a:srgbClr val="1E3A8A"/>
                </a:solidFill>
                <a:latin typeface="Courier New"/>
                <a:ea typeface="Courier New"/>
                <a:cs typeface="Courier New"/>
                <a:sym typeface="Courier New"/>
              </a:rPr>
            </a:br>
            <a:r>
              <a:rPr b="0" i="0" lang="en" sz="1600" u="none" cap="none" strike="noStrike">
                <a:solidFill>
                  <a:srgbClr val="374151"/>
                </a:solidFill>
                <a:latin typeface="Courier New"/>
                <a:ea typeface="Courier New"/>
                <a:cs typeface="Courier New"/>
                <a:sym typeface="Courier New"/>
              </a:rPr>
              <a:t>      └── results/</a:t>
            </a:r>
            <a:br>
              <a:rPr b="0" i="0" lang="en" sz="1600" u="none" cap="none" strike="noStrike">
                <a:solidFill>
                  <a:srgbClr val="374151"/>
                </a:solidFill>
                <a:latin typeface="Courier New"/>
                <a:ea typeface="Courier New"/>
                <a:cs typeface="Courier New"/>
                <a:sym typeface="Courier New"/>
              </a:rPr>
            </a:br>
            <a:r>
              <a:rPr b="0" i="0" lang="en" sz="1600" u="none" cap="none" strike="noStrike">
                <a:solidFill>
                  <a:srgbClr val="1E3A8A"/>
                </a:solidFill>
                <a:latin typeface="Courier New"/>
                <a:ea typeface="Courier New"/>
                <a:cs typeface="Courier New"/>
                <a:sym typeface="Courier New"/>
              </a:rPr>
              <a:t>          └── out.txt</a:t>
            </a:r>
            <a:endParaRPr b="0" i="0" sz="1600" u="none" cap="none" strike="noStrike">
              <a:solidFill>
                <a:srgbClr val="000000"/>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113"/>
          <p:cNvSpPr txBox="1"/>
          <p:nvPr/>
        </p:nvSpPr>
        <p:spPr>
          <a:xfrm>
            <a:off x="135900" y="821200"/>
            <a:ext cx="8707800" cy="41436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000"/>
              </a:spcBef>
              <a:spcAft>
                <a:spcPts val="0"/>
              </a:spcAft>
              <a:buClr>
                <a:srgbClr val="002B42"/>
              </a:buClr>
              <a:buSzPts val="1400"/>
              <a:buChar char="●"/>
            </a:pPr>
            <a:r>
              <a:rPr b="1" lang="en">
                <a:solidFill>
                  <a:srgbClr val="002B42"/>
                </a:solidFill>
              </a:rPr>
              <a:t>Source Study:</a:t>
            </a:r>
            <a:r>
              <a:rPr lang="en">
                <a:solidFill>
                  <a:srgbClr val="002B42"/>
                </a:solidFill>
              </a:rPr>
              <a:t> This dataset comes from a study characterizing the transcriptomic changes in human airway smooth muscle (ASM) cells in response to glucocorticoids, which are standard treatments for asthma. (</a:t>
            </a:r>
            <a:r>
              <a:rPr lang="en" u="sng">
                <a:solidFill>
                  <a:schemeClr val="hlink"/>
                </a:solidFill>
                <a:hlinkClick r:id="rId3"/>
              </a:rPr>
              <a:t>Himes </a:t>
            </a:r>
            <a:r>
              <a:rPr i="1" lang="en" u="sng">
                <a:solidFill>
                  <a:schemeClr val="hlink"/>
                </a:solidFill>
                <a:hlinkClick r:id="rId4"/>
              </a:rPr>
              <a:t>et al.</a:t>
            </a:r>
            <a:r>
              <a:rPr lang="en" u="sng">
                <a:solidFill>
                  <a:schemeClr val="hlink"/>
                </a:solidFill>
                <a:hlinkClick r:id="rId5"/>
              </a:rPr>
              <a:t>, 2014, PLOS ONE</a:t>
            </a:r>
            <a:r>
              <a:rPr lang="en">
                <a:solidFill>
                  <a:srgbClr val="002B42"/>
                </a:solidFill>
              </a:rPr>
              <a:t>)</a:t>
            </a:r>
            <a:endParaRPr>
              <a:solidFill>
                <a:srgbClr val="002B42"/>
              </a:solidFill>
            </a:endParaRPr>
          </a:p>
          <a:p>
            <a:pPr indent="-317500" lvl="0" marL="457200" rtl="0" algn="l">
              <a:lnSpc>
                <a:spcPct val="115000"/>
              </a:lnSpc>
              <a:spcBef>
                <a:spcPts val="1000"/>
              </a:spcBef>
              <a:spcAft>
                <a:spcPts val="0"/>
              </a:spcAft>
              <a:buClr>
                <a:srgbClr val="002B42"/>
              </a:buClr>
              <a:buSzPts val="1400"/>
              <a:buChar char="●"/>
            </a:pPr>
            <a:r>
              <a:rPr b="1" lang="en">
                <a:solidFill>
                  <a:srgbClr val="002B42"/>
                </a:solidFill>
              </a:rPr>
              <a:t>Experimental Conditions:</a:t>
            </a:r>
            <a:r>
              <a:rPr lang="en">
                <a:solidFill>
                  <a:srgbClr val="002B42"/>
                </a:solidFill>
              </a:rPr>
              <a:t> Primary human ASM cell lines were treated with 1 µM Dexamethasone (a potent synthetic glucocorticoid) or a control vehicle for 18 hours.</a:t>
            </a:r>
            <a:endParaRPr>
              <a:solidFill>
                <a:srgbClr val="002B42"/>
              </a:solidFill>
            </a:endParaRPr>
          </a:p>
          <a:p>
            <a:pPr indent="-317500" lvl="0" marL="457200" rtl="0" algn="l">
              <a:lnSpc>
                <a:spcPct val="115000"/>
              </a:lnSpc>
              <a:spcBef>
                <a:spcPts val="1000"/>
              </a:spcBef>
              <a:spcAft>
                <a:spcPts val="0"/>
              </a:spcAft>
              <a:buClr>
                <a:srgbClr val="002B42"/>
              </a:buClr>
              <a:buSzPts val="1400"/>
              <a:buChar char="●"/>
            </a:pPr>
            <a:r>
              <a:rPr b="1" lang="en">
                <a:solidFill>
                  <a:srgbClr val="002B42"/>
                </a:solidFill>
              </a:rPr>
              <a:t>Samples in this Workshop:</a:t>
            </a:r>
            <a:endParaRPr b="1">
              <a:solidFill>
                <a:srgbClr val="002B42"/>
              </a:solidFill>
            </a:endParaRPr>
          </a:p>
          <a:p>
            <a:pPr indent="-317500" lvl="1" marL="914400" rtl="0" algn="l">
              <a:lnSpc>
                <a:spcPct val="115000"/>
              </a:lnSpc>
              <a:spcBef>
                <a:spcPts val="1000"/>
              </a:spcBef>
              <a:spcAft>
                <a:spcPts val="0"/>
              </a:spcAft>
              <a:buClr>
                <a:srgbClr val="002B42"/>
              </a:buClr>
              <a:buSzPts val="1400"/>
              <a:buChar char="○"/>
            </a:pPr>
            <a:r>
              <a:rPr lang="en">
                <a:solidFill>
                  <a:srgbClr val="002B42"/>
                </a:solidFill>
              </a:rPr>
              <a:t>N61311 cell line - Untreated (Control)</a:t>
            </a:r>
            <a:endParaRPr>
              <a:solidFill>
                <a:srgbClr val="002B42"/>
              </a:solidFill>
            </a:endParaRPr>
          </a:p>
          <a:p>
            <a:pPr indent="-317500" lvl="1" marL="914400" rtl="0" algn="l">
              <a:lnSpc>
                <a:spcPct val="115000"/>
              </a:lnSpc>
              <a:spcBef>
                <a:spcPts val="1000"/>
              </a:spcBef>
              <a:spcAft>
                <a:spcPts val="0"/>
              </a:spcAft>
              <a:buClr>
                <a:srgbClr val="002B42"/>
              </a:buClr>
              <a:buSzPts val="1400"/>
              <a:buChar char="○"/>
            </a:pPr>
            <a:r>
              <a:rPr lang="en">
                <a:solidFill>
                  <a:srgbClr val="002B42"/>
                </a:solidFill>
              </a:rPr>
              <a:t>N61311 cell line - </a:t>
            </a:r>
            <a:r>
              <a:rPr lang="en">
                <a:solidFill>
                  <a:srgbClr val="002B42"/>
                </a:solidFill>
              </a:rPr>
              <a:t>Dexamethasone treated</a:t>
            </a:r>
            <a:endParaRPr>
              <a:solidFill>
                <a:srgbClr val="002B42"/>
              </a:solidFill>
            </a:endParaRPr>
          </a:p>
          <a:p>
            <a:pPr indent="-317500" lvl="0" marL="457200" rtl="0" algn="l">
              <a:lnSpc>
                <a:spcPct val="115000"/>
              </a:lnSpc>
              <a:spcBef>
                <a:spcPts val="1000"/>
              </a:spcBef>
              <a:spcAft>
                <a:spcPts val="0"/>
              </a:spcAft>
              <a:buClr>
                <a:srgbClr val="002B42"/>
              </a:buClr>
              <a:buSzPts val="1400"/>
              <a:buChar char="●"/>
            </a:pPr>
            <a:r>
              <a:rPr b="1" lang="en">
                <a:solidFill>
                  <a:srgbClr val="002B42"/>
                </a:solidFill>
              </a:rPr>
              <a:t>Workshop Optimization:</a:t>
            </a:r>
            <a:r>
              <a:rPr lang="en">
                <a:solidFill>
                  <a:srgbClr val="002B42"/>
                </a:solidFill>
              </a:rPr>
              <a:t> To facilitate local analysis and reduce computational load, the raw reads for these samples have been subsampled to include only those mapping to chromosome 16 (chr16).</a:t>
            </a:r>
            <a:endParaRPr>
              <a:solidFill>
                <a:srgbClr val="002B42"/>
              </a:solidFill>
            </a:endParaRPr>
          </a:p>
          <a:p>
            <a:pPr indent="-317500" lvl="0" marL="457200" rtl="0" algn="l">
              <a:lnSpc>
                <a:spcPct val="115000"/>
              </a:lnSpc>
              <a:spcBef>
                <a:spcPts val="1000"/>
              </a:spcBef>
              <a:spcAft>
                <a:spcPts val="400"/>
              </a:spcAft>
              <a:buClr>
                <a:srgbClr val="002B42"/>
              </a:buClr>
              <a:buSzPts val="1400"/>
              <a:buChar char="●"/>
            </a:pPr>
            <a:r>
              <a:rPr b="1" lang="en">
                <a:solidFill>
                  <a:srgbClr val="002B42"/>
                </a:solidFill>
              </a:rPr>
              <a:t>Significance:</a:t>
            </a:r>
            <a:r>
              <a:rPr lang="en">
                <a:solidFill>
                  <a:srgbClr val="002B42"/>
                </a:solidFill>
              </a:rPr>
              <a:t> The original study used RNA-Seq to identify 316 differentially expressed genes, notably identifying CRISPLD2 as a novel gene that modulates the anti-inflammatory effects of glucocorticoids in the airway</a:t>
            </a:r>
            <a:endParaRPr>
              <a:solidFill>
                <a:srgbClr val="002B42"/>
              </a:solidFill>
            </a:endParaRPr>
          </a:p>
        </p:txBody>
      </p:sp>
      <p:sp>
        <p:nvSpPr>
          <p:cNvPr id="719" name="Google Shape;719;p113"/>
          <p:cNvSpPr txBox="1"/>
          <p:nvPr/>
        </p:nvSpPr>
        <p:spPr>
          <a:xfrm>
            <a:off x="272400" y="152400"/>
            <a:ext cx="8571000" cy="7368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None/>
            </a:pPr>
            <a:r>
              <a:rPr b="1" lang="en" sz="3300">
                <a:solidFill>
                  <a:srgbClr val="F76912"/>
                </a:solidFill>
                <a:latin typeface="Helvetica Neue"/>
                <a:ea typeface="Helvetica Neue"/>
                <a:cs typeface="Helvetica Neue"/>
                <a:sym typeface="Helvetica Neue"/>
              </a:rPr>
              <a:t>Dataset</a:t>
            </a:r>
            <a:endParaRPr b="1" sz="3300">
              <a:solidFill>
                <a:srgbClr val="F76912"/>
              </a:solidFill>
              <a:latin typeface="Helvetica Neue"/>
              <a:ea typeface="Helvetica Neue"/>
              <a:cs typeface="Helvetica Neue"/>
              <a:sym typeface="Helvetica Neue"/>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114"/>
          <p:cNvSpPr txBox="1"/>
          <p:nvPr>
            <p:ph idx="1" type="body"/>
          </p:nvPr>
        </p:nvSpPr>
        <p:spPr>
          <a:xfrm>
            <a:off x="628650" y="1369219"/>
            <a:ext cx="7886700" cy="3263400"/>
          </a:xfrm>
          <a:prstGeom prst="rect">
            <a:avLst/>
          </a:prstGeom>
        </p:spPr>
        <p:txBody>
          <a:bodyPr anchorCtr="0" anchor="t" bIns="0" lIns="0" spcFirstLastPara="1" rIns="0" wrap="square" tIns="0">
            <a:normAutofit/>
          </a:bodyPr>
          <a:lstStyle/>
          <a:p>
            <a:pPr indent="0" lvl="0" marL="0" rtl="0" algn="l">
              <a:spcBef>
                <a:spcPts val="800"/>
              </a:spcBef>
              <a:spcAft>
                <a:spcPts val="0"/>
              </a:spcAft>
              <a:buNone/>
            </a:pPr>
            <a:r>
              <a:rPr lang="en">
                <a:latin typeface="Arial"/>
                <a:ea typeface="Arial"/>
                <a:cs typeface="Arial"/>
                <a:sym typeface="Arial"/>
              </a:rPr>
              <a:t>Which operating system will you use for the hands-on section</a:t>
            </a:r>
            <a:r>
              <a:rPr lang="en">
                <a:latin typeface="Arial"/>
                <a:ea typeface="Arial"/>
                <a:cs typeface="Arial"/>
                <a:sym typeface="Arial"/>
              </a:rPr>
              <a:t>?</a:t>
            </a:r>
            <a:endParaRPr>
              <a:latin typeface="Arial"/>
              <a:ea typeface="Arial"/>
              <a:cs typeface="Arial"/>
              <a:sym typeface="Arial"/>
            </a:endParaRPr>
          </a:p>
          <a:p>
            <a:pPr indent="-273050" lvl="0" marL="685800" rtl="0" algn="l">
              <a:spcBef>
                <a:spcPts val="800"/>
              </a:spcBef>
              <a:spcAft>
                <a:spcPts val="0"/>
              </a:spcAft>
              <a:buSzPts val="1700"/>
              <a:buAutoNum type="arabicPeriod"/>
            </a:pPr>
            <a:r>
              <a:rPr lang="en">
                <a:latin typeface="Arial"/>
                <a:ea typeface="Arial"/>
                <a:cs typeface="Arial"/>
                <a:sym typeface="Arial"/>
              </a:rPr>
              <a:t>Mac - Intel chip</a:t>
            </a:r>
            <a:endParaRPr>
              <a:latin typeface="Arial"/>
              <a:ea typeface="Arial"/>
              <a:cs typeface="Arial"/>
              <a:sym typeface="Arial"/>
            </a:endParaRPr>
          </a:p>
          <a:p>
            <a:pPr indent="-254000" lvl="0" marL="685800" rtl="0" algn="l">
              <a:spcBef>
                <a:spcPts val="800"/>
              </a:spcBef>
              <a:spcAft>
                <a:spcPts val="0"/>
              </a:spcAft>
              <a:buSzPts val="1400"/>
              <a:buFont typeface="Arial"/>
              <a:buAutoNum type="arabicPeriod"/>
            </a:pPr>
            <a:r>
              <a:rPr lang="en">
                <a:latin typeface="Arial"/>
                <a:ea typeface="Arial"/>
                <a:cs typeface="Arial"/>
                <a:sym typeface="Arial"/>
              </a:rPr>
              <a:t>Mac - Apple chip</a:t>
            </a:r>
            <a:endParaRPr>
              <a:latin typeface="Arial"/>
              <a:ea typeface="Arial"/>
              <a:cs typeface="Arial"/>
              <a:sym typeface="Arial"/>
            </a:endParaRPr>
          </a:p>
          <a:p>
            <a:pPr indent="-273050" lvl="0" marL="685800" rtl="0" algn="l">
              <a:spcBef>
                <a:spcPts val="0"/>
              </a:spcBef>
              <a:spcAft>
                <a:spcPts val="0"/>
              </a:spcAft>
              <a:buSzPts val="1700"/>
              <a:buAutoNum type="arabicPeriod"/>
            </a:pPr>
            <a:r>
              <a:rPr lang="en">
                <a:latin typeface="Arial"/>
                <a:ea typeface="Arial"/>
                <a:cs typeface="Arial"/>
                <a:sym typeface="Arial"/>
              </a:rPr>
              <a:t>Windows</a:t>
            </a:r>
            <a:endParaRPr>
              <a:latin typeface="Arial"/>
              <a:ea typeface="Arial"/>
              <a:cs typeface="Arial"/>
              <a:sym typeface="Arial"/>
            </a:endParaRPr>
          </a:p>
          <a:p>
            <a:pPr indent="-254000" lvl="0" marL="685800" rtl="0" algn="l">
              <a:spcBef>
                <a:spcPts val="0"/>
              </a:spcBef>
              <a:spcAft>
                <a:spcPts val="0"/>
              </a:spcAft>
              <a:buSzPts val="1400"/>
              <a:buFont typeface="Arial"/>
              <a:buAutoNum type="arabicPeriod"/>
            </a:pPr>
            <a:r>
              <a:rPr lang="en">
                <a:latin typeface="Arial"/>
                <a:ea typeface="Arial"/>
                <a:cs typeface="Arial"/>
                <a:sym typeface="Arial"/>
              </a:rPr>
              <a:t>Linux</a:t>
            </a:r>
            <a:endParaRPr>
              <a:latin typeface="Arial"/>
              <a:ea typeface="Arial"/>
              <a:cs typeface="Arial"/>
              <a:sym typeface="Arial"/>
            </a:endParaRPr>
          </a:p>
          <a:p>
            <a:pPr indent="0" lvl="0" marL="0" rtl="0" algn="l">
              <a:spcBef>
                <a:spcPts val="800"/>
              </a:spcBef>
              <a:spcAft>
                <a:spcPts val="0"/>
              </a:spcAft>
              <a:buNone/>
            </a:pPr>
            <a:r>
              <a:t/>
            </a:r>
            <a:endParaRPr/>
          </a:p>
        </p:txBody>
      </p:sp>
      <p:sp>
        <p:nvSpPr>
          <p:cNvPr id="725" name="Google Shape;725;p114"/>
          <p:cNvSpPr txBox="1"/>
          <p:nvPr>
            <p:ph type="title"/>
          </p:nvPr>
        </p:nvSpPr>
        <p:spPr>
          <a:xfrm>
            <a:off x="628650" y="531341"/>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Poll 4</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115"/>
          <p:cNvSpPr txBox="1"/>
          <p:nvPr>
            <p:ph type="title"/>
          </p:nvPr>
        </p:nvSpPr>
        <p:spPr>
          <a:xfrm>
            <a:off x="628650" y="997525"/>
            <a:ext cx="7886700" cy="34272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t/>
            </a:r>
            <a:endParaRPr/>
          </a:p>
          <a:p>
            <a:pPr indent="-417195" lvl="0" marL="457200" rtl="0" algn="l">
              <a:spcBef>
                <a:spcPts val="0"/>
              </a:spcBef>
              <a:spcAft>
                <a:spcPts val="0"/>
              </a:spcAft>
              <a:buSzPct val="165000"/>
              <a:buChar char="●"/>
            </a:pPr>
            <a:r>
              <a:rPr lang="en"/>
              <a:t>Docker desktop installation </a:t>
            </a:r>
            <a:r>
              <a:rPr lang="en" sz="2000"/>
              <a:t>(</a:t>
            </a:r>
            <a:r>
              <a:rPr lang="en" sz="2000" u="sng">
                <a:solidFill>
                  <a:schemeClr val="hlink"/>
                </a:solidFill>
                <a:hlinkClick r:id="rId3"/>
              </a:rPr>
              <a:t>https://www.docker.com/products/docker-desktop/</a:t>
            </a:r>
            <a:r>
              <a:rPr lang="en" sz="2000"/>
              <a:t> )</a:t>
            </a:r>
            <a:endParaRPr sz="2000"/>
          </a:p>
          <a:p>
            <a:pPr indent="0" lvl="0" marL="457200" rtl="0" algn="l">
              <a:spcBef>
                <a:spcPts val="0"/>
              </a:spcBef>
              <a:spcAft>
                <a:spcPts val="0"/>
              </a:spcAft>
              <a:buNone/>
            </a:pPr>
            <a:r>
              <a:rPr lang="en" sz="2000"/>
              <a:t>(</a:t>
            </a:r>
            <a:r>
              <a:rPr lang="en" sz="2000" u="sng">
                <a:solidFill>
                  <a:schemeClr val="hlink"/>
                </a:solidFill>
                <a:hlinkClick r:id="rId4"/>
              </a:rPr>
              <a:t>https://docs.docker.com/desktop/install/windows-install/</a:t>
            </a:r>
            <a:r>
              <a:rPr lang="en" sz="2000"/>
              <a:t>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417195" lvl="0" marL="457200" rtl="0" algn="l">
              <a:spcBef>
                <a:spcPts val="0"/>
              </a:spcBef>
              <a:spcAft>
                <a:spcPts val="0"/>
              </a:spcAft>
              <a:buSzPct val="100000"/>
              <a:buChar char="●"/>
            </a:pPr>
            <a:r>
              <a:rPr lang="en"/>
              <a:t>How to access public datasets?</a:t>
            </a:r>
            <a:endParaRPr/>
          </a:p>
          <a:p>
            <a:pPr indent="-316230" lvl="1" marL="914400" rtl="0" algn="l">
              <a:spcBef>
                <a:spcPts val="0"/>
              </a:spcBef>
              <a:spcAft>
                <a:spcPts val="0"/>
              </a:spcAft>
              <a:buSzPct val="100000"/>
              <a:buChar char="○"/>
            </a:pPr>
            <a:r>
              <a:rPr lang="en" sz="1533">
                <a:solidFill>
                  <a:schemeClr val="dk1"/>
                </a:solidFill>
              </a:rPr>
              <a:t>Downloading data from GEO</a:t>
            </a:r>
            <a:endParaRPr sz="1533">
              <a:solidFill>
                <a:schemeClr val="dk1"/>
              </a:solidFill>
            </a:endParaRPr>
          </a:p>
          <a:p>
            <a:pPr indent="-316230" lvl="2" marL="1371600" rtl="0" algn="l">
              <a:spcBef>
                <a:spcPts val="0"/>
              </a:spcBef>
              <a:spcAft>
                <a:spcPts val="0"/>
              </a:spcAft>
              <a:buSzPct val="100000"/>
              <a:buChar char="■"/>
            </a:pPr>
            <a:r>
              <a:rPr lang="en" sz="1533" u="sng">
                <a:solidFill>
                  <a:schemeClr val="hlink"/>
                </a:solidFill>
                <a:hlinkClick r:id="rId5"/>
              </a:rPr>
              <a:t>https://bioinformaticsworkbook.org/dataAcquisition/fileTransfer/sra.html#gsc.tab=0</a:t>
            </a:r>
            <a:endParaRPr sz="1833"/>
          </a:p>
          <a:p>
            <a:pPr indent="-316230" lvl="2" marL="1371600" rtl="0" algn="l">
              <a:spcBef>
                <a:spcPts val="0"/>
              </a:spcBef>
              <a:spcAft>
                <a:spcPts val="0"/>
              </a:spcAft>
              <a:buSzPct val="100000"/>
              <a:buChar char="■"/>
            </a:pPr>
            <a:r>
              <a:rPr lang="en" sz="1533" u="sng">
                <a:solidFill>
                  <a:schemeClr val="hlink"/>
                </a:solidFill>
                <a:hlinkClick r:id="rId6"/>
              </a:rPr>
              <a:t>https://erilu.github.io/python-fastq-downloader/</a:t>
            </a:r>
            <a:r>
              <a:rPr lang="en" sz="1533">
                <a:solidFill>
                  <a:schemeClr val="dk1"/>
                </a:solidFill>
              </a:rPr>
              <a:t> </a:t>
            </a:r>
            <a:endParaRPr sz="1833"/>
          </a:p>
          <a:p>
            <a:pPr indent="0" lvl="0" marL="0" rtl="0" algn="l">
              <a:spcBef>
                <a:spcPts val="0"/>
              </a:spcBef>
              <a:spcAft>
                <a:spcPts val="0"/>
              </a:spcAft>
              <a:buNone/>
            </a:pPr>
            <a:r>
              <a:t/>
            </a:r>
            <a:endParaRPr/>
          </a:p>
        </p:txBody>
      </p:sp>
      <p:sp>
        <p:nvSpPr>
          <p:cNvPr id="731" name="Google Shape;731;p115"/>
          <p:cNvSpPr txBox="1"/>
          <p:nvPr>
            <p:ph type="title"/>
          </p:nvPr>
        </p:nvSpPr>
        <p:spPr>
          <a:xfrm>
            <a:off x="274320" y="155448"/>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Demo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116"/>
          <p:cNvSpPr txBox="1"/>
          <p:nvPr>
            <p:ph type="title"/>
          </p:nvPr>
        </p:nvSpPr>
        <p:spPr>
          <a:xfrm>
            <a:off x="628650" y="531341"/>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Poll 5</a:t>
            </a:r>
            <a:endParaRPr/>
          </a:p>
        </p:txBody>
      </p:sp>
      <p:sp>
        <p:nvSpPr>
          <p:cNvPr id="737" name="Google Shape;737;p116"/>
          <p:cNvSpPr txBox="1"/>
          <p:nvPr>
            <p:ph idx="1" type="body"/>
          </p:nvPr>
        </p:nvSpPr>
        <p:spPr>
          <a:xfrm>
            <a:off x="628650" y="1322294"/>
            <a:ext cx="7886700" cy="3263400"/>
          </a:xfrm>
          <a:prstGeom prst="rect">
            <a:avLst/>
          </a:prstGeom>
        </p:spPr>
        <p:txBody>
          <a:bodyPr anchorCtr="0" anchor="t" bIns="0" lIns="0" spcFirstLastPara="1" rIns="0" wrap="square" tIns="0">
            <a:normAutofit/>
          </a:bodyPr>
          <a:lstStyle/>
          <a:p>
            <a:pPr indent="0" lvl="0" marL="0" rtl="0" algn="l">
              <a:spcBef>
                <a:spcPts val="800"/>
              </a:spcBef>
              <a:spcAft>
                <a:spcPts val="0"/>
              </a:spcAft>
              <a:buClr>
                <a:schemeClr val="dk1"/>
              </a:buClr>
              <a:buSzPts val="1400"/>
              <a:buFont typeface="Arial"/>
              <a:buNone/>
            </a:pPr>
            <a:r>
              <a:rPr lang="en">
                <a:latin typeface="Arial"/>
                <a:ea typeface="Arial"/>
                <a:cs typeface="Arial"/>
                <a:sym typeface="Arial"/>
              </a:rPr>
              <a:t>How is the pace?</a:t>
            </a:r>
            <a:endParaRPr>
              <a:latin typeface="Arial"/>
              <a:ea typeface="Arial"/>
              <a:cs typeface="Arial"/>
              <a:sym typeface="Arial"/>
            </a:endParaRPr>
          </a:p>
          <a:p>
            <a:pPr indent="-273050" lvl="0" marL="685800" rtl="0" algn="l">
              <a:spcBef>
                <a:spcPts val="800"/>
              </a:spcBef>
              <a:spcAft>
                <a:spcPts val="0"/>
              </a:spcAft>
              <a:buSzPts val="1700"/>
              <a:buAutoNum type="arabicPeriod"/>
            </a:pPr>
            <a:r>
              <a:rPr lang="en">
                <a:latin typeface="Arial"/>
                <a:ea typeface="Arial"/>
                <a:cs typeface="Arial"/>
                <a:sym typeface="Arial"/>
              </a:rPr>
              <a:t>Too fast  - please go slower</a:t>
            </a:r>
            <a:endParaRPr>
              <a:latin typeface="Arial"/>
              <a:ea typeface="Arial"/>
              <a:cs typeface="Arial"/>
              <a:sym typeface="Arial"/>
            </a:endParaRPr>
          </a:p>
          <a:p>
            <a:pPr indent="-273050" lvl="0" marL="685800" rtl="0" algn="l">
              <a:spcBef>
                <a:spcPts val="0"/>
              </a:spcBef>
              <a:spcAft>
                <a:spcPts val="0"/>
              </a:spcAft>
              <a:buSzPts val="1700"/>
              <a:buAutoNum type="arabicPeriod"/>
            </a:pPr>
            <a:r>
              <a:rPr lang="en">
                <a:latin typeface="Arial"/>
                <a:ea typeface="Arial"/>
                <a:cs typeface="Arial"/>
                <a:sym typeface="Arial"/>
              </a:rPr>
              <a:t>Just right - keep going at the same pace</a:t>
            </a:r>
            <a:endParaRPr>
              <a:latin typeface="Arial"/>
              <a:ea typeface="Arial"/>
              <a:cs typeface="Arial"/>
              <a:sym typeface="Arial"/>
            </a:endParaRPr>
          </a:p>
          <a:p>
            <a:pPr indent="-273050" lvl="0" marL="685800" rtl="0" algn="l">
              <a:spcBef>
                <a:spcPts val="0"/>
              </a:spcBef>
              <a:spcAft>
                <a:spcPts val="0"/>
              </a:spcAft>
              <a:buSzPts val="1700"/>
              <a:buAutoNum type="arabicPeriod"/>
            </a:pPr>
            <a:r>
              <a:rPr lang="en">
                <a:latin typeface="Arial"/>
                <a:ea typeface="Arial"/>
                <a:cs typeface="Arial"/>
                <a:sym typeface="Arial"/>
              </a:rPr>
              <a:t>Too slow - please go faster</a:t>
            </a:r>
            <a:endParaRPr>
              <a:latin typeface="Arial"/>
              <a:ea typeface="Arial"/>
              <a:cs typeface="Arial"/>
              <a:sym typeface="Arial"/>
            </a:endParaRPr>
          </a:p>
          <a:p>
            <a:pPr indent="0" lvl="0" marL="457200" rtl="0" algn="l">
              <a:spcBef>
                <a:spcPts val="800"/>
              </a:spcBef>
              <a:spcAft>
                <a:spcPts val="0"/>
              </a:spcAft>
              <a:buClr>
                <a:schemeClr val="dk1"/>
              </a:buClr>
              <a:buSzPts val="1400"/>
              <a:buFont typeface="Arial"/>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117"/>
          <p:cNvSpPr txBox="1"/>
          <p:nvPr>
            <p:ph type="title"/>
          </p:nvPr>
        </p:nvSpPr>
        <p:spPr>
          <a:xfrm>
            <a:off x="628650" y="997525"/>
            <a:ext cx="7886700" cy="3427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rgbClr val="F76912"/>
                </a:solidFill>
              </a:rPr>
              <a:t>Session II</a:t>
            </a:r>
            <a:endParaRPr/>
          </a:p>
          <a:p>
            <a:pPr indent="0" lvl="0" marL="0" rtl="0" algn="l">
              <a:spcBef>
                <a:spcPts val="0"/>
              </a:spcBef>
              <a:spcAft>
                <a:spcPts val="0"/>
              </a:spcAft>
              <a:buNone/>
            </a:pPr>
            <a:r>
              <a:rPr lang="en"/>
              <a:t>See you t</a:t>
            </a:r>
            <a:r>
              <a:rPr lang="en"/>
              <a:t>oday at 1.05p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pic>
        <p:nvPicPr>
          <p:cNvPr id="747" name="Google Shape;747;p118"/>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119"/>
          <p:cNvSpPr txBox="1"/>
          <p:nvPr>
            <p:ph type="ctrTitle"/>
          </p:nvPr>
        </p:nvSpPr>
        <p:spPr>
          <a:xfrm>
            <a:off x="971425" y="536975"/>
            <a:ext cx="7270500" cy="1790700"/>
          </a:xfrm>
          <a:prstGeom prst="rect">
            <a:avLst/>
          </a:prstGeom>
          <a:noFill/>
          <a:ln>
            <a:noFill/>
          </a:ln>
        </p:spPr>
        <p:txBody>
          <a:bodyPr anchorCtr="0" anchor="b" bIns="0" lIns="0" spcFirstLastPara="1" rIns="0" wrap="square" tIns="0">
            <a:normAutofit/>
          </a:bodyPr>
          <a:lstStyle/>
          <a:p>
            <a:pPr indent="0" lvl="0" marL="0" rtl="0" algn="ctr">
              <a:spcBef>
                <a:spcPts val="0"/>
              </a:spcBef>
              <a:spcAft>
                <a:spcPts val="0"/>
              </a:spcAft>
              <a:buClr>
                <a:schemeClr val="lt1"/>
              </a:buClr>
              <a:buSzPts val="6000"/>
              <a:buFont typeface="Arial"/>
              <a:buNone/>
            </a:pPr>
            <a:r>
              <a:rPr lang="en"/>
              <a:t>Introduction to RNA-seq data analysis</a:t>
            </a:r>
            <a:endParaRPr>
              <a:solidFill>
                <a:srgbClr val="0C343D"/>
              </a:solidFill>
            </a:endParaRPr>
          </a:p>
        </p:txBody>
      </p:sp>
      <p:sp>
        <p:nvSpPr>
          <p:cNvPr id="754" name="Google Shape;754;p119"/>
          <p:cNvSpPr txBox="1"/>
          <p:nvPr>
            <p:ph idx="1" type="subTitle"/>
          </p:nvPr>
        </p:nvSpPr>
        <p:spPr>
          <a:xfrm>
            <a:off x="1143000" y="2839803"/>
            <a:ext cx="6858000" cy="1241700"/>
          </a:xfrm>
          <a:prstGeom prst="rect">
            <a:avLst/>
          </a:prstGeom>
          <a:noFill/>
          <a:ln>
            <a:noFill/>
          </a:ln>
        </p:spPr>
        <p:txBody>
          <a:bodyPr anchorCtr="0" anchor="t" bIns="0" lIns="0" spcFirstLastPara="1" rIns="0" wrap="square" tIns="0">
            <a:normAutofit/>
          </a:bodyPr>
          <a:lstStyle/>
          <a:p>
            <a:pPr indent="0" lvl="0" marL="0" rtl="0" algn="ctr">
              <a:spcBef>
                <a:spcPts val="0"/>
              </a:spcBef>
              <a:spcAft>
                <a:spcPts val="0"/>
              </a:spcAft>
              <a:buClr>
                <a:schemeClr val="lt1"/>
              </a:buClr>
              <a:buSzPts val="2400"/>
              <a:buFont typeface="Arial"/>
              <a:buNone/>
            </a:pPr>
            <a:r>
              <a:rPr lang="en"/>
              <a:t>Michela Traglia, Ayushi Agrawal</a:t>
            </a:r>
            <a:endParaRPr/>
          </a:p>
          <a:p>
            <a:pPr indent="0" lvl="0" marL="0" rtl="0" algn="ctr">
              <a:lnSpc>
                <a:spcPct val="100000"/>
              </a:lnSpc>
              <a:spcBef>
                <a:spcPts val="0"/>
              </a:spcBef>
              <a:spcAft>
                <a:spcPts val="0"/>
              </a:spcAft>
              <a:buClr>
                <a:schemeClr val="lt1"/>
              </a:buClr>
              <a:buSzPts val="2400"/>
              <a:buFont typeface="Arial"/>
              <a:buNone/>
            </a:pPr>
            <a:r>
              <a:rPr lang="en"/>
              <a:t>Bioinformatics Core, GIDB</a:t>
            </a:r>
            <a:endParaRPr/>
          </a:p>
          <a:p>
            <a:pPr indent="0" lvl="0" marL="0" rtl="0" algn="ctr">
              <a:spcBef>
                <a:spcPts val="0"/>
              </a:spcBef>
              <a:spcAft>
                <a:spcPts val="0"/>
              </a:spcAft>
              <a:buClr>
                <a:schemeClr val="lt1"/>
              </a:buClr>
              <a:buSzPts val="2100"/>
              <a:buNone/>
            </a:pPr>
            <a:r>
              <a:rPr lang="en">
                <a:solidFill>
                  <a:schemeClr val="accent2"/>
                </a:solidFill>
              </a:rPr>
              <a:t>September 28-29, 2026</a:t>
            </a:r>
            <a:endParaRPr>
              <a:solidFill>
                <a:schemeClr val="accent2"/>
              </a:solidFill>
            </a:endParaRPr>
          </a:p>
          <a:p>
            <a:pPr indent="0" lvl="0" marL="0" rtl="0" algn="l">
              <a:lnSpc>
                <a:spcPct val="90000"/>
              </a:lnSpc>
              <a:spcBef>
                <a:spcPts val="0"/>
              </a:spcBef>
              <a:spcAft>
                <a:spcPts val="0"/>
              </a:spcAft>
              <a:buClr>
                <a:schemeClr val="lt1"/>
              </a:buClr>
              <a:buSzPts val="2100"/>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120"/>
          <p:cNvSpPr txBox="1"/>
          <p:nvPr>
            <p:ph type="title"/>
          </p:nvPr>
        </p:nvSpPr>
        <p:spPr>
          <a:xfrm>
            <a:off x="134750" y="-4709"/>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Workshop outline</a:t>
            </a:r>
            <a:endParaRPr/>
          </a:p>
        </p:txBody>
      </p:sp>
      <p:sp>
        <p:nvSpPr>
          <p:cNvPr id="760" name="Google Shape;760;p120"/>
          <p:cNvSpPr txBox="1"/>
          <p:nvPr>
            <p:ph idx="1" type="body"/>
          </p:nvPr>
        </p:nvSpPr>
        <p:spPr>
          <a:xfrm>
            <a:off x="134750" y="457575"/>
            <a:ext cx="4589400" cy="462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900">
                <a:solidFill>
                  <a:srgbClr val="999999"/>
                </a:solidFill>
                <a:latin typeface="Arial"/>
                <a:ea typeface="Arial"/>
                <a:cs typeface="Arial"/>
                <a:sym typeface="Arial"/>
              </a:rPr>
              <a:t>Session I </a:t>
            </a:r>
            <a:endParaRPr b="1" sz="1900">
              <a:solidFill>
                <a:srgbClr val="999999"/>
              </a:solidFill>
              <a:latin typeface="Arial"/>
              <a:ea typeface="Arial"/>
              <a:cs typeface="Arial"/>
              <a:sym typeface="Arial"/>
            </a:endParaRPr>
          </a:p>
          <a:p>
            <a:pPr indent="0" lvl="0" marL="0" rtl="0" algn="l">
              <a:lnSpc>
                <a:spcPct val="100000"/>
              </a:lnSpc>
              <a:spcBef>
                <a:spcPts val="0"/>
              </a:spcBef>
              <a:spcAft>
                <a:spcPts val="0"/>
              </a:spcAft>
              <a:buNone/>
            </a:pPr>
            <a:r>
              <a:t/>
            </a:r>
            <a:endParaRPr sz="600">
              <a:solidFill>
                <a:srgbClr val="999999"/>
              </a:solidFill>
              <a:latin typeface="Arial"/>
              <a:ea typeface="Arial"/>
              <a:cs typeface="Arial"/>
              <a:sym typeface="Arial"/>
            </a:endParaRPr>
          </a:p>
          <a:p>
            <a:pPr indent="-336550" lvl="0" marL="457200" rtl="0" algn="l">
              <a:lnSpc>
                <a:spcPct val="100000"/>
              </a:lnSpc>
              <a:spcBef>
                <a:spcPts val="0"/>
              </a:spcBef>
              <a:spcAft>
                <a:spcPts val="0"/>
              </a:spcAft>
              <a:buClr>
                <a:srgbClr val="999999"/>
              </a:buClr>
              <a:buSzPts val="1700"/>
              <a:buFont typeface="Arial"/>
              <a:buChar char="•"/>
            </a:pPr>
            <a:r>
              <a:rPr lang="en" sz="1700">
                <a:solidFill>
                  <a:srgbClr val="999999"/>
                </a:solidFill>
                <a:latin typeface="Arial"/>
                <a:ea typeface="Arial"/>
                <a:cs typeface="Arial"/>
                <a:sym typeface="Arial"/>
              </a:rPr>
              <a:t>RNA-seq analysis overview</a:t>
            </a:r>
            <a:endParaRPr sz="1700">
              <a:solidFill>
                <a:srgbClr val="999999"/>
              </a:solidFill>
              <a:latin typeface="Arial"/>
              <a:ea typeface="Arial"/>
              <a:cs typeface="Arial"/>
              <a:sym typeface="Arial"/>
            </a:endParaRPr>
          </a:p>
          <a:p>
            <a:pPr indent="-336550" lvl="0" marL="457200" rtl="0" algn="l">
              <a:lnSpc>
                <a:spcPct val="100000"/>
              </a:lnSpc>
              <a:spcBef>
                <a:spcPts val="0"/>
              </a:spcBef>
              <a:spcAft>
                <a:spcPts val="0"/>
              </a:spcAft>
              <a:buClr>
                <a:srgbClr val="999999"/>
              </a:buClr>
              <a:buSzPts val="1700"/>
              <a:buFont typeface="Arial"/>
              <a:buChar char="•"/>
            </a:pPr>
            <a:r>
              <a:rPr lang="en" sz="1700">
                <a:solidFill>
                  <a:srgbClr val="999999"/>
                </a:solidFill>
                <a:latin typeface="Arial"/>
                <a:ea typeface="Arial"/>
                <a:cs typeface="Arial"/>
                <a:sym typeface="Arial"/>
              </a:rPr>
              <a:t>Understanding the sequencer output</a:t>
            </a:r>
            <a:endParaRPr sz="1500">
              <a:solidFill>
                <a:srgbClr val="999999"/>
              </a:solidFill>
              <a:latin typeface="Arial"/>
              <a:ea typeface="Arial"/>
              <a:cs typeface="Arial"/>
              <a:sym typeface="Arial"/>
            </a:endParaRPr>
          </a:p>
          <a:p>
            <a:pPr indent="-336550" lvl="0" marL="457200" rtl="0" algn="l">
              <a:lnSpc>
                <a:spcPct val="100000"/>
              </a:lnSpc>
              <a:spcBef>
                <a:spcPts val="0"/>
              </a:spcBef>
              <a:spcAft>
                <a:spcPts val="0"/>
              </a:spcAft>
              <a:buClr>
                <a:srgbClr val="999999"/>
              </a:buClr>
              <a:buSzPts val="1700"/>
              <a:buFont typeface="Arial"/>
              <a:buChar char="•"/>
            </a:pPr>
            <a:r>
              <a:rPr lang="en" sz="1700">
                <a:solidFill>
                  <a:srgbClr val="999999"/>
                </a:solidFill>
                <a:latin typeface="Arial"/>
                <a:ea typeface="Arial"/>
                <a:cs typeface="Arial"/>
                <a:sym typeface="Arial"/>
              </a:rPr>
              <a:t>Quality checks</a:t>
            </a:r>
            <a:endParaRPr b="1" sz="1400">
              <a:solidFill>
                <a:srgbClr val="999999"/>
              </a:solidFill>
              <a:latin typeface="Arial"/>
              <a:ea typeface="Arial"/>
              <a:cs typeface="Arial"/>
              <a:sym typeface="Arial"/>
            </a:endParaRPr>
          </a:p>
          <a:p>
            <a:pPr indent="-336550" lvl="0" marL="457200" rtl="0" algn="l">
              <a:lnSpc>
                <a:spcPct val="100000"/>
              </a:lnSpc>
              <a:spcBef>
                <a:spcPts val="0"/>
              </a:spcBef>
              <a:spcAft>
                <a:spcPts val="0"/>
              </a:spcAft>
              <a:buClr>
                <a:srgbClr val="999999"/>
              </a:buClr>
              <a:buSzPts val="1700"/>
              <a:buChar char="•"/>
            </a:pPr>
            <a:r>
              <a:rPr lang="en" sz="1700">
                <a:solidFill>
                  <a:srgbClr val="999999"/>
                </a:solidFill>
                <a:latin typeface="Arial"/>
                <a:ea typeface="Arial"/>
                <a:cs typeface="Arial"/>
                <a:sym typeface="Arial"/>
              </a:rPr>
              <a:t>Trimming of adapters</a:t>
            </a:r>
            <a:endParaRPr sz="1700">
              <a:solidFill>
                <a:srgbClr val="999999"/>
              </a:solidFill>
              <a:latin typeface="Arial"/>
              <a:ea typeface="Arial"/>
              <a:cs typeface="Arial"/>
              <a:sym typeface="Arial"/>
            </a:endParaRPr>
          </a:p>
          <a:p>
            <a:pPr indent="0" lvl="0" marL="914400" rtl="0" algn="l">
              <a:lnSpc>
                <a:spcPct val="100000"/>
              </a:lnSpc>
              <a:spcBef>
                <a:spcPts val="1000"/>
              </a:spcBef>
              <a:spcAft>
                <a:spcPts val="0"/>
              </a:spcAft>
              <a:buNone/>
            </a:pPr>
            <a:r>
              <a:rPr lang="en" sz="1700">
                <a:solidFill>
                  <a:srgbClr val="999999"/>
                </a:solidFill>
                <a:latin typeface="Arial"/>
                <a:ea typeface="Arial"/>
                <a:cs typeface="Arial"/>
                <a:sym typeface="Arial"/>
              </a:rPr>
              <a:t>Break</a:t>
            </a:r>
            <a:endParaRPr sz="1700">
              <a:solidFill>
                <a:srgbClr val="999999"/>
              </a:solidFill>
              <a:latin typeface="Arial"/>
              <a:ea typeface="Arial"/>
              <a:cs typeface="Arial"/>
              <a:sym typeface="Arial"/>
            </a:endParaRPr>
          </a:p>
          <a:p>
            <a:pPr indent="-336550" lvl="0" marL="457200" rtl="0" algn="l">
              <a:lnSpc>
                <a:spcPct val="100000"/>
              </a:lnSpc>
              <a:spcBef>
                <a:spcPts val="0"/>
              </a:spcBef>
              <a:spcAft>
                <a:spcPts val="0"/>
              </a:spcAft>
              <a:buClr>
                <a:srgbClr val="999999"/>
              </a:buClr>
              <a:buSzPts val="1700"/>
              <a:buChar char="•"/>
            </a:pPr>
            <a:r>
              <a:rPr lang="en" sz="1700">
                <a:solidFill>
                  <a:srgbClr val="999999"/>
                </a:solidFill>
                <a:latin typeface="Arial"/>
                <a:ea typeface="Arial"/>
                <a:cs typeface="Arial"/>
                <a:sym typeface="Arial"/>
              </a:rPr>
              <a:t>Introduction to docker and setup</a:t>
            </a:r>
            <a:endParaRPr sz="1700">
              <a:solidFill>
                <a:srgbClr val="999999"/>
              </a:solidFill>
              <a:latin typeface="Arial"/>
              <a:ea typeface="Arial"/>
              <a:cs typeface="Arial"/>
              <a:sym typeface="Arial"/>
            </a:endParaRPr>
          </a:p>
          <a:p>
            <a:pPr indent="-336550" lvl="0" marL="457200" rtl="0" algn="l">
              <a:lnSpc>
                <a:spcPct val="100000"/>
              </a:lnSpc>
              <a:spcBef>
                <a:spcPts val="0"/>
              </a:spcBef>
              <a:spcAft>
                <a:spcPts val="0"/>
              </a:spcAft>
              <a:buClr>
                <a:srgbClr val="999999"/>
              </a:buClr>
              <a:buSzPts val="1700"/>
              <a:buFont typeface="Arial"/>
              <a:buChar char="•"/>
            </a:pPr>
            <a:r>
              <a:rPr lang="en" sz="1700">
                <a:solidFill>
                  <a:srgbClr val="999999"/>
                </a:solidFill>
                <a:latin typeface="Arial"/>
                <a:ea typeface="Arial"/>
                <a:cs typeface="Arial"/>
                <a:sym typeface="Arial"/>
              </a:rPr>
              <a:t>Demo - QC steps</a:t>
            </a:r>
            <a:endParaRPr sz="1700">
              <a:solidFill>
                <a:srgbClr val="999999"/>
              </a:solidFill>
              <a:latin typeface="Arial"/>
              <a:ea typeface="Arial"/>
              <a:cs typeface="Arial"/>
              <a:sym typeface="Arial"/>
            </a:endParaRPr>
          </a:p>
          <a:p>
            <a:pPr indent="0" lvl="0" marL="0" rtl="0" algn="l">
              <a:spcBef>
                <a:spcPts val="0"/>
              </a:spcBef>
              <a:spcAft>
                <a:spcPts val="0"/>
              </a:spcAft>
              <a:buNone/>
            </a:pPr>
            <a:r>
              <a:t/>
            </a:r>
            <a:endParaRPr b="1" sz="1000">
              <a:latin typeface="Arial"/>
              <a:ea typeface="Arial"/>
              <a:cs typeface="Arial"/>
              <a:sym typeface="Arial"/>
            </a:endParaRPr>
          </a:p>
          <a:p>
            <a:pPr indent="0" lvl="0" marL="0" rtl="0" algn="l">
              <a:spcBef>
                <a:spcPts val="0"/>
              </a:spcBef>
              <a:spcAft>
                <a:spcPts val="0"/>
              </a:spcAft>
              <a:buNone/>
            </a:pPr>
            <a:r>
              <a:rPr b="1" lang="en" sz="1900">
                <a:solidFill>
                  <a:schemeClr val="accent2"/>
                </a:solidFill>
                <a:latin typeface="Arial"/>
                <a:ea typeface="Arial"/>
                <a:cs typeface="Arial"/>
                <a:sym typeface="Arial"/>
              </a:rPr>
              <a:t>Session II </a:t>
            </a:r>
            <a:endParaRPr b="1" sz="1900">
              <a:solidFill>
                <a:schemeClr val="accent2"/>
              </a:solidFill>
              <a:latin typeface="Arial"/>
              <a:ea typeface="Arial"/>
              <a:cs typeface="Arial"/>
              <a:sym typeface="Arial"/>
            </a:endParaRPr>
          </a:p>
          <a:p>
            <a:pPr indent="-336550" lvl="0" marL="457200" rtl="0" algn="l">
              <a:lnSpc>
                <a:spcPct val="100000"/>
              </a:lnSpc>
              <a:spcBef>
                <a:spcPts val="1000"/>
              </a:spcBef>
              <a:spcAft>
                <a:spcPts val="0"/>
              </a:spcAft>
              <a:buClr>
                <a:srgbClr val="002B42"/>
              </a:buClr>
              <a:buSzPts val="1700"/>
              <a:buFont typeface="Arial"/>
              <a:buChar char="•"/>
            </a:pPr>
            <a:r>
              <a:rPr lang="en" sz="1700">
                <a:latin typeface="Arial"/>
                <a:ea typeface="Arial"/>
                <a:cs typeface="Arial"/>
                <a:sym typeface="Arial"/>
              </a:rPr>
              <a:t>Mapping the read to reference genome</a:t>
            </a:r>
            <a:endParaRPr sz="1700">
              <a:latin typeface="Arial"/>
              <a:ea typeface="Arial"/>
              <a:cs typeface="Arial"/>
              <a:sym typeface="Arial"/>
            </a:endParaRPr>
          </a:p>
          <a:p>
            <a:pPr indent="-336550" lvl="0" marL="457200" rtl="0" algn="l">
              <a:lnSpc>
                <a:spcPct val="100000"/>
              </a:lnSpc>
              <a:spcBef>
                <a:spcPts val="0"/>
              </a:spcBef>
              <a:spcAft>
                <a:spcPts val="0"/>
              </a:spcAft>
              <a:buClr>
                <a:srgbClr val="002B42"/>
              </a:buClr>
              <a:buSzPts val="1700"/>
              <a:buFont typeface="Arial"/>
              <a:buChar char="•"/>
            </a:pPr>
            <a:r>
              <a:rPr lang="en" sz="1700">
                <a:latin typeface="Arial"/>
                <a:ea typeface="Arial"/>
                <a:cs typeface="Arial"/>
                <a:sym typeface="Arial"/>
              </a:rPr>
              <a:t>From alignment to counting</a:t>
            </a:r>
            <a:r>
              <a:rPr lang="en" sz="1700">
                <a:solidFill>
                  <a:srgbClr val="002B42"/>
                </a:solidFill>
                <a:latin typeface="Arial"/>
                <a:ea typeface="Arial"/>
                <a:cs typeface="Arial"/>
                <a:sym typeface="Arial"/>
              </a:rPr>
              <a:t> </a:t>
            </a:r>
            <a:r>
              <a:rPr lang="en" sz="1700">
                <a:latin typeface="Arial"/>
                <a:ea typeface="Arial"/>
                <a:cs typeface="Arial"/>
                <a:sym typeface="Arial"/>
              </a:rPr>
              <a:t>features </a:t>
            </a:r>
            <a:endParaRPr sz="1700">
              <a:latin typeface="Arial"/>
              <a:ea typeface="Arial"/>
              <a:cs typeface="Arial"/>
              <a:sym typeface="Arial"/>
            </a:endParaRPr>
          </a:p>
          <a:p>
            <a:pPr indent="457200" lvl="0" marL="457200" rtl="0" algn="l">
              <a:lnSpc>
                <a:spcPct val="100000"/>
              </a:lnSpc>
              <a:spcBef>
                <a:spcPts val="1000"/>
              </a:spcBef>
              <a:spcAft>
                <a:spcPts val="0"/>
              </a:spcAft>
              <a:buNone/>
            </a:pPr>
            <a:r>
              <a:rPr lang="en" sz="1600">
                <a:latin typeface="Arial"/>
                <a:ea typeface="Arial"/>
                <a:cs typeface="Arial"/>
                <a:sym typeface="Arial"/>
              </a:rPr>
              <a:t>Break</a:t>
            </a:r>
            <a:endParaRPr sz="1600">
              <a:latin typeface="Arial"/>
              <a:ea typeface="Arial"/>
              <a:cs typeface="Arial"/>
              <a:sym typeface="Arial"/>
            </a:endParaRPr>
          </a:p>
          <a:p>
            <a:pPr indent="-336550" lvl="0" marL="457200" rtl="0" algn="l">
              <a:lnSpc>
                <a:spcPct val="100000"/>
              </a:lnSpc>
              <a:spcBef>
                <a:spcPts val="1000"/>
              </a:spcBef>
              <a:spcAft>
                <a:spcPts val="0"/>
              </a:spcAft>
              <a:buSzPts val="1700"/>
              <a:buFont typeface="Arial"/>
              <a:buChar char="•"/>
            </a:pPr>
            <a:r>
              <a:rPr lang="en" sz="1700">
                <a:latin typeface="Arial"/>
                <a:ea typeface="Arial"/>
                <a:cs typeface="Arial"/>
                <a:sym typeface="Arial"/>
              </a:rPr>
              <a:t>Demo - from Mapping to the count matrix</a:t>
            </a:r>
            <a:endParaRPr sz="1700">
              <a:latin typeface="Arial"/>
              <a:ea typeface="Arial"/>
              <a:cs typeface="Arial"/>
              <a:sym typeface="Arial"/>
            </a:endParaRPr>
          </a:p>
          <a:p>
            <a:pPr indent="0" lvl="0" marL="0" rtl="0" algn="l">
              <a:lnSpc>
                <a:spcPct val="100000"/>
              </a:lnSpc>
              <a:spcBef>
                <a:spcPts val="0"/>
              </a:spcBef>
              <a:spcAft>
                <a:spcPts val="0"/>
              </a:spcAft>
              <a:buNone/>
            </a:pPr>
            <a:r>
              <a:t/>
            </a:r>
            <a:endParaRPr b="1" sz="1800">
              <a:latin typeface="Arial"/>
              <a:ea typeface="Arial"/>
              <a:cs typeface="Arial"/>
              <a:sym typeface="Arial"/>
            </a:endParaRPr>
          </a:p>
          <a:p>
            <a:pPr indent="0" lvl="0" marL="0" rtl="0" algn="l">
              <a:spcBef>
                <a:spcPts val="0"/>
              </a:spcBef>
              <a:spcAft>
                <a:spcPts val="0"/>
              </a:spcAft>
              <a:buNone/>
            </a:pPr>
            <a:r>
              <a:t/>
            </a:r>
            <a:endParaRPr b="1" sz="1800">
              <a:latin typeface="Arial"/>
              <a:ea typeface="Arial"/>
              <a:cs typeface="Arial"/>
              <a:sym typeface="Arial"/>
            </a:endParaRPr>
          </a:p>
        </p:txBody>
      </p:sp>
      <p:sp>
        <p:nvSpPr>
          <p:cNvPr id="761" name="Google Shape;761;p120"/>
          <p:cNvSpPr txBox="1"/>
          <p:nvPr>
            <p:ph idx="1" type="body"/>
          </p:nvPr>
        </p:nvSpPr>
        <p:spPr>
          <a:xfrm>
            <a:off x="4662900" y="457575"/>
            <a:ext cx="4481100" cy="462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900">
                <a:solidFill>
                  <a:srgbClr val="B7B7B7"/>
                </a:solidFill>
                <a:latin typeface="Arial"/>
                <a:ea typeface="Arial"/>
                <a:cs typeface="Arial"/>
                <a:sym typeface="Arial"/>
              </a:rPr>
              <a:t>Session III </a:t>
            </a:r>
            <a:endParaRPr b="1" sz="1900">
              <a:solidFill>
                <a:srgbClr val="B7B7B7"/>
              </a:solidFill>
              <a:latin typeface="Arial"/>
              <a:ea typeface="Arial"/>
              <a:cs typeface="Arial"/>
              <a:sym typeface="Arial"/>
            </a:endParaRPr>
          </a:p>
          <a:p>
            <a:pPr indent="0" lvl="0" marL="0" rtl="0" algn="l">
              <a:lnSpc>
                <a:spcPct val="100000"/>
              </a:lnSpc>
              <a:spcBef>
                <a:spcPts val="0"/>
              </a:spcBef>
              <a:spcAft>
                <a:spcPts val="0"/>
              </a:spcAft>
              <a:buNone/>
            </a:pPr>
            <a:r>
              <a:t/>
            </a:r>
            <a:endParaRPr sz="600">
              <a:solidFill>
                <a:srgbClr val="B7B7B7"/>
              </a:solidFill>
              <a:latin typeface="Arial"/>
              <a:ea typeface="Arial"/>
              <a:cs typeface="Arial"/>
              <a:sym typeface="Arial"/>
            </a:endParaRPr>
          </a:p>
          <a:p>
            <a:pPr indent="-336550" lvl="0" marL="457200" rtl="0" algn="l">
              <a:lnSpc>
                <a:spcPct val="100000"/>
              </a:lnSpc>
              <a:spcBef>
                <a:spcPts val="0"/>
              </a:spcBef>
              <a:spcAft>
                <a:spcPts val="0"/>
              </a:spcAft>
              <a:buClr>
                <a:srgbClr val="B7B7B7"/>
              </a:buClr>
              <a:buSzPts val="1700"/>
              <a:buFont typeface="Arial"/>
              <a:buChar char="•"/>
            </a:pPr>
            <a:r>
              <a:rPr lang="en" sz="1700">
                <a:solidFill>
                  <a:srgbClr val="B7B7B7"/>
                </a:solidFill>
                <a:latin typeface="Arial"/>
                <a:ea typeface="Arial"/>
                <a:cs typeface="Arial"/>
                <a:sym typeface="Arial"/>
              </a:rPr>
              <a:t>Filtering low counts genes</a:t>
            </a:r>
            <a:endParaRPr sz="1700">
              <a:solidFill>
                <a:srgbClr val="B7B7B7"/>
              </a:solidFill>
              <a:latin typeface="Arial"/>
              <a:ea typeface="Arial"/>
              <a:cs typeface="Arial"/>
              <a:sym typeface="Arial"/>
            </a:endParaRPr>
          </a:p>
          <a:p>
            <a:pPr indent="-336550" lvl="0" marL="457200" rtl="0" algn="l">
              <a:lnSpc>
                <a:spcPct val="100000"/>
              </a:lnSpc>
              <a:spcBef>
                <a:spcPts val="0"/>
              </a:spcBef>
              <a:spcAft>
                <a:spcPts val="0"/>
              </a:spcAft>
              <a:buClr>
                <a:srgbClr val="B7B7B7"/>
              </a:buClr>
              <a:buSzPts val="1700"/>
              <a:buFont typeface="Arial"/>
              <a:buChar char="•"/>
            </a:pPr>
            <a:r>
              <a:rPr lang="en" sz="1700">
                <a:solidFill>
                  <a:srgbClr val="B7B7B7"/>
                </a:solidFill>
                <a:latin typeface="Arial"/>
                <a:ea typeface="Arial"/>
                <a:cs typeface="Arial"/>
                <a:sym typeface="Arial"/>
              </a:rPr>
              <a:t>Dimensionality reduction </a:t>
            </a:r>
            <a:endParaRPr sz="1700">
              <a:solidFill>
                <a:srgbClr val="B7B7B7"/>
              </a:solidFill>
              <a:latin typeface="Arial"/>
              <a:ea typeface="Arial"/>
              <a:cs typeface="Arial"/>
              <a:sym typeface="Arial"/>
            </a:endParaRPr>
          </a:p>
          <a:p>
            <a:pPr indent="-336550" lvl="0" marL="457200" rtl="0" algn="l">
              <a:lnSpc>
                <a:spcPct val="100000"/>
              </a:lnSpc>
              <a:spcBef>
                <a:spcPts val="0"/>
              </a:spcBef>
              <a:spcAft>
                <a:spcPts val="0"/>
              </a:spcAft>
              <a:buClr>
                <a:srgbClr val="B7B7B7"/>
              </a:buClr>
              <a:buSzPts val="1700"/>
              <a:buFont typeface="Arial"/>
              <a:buChar char="•"/>
            </a:pPr>
            <a:r>
              <a:rPr lang="en" sz="1700">
                <a:solidFill>
                  <a:srgbClr val="B7B7B7"/>
                </a:solidFill>
                <a:latin typeface="Arial"/>
                <a:ea typeface="Arial"/>
                <a:cs typeface="Arial"/>
                <a:sym typeface="Arial"/>
              </a:rPr>
              <a:t>Normalization</a:t>
            </a:r>
            <a:endParaRPr sz="1700">
              <a:solidFill>
                <a:srgbClr val="B7B7B7"/>
              </a:solidFill>
              <a:latin typeface="Arial"/>
              <a:ea typeface="Arial"/>
              <a:cs typeface="Arial"/>
              <a:sym typeface="Arial"/>
            </a:endParaRPr>
          </a:p>
          <a:p>
            <a:pPr indent="0" lvl="0" marL="914400" rtl="0" algn="l">
              <a:lnSpc>
                <a:spcPct val="100000"/>
              </a:lnSpc>
              <a:spcBef>
                <a:spcPts val="1000"/>
              </a:spcBef>
              <a:spcAft>
                <a:spcPts val="0"/>
              </a:spcAft>
              <a:buNone/>
            </a:pPr>
            <a:r>
              <a:rPr lang="en" sz="1700">
                <a:solidFill>
                  <a:srgbClr val="B7B7B7"/>
                </a:solidFill>
                <a:latin typeface="Arial"/>
                <a:ea typeface="Arial"/>
                <a:cs typeface="Arial"/>
                <a:sym typeface="Arial"/>
              </a:rPr>
              <a:t>Break</a:t>
            </a:r>
            <a:endParaRPr sz="1700">
              <a:solidFill>
                <a:srgbClr val="B7B7B7"/>
              </a:solidFill>
              <a:latin typeface="Arial"/>
              <a:ea typeface="Arial"/>
              <a:cs typeface="Arial"/>
              <a:sym typeface="Arial"/>
            </a:endParaRPr>
          </a:p>
          <a:p>
            <a:pPr indent="-336550" lvl="0" marL="457200" rtl="0" algn="l">
              <a:lnSpc>
                <a:spcPct val="100000"/>
              </a:lnSpc>
              <a:spcBef>
                <a:spcPts val="1000"/>
              </a:spcBef>
              <a:spcAft>
                <a:spcPts val="0"/>
              </a:spcAft>
              <a:buClr>
                <a:srgbClr val="B7B7B7"/>
              </a:buClr>
              <a:buSzPts val="1700"/>
              <a:buChar char="•"/>
            </a:pPr>
            <a:r>
              <a:rPr lang="en" sz="1700">
                <a:solidFill>
                  <a:srgbClr val="B7B7B7"/>
                </a:solidFill>
                <a:latin typeface="Arial"/>
                <a:ea typeface="Arial"/>
                <a:cs typeface="Arial"/>
                <a:sym typeface="Arial"/>
              </a:rPr>
              <a:t>Model fitting</a:t>
            </a:r>
            <a:endParaRPr sz="1700">
              <a:solidFill>
                <a:srgbClr val="B7B7B7"/>
              </a:solidFill>
              <a:latin typeface="Arial"/>
              <a:ea typeface="Arial"/>
              <a:cs typeface="Arial"/>
              <a:sym typeface="Arial"/>
            </a:endParaRPr>
          </a:p>
          <a:p>
            <a:pPr indent="-336550" lvl="0" marL="457200" rtl="0" algn="l">
              <a:lnSpc>
                <a:spcPct val="100000"/>
              </a:lnSpc>
              <a:spcBef>
                <a:spcPts val="0"/>
              </a:spcBef>
              <a:spcAft>
                <a:spcPts val="0"/>
              </a:spcAft>
              <a:buClr>
                <a:srgbClr val="B7B7B7"/>
              </a:buClr>
              <a:buSzPts val="1700"/>
              <a:buFont typeface="Arial"/>
              <a:buChar char="•"/>
            </a:pPr>
            <a:r>
              <a:rPr lang="en" sz="1700">
                <a:solidFill>
                  <a:srgbClr val="B7B7B7"/>
                </a:solidFill>
                <a:latin typeface="Arial"/>
                <a:ea typeface="Arial"/>
                <a:cs typeface="Arial"/>
                <a:sym typeface="Arial"/>
              </a:rPr>
              <a:t>DEG and visualization</a:t>
            </a:r>
            <a:endParaRPr sz="1700">
              <a:solidFill>
                <a:srgbClr val="B7B7B7"/>
              </a:solidFill>
              <a:latin typeface="Arial"/>
              <a:ea typeface="Arial"/>
              <a:cs typeface="Arial"/>
              <a:sym typeface="Arial"/>
            </a:endParaRPr>
          </a:p>
          <a:p>
            <a:pPr indent="0" lvl="0" marL="914400" rtl="0" algn="l">
              <a:lnSpc>
                <a:spcPct val="100000"/>
              </a:lnSpc>
              <a:spcBef>
                <a:spcPts val="1000"/>
              </a:spcBef>
              <a:spcAft>
                <a:spcPts val="0"/>
              </a:spcAft>
              <a:buNone/>
            </a:pPr>
            <a:r>
              <a:rPr lang="en" sz="1700">
                <a:solidFill>
                  <a:srgbClr val="B7B7B7"/>
                </a:solidFill>
                <a:latin typeface="Arial"/>
                <a:ea typeface="Arial"/>
                <a:cs typeface="Arial"/>
                <a:sym typeface="Arial"/>
              </a:rPr>
              <a:t>Break</a:t>
            </a:r>
            <a:endParaRPr sz="1700">
              <a:solidFill>
                <a:srgbClr val="B7B7B7"/>
              </a:solidFill>
              <a:latin typeface="Arial"/>
              <a:ea typeface="Arial"/>
              <a:cs typeface="Arial"/>
              <a:sym typeface="Arial"/>
            </a:endParaRPr>
          </a:p>
          <a:p>
            <a:pPr indent="-336550" lvl="0" marL="457200" rtl="0" algn="l">
              <a:lnSpc>
                <a:spcPct val="100000"/>
              </a:lnSpc>
              <a:spcBef>
                <a:spcPts val="0"/>
              </a:spcBef>
              <a:spcAft>
                <a:spcPts val="0"/>
              </a:spcAft>
              <a:buClr>
                <a:srgbClr val="B7B7B7"/>
              </a:buClr>
              <a:buSzPts val="1700"/>
              <a:buFont typeface="Arial"/>
              <a:buChar char="•"/>
            </a:pPr>
            <a:r>
              <a:rPr lang="en" sz="1700">
                <a:solidFill>
                  <a:srgbClr val="B7B7B7"/>
                </a:solidFill>
                <a:latin typeface="Arial"/>
                <a:ea typeface="Arial"/>
                <a:cs typeface="Arial"/>
                <a:sym typeface="Arial"/>
              </a:rPr>
              <a:t>Demo - from count matrix to DEG</a:t>
            </a:r>
            <a:endParaRPr sz="1700">
              <a:solidFill>
                <a:srgbClr val="B7B7B7"/>
              </a:solidFill>
              <a:latin typeface="Arial"/>
              <a:ea typeface="Arial"/>
              <a:cs typeface="Arial"/>
              <a:sym typeface="Arial"/>
            </a:endParaRPr>
          </a:p>
          <a:p>
            <a:pPr indent="0" lvl="0" marL="0" rtl="0" algn="l">
              <a:spcBef>
                <a:spcPts val="0"/>
              </a:spcBef>
              <a:spcAft>
                <a:spcPts val="0"/>
              </a:spcAft>
              <a:buNone/>
            </a:pPr>
            <a:r>
              <a:t/>
            </a:r>
            <a:endParaRPr b="1" sz="1800">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121"/>
          <p:cNvSpPr txBox="1"/>
          <p:nvPr/>
        </p:nvSpPr>
        <p:spPr>
          <a:xfrm>
            <a:off x="515700" y="3051725"/>
            <a:ext cx="8628300" cy="1860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 sz="3900">
                <a:solidFill>
                  <a:srgbClr val="002B42"/>
                </a:solidFill>
              </a:rPr>
              <a:t>Session 2</a:t>
            </a:r>
            <a:endParaRPr b="1" sz="3900">
              <a:solidFill>
                <a:srgbClr val="002B42"/>
              </a:solidFill>
            </a:endParaRPr>
          </a:p>
          <a:p>
            <a:pPr indent="0" lvl="0" marL="0" rtl="0" algn="l">
              <a:lnSpc>
                <a:spcPct val="90000"/>
              </a:lnSpc>
              <a:spcBef>
                <a:spcPts val="0"/>
              </a:spcBef>
              <a:spcAft>
                <a:spcPts val="0"/>
              </a:spcAft>
              <a:buNone/>
            </a:pPr>
            <a:r>
              <a:rPr b="1" lang="en" sz="3300">
                <a:solidFill>
                  <a:schemeClr val="accent2"/>
                </a:solidFill>
              </a:rPr>
              <a:t>Alignment/mapping and feature counts</a:t>
            </a:r>
            <a:endParaRPr b="1" sz="3300">
              <a:solidFill>
                <a:schemeClr val="accent2"/>
              </a:solidFill>
            </a:endParaRPr>
          </a:p>
          <a:p>
            <a:pPr indent="0" lvl="0" marL="0" rtl="0" algn="l">
              <a:lnSpc>
                <a:spcPct val="90000"/>
              </a:lnSpc>
              <a:spcBef>
                <a:spcPts val="0"/>
              </a:spcBef>
              <a:spcAft>
                <a:spcPts val="0"/>
              </a:spcAft>
              <a:buNone/>
            </a:pPr>
            <a:r>
              <a:t/>
            </a:r>
            <a:endParaRPr b="1" sz="2600">
              <a:solidFill>
                <a:schemeClr val="accent2"/>
              </a:solidFill>
            </a:endParaRPr>
          </a:p>
          <a:p>
            <a:pPr indent="0" lvl="0" marL="0" rtl="0" algn="l">
              <a:lnSpc>
                <a:spcPct val="90000"/>
              </a:lnSpc>
              <a:spcBef>
                <a:spcPts val="0"/>
              </a:spcBef>
              <a:spcAft>
                <a:spcPts val="0"/>
              </a:spcAft>
              <a:buNone/>
            </a:pPr>
            <a:r>
              <a:rPr b="1" lang="en" sz="2300">
                <a:solidFill>
                  <a:schemeClr val="dk1"/>
                </a:solidFill>
              </a:rPr>
              <a:t>Tools: </a:t>
            </a:r>
            <a:r>
              <a:rPr b="1" lang="en" sz="2300">
                <a:solidFill>
                  <a:schemeClr val="dk1"/>
                </a:solidFill>
              </a:rPr>
              <a:t>Docker, </a:t>
            </a:r>
            <a:r>
              <a:rPr b="1" lang="en" sz="2300">
                <a:solidFill>
                  <a:schemeClr val="dk1"/>
                </a:solidFill>
              </a:rPr>
              <a:t>STAR, featureCounts </a:t>
            </a:r>
            <a:endParaRPr b="1" sz="2300">
              <a:solidFill>
                <a:schemeClr val="dk1"/>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122"/>
          <p:cNvSpPr txBox="1"/>
          <p:nvPr/>
        </p:nvSpPr>
        <p:spPr>
          <a:xfrm>
            <a:off x="54700" y="2474075"/>
            <a:ext cx="312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741B47"/>
                </a:solidFill>
                <a:latin typeface="Helvetica Neue"/>
                <a:ea typeface="Helvetica Neue"/>
                <a:cs typeface="Helvetica Neue"/>
                <a:sym typeface="Helvetica Neue"/>
              </a:rPr>
              <a:t>Session 1 Concepts: </a:t>
            </a:r>
            <a:endParaRPr b="1" sz="1200">
              <a:solidFill>
                <a:srgbClr val="741B47"/>
              </a:solidFill>
              <a:highlight>
                <a:srgbClr val="F7F6F3"/>
              </a:highlight>
            </a:endParaRPr>
          </a:p>
        </p:txBody>
      </p:sp>
      <p:sp>
        <p:nvSpPr>
          <p:cNvPr id="772" name="Google Shape;772;p122"/>
          <p:cNvSpPr/>
          <p:nvPr/>
        </p:nvSpPr>
        <p:spPr>
          <a:xfrm flipH="1">
            <a:off x="2835850" y="2015275"/>
            <a:ext cx="207300" cy="10881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22"/>
          <p:cNvSpPr txBox="1"/>
          <p:nvPr/>
        </p:nvSpPr>
        <p:spPr>
          <a:xfrm>
            <a:off x="54700" y="3589413"/>
            <a:ext cx="3125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a:solidFill>
                  <a:srgbClr val="741B47"/>
                </a:solidFill>
                <a:latin typeface="Helvetica Neue"/>
                <a:ea typeface="Helvetica Neue"/>
                <a:cs typeface="Helvetica Neue"/>
                <a:sym typeface="Helvetica Neue"/>
              </a:rPr>
              <a:t>Session 2 Concepts: </a:t>
            </a:r>
            <a:endParaRPr b="1" sz="1200">
              <a:solidFill>
                <a:srgbClr val="741B47"/>
              </a:solidFill>
              <a:highlight>
                <a:srgbClr val="F7F6F3"/>
              </a:highlight>
            </a:endParaRPr>
          </a:p>
          <a:p>
            <a:pPr indent="0" lvl="0" marL="0" rtl="0" algn="l">
              <a:spcBef>
                <a:spcPts val="0"/>
              </a:spcBef>
              <a:spcAft>
                <a:spcPts val="0"/>
              </a:spcAft>
              <a:buNone/>
            </a:pPr>
            <a:r>
              <a:t/>
            </a:r>
            <a:endParaRPr b="1">
              <a:solidFill>
                <a:srgbClr val="741B47"/>
              </a:solidFill>
              <a:latin typeface="Helvetica Neue"/>
              <a:ea typeface="Helvetica Neue"/>
              <a:cs typeface="Helvetica Neue"/>
              <a:sym typeface="Helvetica Neue"/>
            </a:endParaRPr>
          </a:p>
        </p:txBody>
      </p:sp>
      <p:sp>
        <p:nvSpPr>
          <p:cNvPr id="774" name="Google Shape;774;p122"/>
          <p:cNvSpPr/>
          <p:nvPr/>
        </p:nvSpPr>
        <p:spPr>
          <a:xfrm>
            <a:off x="3316325" y="2030150"/>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Sequencer: Reads</a:t>
            </a:r>
            <a:r>
              <a:rPr lang="en"/>
              <a:t> </a:t>
            </a:r>
            <a:r>
              <a:rPr b="1" lang="en">
                <a:solidFill>
                  <a:schemeClr val="accent2"/>
                </a:solidFill>
              </a:rPr>
              <a:t>Fastq</a:t>
            </a:r>
            <a:endParaRPr b="1">
              <a:solidFill>
                <a:schemeClr val="accent2"/>
              </a:solidFill>
            </a:endParaRPr>
          </a:p>
        </p:txBody>
      </p:sp>
      <p:sp>
        <p:nvSpPr>
          <p:cNvPr id="775" name="Google Shape;775;p122"/>
          <p:cNvSpPr/>
          <p:nvPr/>
        </p:nvSpPr>
        <p:spPr>
          <a:xfrm>
            <a:off x="5445750" y="2030150"/>
            <a:ext cx="1727700" cy="493800"/>
          </a:xfrm>
          <a:prstGeom prst="roundRect">
            <a:avLst>
              <a:gd fmla="val 16667" name="adj"/>
            </a:avLst>
          </a:prstGeom>
          <a:solidFill>
            <a:srgbClr val="CCCCCC"/>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None/>
            </a:pPr>
            <a:r>
              <a:rPr b="1" lang="en">
                <a:solidFill>
                  <a:schemeClr val="accent2"/>
                </a:solidFill>
              </a:rPr>
              <a:t>FastQC </a:t>
            </a:r>
            <a:endParaRPr b="1">
              <a:solidFill>
                <a:schemeClr val="accent2"/>
              </a:solidFill>
            </a:endParaRPr>
          </a:p>
        </p:txBody>
      </p:sp>
      <p:sp>
        <p:nvSpPr>
          <p:cNvPr id="776" name="Google Shape;776;p122"/>
          <p:cNvSpPr/>
          <p:nvPr/>
        </p:nvSpPr>
        <p:spPr>
          <a:xfrm>
            <a:off x="3316325" y="3283863"/>
            <a:ext cx="1993500" cy="493800"/>
          </a:xfrm>
          <a:prstGeom prst="roundRect">
            <a:avLst>
              <a:gd fmla="val 16667" name="adj"/>
            </a:avLst>
          </a:prstGeom>
          <a:solidFill>
            <a:srgbClr val="EAD1D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Alignment/Mapping</a:t>
            </a:r>
            <a:endParaRPr b="1"/>
          </a:p>
          <a:p>
            <a:pPr indent="0" lvl="0" marL="0" rtl="0" algn="ctr">
              <a:spcBef>
                <a:spcPts val="0"/>
              </a:spcBef>
              <a:spcAft>
                <a:spcPts val="0"/>
              </a:spcAft>
              <a:buNone/>
            </a:pPr>
            <a:r>
              <a:rPr b="1" lang="en">
                <a:solidFill>
                  <a:schemeClr val="accent2"/>
                </a:solidFill>
              </a:rPr>
              <a:t>STAR</a:t>
            </a:r>
            <a:r>
              <a:rPr lang="en"/>
              <a:t> </a:t>
            </a:r>
            <a:endParaRPr/>
          </a:p>
        </p:txBody>
      </p:sp>
      <p:sp>
        <p:nvSpPr>
          <p:cNvPr id="777" name="Google Shape;777;p122"/>
          <p:cNvSpPr/>
          <p:nvPr/>
        </p:nvSpPr>
        <p:spPr>
          <a:xfrm>
            <a:off x="3316325" y="3886175"/>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200">
                <a:solidFill>
                  <a:schemeClr val="dk1"/>
                </a:solidFill>
              </a:rPr>
              <a:t>Counting Reads </a:t>
            </a:r>
            <a:endParaRPr b="1" sz="1200">
              <a:solidFill>
                <a:schemeClr val="dk1"/>
              </a:solidFill>
            </a:endParaRPr>
          </a:p>
          <a:p>
            <a:pPr indent="0" lvl="0" marL="0" rtl="0" algn="ctr">
              <a:spcBef>
                <a:spcPts val="0"/>
              </a:spcBef>
              <a:spcAft>
                <a:spcPts val="0"/>
              </a:spcAft>
              <a:buNone/>
            </a:pPr>
            <a:r>
              <a:rPr b="1" lang="en">
                <a:solidFill>
                  <a:schemeClr val="accent2"/>
                </a:solidFill>
              </a:rPr>
              <a:t>featureCounts</a:t>
            </a:r>
            <a:endParaRPr b="1" sz="1200"/>
          </a:p>
        </p:txBody>
      </p:sp>
      <p:sp>
        <p:nvSpPr>
          <p:cNvPr id="778" name="Google Shape;778;p122"/>
          <p:cNvSpPr/>
          <p:nvPr/>
        </p:nvSpPr>
        <p:spPr>
          <a:xfrm>
            <a:off x="3316325" y="2681575"/>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Trimming</a:t>
            </a:r>
            <a:endParaRPr b="1"/>
          </a:p>
          <a:p>
            <a:pPr indent="0" lvl="0" marL="0" rtl="0" algn="ctr">
              <a:spcBef>
                <a:spcPts val="0"/>
              </a:spcBef>
              <a:spcAft>
                <a:spcPts val="0"/>
              </a:spcAft>
              <a:buNone/>
            </a:pPr>
            <a:r>
              <a:rPr b="1" lang="en">
                <a:solidFill>
                  <a:schemeClr val="accent2"/>
                </a:solidFill>
              </a:rPr>
              <a:t>cutadapt</a:t>
            </a:r>
            <a:endParaRPr b="1">
              <a:solidFill>
                <a:schemeClr val="accent2"/>
              </a:solidFill>
            </a:endParaRPr>
          </a:p>
        </p:txBody>
      </p:sp>
      <p:sp>
        <p:nvSpPr>
          <p:cNvPr id="779" name="Google Shape;779;p122"/>
          <p:cNvSpPr/>
          <p:nvPr/>
        </p:nvSpPr>
        <p:spPr>
          <a:xfrm>
            <a:off x="5445750" y="2681575"/>
            <a:ext cx="1727700" cy="493800"/>
          </a:xfrm>
          <a:prstGeom prst="roundRect">
            <a:avLst>
              <a:gd fmla="val 16667" name="adj"/>
            </a:avLst>
          </a:prstGeom>
          <a:solidFill>
            <a:srgbClr val="CCCCCC"/>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Clr>
                <a:schemeClr val="dk1"/>
              </a:buClr>
              <a:buSzPts val="1100"/>
              <a:buFont typeface="Arial"/>
              <a:buNone/>
            </a:pPr>
            <a:r>
              <a:rPr b="1" lang="en">
                <a:solidFill>
                  <a:schemeClr val="accent2"/>
                </a:solidFill>
              </a:rPr>
              <a:t>FastQC</a:t>
            </a:r>
            <a:endParaRPr b="1">
              <a:solidFill>
                <a:schemeClr val="accent2"/>
              </a:solidFill>
            </a:endParaRPr>
          </a:p>
        </p:txBody>
      </p:sp>
      <p:sp>
        <p:nvSpPr>
          <p:cNvPr id="780" name="Google Shape;780;p122"/>
          <p:cNvSpPr/>
          <p:nvPr/>
        </p:nvSpPr>
        <p:spPr>
          <a:xfrm>
            <a:off x="5445750" y="3283875"/>
            <a:ext cx="1727700" cy="493800"/>
          </a:xfrm>
          <a:prstGeom prst="roundRect">
            <a:avLst>
              <a:gd fmla="val 16667" name="adj"/>
            </a:avLst>
          </a:prstGeom>
          <a:solidFill>
            <a:srgbClr val="F7F6F3"/>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Clr>
                <a:schemeClr val="dk1"/>
              </a:buClr>
              <a:buSzPts val="1100"/>
              <a:buFont typeface="Arial"/>
              <a:buNone/>
            </a:pPr>
            <a:r>
              <a:t/>
            </a:r>
            <a:endParaRPr b="1">
              <a:solidFill>
                <a:schemeClr val="accent2"/>
              </a:solidFill>
            </a:endParaRPr>
          </a:p>
        </p:txBody>
      </p:sp>
      <p:sp>
        <p:nvSpPr>
          <p:cNvPr id="781" name="Google Shape;781;p122"/>
          <p:cNvSpPr/>
          <p:nvPr/>
        </p:nvSpPr>
        <p:spPr>
          <a:xfrm>
            <a:off x="3316325" y="776450"/>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Biological question</a:t>
            </a:r>
            <a:endParaRPr b="1">
              <a:solidFill>
                <a:schemeClr val="accent2"/>
              </a:solidFill>
            </a:endParaRPr>
          </a:p>
        </p:txBody>
      </p:sp>
      <p:sp>
        <p:nvSpPr>
          <p:cNvPr id="782" name="Google Shape;782;p122"/>
          <p:cNvSpPr/>
          <p:nvPr/>
        </p:nvSpPr>
        <p:spPr>
          <a:xfrm>
            <a:off x="3316325" y="1403288"/>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Library preparation</a:t>
            </a:r>
            <a:endParaRPr b="1">
              <a:solidFill>
                <a:schemeClr val="accent2"/>
              </a:solidFill>
            </a:endParaRPr>
          </a:p>
        </p:txBody>
      </p:sp>
      <p:sp>
        <p:nvSpPr>
          <p:cNvPr id="783" name="Google Shape;783;p122"/>
          <p:cNvSpPr/>
          <p:nvPr/>
        </p:nvSpPr>
        <p:spPr>
          <a:xfrm>
            <a:off x="5445750" y="3893249"/>
            <a:ext cx="1727700" cy="493800"/>
          </a:xfrm>
          <a:prstGeom prst="roundRect">
            <a:avLst>
              <a:gd fmla="val 16667" name="adj"/>
            </a:avLst>
          </a:prstGeom>
          <a:solidFill>
            <a:srgbClr val="F7F6F3"/>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Clr>
                <a:schemeClr val="dk1"/>
              </a:buClr>
              <a:buSzPts val="1100"/>
              <a:buFont typeface="Arial"/>
              <a:buNone/>
            </a:pPr>
            <a:r>
              <a:t/>
            </a:r>
            <a:endParaRPr b="1">
              <a:solidFill>
                <a:schemeClr val="accent2"/>
              </a:solidFill>
            </a:endParaRPr>
          </a:p>
        </p:txBody>
      </p:sp>
      <p:sp>
        <p:nvSpPr>
          <p:cNvPr id="784" name="Google Shape;784;p122"/>
          <p:cNvSpPr/>
          <p:nvPr/>
        </p:nvSpPr>
        <p:spPr>
          <a:xfrm flipH="1">
            <a:off x="2835850" y="3259650"/>
            <a:ext cx="207300" cy="10881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22"/>
          <p:cNvSpPr txBox="1"/>
          <p:nvPr/>
        </p:nvSpPr>
        <p:spPr>
          <a:xfrm>
            <a:off x="7592050" y="2282038"/>
            <a:ext cx="1568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accent2"/>
                </a:solidFill>
                <a:latin typeface="Helvetica Neue"/>
                <a:ea typeface="Helvetica Neue"/>
                <a:cs typeface="Helvetica Neue"/>
                <a:sym typeface="Helvetica Neue"/>
              </a:rPr>
              <a:t>Session 1 Demo</a:t>
            </a:r>
            <a:endParaRPr b="1" sz="1200">
              <a:solidFill>
                <a:schemeClr val="accent2"/>
              </a:solidFill>
              <a:highlight>
                <a:srgbClr val="F7F6F3"/>
              </a:highlight>
            </a:endParaRPr>
          </a:p>
          <a:p>
            <a:pPr indent="0" lvl="0" marL="0" rtl="0" algn="l">
              <a:spcBef>
                <a:spcPts val="0"/>
              </a:spcBef>
              <a:spcAft>
                <a:spcPts val="0"/>
              </a:spcAft>
              <a:buNone/>
            </a:pPr>
            <a:r>
              <a:t/>
            </a:r>
            <a:endParaRPr b="1">
              <a:latin typeface="Helvetica Neue"/>
              <a:ea typeface="Helvetica Neue"/>
              <a:cs typeface="Helvetica Neue"/>
              <a:sym typeface="Helvetica Neue"/>
            </a:endParaRPr>
          </a:p>
        </p:txBody>
      </p:sp>
      <p:sp>
        <p:nvSpPr>
          <p:cNvPr id="786" name="Google Shape;786;p122"/>
          <p:cNvSpPr/>
          <p:nvPr/>
        </p:nvSpPr>
        <p:spPr>
          <a:xfrm flipH="1" rot="10800000">
            <a:off x="7248950" y="2015175"/>
            <a:ext cx="267600" cy="10794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22"/>
          <p:cNvSpPr txBox="1"/>
          <p:nvPr/>
        </p:nvSpPr>
        <p:spPr>
          <a:xfrm>
            <a:off x="7581823" y="3495888"/>
            <a:ext cx="1568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accent2"/>
                </a:solidFill>
                <a:latin typeface="Helvetica Neue"/>
                <a:ea typeface="Helvetica Neue"/>
                <a:cs typeface="Helvetica Neue"/>
                <a:sym typeface="Helvetica Neue"/>
              </a:rPr>
              <a:t>Session 2 Demo</a:t>
            </a:r>
            <a:endParaRPr b="1" sz="1200">
              <a:solidFill>
                <a:schemeClr val="accent2"/>
              </a:solidFill>
              <a:highlight>
                <a:srgbClr val="F7F6F3"/>
              </a:highlight>
            </a:endParaRPr>
          </a:p>
          <a:p>
            <a:pPr indent="0" lvl="0" marL="0" rtl="0" algn="l">
              <a:spcBef>
                <a:spcPts val="0"/>
              </a:spcBef>
              <a:spcAft>
                <a:spcPts val="0"/>
              </a:spcAft>
              <a:buNone/>
            </a:pPr>
            <a:r>
              <a:t/>
            </a:r>
            <a:endParaRPr b="1">
              <a:latin typeface="Helvetica Neue"/>
              <a:ea typeface="Helvetica Neue"/>
              <a:cs typeface="Helvetica Neue"/>
              <a:sym typeface="Helvetica Neue"/>
            </a:endParaRPr>
          </a:p>
        </p:txBody>
      </p:sp>
      <p:sp>
        <p:nvSpPr>
          <p:cNvPr id="788" name="Google Shape;788;p122"/>
          <p:cNvSpPr/>
          <p:nvPr/>
        </p:nvSpPr>
        <p:spPr>
          <a:xfrm flipH="1" rot="10800000">
            <a:off x="7238725" y="3334925"/>
            <a:ext cx="292800" cy="9735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89" name="Google Shape;789;p122"/>
          <p:cNvPicPr preferRelativeResize="0"/>
          <p:nvPr/>
        </p:nvPicPr>
        <p:blipFill>
          <a:blip r:embed="rId3">
            <a:alphaModFix/>
          </a:blip>
          <a:stretch>
            <a:fillRect/>
          </a:stretch>
        </p:blipFill>
        <p:spPr>
          <a:xfrm>
            <a:off x="6767525" y="147869"/>
            <a:ext cx="2011679" cy="512979"/>
          </a:xfrm>
          <a:prstGeom prst="rect">
            <a:avLst/>
          </a:prstGeom>
          <a:noFill/>
          <a:ln>
            <a:noFill/>
          </a:ln>
        </p:spPr>
      </p:pic>
      <p:sp>
        <p:nvSpPr>
          <p:cNvPr id="790" name="Google Shape;790;p122"/>
          <p:cNvSpPr/>
          <p:nvPr/>
        </p:nvSpPr>
        <p:spPr>
          <a:xfrm>
            <a:off x="3316325" y="4488475"/>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dk1"/>
                </a:solidFill>
              </a:rPr>
              <a:t>Count Matrix</a:t>
            </a:r>
            <a:endParaRPr b="1" sz="1500"/>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123"/>
          <p:cNvSpPr txBox="1"/>
          <p:nvPr>
            <p:ph type="title"/>
          </p:nvPr>
        </p:nvSpPr>
        <p:spPr>
          <a:xfrm>
            <a:off x="205725" y="-9"/>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sz="2900"/>
              <a:t>Bulk m</a:t>
            </a:r>
            <a:r>
              <a:rPr lang="en" sz="2900"/>
              <a:t>RNA-seq - summary</a:t>
            </a:r>
            <a:endParaRPr sz="2900"/>
          </a:p>
        </p:txBody>
      </p:sp>
      <p:pic>
        <p:nvPicPr>
          <p:cNvPr id="796" name="Google Shape;796;p123"/>
          <p:cNvPicPr preferRelativeResize="0"/>
          <p:nvPr/>
        </p:nvPicPr>
        <p:blipFill>
          <a:blip r:embed="rId3">
            <a:alphaModFix/>
          </a:blip>
          <a:stretch>
            <a:fillRect/>
          </a:stretch>
        </p:blipFill>
        <p:spPr>
          <a:xfrm>
            <a:off x="700450" y="457591"/>
            <a:ext cx="6701295" cy="3871859"/>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124"/>
          <p:cNvSpPr txBox="1"/>
          <p:nvPr>
            <p:ph type="title"/>
          </p:nvPr>
        </p:nvSpPr>
        <p:spPr>
          <a:xfrm>
            <a:off x="83650" y="0"/>
            <a:ext cx="91440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Alignment to genome : challenges</a:t>
            </a:r>
            <a:endParaRPr/>
          </a:p>
        </p:txBody>
      </p:sp>
      <p:sp>
        <p:nvSpPr>
          <p:cNvPr id="802" name="Google Shape;802;p124"/>
          <p:cNvSpPr txBox="1"/>
          <p:nvPr>
            <p:ph idx="1" type="body"/>
          </p:nvPr>
        </p:nvSpPr>
        <p:spPr>
          <a:xfrm>
            <a:off x="83650" y="729225"/>
            <a:ext cx="4564500" cy="3263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latin typeface="Arial"/>
              <a:ea typeface="Arial"/>
              <a:cs typeface="Arial"/>
              <a:sym typeface="Arial"/>
            </a:endParaRPr>
          </a:p>
          <a:p>
            <a:pPr indent="-361950" lvl="0" marL="457200" rtl="0" algn="l">
              <a:spcBef>
                <a:spcPts val="0"/>
              </a:spcBef>
              <a:spcAft>
                <a:spcPts val="0"/>
              </a:spcAft>
              <a:buSzPts val="2100"/>
              <a:buFont typeface="Arial"/>
              <a:buChar char="●"/>
            </a:pPr>
            <a:r>
              <a:rPr lang="en">
                <a:latin typeface="Arial"/>
                <a:ea typeface="Arial"/>
                <a:cs typeface="Arial"/>
                <a:sym typeface="Arial"/>
              </a:rPr>
              <a:t>Reads from junctions: one part of it maps to one exon and the other half maps to the other exon</a:t>
            </a:r>
            <a:endParaRPr>
              <a:latin typeface="Arial"/>
              <a:ea typeface="Arial"/>
              <a:cs typeface="Arial"/>
              <a:sym typeface="Arial"/>
            </a:endParaRPr>
          </a:p>
          <a:p>
            <a:pPr indent="0" lvl="0" marL="914400" rtl="0" algn="l">
              <a:spcBef>
                <a:spcPts val="0"/>
              </a:spcBef>
              <a:spcAft>
                <a:spcPts val="0"/>
              </a:spcAft>
              <a:buNone/>
            </a:pPr>
            <a:r>
              <a:t/>
            </a:r>
            <a:endParaRPr sz="900">
              <a:latin typeface="Arial"/>
              <a:ea typeface="Arial"/>
              <a:cs typeface="Arial"/>
              <a:sym typeface="Arial"/>
            </a:endParaRPr>
          </a:p>
          <a:p>
            <a:pPr indent="-361950" lvl="0" marL="457200" rtl="0" algn="l">
              <a:spcBef>
                <a:spcPts val="0"/>
              </a:spcBef>
              <a:spcAft>
                <a:spcPts val="0"/>
              </a:spcAft>
              <a:buSzPts val="2100"/>
              <a:buFont typeface="Arial"/>
              <a:buChar char="●"/>
            </a:pPr>
            <a:r>
              <a:rPr lang="en">
                <a:latin typeface="Arial"/>
                <a:ea typeface="Arial"/>
                <a:cs typeface="Arial"/>
                <a:sym typeface="Arial"/>
              </a:rPr>
              <a:t>Reference sequences can be very long (~3 billion bp for humans).</a:t>
            </a:r>
            <a:endParaRPr>
              <a:latin typeface="Arial"/>
              <a:ea typeface="Arial"/>
              <a:cs typeface="Arial"/>
              <a:sym typeface="Arial"/>
            </a:endParaRPr>
          </a:p>
          <a:p>
            <a:pPr indent="0" lvl="0" marL="914400" rtl="0" algn="l">
              <a:spcBef>
                <a:spcPts val="0"/>
              </a:spcBef>
              <a:spcAft>
                <a:spcPts val="0"/>
              </a:spcAft>
              <a:buNone/>
            </a:pPr>
            <a:r>
              <a:t/>
            </a:r>
            <a:endParaRPr sz="900">
              <a:latin typeface="Arial"/>
              <a:ea typeface="Arial"/>
              <a:cs typeface="Arial"/>
              <a:sym typeface="Arial"/>
            </a:endParaRPr>
          </a:p>
          <a:p>
            <a:pPr indent="-361950" lvl="0" marL="457200" rtl="0" algn="l">
              <a:spcBef>
                <a:spcPts val="0"/>
              </a:spcBef>
              <a:spcAft>
                <a:spcPts val="0"/>
              </a:spcAft>
              <a:buSzPts val="2100"/>
              <a:buFont typeface="Arial"/>
              <a:buChar char="●"/>
            </a:pPr>
            <a:r>
              <a:rPr lang="en">
                <a:latin typeface="Arial"/>
                <a:ea typeface="Arial"/>
                <a:cs typeface="Arial"/>
                <a:sym typeface="Arial"/>
              </a:rPr>
              <a:t>Order of 100 million reads to be mapped.</a:t>
            </a:r>
            <a:endParaRPr>
              <a:latin typeface="Arial"/>
              <a:ea typeface="Arial"/>
              <a:cs typeface="Arial"/>
              <a:sym typeface="Arial"/>
            </a:endParaRPr>
          </a:p>
          <a:p>
            <a:pPr indent="0" lvl="0" marL="914400" rtl="0" algn="l">
              <a:spcBef>
                <a:spcPts val="0"/>
              </a:spcBef>
              <a:spcAft>
                <a:spcPts val="0"/>
              </a:spcAft>
              <a:buNone/>
            </a:pPr>
            <a:r>
              <a:t/>
            </a:r>
            <a:endParaRPr sz="900">
              <a:latin typeface="Arial"/>
              <a:ea typeface="Arial"/>
              <a:cs typeface="Arial"/>
              <a:sym typeface="Arial"/>
            </a:endParaRPr>
          </a:p>
          <a:p>
            <a:pPr indent="-361950" lvl="0" marL="457200" rtl="0" algn="l">
              <a:spcBef>
                <a:spcPts val="0"/>
              </a:spcBef>
              <a:spcAft>
                <a:spcPts val="0"/>
              </a:spcAft>
              <a:buSzPts val="2100"/>
              <a:buFont typeface="Arial"/>
              <a:buChar char="●"/>
            </a:pPr>
            <a:r>
              <a:rPr lang="en">
                <a:latin typeface="Arial"/>
                <a:ea typeface="Arial"/>
                <a:cs typeface="Arial"/>
                <a:sym typeface="Arial"/>
              </a:rPr>
              <a:t>Need to account for splicing.</a:t>
            </a:r>
            <a:endParaRPr>
              <a:latin typeface="Arial"/>
              <a:ea typeface="Arial"/>
              <a:cs typeface="Arial"/>
              <a:sym typeface="Arial"/>
            </a:endParaRPr>
          </a:p>
          <a:p>
            <a:pPr indent="0" lvl="0" marL="914400" rtl="0" algn="l">
              <a:spcBef>
                <a:spcPts val="0"/>
              </a:spcBef>
              <a:spcAft>
                <a:spcPts val="0"/>
              </a:spcAft>
              <a:buNone/>
            </a:pPr>
            <a:r>
              <a:t/>
            </a:r>
            <a:endParaRPr sz="900">
              <a:latin typeface="Arial"/>
              <a:ea typeface="Arial"/>
              <a:cs typeface="Arial"/>
              <a:sym typeface="Arial"/>
            </a:endParaRPr>
          </a:p>
          <a:p>
            <a:pPr indent="-361950" lvl="0" marL="457200" rtl="0" algn="l">
              <a:spcBef>
                <a:spcPts val="0"/>
              </a:spcBef>
              <a:spcAft>
                <a:spcPts val="0"/>
              </a:spcAft>
              <a:buSzPts val="2100"/>
              <a:buFont typeface="Arial"/>
              <a:buChar char="●"/>
            </a:pPr>
            <a:r>
              <a:rPr lang="en">
                <a:latin typeface="Arial"/>
                <a:ea typeface="Arial"/>
                <a:cs typeface="Arial"/>
                <a:sym typeface="Arial"/>
              </a:rPr>
              <a:t>Allow for PCR artifacts/sequencing errors.</a:t>
            </a:r>
            <a:endParaRPr>
              <a:solidFill>
                <a:schemeClr val="accent2"/>
              </a:solidFill>
              <a:latin typeface="Arial"/>
              <a:ea typeface="Arial"/>
              <a:cs typeface="Arial"/>
              <a:sym typeface="Arial"/>
            </a:endParaRPr>
          </a:p>
        </p:txBody>
      </p:sp>
      <p:pic>
        <p:nvPicPr>
          <p:cNvPr id="803" name="Google Shape;803;p124"/>
          <p:cNvPicPr preferRelativeResize="0"/>
          <p:nvPr/>
        </p:nvPicPr>
        <p:blipFill>
          <a:blip r:embed="rId3">
            <a:alphaModFix/>
          </a:blip>
          <a:stretch>
            <a:fillRect/>
          </a:stretch>
        </p:blipFill>
        <p:spPr>
          <a:xfrm>
            <a:off x="4648207" y="736800"/>
            <a:ext cx="4379977" cy="3985868"/>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125"/>
          <p:cNvSpPr txBox="1"/>
          <p:nvPr>
            <p:ph idx="1" type="body"/>
          </p:nvPr>
        </p:nvSpPr>
        <p:spPr>
          <a:xfrm>
            <a:off x="628650" y="918162"/>
            <a:ext cx="7886700" cy="3817200"/>
          </a:xfrm>
          <a:prstGeom prst="rect">
            <a:avLst/>
          </a:prstGeom>
          <a:noFill/>
          <a:ln>
            <a:noFill/>
          </a:ln>
        </p:spPr>
        <p:txBody>
          <a:bodyPr anchorCtr="0" anchor="t" bIns="0" lIns="137150" spcFirstLastPara="1" rIns="0" wrap="square" tIns="0">
            <a:spAutoFit/>
          </a:bodyPr>
          <a:lstStyle/>
          <a:p>
            <a:pPr indent="-381000" lvl="0" marL="342900" rtl="0" algn="l">
              <a:lnSpc>
                <a:spcPct val="90000"/>
              </a:lnSpc>
              <a:spcBef>
                <a:spcPts val="0"/>
              </a:spcBef>
              <a:spcAft>
                <a:spcPts val="0"/>
              </a:spcAft>
              <a:buClr>
                <a:srgbClr val="002B42"/>
              </a:buClr>
              <a:buSzPts val="2200"/>
              <a:buFont typeface="Arial"/>
              <a:buChar char="●"/>
            </a:pPr>
            <a:r>
              <a:rPr lang="en" sz="2200"/>
              <a:t>STAR, HISAT2, TopHat2, bowtie2, salmon, kallisto, etc.</a:t>
            </a:r>
            <a:endParaRPr sz="2200"/>
          </a:p>
          <a:p>
            <a:pPr indent="-241300" lvl="0" marL="342900" rtl="0" algn="l">
              <a:lnSpc>
                <a:spcPct val="90000"/>
              </a:lnSpc>
              <a:spcBef>
                <a:spcPts val="800"/>
              </a:spcBef>
              <a:spcAft>
                <a:spcPts val="0"/>
              </a:spcAft>
              <a:buClr>
                <a:srgbClr val="002B42"/>
              </a:buClr>
              <a:buSzPts val="1700"/>
              <a:buFont typeface="Arial"/>
              <a:buNone/>
            </a:pPr>
            <a:r>
              <a:t/>
            </a:r>
            <a:endParaRPr sz="2200"/>
          </a:p>
          <a:p>
            <a:pPr indent="-381000" lvl="0" marL="342900" rtl="0" algn="l">
              <a:lnSpc>
                <a:spcPct val="90000"/>
              </a:lnSpc>
              <a:spcBef>
                <a:spcPts val="800"/>
              </a:spcBef>
              <a:spcAft>
                <a:spcPts val="0"/>
              </a:spcAft>
              <a:buClr>
                <a:srgbClr val="002B42"/>
              </a:buClr>
              <a:buSzPts val="2200"/>
              <a:buFont typeface="Arial"/>
              <a:buChar char="●"/>
            </a:pPr>
            <a:r>
              <a:rPr lang="en" sz="2200"/>
              <a:t>Differences in speed and memory requirement</a:t>
            </a:r>
            <a:endParaRPr sz="2200"/>
          </a:p>
          <a:p>
            <a:pPr indent="0" lvl="0" marL="342900" rtl="0" algn="l">
              <a:lnSpc>
                <a:spcPct val="90000"/>
              </a:lnSpc>
              <a:spcBef>
                <a:spcPts val="800"/>
              </a:spcBef>
              <a:spcAft>
                <a:spcPts val="0"/>
              </a:spcAft>
              <a:buNone/>
            </a:pPr>
            <a:r>
              <a:t/>
            </a:r>
            <a:endParaRPr sz="2200"/>
          </a:p>
          <a:p>
            <a:pPr indent="-381000" lvl="0" marL="342900" rtl="0" algn="l">
              <a:lnSpc>
                <a:spcPct val="90000"/>
              </a:lnSpc>
              <a:spcBef>
                <a:spcPts val="800"/>
              </a:spcBef>
              <a:spcAft>
                <a:spcPts val="0"/>
              </a:spcAft>
              <a:buSzPts val="2200"/>
              <a:buChar char="●"/>
            </a:pPr>
            <a:r>
              <a:rPr lang="en" sz="2200"/>
              <a:t>Some are aligner and some are pseudoaligners</a:t>
            </a:r>
            <a:endParaRPr sz="2200"/>
          </a:p>
          <a:p>
            <a:pPr indent="-241300" lvl="0" marL="342900" rtl="0" algn="l">
              <a:lnSpc>
                <a:spcPct val="90000"/>
              </a:lnSpc>
              <a:spcBef>
                <a:spcPts val="800"/>
              </a:spcBef>
              <a:spcAft>
                <a:spcPts val="0"/>
              </a:spcAft>
              <a:buClr>
                <a:srgbClr val="002B42"/>
              </a:buClr>
              <a:buSzPts val="1700"/>
              <a:buFont typeface="Arial"/>
              <a:buNone/>
            </a:pPr>
            <a:r>
              <a:t/>
            </a:r>
            <a:endParaRPr sz="2200"/>
          </a:p>
          <a:p>
            <a:pPr indent="-381000" lvl="0" marL="342900" rtl="0" algn="l">
              <a:lnSpc>
                <a:spcPct val="90000"/>
              </a:lnSpc>
              <a:spcBef>
                <a:spcPts val="800"/>
              </a:spcBef>
              <a:spcAft>
                <a:spcPts val="0"/>
              </a:spcAft>
              <a:buClr>
                <a:srgbClr val="002B42"/>
              </a:buClr>
              <a:buSzPts val="2200"/>
              <a:buFont typeface="Arial"/>
              <a:buChar char="●"/>
            </a:pPr>
            <a:r>
              <a:rPr lang="en" sz="2200"/>
              <a:t>Pros and cons of each:</a:t>
            </a:r>
            <a:endParaRPr sz="2200"/>
          </a:p>
          <a:p>
            <a:pPr indent="-304800" lvl="1" marL="596900" rtl="0" algn="l">
              <a:lnSpc>
                <a:spcPct val="90000"/>
              </a:lnSpc>
              <a:spcBef>
                <a:spcPts val="400"/>
              </a:spcBef>
              <a:spcAft>
                <a:spcPts val="0"/>
              </a:spcAft>
              <a:buClr>
                <a:srgbClr val="002B42"/>
              </a:buClr>
              <a:buSzPts val="2200"/>
              <a:buChar char="●"/>
            </a:pPr>
            <a:r>
              <a:rPr lang="en" sz="2200"/>
              <a:t>Example: Some handle spliced alignment, others do not.</a:t>
            </a:r>
            <a:endParaRPr sz="2200"/>
          </a:p>
          <a:p>
            <a:pPr indent="-304800" lvl="1" marL="596900" rtl="0" algn="l">
              <a:lnSpc>
                <a:spcPct val="90000"/>
              </a:lnSpc>
              <a:spcBef>
                <a:spcPts val="400"/>
              </a:spcBef>
              <a:spcAft>
                <a:spcPts val="0"/>
              </a:spcAft>
              <a:buClr>
                <a:srgbClr val="002B42"/>
              </a:buClr>
              <a:buSzPts val="2200"/>
              <a:buChar char="●"/>
            </a:pPr>
            <a:r>
              <a:rPr lang="en" sz="2200"/>
              <a:t>…</a:t>
            </a:r>
            <a:endParaRPr sz="2200"/>
          </a:p>
          <a:p>
            <a:pPr indent="0" lvl="0" marL="0" rtl="0" algn="l">
              <a:lnSpc>
                <a:spcPct val="90000"/>
              </a:lnSpc>
              <a:spcBef>
                <a:spcPts val="400"/>
              </a:spcBef>
              <a:spcAft>
                <a:spcPts val="0"/>
              </a:spcAft>
              <a:buNone/>
            </a:pPr>
            <a:r>
              <a:rPr lang="en" sz="2200" u="sng">
                <a:solidFill>
                  <a:schemeClr val="hlink"/>
                </a:solidFill>
                <a:hlinkClick r:id="rId3"/>
              </a:rPr>
              <a:t>Comparison across tools </a:t>
            </a:r>
            <a:endParaRPr sz="2200"/>
          </a:p>
        </p:txBody>
      </p:sp>
      <p:sp>
        <p:nvSpPr>
          <p:cNvPr id="810" name="Google Shape;810;p125"/>
          <p:cNvSpPr txBox="1"/>
          <p:nvPr/>
        </p:nvSpPr>
        <p:spPr>
          <a:xfrm>
            <a:off x="272400" y="152391"/>
            <a:ext cx="7886700" cy="7368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None/>
            </a:pPr>
            <a:r>
              <a:rPr b="1" lang="en" sz="3300">
                <a:solidFill>
                  <a:srgbClr val="1155CC"/>
                </a:solidFill>
                <a:latin typeface="Helvetica Neue"/>
                <a:ea typeface="Helvetica Neue"/>
                <a:cs typeface="Helvetica Neue"/>
                <a:sym typeface="Helvetica Neue"/>
              </a:rPr>
              <a:t>Many tools</a:t>
            </a:r>
            <a:endParaRPr b="1" sz="3300">
              <a:solidFill>
                <a:srgbClr val="1155CC"/>
              </a:solidFill>
              <a:latin typeface="Helvetica Neue"/>
              <a:ea typeface="Helvetica Neue"/>
              <a:cs typeface="Helvetica Neue"/>
              <a:sym typeface="Helvetica Neue"/>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126"/>
          <p:cNvSpPr txBox="1"/>
          <p:nvPr>
            <p:ph idx="1" type="body"/>
          </p:nvPr>
        </p:nvSpPr>
        <p:spPr>
          <a:xfrm>
            <a:off x="92025" y="889200"/>
            <a:ext cx="8947500" cy="3996900"/>
          </a:xfrm>
          <a:prstGeom prst="rect">
            <a:avLst/>
          </a:prstGeom>
          <a:noFill/>
          <a:ln>
            <a:noFill/>
          </a:ln>
        </p:spPr>
        <p:txBody>
          <a:bodyPr anchorCtr="0" anchor="t" bIns="0" lIns="137150" spcFirstLastPara="1" rIns="0" wrap="square" tIns="0">
            <a:spAutoFit/>
          </a:bodyPr>
          <a:lstStyle/>
          <a:p>
            <a:pPr indent="-381000" lvl="0" marL="342900" rtl="0" algn="l">
              <a:lnSpc>
                <a:spcPct val="150000"/>
              </a:lnSpc>
              <a:spcBef>
                <a:spcPts val="0"/>
              </a:spcBef>
              <a:spcAft>
                <a:spcPts val="0"/>
              </a:spcAft>
              <a:buClr>
                <a:srgbClr val="002B42"/>
              </a:buClr>
              <a:buSzPts val="2200"/>
              <a:buFont typeface="Arial"/>
              <a:buChar char="●"/>
            </a:pPr>
            <a:r>
              <a:rPr lang="en" sz="2200"/>
              <a:t>TopHat2: very slow, no complex splicing, not maintained</a:t>
            </a:r>
            <a:endParaRPr sz="2200"/>
          </a:p>
          <a:p>
            <a:pPr indent="-381000" lvl="0" marL="342900" rtl="0" algn="l">
              <a:lnSpc>
                <a:spcPct val="150000"/>
              </a:lnSpc>
              <a:spcBef>
                <a:spcPts val="0"/>
              </a:spcBef>
              <a:spcAft>
                <a:spcPts val="0"/>
              </a:spcAft>
              <a:buClr>
                <a:srgbClr val="002B42"/>
              </a:buClr>
              <a:buSzPts val="2200"/>
              <a:buFont typeface="Arial"/>
              <a:buChar char="●"/>
            </a:pPr>
            <a:r>
              <a:rPr lang="en" sz="2200"/>
              <a:t>HISAT2: similar to STAR, low memory usage, fast, standard for genome alignment</a:t>
            </a:r>
            <a:endParaRPr sz="2200"/>
          </a:p>
          <a:p>
            <a:pPr indent="-381000" lvl="0" marL="342900" rtl="0" algn="l">
              <a:lnSpc>
                <a:spcPct val="150000"/>
              </a:lnSpc>
              <a:spcBef>
                <a:spcPts val="0"/>
              </a:spcBef>
              <a:spcAft>
                <a:spcPts val="0"/>
              </a:spcAft>
              <a:buSzPts val="2200"/>
              <a:buChar char="●"/>
            </a:pPr>
            <a:r>
              <a:rPr b="1" lang="en" sz="2200"/>
              <a:t>STAR</a:t>
            </a:r>
            <a:r>
              <a:rPr lang="en" sz="2200"/>
              <a:t>: very fast and very accurate, high memory, standard for splicing junction</a:t>
            </a:r>
            <a:endParaRPr sz="2200"/>
          </a:p>
          <a:p>
            <a:pPr indent="-381000" lvl="0" marL="342900" rtl="0" algn="l">
              <a:lnSpc>
                <a:spcPct val="150000"/>
              </a:lnSpc>
              <a:spcBef>
                <a:spcPts val="0"/>
              </a:spcBef>
              <a:spcAft>
                <a:spcPts val="0"/>
              </a:spcAft>
              <a:buClr>
                <a:srgbClr val="002B42"/>
              </a:buClr>
              <a:buSzPts val="2200"/>
              <a:buFont typeface="Arial"/>
              <a:buChar char="●"/>
            </a:pPr>
            <a:r>
              <a:rPr lang="en" sz="2200"/>
              <a:t>Bowtie2: no splicing alignment</a:t>
            </a:r>
            <a:endParaRPr sz="2200"/>
          </a:p>
          <a:p>
            <a:pPr indent="0" lvl="0" marL="0" rtl="0" algn="l">
              <a:lnSpc>
                <a:spcPct val="150000"/>
              </a:lnSpc>
              <a:spcBef>
                <a:spcPts val="400"/>
              </a:spcBef>
              <a:spcAft>
                <a:spcPts val="0"/>
              </a:spcAft>
              <a:buNone/>
            </a:pPr>
            <a:r>
              <a:t/>
            </a:r>
            <a:endParaRPr sz="2200"/>
          </a:p>
          <a:p>
            <a:pPr indent="0" lvl="0" marL="0" rtl="0" algn="l">
              <a:lnSpc>
                <a:spcPct val="150000"/>
              </a:lnSpc>
              <a:spcBef>
                <a:spcPts val="400"/>
              </a:spcBef>
              <a:spcAft>
                <a:spcPts val="0"/>
              </a:spcAft>
              <a:buNone/>
            </a:pPr>
            <a:r>
              <a:t/>
            </a:r>
            <a:endParaRPr sz="2200"/>
          </a:p>
        </p:txBody>
      </p:sp>
      <p:sp>
        <p:nvSpPr>
          <p:cNvPr id="817" name="Google Shape;817;p126"/>
          <p:cNvSpPr txBox="1"/>
          <p:nvPr/>
        </p:nvSpPr>
        <p:spPr>
          <a:xfrm>
            <a:off x="272400" y="152391"/>
            <a:ext cx="7886700" cy="736800"/>
          </a:xfrm>
          <a:prstGeom prst="rect">
            <a:avLst/>
          </a:prstGeom>
          <a:noFill/>
          <a:ln>
            <a:noFill/>
          </a:ln>
        </p:spPr>
        <p:txBody>
          <a:bodyPr anchorCtr="0" anchor="t" bIns="0" lIns="0" spcFirstLastPara="1" rIns="0" wrap="square" tIns="0">
            <a:normAutofit/>
          </a:bodyPr>
          <a:lstStyle/>
          <a:p>
            <a:pPr indent="0" lvl="0" marL="0" rtl="0" algn="l">
              <a:lnSpc>
                <a:spcPct val="150000"/>
              </a:lnSpc>
              <a:spcBef>
                <a:spcPts val="0"/>
              </a:spcBef>
              <a:spcAft>
                <a:spcPts val="0"/>
              </a:spcAft>
              <a:buNone/>
            </a:pPr>
            <a:r>
              <a:rPr b="1" lang="en" sz="3300">
                <a:solidFill>
                  <a:srgbClr val="1155CC"/>
                </a:solidFill>
                <a:latin typeface="Helvetica Neue"/>
                <a:ea typeface="Helvetica Neue"/>
                <a:cs typeface="Helvetica Neue"/>
                <a:sym typeface="Helvetica Neue"/>
              </a:rPr>
              <a:t>Main characteristics of</a:t>
            </a:r>
            <a:r>
              <a:rPr b="1" lang="en" sz="3300">
                <a:solidFill>
                  <a:srgbClr val="1155CC"/>
                </a:solidFill>
                <a:latin typeface="Helvetica Neue"/>
                <a:ea typeface="Helvetica Neue"/>
                <a:cs typeface="Helvetica Neue"/>
                <a:sym typeface="Helvetica Neue"/>
              </a:rPr>
              <a:t> alignment tools</a:t>
            </a:r>
            <a:endParaRPr b="1" sz="3300">
              <a:solidFill>
                <a:srgbClr val="1155CC"/>
              </a:solidFill>
              <a:latin typeface="Helvetica Neue"/>
              <a:ea typeface="Helvetica Neue"/>
              <a:cs typeface="Helvetica Neue"/>
              <a:sym typeface="Helvetica Neue"/>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27"/>
          <p:cNvSpPr txBox="1"/>
          <p:nvPr>
            <p:ph type="title"/>
          </p:nvPr>
        </p:nvSpPr>
        <p:spPr>
          <a:xfrm>
            <a:off x="118872" y="0"/>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Alignment/Mapping: STAR tool</a:t>
            </a:r>
            <a:endParaRPr/>
          </a:p>
        </p:txBody>
      </p:sp>
      <p:sp>
        <p:nvSpPr>
          <p:cNvPr id="823" name="Google Shape;823;p127"/>
          <p:cNvSpPr txBox="1"/>
          <p:nvPr>
            <p:ph idx="1" type="body"/>
          </p:nvPr>
        </p:nvSpPr>
        <p:spPr>
          <a:xfrm>
            <a:off x="193900" y="736801"/>
            <a:ext cx="7886700" cy="3803400"/>
          </a:xfrm>
          <a:prstGeom prst="rect">
            <a:avLst/>
          </a:prstGeom>
        </p:spPr>
        <p:txBody>
          <a:bodyPr anchorCtr="0" anchor="t" bIns="0" lIns="0" spcFirstLastPara="1" rIns="0" wrap="square" tIns="0">
            <a:normAutofit/>
          </a:bodyPr>
          <a:lstStyle/>
          <a:p>
            <a:pPr indent="0" lvl="0" marL="0" rtl="0" algn="l">
              <a:spcBef>
                <a:spcPts val="1000"/>
              </a:spcBef>
              <a:spcAft>
                <a:spcPts val="0"/>
              </a:spcAft>
              <a:buNone/>
            </a:pPr>
            <a:r>
              <a:rPr lang="en" sz="2800">
                <a:latin typeface="Arial"/>
                <a:ea typeface="Arial"/>
                <a:cs typeface="Arial"/>
                <a:sym typeface="Arial"/>
              </a:rPr>
              <a:t>STAR </a:t>
            </a:r>
            <a:r>
              <a:rPr lang="en" sz="2200">
                <a:latin typeface="Arial"/>
                <a:ea typeface="Arial"/>
                <a:cs typeface="Arial"/>
                <a:sym typeface="Arial"/>
              </a:rPr>
              <a:t>(</a:t>
            </a:r>
            <a:r>
              <a:rPr lang="en" sz="2200">
                <a:solidFill>
                  <a:schemeClr val="dk1"/>
                </a:solidFill>
                <a:highlight>
                  <a:srgbClr val="FFFFFF"/>
                </a:highlight>
                <a:latin typeface="Arial"/>
                <a:ea typeface="Arial"/>
                <a:cs typeface="Arial"/>
                <a:sym typeface="Arial"/>
              </a:rPr>
              <a:t>Spliced Transcripts Alignment to a Reference (STAR))</a:t>
            </a:r>
            <a:endParaRPr sz="2200">
              <a:solidFill>
                <a:schemeClr val="dk1"/>
              </a:solidFill>
              <a:highlight>
                <a:srgbClr val="FFFFFF"/>
              </a:highlight>
              <a:latin typeface="Arial"/>
              <a:ea typeface="Arial"/>
              <a:cs typeface="Arial"/>
              <a:sym typeface="Arial"/>
            </a:endParaRPr>
          </a:p>
          <a:p>
            <a:pPr indent="0" lvl="0" marL="0" rtl="0" algn="l">
              <a:spcBef>
                <a:spcPts val="1000"/>
              </a:spcBef>
              <a:spcAft>
                <a:spcPts val="0"/>
              </a:spcAft>
              <a:buNone/>
            </a:pPr>
            <a:r>
              <a:rPr lang="en" sz="2800">
                <a:latin typeface="Arial"/>
                <a:ea typeface="Arial"/>
                <a:cs typeface="Arial"/>
                <a:sym typeface="Arial"/>
              </a:rPr>
              <a:t>is popular for RNA-Seq data because it</a:t>
            </a:r>
            <a:endParaRPr sz="2800">
              <a:latin typeface="Arial"/>
              <a:ea typeface="Arial"/>
              <a:cs typeface="Arial"/>
              <a:sym typeface="Arial"/>
            </a:endParaRPr>
          </a:p>
          <a:p>
            <a:pPr indent="0" lvl="0" marL="0" rtl="0" algn="l">
              <a:spcBef>
                <a:spcPts val="1000"/>
              </a:spcBef>
              <a:spcAft>
                <a:spcPts val="0"/>
              </a:spcAft>
              <a:buNone/>
            </a:pPr>
            <a:r>
              <a:t/>
            </a:r>
            <a:endParaRPr sz="2800">
              <a:latin typeface="Arial"/>
              <a:ea typeface="Arial"/>
              <a:cs typeface="Arial"/>
              <a:sym typeface="Arial"/>
            </a:endParaRPr>
          </a:p>
          <a:p>
            <a:pPr indent="-361950" lvl="0" marL="457200" rtl="0" algn="l">
              <a:lnSpc>
                <a:spcPct val="115000"/>
              </a:lnSpc>
              <a:spcBef>
                <a:spcPts val="500"/>
              </a:spcBef>
              <a:spcAft>
                <a:spcPts val="0"/>
              </a:spcAft>
              <a:buSzPts val="2100"/>
              <a:buChar char="•"/>
            </a:pPr>
            <a:r>
              <a:rPr lang="en">
                <a:latin typeface="Arial"/>
                <a:ea typeface="Arial"/>
                <a:cs typeface="Arial"/>
                <a:sym typeface="Arial"/>
              </a:rPr>
              <a:t>does unbiased de novo detection of canonical junctions</a:t>
            </a:r>
            <a:endParaRPr>
              <a:latin typeface="Arial"/>
              <a:ea typeface="Arial"/>
              <a:cs typeface="Arial"/>
              <a:sym typeface="Arial"/>
            </a:endParaRPr>
          </a:p>
          <a:p>
            <a:pPr indent="-361950" lvl="0" marL="457200" rtl="0" algn="l">
              <a:lnSpc>
                <a:spcPct val="115000"/>
              </a:lnSpc>
              <a:spcBef>
                <a:spcPts val="0"/>
              </a:spcBef>
              <a:spcAft>
                <a:spcPts val="0"/>
              </a:spcAft>
              <a:buSzPts val="2100"/>
              <a:buChar char="•"/>
            </a:pPr>
            <a:r>
              <a:rPr lang="en">
                <a:latin typeface="Arial"/>
                <a:ea typeface="Arial"/>
                <a:cs typeface="Arial"/>
                <a:sym typeface="Arial"/>
              </a:rPr>
              <a:t>can discover non-canonical splices</a:t>
            </a:r>
            <a:endParaRPr>
              <a:latin typeface="Arial"/>
              <a:ea typeface="Arial"/>
              <a:cs typeface="Arial"/>
              <a:sym typeface="Arial"/>
            </a:endParaRPr>
          </a:p>
          <a:p>
            <a:pPr indent="-361950" lvl="0" marL="457200" rtl="0" algn="l">
              <a:lnSpc>
                <a:spcPct val="115000"/>
              </a:lnSpc>
              <a:spcBef>
                <a:spcPts val="0"/>
              </a:spcBef>
              <a:spcAft>
                <a:spcPts val="0"/>
              </a:spcAft>
              <a:buSzPts val="2100"/>
              <a:buChar char="•"/>
            </a:pPr>
            <a:r>
              <a:rPr lang="en">
                <a:latin typeface="Arial"/>
                <a:ea typeface="Arial"/>
                <a:cs typeface="Arial"/>
                <a:sym typeface="Arial"/>
              </a:rPr>
              <a:t>can discover chimeric (fusion) transcripts</a:t>
            </a:r>
            <a:endParaRPr sz="2200"/>
          </a:p>
        </p:txBody>
      </p:sp>
      <p:pic>
        <p:nvPicPr>
          <p:cNvPr id="824" name="Google Shape;824;p127"/>
          <p:cNvPicPr preferRelativeResize="0"/>
          <p:nvPr/>
        </p:nvPicPr>
        <p:blipFill>
          <a:blip r:embed="rId3">
            <a:alphaModFix/>
          </a:blip>
          <a:stretch>
            <a:fillRect/>
          </a:stretch>
        </p:blipFill>
        <p:spPr>
          <a:xfrm>
            <a:off x="6291000" y="2998275"/>
            <a:ext cx="2602875" cy="1842801"/>
          </a:xfrm>
          <a:prstGeom prst="rect">
            <a:avLst/>
          </a:prstGeom>
          <a:noFill/>
          <a:ln>
            <a:noFill/>
          </a:ln>
        </p:spPr>
      </p:pic>
      <p:sp>
        <p:nvSpPr>
          <p:cNvPr id="825" name="Google Shape;825;p127"/>
          <p:cNvSpPr txBox="1"/>
          <p:nvPr/>
        </p:nvSpPr>
        <p:spPr>
          <a:xfrm>
            <a:off x="298850" y="3747525"/>
            <a:ext cx="6180000" cy="7665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i="1" lang="en" sz="2100">
                <a:solidFill>
                  <a:schemeClr val="accent2"/>
                </a:solidFill>
                <a:latin typeface="Helvetica Neue"/>
                <a:ea typeface="Helvetica Neue"/>
                <a:cs typeface="Helvetica Neue"/>
                <a:sym typeface="Helvetica Neue"/>
              </a:rPr>
              <a:t>Tools: </a:t>
            </a:r>
            <a:r>
              <a:rPr b="1" i="1" lang="en" sz="2100" u="sng">
                <a:solidFill>
                  <a:schemeClr val="accent2"/>
                </a:solidFill>
                <a:latin typeface="Helvetica Neue"/>
                <a:ea typeface="Helvetica Neue"/>
                <a:cs typeface="Helvetica Neue"/>
                <a:sym typeface="Helvetica Neue"/>
              </a:rPr>
              <a:t>STAR</a:t>
            </a:r>
            <a:r>
              <a:rPr b="1" i="1" lang="en" sz="2100">
                <a:solidFill>
                  <a:schemeClr val="accent2"/>
                </a:solidFill>
                <a:latin typeface="Helvetica Neue"/>
                <a:ea typeface="Helvetica Neue"/>
                <a:cs typeface="Helvetica Neue"/>
                <a:sym typeface="Helvetica Neue"/>
              </a:rPr>
              <a:t>, HISAT2, TopHat2, bowtie2, salmon, kallisto</a:t>
            </a:r>
            <a:endParaRPr b="1" i="1" sz="2100">
              <a:solidFill>
                <a:schemeClr val="accent2"/>
              </a:solidFill>
              <a:latin typeface="Helvetica Neue"/>
              <a:ea typeface="Helvetica Neue"/>
              <a:cs typeface="Helvetica Neue"/>
              <a:sym typeface="Helvetica Neue"/>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128"/>
          <p:cNvSpPr txBox="1"/>
          <p:nvPr>
            <p:ph type="title"/>
          </p:nvPr>
        </p:nvSpPr>
        <p:spPr>
          <a:xfrm>
            <a:off x="118872" y="0"/>
            <a:ext cx="7886700" cy="7368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Alignment/Mapping: How does STAR work?</a:t>
            </a:r>
            <a:endParaRPr/>
          </a:p>
        </p:txBody>
      </p:sp>
      <p:sp>
        <p:nvSpPr>
          <p:cNvPr id="831" name="Google Shape;831;p128"/>
          <p:cNvSpPr txBox="1"/>
          <p:nvPr/>
        </p:nvSpPr>
        <p:spPr>
          <a:xfrm>
            <a:off x="0" y="4765650"/>
            <a:ext cx="8139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666666"/>
                </a:solidFill>
              </a:rPr>
              <a:t>Image source: https://hbctraining.github.io/Intro-to-rnaseq-hpc-O2/lessons/03_alignment.html</a:t>
            </a:r>
            <a:endParaRPr sz="1200">
              <a:solidFill>
                <a:srgbClr val="666666"/>
              </a:solidFill>
            </a:endParaRPr>
          </a:p>
        </p:txBody>
      </p:sp>
      <p:sp>
        <p:nvSpPr>
          <p:cNvPr id="832" name="Google Shape;832;p128"/>
          <p:cNvSpPr txBox="1"/>
          <p:nvPr/>
        </p:nvSpPr>
        <p:spPr>
          <a:xfrm>
            <a:off x="195075" y="4585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Step 1: Seed search</a:t>
            </a:r>
            <a:endParaRPr sz="2000"/>
          </a:p>
        </p:txBody>
      </p:sp>
      <p:sp>
        <p:nvSpPr>
          <p:cNvPr id="833" name="Google Shape;833;p128"/>
          <p:cNvSpPr txBox="1"/>
          <p:nvPr/>
        </p:nvSpPr>
        <p:spPr>
          <a:xfrm>
            <a:off x="5668625" y="606350"/>
            <a:ext cx="3572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t>Step 2: Stitching and scoring</a:t>
            </a:r>
            <a:endParaRPr sz="2000"/>
          </a:p>
        </p:txBody>
      </p:sp>
      <p:sp>
        <p:nvSpPr>
          <p:cNvPr id="834" name="Google Shape;834;p128"/>
          <p:cNvSpPr txBox="1"/>
          <p:nvPr/>
        </p:nvSpPr>
        <p:spPr>
          <a:xfrm>
            <a:off x="5208700" y="4015650"/>
            <a:ext cx="38862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dk1"/>
                </a:solidFill>
              </a:rPr>
              <a:t>MMP = </a:t>
            </a:r>
            <a:r>
              <a:rPr lang="en" sz="1900">
                <a:solidFill>
                  <a:srgbClr val="212529"/>
                </a:solidFill>
                <a:highlight>
                  <a:srgbClr val="FFFFFF"/>
                </a:highlight>
              </a:rPr>
              <a:t>Maximum Mappable Prefix</a:t>
            </a:r>
            <a:endParaRPr sz="1900">
              <a:solidFill>
                <a:srgbClr val="212529"/>
              </a:solidFill>
              <a:highlight>
                <a:srgbClr val="FFFFFF"/>
              </a:highlight>
            </a:endParaRPr>
          </a:p>
          <a:p>
            <a:pPr indent="0" lvl="0" marL="0" rtl="0" algn="l">
              <a:spcBef>
                <a:spcPts val="0"/>
              </a:spcBef>
              <a:spcAft>
                <a:spcPts val="0"/>
              </a:spcAft>
              <a:buNone/>
            </a:pPr>
            <a:r>
              <a:rPr lang="en" sz="1900">
                <a:solidFill>
                  <a:srgbClr val="212529"/>
                </a:solidFill>
                <a:highlight>
                  <a:srgbClr val="FFFFFF"/>
                </a:highlight>
              </a:rPr>
              <a:t>Anchor seeds in a genomic region</a:t>
            </a:r>
            <a:endParaRPr sz="1900">
              <a:solidFill>
                <a:srgbClr val="212529"/>
              </a:solidFill>
              <a:highlight>
                <a:srgbClr val="FFFFFF"/>
              </a:highlight>
            </a:endParaRPr>
          </a:p>
        </p:txBody>
      </p:sp>
      <p:pic>
        <p:nvPicPr>
          <p:cNvPr id="835" name="Google Shape;835;p128"/>
          <p:cNvPicPr preferRelativeResize="0"/>
          <p:nvPr/>
        </p:nvPicPr>
        <p:blipFill>
          <a:blip r:embed="rId3">
            <a:alphaModFix/>
          </a:blip>
          <a:stretch>
            <a:fillRect/>
          </a:stretch>
        </p:blipFill>
        <p:spPr>
          <a:xfrm>
            <a:off x="386038" y="848500"/>
            <a:ext cx="2866874" cy="2269600"/>
          </a:xfrm>
          <a:prstGeom prst="rect">
            <a:avLst/>
          </a:prstGeom>
          <a:noFill/>
          <a:ln>
            <a:noFill/>
          </a:ln>
        </p:spPr>
      </p:pic>
      <p:pic>
        <p:nvPicPr>
          <p:cNvPr id="836" name="Google Shape;836;p128"/>
          <p:cNvPicPr preferRelativeResize="0"/>
          <p:nvPr/>
        </p:nvPicPr>
        <p:blipFill>
          <a:blip r:embed="rId4">
            <a:alphaModFix/>
          </a:blip>
          <a:stretch>
            <a:fillRect/>
          </a:stretch>
        </p:blipFill>
        <p:spPr>
          <a:xfrm>
            <a:off x="319463" y="3078557"/>
            <a:ext cx="3000001" cy="1763292"/>
          </a:xfrm>
          <a:prstGeom prst="rect">
            <a:avLst/>
          </a:prstGeom>
          <a:noFill/>
          <a:ln>
            <a:noFill/>
          </a:ln>
        </p:spPr>
      </p:pic>
      <p:pic>
        <p:nvPicPr>
          <p:cNvPr id="837" name="Google Shape;837;p128"/>
          <p:cNvPicPr preferRelativeResize="0"/>
          <p:nvPr/>
        </p:nvPicPr>
        <p:blipFill>
          <a:blip r:embed="rId5">
            <a:alphaModFix/>
          </a:blip>
          <a:stretch>
            <a:fillRect/>
          </a:stretch>
        </p:blipFill>
        <p:spPr>
          <a:xfrm>
            <a:off x="6077263" y="1251350"/>
            <a:ext cx="3017632" cy="2611900"/>
          </a:xfrm>
          <a:prstGeom prst="rect">
            <a:avLst/>
          </a:prstGeom>
          <a:noFill/>
          <a:ln>
            <a:noFill/>
          </a:ln>
        </p:spPr>
      </p:pic>
      <p:pic>
        <p:nvPicPr>
          <p:cNvPr id="838" name="Google Shape;838;p128"/>
          <p:cNvPicPr preferRelativeResize="0"/>
          <p:nvPr/>
        </p:nvPicPr>
        <p:blipFill>
          <a:blip r:embed="rId6">
            <a:alphaModFix/>
          </a:blip>
          <a:stretch>
            <a:fillRect/>
          </a:stretch>
        </p:blipFill>
        <p:spPr>
          <a:xfrm>
            <a:off x="3195075" y="1520591"/>
            <a:ext cx="2629101" cy="988525"/>
          </a:xfrm>
          <a:prstGeom prst="rect">
            <a:avLst/>
          </a:prstGeom>
          <a:noFill/>
          <a:ln>
            <a:noFill/>
          </a:ln>
        </p:spPr>
      </p:pic>
      <p:sp>
        <p:nvSpPr>
          <p:cNvPr id="839" name="Google Shape;839;p128"/>
          <p:cNvSpPr txBox="1"/>
          <p:nvPr/>
        </p:nvSpPr>
        <p:spPr>
          <a:xfrm>
            <a:off x="471875" y="3165850"/>
            <a:ext cx="3000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MMP1</a:t>
            </a:r>
            <a:endParaRPr sz="1100"/>
          </a:p>
        </p:txBody>
      </p:sp>
      <p:sp>
        <p:nvSpPr>
          <p:cNvPr id="840" name="Google Shape;840;p128"/>
          <p:cNvSpPr txBox="1"/>
          <p:nvPr/>
        </p:nvSpPr>
        <p:spPr>
          <a:xfrm>
            <a:off x="319475" y="1692125"/>
            <a:ext cx="3000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MMP1</a:t>
            </a:r>
            <a:endParaRPr sz="1100"/>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129"/>
          <p:cNvSpPr txBox="1"/>
          <p:nvPr>
            <p:ph type="title"/>
          </p:nvPr>
        </p:nvSpPr>
        <p:spPr>
          <a:xfrm>
            <a:off x="118872" y="0"/>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Alignment/Mapping: Inputs needed</a:t>
            </a:r>
            <a:endParaRPr/>
          </a:p>
        </p:txBody>
      </p:sp>
      <p:sp>
        <p:nvSpPr>
          <p:cNvPr id="846" name="Google Shape;846;p129"/>
          <p:cNvSpPr txBox="1"/>
          <p:nvPr>
            <p:ph idx="1" type="body"/>
          </p:nvPr>
        </p:nvSpPr>
        <p:spPr>
          <a:xfrm>
            <a:off x="118875" y="797425"/>
            <a:ext cx="9025200" cy="3803400"/>
          </a:xfrm>
          <a:prstGeom prst="rect">
            <a:avLst/>
          </a:prstGeom>
        </p:spPr>
        <p:txBody>
          <a:bodyPr anchorCtr="0" anchor="t" bIns="0" lIns="0" spcFirstLastPara="1" rIns="0" wrap="square" tIns="0">
            <a:noAutofit/>
          </a:bodyPr>
          <a:lstStyle/>
          <a:p>
            <a:pPr indent="-349250" lvl="0" marL="457200" rtl="0" algn="l">
              <a:lnSpc>
                <a:spcPct val="115000"/>
              </a:lnSpc>
              <a:spcBef>
                <a:spcPts val="800"/>
              </a:spcBef>
              <a:spcAft>
                <a:spcPts val="0"/>
              </a:spcAft>
              <a:buSzPts val="1900"/>
              <a:buChar char="●"/>
            </a:pPr>
            <a:r>
              <a:rPr lang="en" sz="1900">
                <a:latin typeface="Arial"/>
                <a:ea typeface="Arial"/>
                <a:cs typeface="Arial"/>
                <a:sym typeface="Arial"/>
              </a:rPr>
              <a:t>Reads to align</a:t>
            </a:r>
            <a:endParaRPr sz="1900">
              <a:latin typeface="Arial"/>
              <a:ea typeface="Arial"/>
              <a:cs typeface="Arial"/>
              <a:sym typeface="Arial"/>
            </a:endParaRPr>
          </a:p>
          <a:p>
            <a:pPr indent="-342900" lvl="1" marL="1371600" rtl="0" algn="l">
              <a:lnSpc>
                <a:spcPct val="115000"/>
              </a:lnSpc>
              <a:spcBef>
                <a:spcPts val="0"/>
              </a:spcBef>
              <a:spcAft>
                <a:spcPts val="0"/>
              </a:spcAft>
              <a:buSzPts val="1800"/>
              <a:buChar char="○"/>
            </a:pPr>
            <a:r>
              <a:rPr lang="en">
                <a:latin typeface="Arial"/>
                <a:ea typeface="Arial"/>
                <a:cs typeface="Arial"/>
                <a:sym typeface="Arial"/>
              </a:rPr>
              <a:t>FASTQ file after cleaning (trimming adapters).</a:t>
            </a:r>
            <a:endParaRPr>
              <a:latin typeface="Arial"/>
              <a:ea typeface="Arial"/>
              <a:cs typeface="Arial"/>
              <a:sym typeface="Arial"/>
            </a:endParaRPr>
          </a:p>
          <a:p>
            <a:pPr indent="0" lvl="0" marL="0" rtl="0" algn="l">
              <a:spcBef>
                <a:spcPts val="800"/>
              </a:spcBef>
              <a:spcAft>
                <a:spcPts val="0"/>
              </a:spcAft>
              <a:buNone/>
            </a:pPr>
            <a:r>
              <a:t/>
            </a:r>
            <a:endParaRPr sz="1800">
              <a:latin typeface="Arial"/>
              <a:ea typeface="Arial"/>
              <a:cs typeface="Arial"/>
              <a:sym typeface="Arial"/>
            </a:endParaRPr>
          </a:p>
          <a:p>
            <a:pPr indent="-349250" lvl="0" marL="457200" rtl="0" algn="l">
              <a:spcBef>
                <a:spcPts val="800"/>
              </a:spcBef>
              <a:spcAft>
                <a:spcPts val="0"/>
              </a:spcAft>
              <a:buSzPts val="1900"/>
              <a:buChar char="●"/>
            </a:pPr>
            <a:r>
              <a:rPr lang="en" sz="1900">
                <a:latin typeface="Arial"/>
                <a:ea typeface="Arial"/>
                <a:cs typeface="Arial"/>
                <a:sym typeface="Arial"/>
              </a:rPr>
              <a:t>Reference sequence to align to</a:t>
            </a:r>
            <a:endParaRPr sz="1900">
              <a:latin typeface="Arial"/>
              <a:ea typeface="Arial"/>
              <a:cs typeface="Arial"/>
              <a:sym typeface="Arial"/>
            </a:endParaRPr>
          </a:p>
          <a:p>
            <a:pPr indent="-342900" lvl="1" marL="1371600" rtl="0" algn="l">
              <a:lnSpc>
                <a:spcPct val="115000"/>
              </a:lnSpc>
              <a:spcBef>
                <a:spcPts val="0"/>
              </a:spcBef>
              <a:spcAft>
                <a:spcPts val="0"/>
              </a:spcAft>
              <a:buSzPts val="1800"/>
              <a:buChar char="○"/>
            </a:pPr>
            <a:r>
              <a:rPr lang="en">
                <a:latin typeface="Arial"/>
                <a:ea typeface="Arial"/>
                <a:cs typeface="Arial"/>
                <a:sym typeface="Arial"/>
              </a:rPr>
              <a:t>Example – “rDNA_sequence.fasta”</a:t>
            </a:r>
            <a:endParaRPr>
              <a:latin typeface="Arial"/>
              <a:ea typeface="Arial"/>
              <a:cs typeface="Arial"/>
              <a:sym typeface="Arial"/>
            </a:endParaRPr>
          </a:p>
          <a:p>
            <a:pPr indent="-342900" lvl="1" marL="1371600" rtl="0" algn="l">
              <a:lnSpc>
                <a:spcPct val="115000"/>
              </a:lnSpc>
              <a:spcBef>
                <a:spcPts val="0"/>
              </a:spcBef>
              <a:spcAft>
                <a:spcPts val="0"/>
              </a:spcAft>
              <a:buSzPts val="1800"/>
              <a:buChar char="○"/>
            </a:pPr>
            <a:r>
              <a:rPr lang="en">
                <a:latin typeface="Arial"/>
                <a:ea typeface="Arial"/>
                <a:cs typeface="Arial"/>
                <a:sym typeface="Arial"/>
              </a:rPr>
              <a:t>FASTA format. Two lines per sequence. </a:t>
            </a:r>
            <a:endParaRPr>
              <a:latin typeface="Arial"/>
              <a:ea typeface="Arial"/>
              <a:cs typeface="Arial"/>
              <a:sym typeface="Arial"/>
            </a:endParaRPr>
          </a:p>
          <a:p>
            <a:pPr indent="-342900" lvl="2" marL="1828800" rtl="0" algn="l">
              <a:lnSpc>
                <a:spcPct val="115000"/>
              </a:lnSpc>
              <a:spcBef>
                <a:spcPts val="0"/>
              </a:spcBef>
              <a:spcAft>
                <a:spcPts val="0"/>
              </a:spcAft>
              <a:buSzPts val="1800"/>
              <a:buChar char="■"/>
            </a:pPr>
            <a:r>
              <a:rPr lang="en" sz="1800">
                <a:latin typeface="Arial"/>
                <a:ea typeface="Arial"/>
                <a:cs typeface="Arial"/>
                <a:sym typeface="Arial"/>
              </a:rPr>
              <a:t>Starting with “&gt;”, followed by sequence name/identifier.</a:t>
            </a:r>
            <a:endParaRPr sz="1800">
              <a:latin typeface="Arial"/>
              <a:ea typeface="Arial"/>
              <a:cs typeface="Arial"/>
              <a:sym typeface="Arial"/>
            </a:endParaRPr>
          </a:p>
          <a:p>
            <a:pPr indent="-342900" lvl="2" marL="1828800" rtl="0" algn="l">
              <a:lnSpc>
                <a:spcPct val="115000"/>
              </a:lnSpc>
              <a:spcBef>
                <a:spcPts val="0"/>
              </a:spcBef>
              <a:spcAft>
                <a:spcPts val="0"/>
              </a:spcAft>
              <a:buSzPts val="1800"/>
              <a:buChar char="■"/>
            </a:pPr>
            <a:r>
              <a:rPr lang="en" sz="1800">
                <a:latin typeface="Arial"/>
                <a:ea typeface="Arial"/>
                <a:cs typeface="Arial"/>
                <a:sym typeface="Arial"/>
              </a:rPr>
              <a:t>Sequence.</a:t>
            </a:r>
            <a:endParaRPr sz="1800">
              <a:latin typeface="Arial"/>
              <a:ea typeface="Arial"/>
              <a:cs typeface="Arial"/>
              <a:sym typeface="Arial"/>
            </a:endParaRPr>
          </a:p>
          <a:p>
            <a:pPr indent="-342900" lvl="1" marL="1371600" rtl="0" algn="l">
              <a:lnSpc>
                <a:spcPct val="115000"/>
              </a:lnSpc>
              <a:spcBef>
                <a:spcPts val="0"/>
              </a:spcBef>
              <a:spcAft>
                <a:spcPts val="0"/>
              </a:spcAft>
              <a:buSzPts val="1800"/>
              <a:buChar char="○"/>
            </a:pPr>
            <a:r>
              <a:rPr lang="en">
                <a:latin typeface="Arial"/>
                <a:ea typeface="Arial"/>
                <a:cs typeface="Arial"/>
                <a:sym typeface="Arial"/>
              </a:rPr>
              <a:t>File extensions: .fasta, .fa, .txt. </a:t>
            </a:r>
            <a:endParaRPr>
              <a:latin typeface="Arial"/>
              <a:ea typeface="Arial"/>
              <a:cs typeface="Arial"/>
              <a:sym typeface="Arial"/>
            </a:endParaRPr>
          </a:p>
          <a:p>
            <a:pPr indent="-342900" lvl="1" marL="1371600" rtl="0" algn="l">
              <a:lnSpc>
                <a:spcPct val="115000"/>
              </a:lnSpc>
              <a:spcBef>
                <a:spcPts val="0"/>
              </a:spcBef>
              <a:spcAft>
                <a:spcPts val="0"/>
              </a:spcAft>
              <a:buSzPts val="1800"/>
              <a:buChar char="○"/>
            </a:pPr>
            <a:r>
              <a:rPr lang="en">
                <a:latin typeface="Arial"/>
                <a:ea typeface="Arial"/>
                <a:cs typeface="Arial"/>
                <a:sym typeface="Arial"/>
              </a:rPr>
              <a:t>Examples of acceptable genome sequence files for STAR:</a:t>
            </a:r>
            <a:endParaRPr>
              <a:latin typeface="Arial"/>
              <a:ea typeface="Arial"/>
              <a:cs typeface="Arial"/>
              <a:sym typeface="Arial"/>
            </a:endParaRPr>
          </a:p>
          <a:p>
            <a:pPr indent="-342900" lvl="2" marL="1828800" rtl="0" algn="l">
              <a:lnSpc>
                <a:spcPct val="115000"/>
              </a:lnSpc>
              <a:spcBef>
                <a:spcPts val="0"/>
              </a:spcBef>
              <a:spcAft>
                <a:spcPts val="0"/>
              </a:spcAft>
              <a:buSzPts val="1800"/>
              <a:buChar char="■"/>
            </a:pPr>
            <a:r>
              <a:rPr lang="en" sz="1800">
                <a:latin typeface="Arial"/>
                <a:ea typeface="Arial"/>
                <a:cs typeface="Arial"/>
                <a:sym typeface="Arial"/>
              </a:rPr>
              <a:t>ENSEMBL: files marked with </a:t>
            </a:r>
            <a:r>
              <a:rPr i="1" lang="en" sz="1800">
                <a:latin typeface="Arial"/>
                <a:ea typeface="Arial"/>
                <a:cs typeface="Arial"/>
                <a:sym typeface="Arial"/>
              </a:rPr>
              <a:t>.dna.primary.assembly</a:t>
            </a:r>
            <a:endParaRPr i="1" sz="1800">
              <a:latin typeface="Arial"/>
              <a:ea typeface="Arial"/>
              <a:cs typeface="Arial"/>
              <a:sym typeface="Arial"/>
            </a:endParaRPr>
          </a:p>
          <a:p>
            <a:pPr indent="-342900" lvl="2" marL="1828800" rtl="0" algn="l">
              <a:lnSpc>
                <a:spcPct val="115000"/>
              </a:lnSpc>
              <a:spcBef>
                <a:spcPts val="0"/>
              </a:spcBef>
              <a:spcAft>
                <a:spcPts val="0"/>
              </a:spcAft>
              <a:buSzPts val="1800"/>
              <a:buChar char="■"/>
            </a:pPr>
            <a:r>
              <a:rPr lang="en" sz="1800">
                <a:latin typeface="Arial"/>
                <a:ea typeface="Arial"/>
                <a:cs typeface="Arial"/>
                <a:sym typeface="Arial"/>
              </a:rPr>
              <a:t>GENCODE: files marked with </a:t>
            </a:r>
            <a:r>
              <a:rPr i="1" lang="en" sz="1800">
                <a:latin typeface="Arial"/>
                <a:ea typeface="Arial"/>
                <a:cs typeface="Arial"/>
                <a:sym typeface="Arial"/>
              </a:rPr>
              <a:t>PRI</a:t>
            </a:r>
            <a:r>
              <a:rPr lang="en" sz="1800">
                <a:latin typeface="Arial"/>
                <a:ea typeface="Arial"/>
                <a:cs typeface="Arial"/>
                <a:sym typeface="Arial"/>
              </a:rPr>
              <a:t> (primary). Strongly recommended for mouse and human.</a:t>
            </a:r>
            <a:endParaRPr sz="1800">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pic>
        <p:nvPicPr>
          <p:cNvPr id="851" name="Google Shape;851;p130"/>
          <p:cNvPicPr preferRelativeResize="0"/>
          <p:nvPr/>
        </p:nvPicPr>
        <p:blipFill>
          <a:blip r:embed="rId3">
            <a:alphaModFix/>
          </a:blip>
          <a:stretch>
            <a:fillRect/>
          </a:stretch>
        </p:blipFill>
        <p:spPr>
          <a:xfrm>
            <a:off x="84725" y="2804941"/>
            <a:ext cx="8839201" cy="2329821"/>
          </a:xfrm>
          <a:prstGeom prst="rect">
            <a:avLst/>
          </a:prstGeom>
          <a:noFill/>
          <a:ln>
            <a:noFill/>
          </a:ln>
        </p:spPr>
      </p:pic>
      <p:pic>
        <p:nvPicPr>
          <p:cNvPr id="852" name="Google Shape;852;p130"/>
          <p:cNvPicPr preferRelativeResize="0"/>
          <p:nvPr/>
        </p:nvPicPr>
        <p:blipFill>
          <a:blip r:embed="rId4">
            <a:alphaModFix/>
          </a:blip>
          <a:stretch>
            <a:fillRect/>
          </a:stretch>
        </p:blipFill>
        <p:spPr>
          <a:xfrm>
            <a:off x="160925" y="395850"/>
            <a:ext cx="8478075" cy="2561500"/>
          </a:xfrm>
          <a:prstGeom prst="rect">
            <a:avLst/>
          </a:prstGeom>
          <a:noFill/>
          <a:ln>
            <a:noFill/>
          </a:ln>
        </p:spPr>
      </p:pic>
      <p:sp>
        <p:nvSpPr>
          <p:cNvPr id="853" name="Google Shape;853;p130"/>
          <p:cNvSpPr txBox="1"/>
          <p:nvPr>
            <p:ph type="title"/>
          </p:nvPr>
        </p:nvSpPr>
        <p:spPr>
          <a:xfrm>
            <a:off x="152400" y="35616"/>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From the alignment to SAM format</a:t>
            </a:r>
            <a:endParaRPr/>
          </a:p>
        </p:txBody>
      </p:sp>
      <p:pic>
        <p:nvPicPr>
          <p:cNvPr id="854" name="Google Shape;854;p130"/>
          <p:cNvPicPr preferRelativeResize="0"/>
          <p:nvPr/>
        </p:nvPicPr>
        <p:blipFill>
          <a:blip r:embed="rId5">
            <a:alphaModFix/>
          </a:blip>
          <a:stretch>
            <a:fillRect/>
          </a:stretch>
        </p:blipFill>
        <p:spPr>
          <a:xfrm>
            <a:off x="5585075" y="1435550"/>
            <a:ext cx="2812300" cy="482100"/>
          </a:xfrm>
          <a:prstGeom prst="rect">
            <a:avLst/>
          </a:prstGeom>
          <a:noFill/>
          <a:ln>
            <a:noFill/>
          </a:ln>
        </p:spPr>
      </p:pic>
      <p:sp>
        <p:nvSpPr>
          <p:cNvPr id="855" name="Google Shape;855;p130"/>
          <p:cNvSpPr txBox="1"/>
          <p:nvPr/>
        </p:nvSpPr>
        <p:spPr>
          <a:xfrm>
            <a:off x="7141975" y="3058650"/>
            <a:ext cx="1423200" cy="489300"/>
          </a:xfrm>
          <a:prstGeom prst="rect">
            <a:avLst/>
          </a:prstGeom>
          <a:noFill/>
          <a:ln>
            <a:noFill/>
          </a:ln>
        </p:spPr>
        <p:txBody>
          <a:bodyPr anchorCtr="0" anchor="t" bIns="91425" lIns="91425" spcFirstLastPara="1" rIns="91425" wrap="square" tIns="91425">
            <a:spAutoFit/>
          </a:bodyPr>
          <a:lstStyle/>
          <a:p>
            <a:pPr indent="0" lvl="0" marL="0" rtl="0" algn="r">
              <a:lnSpc>
                <a:spcPct val="90000"/>
              </a:lnSpc>
              <a:spcBef>
                <a:spcPts val="0"/>
              </a:spcBef>
              <a:spcAft>
                <a:spcPts val="0"/>
              </a:spcAft>
              <a:buNone/>
            </a:pPr>
            <a:r>
              <a:rPr b="1" lang="en" sz="2200">
                <a:solidFill>
                  <a:srgbClr val="1155CC"/>
                </a:solidFill>
                <a:latin typeface="Helvetica Neue"/>
                <a:ea typeface="Helvetica Neue"/>
                <a:cs typeface="Helvetica Neue"/>
                <a:sym typeface="Helvetica Neue"/>
              </a:rPr>
              <a:t>SAM</a:t>
            </a:r>
            <a:endParaRPr sz="300"/>
          </a:p>
        </p:txBody>
      </p:sp>
      <p:sp>
        <p:nvSpPr>
          <p:cNvPr id="856" name="Google Shape;856;p130"/>
          <p:cNvSpPr txBox="1"/>
          <p:nvPr/>
        </p:nvSpPr>
        <p:spPr>
          <a:xfrm>
            <a:off x="6832400" y="557050"/>
            <a:ext cx="1632900" cy="489300"/>
          </a:xfrm>
          <a:prstGeom prst="rect">
            <a:avLst/>
          </a:prstGeom>
          <a:noFill/>
          <a:ln>
            <a:noFill/>
          </a:ln>
        </p:spPr>
        <p:txBody>
          <a:bodyPr anchorCtr="0" anchor="t" bIns="91425" lIns="91425" spcFirstLastPara="1" rIns="91425" wrap="square" tIns="91425">
            <a:spAutoFit/>
          </a:bodyPr>
          <a:lstStyle/>
          <a:p>
            <a:pPr indent="0" lvl="0" marL="0" rtl="0" algn="r">
              <a:lnSpc>
                <a:spcPct val="90000"/>
              </a:lnSpc>
              <a:spcBef>
                <a:spcPts val="0"/>
              </a:spcBef>
              <a:spcAft>
                <a:spcPts val="0"/>
              </a:spcAft>
              <a:buNone/>
            </a:pPr>
            <a:r>
              <a:rPr b="1" lang="en" sz="2200">
                <a:solidFill>
                  <a:srgbClr val="1155CC"/>
                </a:solidFill>
                <a:latin typeface="Helvetica Neue"/>
                <a:ea typeface="Helvetica Neue"/>
                <a:cs typeface="Helvetica Neue"/>
                <a:sym typeface="Helvetica Neue"/>
              </a:rPr>
              <a:t>Alignment</a:t>
            </a:r>
            <a:endParaRPr sz="300"/>
          </a:p>
        </p:txBody>
      </p:sp>
      <p:sp>
        <p:nvSpPr>
          <p:cNvPr id="857" name="Google Shape;857;p130"/>
          <p:cNvSpPr/>
          <p:nvPr/>
        </p:nvSpPr>
        <p:spPr>
          <a:xfrm>
            <a:off x="372875" y="3125575"/>
            <a:ext cx="2270100" cy="416700"/>
          </a:xfrm>
          <a:prstGeom prst="rect">
            <a:avLst/>
          </a:prstGeom>
          <a:noFill/>
          <a:ln cap="flat" cmpd="sng" w="28575">
            <a:solidFill>
              <a:srgbClr val="D5A6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30"/>
          <p:cNvSpPr/>
          <p:nvPr/>
        </p:nvSpPr>
        <p:spPr>
          <a:xfrm>
            <a:off x="372875" y="3530800"/>
            <a:ext cx="7260000" cy="1229400"/>
          </a:xfrm>
          <a:prstGeom prst="rect">
            <a:avLst/>
          </a:prstGeom>
          <a:noFill/>
          <a:ln cap="flat" cmpd="sng" w="28575">
            <a:solidFill>
              <a:srgbClr val="D5A6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30"/>
          <p:cNvSpPr txBox="1"/>
          <p:nvPr/>
        </p:nvSpPr>
        <p:spPr>
          <a:xfrm>
            <a:off x="2024200" y="3224475"/>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solidFill>
                  <a:srgbClr val="1155CC"/>
                </a:solidFill>
                <a:latin typeface="Helvetica Neue"/>
                <a:ea typeface="Helvetica Neue"/>
                <a:cs typeface="Helvetica Neue"/>
                <a:sym typeface="Helvetica Neue"/>
              </a:rPr>
              <a:t>CIGAR string</a:t>
            </a:r>
            <a:endParaRPr sz="100"/>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131"/>
          <p:cNvSpPr txBox="1"/>
          <p:nvPr>
            <p:ph type="title"/>
          </p:nvPr>
        </p:nvSpPr>
        <p:spPr>
          <a:xfrm>
            <a:off x="83650" y="0"/>
            <a:ext cx="91440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Sequence Alignment/Map (SAM) format</a:t>
            </a:r>
            <a:endParaRPr/>
          </a:p>
        </p:txBody>
      </p:sp>
      <p:sp>
        <p:nvSpPr>
          <p:cNvPr id="865" name="Google Shape;865;p131"/>
          <p:cNvSpPr txBox="1"/>
          <p:nvPr>
            <p:ph idx="1" type="body"/>
          </p:nvPr>
        </p:nvSpPr>
        <p:spPr>
          <a:xfrm>
            <a:off x="229850" y="463900"/>
            <a:ext cx="8459700" cy="4045500"/>
          </a:xfrm>
          <a:prstGeom prst="rect">
            <a:avLst/>
          </a:prstGeom>
        </p:spPr>
        <p:txBody>
          <a:bodyPr anchorCtr="0" anchor="t" bIns="0" lIns="0" spcFirstLastPara="1" rIns="0" wrap="square" tIns="0">
            <a:noAutofit/>
          </a:bodyPr>
          <a:lstStyle/>
          <a:p>
            <a:pPr indent="0" lvl="0" marL="0" rtl="0" algn="l">
              <a:lnSpc>
                <a:spcPct val="70000"/>
              </a:lnSpc>
              <a:spcBef>
                <a:spcPts val="800"/>
              </a:spcBef>
              <a:spcAft>
                <a:spcPts val="0"/>
              </a:spcAft>
              <a:buSzPts val="605"/>
              <a:buNone/>
            </a:pPr>
            <a:r>
              <a:t/>
            </a:r>
            <a:endParaRPr sz="1555"/>
          </a:p>
          <a:p>
            <a:pPr indent="0" lvl="0" marL="0" rtl="0" algn="l">
              <a:lnSpc>
                <a:spcPct val="70000"/>
              </a:lnSpc>
              <a:spcBef>
                <a:spcPts val="800"/>
              </a:spcBef>
              <a:spcAft>
                <a:spcPts val="0"/>
              </a:spcAft>
              <a:buSzPts val="605"/>
              <a:buNone/>
            </a:pPr>
            <a:r>
              <a:rPr lang="en" sz="1555"/>
              <a:t>Alignments in SAM format - a summary of mapping statistics</a:t>
            </a:r>
            <a:endParaRPr sz="1555"/>
          </a:p>
          <a:p>
            <a:pPr indent="-302895" lvl="0" marL="914400" rtl="0" algn="l">
              <a:lnSpc>
                <a:spcPct val="70000"/>
              </a:lnSpc>
              <a:spcBef>
                <a:spcPts val="800"/>
              </a:spcBef>
              <a:spcAft>
                <a:spcPts val="0"/>
              </a:spcAft>
              <a:buSzPts val="1170"/>
              <a:buChar char="●"/>
            </a:pPr>
            <a:r>
              <a:rPr lang="en" sz="1555"/>
              <a:t>How many reads mapped?</a:t>
            </a:r>
            <a:endParaRPr sz="1555"/>
          </a:p>
          <a:p>
            <a:pPr indent="-302895" lvl="0" marL="914400" rtl="0" algn="l">
              <a:lnSpc>
                <a:spcPct val="70000"/>
              </a:lnSpc>
              <a:spcBef>
                <a:spcPts val="0"/>
              </a:spcBef>
              <a:spcAft>
                <a:spcPts val="0"/>
              </a:spcAft>
              <a:buSzPts val="1170"/>
              <a:buChar char="●"/>
            </a:pPr>
            <a:r>
              <a:rPr lang="en" sz="1555"/>
              <a:t>How many unmapped?</a:t>
            </a:r>
            <a:endParaRPr sz="1555"/>
          </a:p>
          <a:p>
            <a:pPr indent="-302895" lvl="0" marL="914400" rtl="0" algn="l">
              <a:lnSpc>
                <a:spcPct val="70000"/>
              </a:lnSpc>
              <a:spcBef>
                <a:spcPts val="0"/>
              </a:spcBef>
              <a:spcAft>
                <a:spcPts val="0"/>
              </a:spcAft>
              <a:buSzPts val="1170"/>
              <a:buChar char="●"/>
            </a:pPr>
            <a:r>
              <a:rPr lang="en" sz="1555"/>
              <a:t>...</a:t>
            </a:r>
            <a:endParaRPr sz="1555"/>
          </a:p>
          <a:p>
            <a:pPr indent="0" lvl="0" marL="0" rtl="0" algn="l">
              <a:lnSpc>
                <a:spcPct val="70000"/>
              </a:lnSpc>
              <a:spcBef>
                <a:spcPts val="800"/>
              </a:spcBef>
              <a:spcAft>
                <a:spcPts val="0"/>
              </a:spcAft>
              <a:buNone/>
            </a:pPr>
            <a:r>
              <a:t/>
            </a:r>
            <a:endParaRPr sz="1555"/>
          </a:p>
          <a:p>
            <a:pPr indent="-302895" lvl="0" marL="457200" rtl="0" algn="l">
              <a:lnSpc>
                <a:spcPct val="70000"/>
              </a:lnSpc>
              <a:spcBef>
                <a:spcPts val="800"/>
              </a:spcBef>
              <a:spcAft>
                <a:spcPts val="0"/>
              </a:spcAft>
              <a:buSzPts val="1170"/>
              <a:buChar char="●"/>
            </a:pPr>
            <a:r>
              <a:rPr lang="en" sz="1555"/>
              <a:t>First few lines contain metadata about alignments.</a:t>
            </a:r>
            <a:endParaRPr sz="1555"/>
          </a:p>
          <a:p>
            <a:pPr indent="-302895" lvl="1" marL="1371600" rtl="0" algn="l">
              <a:lnSpc>
                <a:spcPct val="95000"/>
              </a:lnSpc>
              <a:spcBef>
                <a:spcPts val="0"/>
              </a:spcBef>
              <a:spcAft>
                <a:spcPts val="0"/>
              </a:spcAft>
              <a:buSzPts val="1170"/>
              <a:buChar char="○"/>
            </a:pPr>
            <a:r>
              <a:rPr lang="en" sz="1390"/>
              <a:t>These lines start with “@”. </a:t>
            </a:r>
            <a:endParaRPr sz="1390"/>
          </a:p>
          <a:p>
            <a:pPr indent="-302895" lvl="1" marL="1371600" rtl="0" algn="l">
              <a:lnSpc>
                <a:spcPct val="95000"/>
              </a:lnSpc>
              <a:spcBef>
                <a:spcPts val="0"/>
              </a:spcBef>
              <a:spcAft>
                <a:spcPts val="0"/>
              </a:spcAft>
              <a:buSzPts val="1170"/>
              <a:buChar char="○"/>
            </a:pPr>
            <a:r>
              <a:rPr lang="en" sz="1390"/>
              <a:t>Example – version of file format, sorting order of alignments, grouping, etc.</a:t>
            </a:r>
            <a:endParaRPr sz="1390"/>
          </a:p>
          <a:p>
            <a:pPr indent="0" lvl="0" marL="914400" rtl="0" algn="l">
              <a:lnSpc>
                <a:spcPct val="95000"/>
              </a:lnSpc>
              <a:spcBef>
                <a:spcPts val="800"/>
              </a:spcBef>
              <a:spcAft>
                <a:spcPts val="0"/>
              </a:spcAft>
              <a:buSzPts val="605"/>
              <a:buNone/>
            </a:pPr>
            <a:r>
              <a:t/>
            </a:r>
            <a:endParaRPr sz="1555"/>
          </a:p>
          <a:p>
            <a:pPr indent="-302895" lvl="0" marL="457200" rtl="0" algn="l">
              <a:lnSpc>
                <a:spcPct val="70000"/>
              </a:lnSpc>
              <a:spcBef>
                <a:spcPts val="800"/>
              </a:spcBef>
              <a:spcAft>
                <a:spcPts val="0"/>
              </a:spcAft>
              <a:buSzPts val="1170"/>
              <a:buChar char="●"/>
            </a:pPr>
            <a:r>
              <a:rPr lang="en" sz="1555"/>
              <a:t>After header, a table of alignments of each read to the genome.</a:t>
            </a:r>
            <a:endParaRPr sz="1555"/>
          </a:p>
          <a:p>
            <a:pPr indent="0" lvl="0" marL="914400" rtl="0" algn="l">
              <a:lnSpc>
                <a:spcPct val="70000"/>
              </a:lnSpc>
              <a:spcBef>
                <a:spcPts val="800"/>
              </a:spcBef>
              <a:spcAft>
                <a:spcPts val="0"/>
              </a:spcAft>
              <a:buSzPts val="605"/>
              <a:buNone/>
            </a:pPr>
            <a:r>
              <a:t/>
            </a:r>
            <a:endParaRPr sz="1555"/>
          </a:p>
          <a:p>
            <a:pPr indent="-302895" lvl="0" marL="457200" rtl="0" algn="l">
              <a:lnSpc>
                <a:spcPct val="70000"/>
              </a:lnSpc>
              <a:spcBef>
                <a:spcPts val="800"/>
              </a:spcBef>
              <a:spcAft>
                <a:spcPts val="0"/>
              </a:spcAft>
              <a:buSzPts val="1170"/>
              <a:buChar char="●"/>
            </a:pPr>
            <a:r>
              <a:rPr lang="en" sz="1555"/>
              <a:t>Alignment reports often very large files.</a:t>
            </a:r>
            <a:endParaRPr sz="1555"/>
          </a:p>
          <a:p>
            <a:pPr indent="0" lvl="0" marL="914400" rtl="0" algn="l">
              <a:lnSpc>
                <a:spcPct val="70000"/>
              </a:lnSpc>
              <a:spcBef>
                <a:spcPts val="800"/>
              </a:spcBef>
              <a:spcAft>
                <a:spcPts val="0"/>
              </a:spcAft>
              <a:buSzPts val="605"/>
              <a:buNone/>
            </a:pPr>
            <a:r>
              <a:t/>
            </a:r>
            <a:endParaRPr sz="1555"/>
          </a:p>
          <a:p>
            <a:pPr indent="-302895" lvl="0" marL="457200" rtl="0" algn="l">
              <a:lnSpc>
                <a:spcPct val="180000"/>
              </a:lnSpc>
              <a:spcBef>
                <a:spcPts val="800"/>
              </a:spcBef>
              <a:spcAft>
                <a:spcPts val="0"/>
              </a:spcAft>
              <a:buSzPts val="1170"/>
              <a:buChar char="●"/>
            </a:pPr>
            <a:r>
              <a:rPr lang="en" sz="1555"/>
              <a:t>Binary Alignment/Map (BAM) extension used for compressed SAM files.</a:t>
            </a:r>
            <a:endParaRPr sz="1555"/>
          </a:p>
          <a:p>
            <a:pPr indent="-302895" lvl="0" marL="457200" rtl="0" algn="l">
              <a:lnSpc>
                <a:spcPct val="180000"/>
              </a:lnSpc>
              <a:spcBef>
                <a:spcPts val="0"/>
              </a:spcBef>
              <a:spcAft>
                <a:spcPts val="0"/>
              </a:spcAft>
              <a:buSzPts val="1170"/>
              <a:buChar char="●"/>
            </a:pPr>
            <a:r>
              <a:rPr lang="en" sz="1555"/>
              <a:t>Indexed BAM -&gt; BAI</a:t>
            </a:r>
            <a:endParaRPr sz="1555"/>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132"/>
          <p:cNvSpPr txBox="1"/>
          <p:nvPr>
            <p:ph idx="1" type="body"/>
          </p:nvPr>
        </p:nvSpPr>
        <p:spPr>
          <a:xfrm>
            <a:off x="331925" y="1175699"/>
            <a:ext cx="7886700" cy="3714300"/>
          </a:xfrm>
          <a:prstGeom prst="rect">
            <a:avLst/>
          </a:prstGeom>
          <a:noFill/>
          <a:ln>
            <a:noFill/>
          </a:ln>
        </p:spPr>
        <p:txBody>
          <a:bodyPr anchorCtr="0" anchor="t" bIns="0" lIns="137150" spcFirstLastPara="1" rIns="0" wrap="square" tIns="0">
            <a:spAutoFit/>
          </a:bodyPr>
          <a:lstStyle/>
          <a:p>
            <a:pPr indent="-336550" lvl="0" marL="342900" rtl="0" algn="l">
              <a:lnSpc>
                <a:spcPct val="130000"/>
              </a:lnSpc>
              <a:spcBef>
                <a:spcPts val="0"/>
              </a:spcBef>
              <a:spcAft>
                <a:spcPts val="0"/>
              </a:spcAft>
              <a:buClr>
                <a:srgbClr val="002B42"/>
              </a:buClr>
              <a:buSzPts val="1500"/>
              <a:buFont typeface="Arial"/>
              <a:buChar char="●"/>
            </a:pPr>
            <a:r>
              <a:rPr lang="en" sz="1900"/>
              <a:t>Much, much faster</a:t>
            </a:r>
            <a:endParaRPr sz="1900"/>
          </a:p>
          <a:p>
            <a:pPr indent="-336550" lvl="0" marL="342900" rtl="0" algn="l">
              <a:lnSpc>
                <a:spcPct val="130000"/>
              </a:lnSpc>
              <a:spcBef>
                <a:spcPts val="0"/>
              </a:spcBef>
              <a:spcAft>
                <a:spcPts val="0"/>
              </a:spcAft>
              <a:buSzPts val="1500"/>
              <a:buChar char="●"/>
            </a:pPr>
            <a:r>
              <a:rPr lang="en" sz="1900"/>
              <a:t>Less memory intensive than STAR</a:t>
            </a:r>
            <a:endParaRPr sz="1900"/>
          </a:p>
          <a:p>
            <a:pPr indent="-336550" lvl="0" marL="342900" rtl="0" algn="l">
              <a:lnSpc>
                <a:spcPct val="130000"/>
              </a:lnSpc>
              <a:spcBef>
                <a:spcPts val="0"/>
              </a:spcBef>
              <a:spcAft>
                <a:spcPts val="0"/>
              </a:spcAft>
              <a:buClr>
                <a:srgbClr val="002B42"/>
              </a:buClr>
              <a:buSzPts val="1500"/>
              <a:buFont typeface="Arial"/>
              <a:buChar char="●"/>
            </a:pPr>
            <a:r>
              <a:rPr lang="en" sz="1900"/>
              <a:t>They are called "pseudo" aligners because they do not perform the full alignment of each sequencing read to a reference genome or transcriptome. </a:t>
            </a:r>
            <a:endParaRPr sz="1900"/>
          </a:p>
          <a:p>
            <a:pPr indent="-336550" lvl="0" marL="342900" rtl="0" algn="l">
              <a:lnSpc>
                <a:spcPct val="130000"/>
              </a:lnSpc>
              <a:spcBef>
                <a:spcPts val="0"/>
              </a:spcBef>
              <a:spcAft>
                <a:spcPts val="0"/>
              </a:spcAft>
              <a:buClr>
                <a:srgbClr val="002B42"/>
              </a:buClr>
              <a:buSzPts val="1500"/>
              <a:buFont typeface="Arial"/>
              <a:buChar char="●"/>
            </a:pPr>
            <a:r>
              <a:rPr lang="en" sz="1900"/>
              <a:t>Pseudoaligners use a reference transcriptome to create a set of potential transcript sequences or exonic regions, respectively. Then, they map the reads to these sequences without attempting to align each read to its exact position in the reference.</a:t>
            </a:r>
            <a:endParaRPr sz="1900"/>
          </a:p>
          <a:p>
            <a:pPr indent="-336550" lvl="0" marL="342900" rtl="0" algn="l">
              <a:lnSpc>
                <a:spcPct val="130000"/>
              </a:lnSpc>
              <a:spcBef>
                <a:spcPts val="0"/>
              </a:spcBef>
              <a:spcAft>
                <a:spcPts val="0"/>
              </a:spcAft>
              <a:buClr>
                <a:srgbClr val="002B42"/>
              </a:buClr>
              <a:buSzPts val="1500"/>
              <a:buFont typeface="Arial"/>
              <a:buChar char="●"/>
            </a:pPr>
            <a:r>
              <a:rPr lang="en" sz="1900"/>
              <a:t>Examples of tools: </a:t>
            </a:r>
            <a:r>
              <a:rPr b="1" lang="en" sz="1900">
                <a:solidFill>
                  <a:srgbClr val="F76912"/>
                </a:solidFill>
              </a:rPr>
              <a:t>Salmon, Kallisto</a:t>
            </a:r>
            <a:endParaRPr b="1" sz="1900">
              <a:solidFill>
                <a:srgbClr val="F76912"/>
              </a:solidFill>
            </a:endParaRPr>
          </a:p>
        </p:txBody>
      </p:sp>
      <p:sp>
        <p:nvSpPr>
          <p:cNvPr id="872" name="Google Shape;872;p132"/>
          <p:cNvSpPr txBox="1"/>
          <p:nvPr/>
        </p:nvSpPr>
        <p:spPr>
          <a:xfrm>
            <a:off x="272400" y="152400"/>
            <a:ext cx="8571000" cy="9762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None/>
            </a:pPr>
            <a:r>
              <a:rPr b="1" lang="en" sz="2800">
                <a:solidFill>
                  <a:srgbClr val="1155CC"/>
                </a:solidFill>
                <a:latin typeface="Helvetica Neue"/>
                <a:ea typeface="Helvetica Neue"/>
                <a:cs typeface="Helvetica Neue"/>
                <a:sym typeface="Helvetica Neue"/>
              </a:rPr>
              <a:t>Pseudo-aligners</a:t>
            </a:r>
            <a:r>
              <a:rPr b="1" lang="en" sz="2800">
                <a:solidFill>
                  <a:srgbClr val="1155CC"/>
                </a:solidFill>
                <a:latin typeface="Helvetica Neue"/>
                <a:ea typeface="Helvetica Neue"/>
                <a:cs typeface="Helvetica Neue"/>
                <a:sym typeface="Helvetica Neue"/>
              </a:rPr>
              <a:t> identify the transcript that originated the read</a:t>
            </a:r>
            <a:r>
              <a:rPr b="1" lang="en" sz="2800">
                <a:solidFill>
                  <a:srgbClr val="1155CC"/>
                </a:solidFill>
                <a:latin typeface="Helvetica Neue"/>
                <a:ea typeface="Helvetica Neue"/>
                <a:cs typeface="Helvetica Neue"/>
                <a:sym typeface="Helvetica Neue"/>
              </a:rPr>
              <a:t> </a:t>
            </a:r>
            <a:endParaRPr b="1" sz="2800">
              <a:solidFill>
                <a:srgbClr val="1155CC"/>
              </a:solidFill>
              <a:latin typeface="Helvetica Neue"/>
              <a:ea typeface="Helvetica Neue"/>
              <a:cs typeface="Helvetica Neue"/>
              <a:sym typeface="Helvetica Neue"/>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133"/>
          <p:cNvSpPr txBox="1"/>
          <p:nvPr/>
        </p:nvSpPr>
        <p:spPr>
          <a:xfrm>
            <a:off x="54700" y="2474075"/>
            <a:ext cx="312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741B47"/>
                </a:solidFill>
                <a:latin typeface="Helvetica Neue"/>
                <a:ea typeface="Helvetica Neue"/>
                <a:cs typeface="Helvetica Neue"/>
                <a:sym typeface="Helvetica Neue"/>
              </a:rPr>
              <a:t>Session 1 Concepts: </a:t>
            </a:r>
            <a:endParaRPr b="1" sz="1200">
              <a:solidFill>
                <a:srgbClr val="741B47"/>
              </a:solidFill>
              <a:highlight>
                <a:srgbClr val="F7F6F3"/>
              </a:highlight>
            </a:endParaRPr>
          </a:p>
        </p:txBody>
      </p:sp>
      <p:sp>
        <p:nvSpPr>
          <p:cNvPr id="878" name="Google Shape;878;p133"/>
          <p:cNvSpPr/>
          <p:nvPr/>
        </p:nvSpPr>
        <p:spPr>
          <a:xfrm flipH="1">
            <a:off x="2835850" y="2015275"/>
            <a:ext cx="207300" cy="10881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133"/>
          <p:cNvSpPr txBox="1"/>
          <p:nvPr/>
        </p:nvSpPr>
        <p:spPr>
          <a:xfrm>
            <a:off x="54700" y="3589413"/>
            <a:ext cx="3125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a:solidFill>
                  <a:srgbClr val="741B47"/>
                </a:solidFill>
                <a:latin typeface="Helvetica Neue"/>
                <a:ea typeface="Helvetica Neue"/>
                <a:cs typeface="Helvetica Neue"/>
                <a:sym typeface="Helvetica Neue"/>
              </a:rPr>
              <a:t>Session 2 Concepts: </a:t>
            </a:r>
            <a:endParaRPr b="1" sz="1200">
              <a:solidFill>
                <a:srgbClr val="741B47"/>
              </a:solidFill>
              <a:highlight>
                <a:srgbClr val="F7F6F3"/>
              </a:highlight>
            </a:endParaRPr>
          </a:p>
          <a:p>
            <a:pPr indent="0" lvl="0" marL="0" rtl="0" algn="l">
              <a:spcBef>
                <a:spcPts val="0"/>
              </a:spcBef>
              <a:spcAft>
                <a:spcPts val="0"/>
              </a:spcAft>
              <a:buNone/>
            </a:pPr>
            <a:r>
              <a:t/>
            </a:r>
            <a:endParaRPr b="1">
              <a:solidFill>
                <a:srgbClr val="741B47"/>
              </a:solidFill>
              <a:latin typeface="Helvetica Neue"/>
              <a:ea typeface="Helvetica Neue"/>
              <a:cs typeface="Helvetica Neue"/>
              <a:sym typeface="Helvetica Neue"/>
            </a:endParaRPr>
          </a:p>
        </p:txBody>
      </p:sp>
      <p:sp>
        <p:nvSpPr>
          <p:cNvPr id="880" name="Google Shape;880;p133"/>
          <p:cNvSpPr/>
          <p:nvPr/>
        </p:nvSpPr>
        <p:spPr>
          <a:xfrm>
            <a:off x="3316325" y="2030150"/>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Sequencer: Reads</a:t>
            </a:r>
            <a:r>
              <a:rPr lang="en"/>
              <a:t> </a:t>
            </a:r>
            <a:r>
              <a:rPr b="1" lang="en">
                <a:solidFill>
                  <a:schemeClr val="accent2"/>
                </a:solidFill>
              </a:rPr>
              <a:t>Fastq</a:t>
            </a:r>
            <a:endParaRPr b="1">
              <a:solidFill>
                <a:schemeClr val="accent2"/>
              </a:solidFill>
            </a:endParaRPr>
          </a:p>
        </p:txBody>
      </p:sp>
      <p:sp>
        <p:nvSpPr>
          <p:cNvPr id="881" name="Google Shape;881;p133"/>
          <p:cNvSpPr/>
          <p:nvPr/>
        </p:nvSpPr>
        <p:spPr>
          <a:xfrm>
            <a:off x="5445750" y="2030150"/>
            <a:ext cx="1727700" cy="493800"/>
          </a:xfrm>
          <a:prstGeom prst="roundRect">
            <a:avLst>
              <a:gd fmla="val 16667" name="adj"/>
            </a:avLst>
          </a:prstGeom>
          <a:solidFill>
            <a:srgbClr val="CCCCCC"/>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None/>
            </a:pPr>
            <a:r>
              <a:rPr b="1" lang="en">
                <a:solidFill>
                  <a:schemeClr val="accent2"/>
                </a:solidFill>
              </a:rPr>
              <a:t>FastQC </a:t>
            </a:r>
            <a:endParaRPr b="1">
              <a:solidFill>
                <a:schemeClr val="accent2"/>
              </a:solidFill>
            </a:endParaRPr>
          </a:p>
        </p:txBody>
      </p:sp>
      <p:sp>
        <p:nvSpPr>
          <p:cNvPr id="882" name="Google Shape;882;p133"/>
          <p:cNvSpPr/>
          <p:nvPr/>
        </p:nvSpPr>
        <p:spPr>
          <a:xfrm>
            <a:off x="3316325" y="3283863"/>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Alignment/Mapping</a:t>
            </a:r>
            <a:endParaRPr b="1"/>
          </a:p>
          <a:p>
            <a:pPr indent="0" lvl="0" marL="0" rtl="0" algn="ctr">
              <a:spcBef>
                <a:spcPts val="0"/>
              </a:spcBef>
              <a:spcAft>
                <a:spcPts val="0"/>
              </a:spcAft>
              <a:buNone/>
            </a:pPr>
            <a:r>
              <a:rPr b="1" lang="en">
                <a:solidFill>
                  <a:schemeClr val="accent2"/>
                </a:solidFill>
              </a:rPr>
              <a:t>STAR</a:t>
            </a:r>
            <a:r>
              <a:rPr lang="en"/>
              <a:t> </a:t>
            </a:r>
            <a:endParaRPr/>
          </a:p>
        </p:txBody>
      </p:sp>
      <p:sp>
        <p:nvSpPr>
          <p:cNvPr id="883" name="Google Shape;883;p133"/>
          <p:cNvSpPr/>
          <p:nvPr/>
        </p:nvSpPr>
        <p:spPr>
          <a:xfrm>
            <a:off x="3316325" y="3886175"/>
            <a:ext cx="1993500" cy="493800"/>
          </a:xfrm>
          <a:prstGeom prst="roundRect">
            <a:avLst>
              <a:gd fmla="val 16667" name="adj"/>
            </a:avLst>
          </a:prstGeom>
          <a:solidFill>
            <a:srgbClr val="EAD1D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200">
                <a:solidFill>
                  <a:schemeClr val="dk1"/>
                </a:solidFill>
              </a:rPr>
              <a:t>Counting Reads </a:t>
            </a:r>
            <a:endParaRPr b="1" sz="1200">
              <a:solidFill>
                <a:schemeClr val="dk1"/>
              </a:solidFill>
            </a:endParaRPr>
          </a:p>
          <a:p>
            <a:pPr indent="0" lvl="0" marL="0" rtl="0" algn="ctr">
              <a:spcBef>
                <a:spcPts val="0"/>
              </a:spcBef>
              <a:spcAft>
                <a:spcPts val="0"/>
              </a:spcAft>
              <a:buNone/>
            </a:pPr>
            <a:r>
              <a:rPr b="1" lang="en">
                <a:solidFill>
                  <a:schemeClr val="accent2"/>
                </a:solidFill>
              </a:rPr>
              <a:t>featureCounts</a:t>
            </a:r>
            <a:endParaRPr b="1" sz="1200"/>
          </a:p>
        </p:txBody>
      </p:sp>
      <p:sp>
        <p:nvSpPr>
          <p:cNvPr id="884" name="Google Shape;884;p133"/>
          <p:cNvSpPr/>
          <p:nvPr/>
        </p:nvSpPr>
        <p:spPr>
          <a:xfrm>
            <a:off x="3316325" y="2681575"/>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Trimming</a:t>
            </a:r>
            <a:endParaRPr b="1"/>
          </a:p>
          <a:p>
            <a:pPr indent="0" lvl="0" marL="0" rtl="0" algn="ctr">
              <a:spcBef>
                <a:spcPts val="0"/>
              </a:spcBef>
              <a:spcAft>
                <a:spcPts val="0"/>
              </a:spcAft>
              <a:buNone/>
            </a:pPr>
            <a:r>
              <a:rPr b="1" lang="en">
                <a:solidFill>
                  <a:schemeClr val="accent2"/>
                </a:solidFill>
              </a:rPr>
              <a:t>cutadapt</a:t>
            </a:r>
            <a:endParaRPr b="1">
              <a:solidFill>
                <a:schemeClr val="accent2"/>
              </a:solidFill>
            </a:endParaRPr>
          </a:p>
        </p:txBody>
      </p:sp>
      <p:sp>
        <p:nvSpPr>
          <p:cNvPr id="885" name="Google Shape;885;p133"/>
          <p:cNvSpPr/>
          <p:nvPr/>
        </p:nvSpPr>
        <p:spPr>
          <a:xfrm>
            <a:off x="5445750" y="2681575"/>
            <a:ext cx="1727700" cy="493800"/>
          </a:xfrm>
          <a:prstGeom prst="roundRect">
            <a:avLst>
              <a:gd fmla="val 16667" name="adj"/>
            </a:avLst>
          </a:prstGeom>
          <a:solidFill>
            <a:srgbClr val="CCCCCC"/>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Clr>
                <a:schemeClr val="dk1"/>
              </a:buClr>
              <a:buSzPts val="1100"/>
              <a:buFont typeface="Arial"/>
              <a:buNone/>
            </a:pPr>
            <a:r>
              <a:rPr b="1" lang="en">
                <a:solidFill>
                  <a:schemeClr val="accent2"/>
                </a:solidFill>
              </a:rPr>
              <a:t>FastQC</a:t>
            </a:r>
            <a:endParaRPr b="1">
              <a:solidFill>
                <a:schemeClr val="accent2"/>
              </a:solidFill>
            </a:endParaRPr>
          </a:p>
        </p:txBody>
      </p:sp>
      <p:sp>
        <p:nvSpPr>
          <p:cNvPr id="886" name="Google Shape;886;p133"/>
          <p:cNvSpPr/>
          <p:nvPr/>
        </p:nvSpPr>
        <p:spPr>
          <a:xfrm>
            <a:off x="5445750" y="3283875"/>
            <a:ext cx="1727700" cy="493800"/>
          </a:xfrm>
          <a:prstGeom prst="roundRect">
            <a:avLst>
              <a:gd fmla="val 16667" name="adj"/>
            </a:avLst>
          </a:prstGeom>
          <a:solidFill>
            <a:srgbClr val="F7F6F3"/>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Clr>
                <a:schemeClr val="dk1"/>
              </a:buClr>
              <a:buSzPts val="1100"/>
              <a:buFont typeface="Arial"/>
              <a:buNone/>
            </a:pPr>
            <a:r>
              <a:t/>
            </a:r>
            <a:endParaRPr b="1">
              <a:solidFill>
                <a:schemeClr val="accent2"/>
              </a:solidFill>
            </a:endParaRPr>
          </a:p>
        </p:txBody>
      </p:sp>
      <p:sp>
        <p:nvSpPr>
          <p:cNvPr id="887" name="Google Shape;887;p133"/>
          <p:cNvSpPr/>
          <p:nvPr/>
        </p:nvSpPr>
        <p:spPr>
          <a:xfrm>
            <a:off x="3316325" y="776450"/>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Biological question</a:t>
            </a:r>
            <a:endParaRPr b="1">
              <a:solidFill>
                <a:schemeClr val="accent2"/>
              </a:solidFill>
            </a:endParaRPr>
          </a:p>
        </p:txBody>
      </p:sp>
      <p:sp>
        <p:nvSpPr>
          <p:cNvPr id="888" name="Google Shape;888;p133"/>
          <p:cNvSpPr/>
          <p:nvPr/>
        </p:nvSpPr>
        <p:spPr>
          <a:xfrm>
            <a:off x="3316325" y="1403288"/>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Library preparation</a:t>
            </a:r>
            <a:endParaRPr b="1">
              <a:solidFill>
                <a:schemeClr val="accent2"/>
              </a:solidFill>
            </a:endParaRPr>
          </a:p>
        </p:txBody>
      </p:sp>
      <p:sp>
        <p:nvSpPr>
          <p:cNvPr id="889" name="Google Shape;889;p133"/>
          <p:cNvSpPr/>
          <p:nvPr/>
        </p:nvSpPr>
        <p:spPr>
          <a:xfrm>
            <a:off x="5445750" y="3893249"/>
            <a:ext cx="1727700" cy="493800"/>
          </a:xfrm>
          <a:prstGeom prst="roundRect">
            <a:avLst>
              <a:gd fmla="val 16667" name="adj"/>
            </a:avLst>
          </a:prstGeom>
          <a:solidFill>
            <a:srgbClr val="F7F6F3"/>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Clr>
                <a:schemeClr val="dk1"/>
              </a:buClr>
              <a:buSzPts val="1100"/>
              <a:buFont typeface="Arial"/>
              <a:buNone/>
            </a:pPr>
            <a:r>
              <a:t/>
            </a:r>
            <a:endParaRPr b="1">
              <a:solidFill>
                <a:schemeClr val="accent2"/>
              </a:solidFill>
            </a:endParaRPr>
          </a:p>
        </p:txBody>
      </p:sp>
      <p:sp>
        <p:nvSpPr>
          <p:cNvPr id="890" name="Google Shape;890;p133"/>
          <p:cNvSpPr/>
          <p:nvPr/>
        </p:nvSpPr>
        <p:spPr>
          <a:xfrm flipH="1">
            <a:off x="2835850" y="3259650"/>
            <a:ext cx="207300" cy="10881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33"/>
          <p:cNvSpPr txBox="1"/>
          <p:nvPr/>
        </p:nvSpPr>
        <p:spPr>
          <a:xfrm>
            <a:off x="7592050" y="2282038"/>
            <a:ext cx="1568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accent2"/>
                </a:solidFill>
                <a:latin typeface="Helvetica Neue"/>
                <a:ea typeface="Helvetica Neue"/>
                <a:cs typeface="Helvetica Neue"/>
                <a:sym typeface="Helvetica Neue"/>
              </a:rPr>
              <a:t>Session 1 Demo</a:t>
            </a:r>
            <a:endParaRPr b="1" sz="1200">
              <a:solidFill>
                <a:schemeClr val="accent2"/>
              </a:solidFill>
              <a:highlight>
                <a:srgbClr val="F7F6F3"/>
              </a:highlight>
            </a:endParaRPr>
          </a:p>
          <a:p>
            <a:pPr indent="0" lvl="0" marL="0" rtl="0" algn="l">
              <a:spcBef>
                <a:spcPts val="0"/>
              </a:spcBef>
              <a:spcAft>
                <a:spcPts val="0"/>
              </a:spcAft>
              <a:buNone/>
            </a:pPr>
            <a:r>
              <a:t/>
            </a:r>
            <a:endParaRPr b="1">
              <a:latin typeface="Helvetica Neue"/>
              <a:ea typeface="Helvetica Neue"/>
              <a:cs typeface="Helvetica Neue"/>
              <a:sym typeface="Helvetica Neue"/>
            </a:endParaRPr>
          </a:p>
        </p:txBody>
      </p:sp>
      <p:sp>
        <p:nvSpPr>
          <p:cNvPr id="892" name="Google Shape;892;p133"/>
          <p:cNvSpPr/>
          <p:nvPr/>
        </p:nvSpPr>
        <p:spPr>
          <a:xfrm flipH="1" rot="10800000">
            <a:off x="7248950" y="2015175"/>
            <a:ext cx="267600" cy="10794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33"/>
          <p:cNvSpPr txBox="1"/>
          <p:nvPr/>
        </p:nvSpPr>
        <p:spPr>
          <a:xfrm>
            <a:off x="7581823" y="3495888"/>
            <a:ext cx="1568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accent2"/>
                </a:solidFill>
                <a:latin typeface="Helvetica Neue"/>
                <a:ea typeface="Helvetica Neue"/>
                <a:cs typeface="Helvetica Neue"/>
                <a:sym typeface="Helvetica Neue"/>
              </a:rPr>
              <a:t>Session 2 Demo</a:t>
            </a:r>
            <a:endParaRPr b="1" sz="1200">
              <a:solidFill>
                <a:schemeClr val="accent2"/>
              </a:solidFill>
              <a:highlight>
                <a:srgbClr val="F7F6F3"/>
              </a:highlight>
            </a:endParaRPr>
          </a:p>
          <a:p>
            <a:pPr indent="0" lvl="0" marL="0" rtl="0" algn="l">
              <a:spcBef>
                <a:spcPts val="0"/>
              </a:spcBef>
              <a:spcAft>
                <a:spcPts val="0"/>
              </a:spcAft>
              <a:buNone/>
            </a:pPr>
            <a:r>
              <a:t/>
            </a:r>
            <a:endParaRPr b="1">
              <a:latin typeface="Helvetica Neue"/>
              <a:ea typeface="Helvetica Neue"/>
              <a:cs typeface="Helvetica Neue"/>
              <a:sym typeface="Helvetica Neue"/>
            </a:endParaRPr>
          </a:p>
        </p:txBody>
      </p:sp>
      <p:sp>
        <p:nvSpPr>
          <p:cNvPr id="894" name="Google Shape;894;p133"/>
          <p:cNvSpPr/>
          <p:nvPr/>
        </p:nvSpPr>
        <p:spPr>
          <a:xfrm flipH="1" rot="10800000">
            <a:off x="7238725" y="3334925"/>
            <a:ext cx="292800" cy="9735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95" name="Google Shape;895;p133"/>
          <p:cNvPicPr preferRelativeResize="0"/>
          <p:nvPr/>
        </p:nvPicPr>
        <p:blipFill>
          <a:blip r:embed="rId3">
            <a:alphaModFix/>
          </a:blip>
          <a:stretch>
            <a:fillRect/>
          </a:stretch>
        </p:blipFill>
        <p:spPr>
          <a:xfrm>
            <a:off x="6767525" y="147869"/>
            <a:ext cx="2011679" cy="512979"/>
          </a:xfrm>
          <a:prstGeom prst="rect">
            <a:avLst/>
          </a:prstGeom>
          <a:noFill/>
          <a:ln>
            <a:noFill/>
          </a:ln>
        </p:spPr>
      </p:pic>
      <p:sp>
        <p:nvSpPr>
          <p:cNvPr id="896" name="Google Shape;896;p133"/>
          <p:cNvSpPr/>
          <p:nvPr/>
        </p:nvSpPr>
        <p:spPr>
          <a:xfrm>
            <a:off x="3316325" y="4488475"/>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dk1"/>
                </a:solidFill>
              </a:rPr>
              <a:t>Count Matrix</a:t>
            </a:r>
            <a:endParaRPr b="1" sz="1500"/>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134"/>
          <p:cNvSpPr txBox="1"/>
          <p:nvPr>
            <p:ph idx="1" type="body"/>
          </p:nvPr>
        </p:nvSpPr>
        <p:spPr>
          <a:xfrm>
            <a:off x="308925" y="940044"/>
            <a:ext cx="7886700" cy="3263400"/>
          </a:xfrm>
          <a:prstGeom prst="rect">
            <a:avLst/>
          </a:prstGeom>
        </p:spPr>
        <p:txBody>
          <a:bodyPr anchorCtr="0" anchor="t" bIns="0" lIns="0" spcFirstLastPara="1" rIns="0" wrap="square" tIns="0">
            <a:noAutofit/>
          </a:bodyPr>
          <a:lstStyle/>
          <a:p>
            <a:pPr indent="-387350" lvl="0" marL="457200" rtl="0" algn="l">
              <a:spcBef>
                <a:spcPts val="1000"/>
              </a:spcBef>
              <a:spcAft>
                <a:spcPts val="0"/>
              </a:spcAft>
              <a:buSzPts val="2500"/>
              <a:buFont typeface="Arial"/>
              <a:buChar char="●"/>
            </a:pPr>
            <a:r>
              <a:rPr lang="en" sz="2500">
                <a:latin typeface="Arial"/>
                <a:ea typeface="Arial"/>
                <a:cs typeface="Arial"/>
                <a:sym typeface="Arial"/>
              </a:rPr>
              <a:t>Input:</a:t>
            </a:r>
            <a:endParaRPr sz="2500">
              <a:latin typeface="Arial"/>
              <a:ea typeface="Arial"/>
              <a:cs typeface="Arial"/>
              <a:sym typeface="Arial"/>
            </a:endParaRPr>
          </a:p>
          <a:p>
            <a:pPr indent="-387350" lvl="1" marL="914400" rtl="0" algn="l">
              <a:spcBef>
                <a:spcPts val="0"/>
              </a:spcBef>
              <a:spcAft>
                <a:spcPts val="0"/>
              </a:spcAft>
              <a:buSzPts val="2500"/>
              <a:buFont typeface="Arial"/>
              <a:buChar char="○"/>
            </a:pPr>
            <a:r>
              <a:rPr lang="en" sz="2500">
                <a:latin typeface="Arial"/>
                <a:ea typeface="Arial"/>
                <a:cs typeface="Arial"/>
                <a:sym typeface="Arial"/>
              </a:rPr>
              <a:t>Alignment BAM file</a:t>
            </a:r>
            <a:endParaRPr sz="2500">
              <a:latin typeface="Arial"/>
              <a:ea typeface="Arial"/>
              <a:cs typeface="Arial"/>
              <a:sym typeface="Arial"/>
            </a:endParaRPr>
          </a:p>
          <a:p>
            <a:pPr indent="-387350" lvl="1" marL="914400" rtl="0" algn="l">
              <a:spcBef>
                <a:spcPts val="0"/>
              </a:spcBef>
              <a:spcAft>
                <a:spcPts val="0"/>
              </a:spcAft>
              <a:buSzPts val="2500"/>
              <a:buFont typeface="Arial"/>
              <a:buChar char="○"/>
            </a:pPr>
            <a:r>
              <a:rPr lang="en" sz="2500">
                <a:latin typeface="Arial"/>
                <a:ea typeface="Arial"/>
                <a:cs typeface="Arial"/>
                <a:sym typeface="Arial"/>
              </a:rPr>
              <a:t>Annotation SAF/GFF/GTF file</a:t>
            </a:r>
            <a:endParaRPr sz="2500">
              <a:latin typeface="Arial"/>
              <a:ea typeface="Arial"/>
              <a:cs typeface="Arial"/>
              <a:sym typeface="Arial"/>
            </a:endParaRPr>
          </a:p>
          <a:p>
            <a:pPr indent="0" lvl="0" marL="457200" rtl="0" algn="l">
              <a:spcBef>
                <a:spcPts val="1000"/>
              </a:spcBef>
              <a:spcAft>
                <a:spcPts val="0"/>
              </a:spcAft>
              <a:buNone/>
            </a:pPr>
            <a:r>
              <a:t/>
            </a:r>
            <a:endParaRPr sz="2500">
              <a:latin typeface="Arial"/>
              <a:ea typeface="Arial"/>
              <a:cs typeface="Arial"/>
              <a:sym typeface="Arial"/>
            </a:endParaRPr>
          </a:p>
          <a:p>
            <a:pPr indent="0" lvl="0" marL="0" rtl="0" algn="l">
              <a:spcBef>
                <a:spcPts val="0"/>
              </a:spcBef>
              <a:spcAft>
                <a:spcPts val="0"/>
              </a:spcAft>
              <a:buNone/>
            </a:pPr>
            <a:r>
              <a:t/>
            </a:r>
            <a:endParaRPr sz="1800">
              <a:solidFill>
                <a:schemeClr val="accent2"/>
              </a:solidFill>
              <a:latin typeface="Arial"/>
              <a:ea typeface="Arial"/>
              <a:cs typeface="Arial"/>
              <a:sym typeface="Arial"/>
            </a:endParaRPr>
          </a:p>
        </p:txBody>
      </p:sp>
      <p:pic>
        <p:nvPicPr>
          <p:cNvPr id="902" name="Google Shape;902;p134"/>
          <p:cNvPicPr preferRelativeResize="0"/>
          <p:nvPr/>
        </p:nvPicPr>
        <p:blipFill>
          <a:blip r:embed="rId3">
            <a:alphaModFix/>
          </a:blip>
          <a:stretch>
            <a:fillRect/>
          </a:stretch>
        </p:blipFill>
        <p:spPr>
          <a:xfrm>
            <a:off x="403525" y="2228850"/>
            <a:ext cx="5768676" cy="2635599"/>
          </a:xfrm>
          <a:prstGeom prst="rect">
            <a:avLst/>
          </a:prstGeom>
          <a:noFill/>
          <a:ln>
            <a:noFill/>
          </a:ln>
        </p:spPr>
      </p:pic>
      <p:sp>
        <p:nvSpPr>
          <p:cNvPr id="903" name="Google Shape;903;p134"/>
          <p:cNvSpPr txBox="1"/>
          <p:nvPr>
            <p:ph type="title"/>
          </p:nvPr>
        </p:nvSpPr>
        <p:spPr>
          <a:xfrm>
            <a:off x="102475" y="48575"/>
            <a:ext cx="84531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featureCounts</a:t>
            </a:r>
            <a:endParaRPr/>
          </a:p>
        </p:txBody>
      </p:sp>
      <p:sp>
        <p:nvSpPr>
          <p:cNvPr id="904" name="Google Shape;904;p134"/>
          <p:cNvSpPr txBox="1"/>
          <p:nvPr/>
        </p:nvSpPr>
        <p:spPr>
          <a:xfrm>
            <a:off x="6014575" y="3843800"/>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chemeClr val="dk1"/>
                </a:solidFill>
              </a:rPr>
              <a:t>meta-feature</a:t>
            </a:r>
            <a:r>
              <a:rPr lang="en" sz="1100">
                <a:solidFill>
                  <a:schemeClr val="dk1"/>
                </a:solidFill>
              </a:rPr>
              <a:t> is the aggregation of a set of features with the same gene_id</a:t>
            </a:r>
            <a:endParaRPr/>
          </a:p>
        </p:txBody>
      </p:sp>
      <p:pic>
        <p:nvPicPr>
          <p:cNvPr id="905" name="Google Shape;905;p134"/>
          <p:cNvPicPr preferRelativeResize="0"/>
          <p:nvPr/>
        </p:nvPicPr>
        <p:blipFill>
          <a:blip r:embed="rId4">
            <a:alphaModFix/>
          </a:blip>
          <a:stretch>
            <a:fillRect/>
          </a:stretch>
        </p:blipFill>
        <p:spPr>
          <a:xfrm>
            <a:off x="5746700" y="1120836"/>
            <a:ext cx="3000000" cy="1108014"/>
          </a:xfrm>
          <a:prstGeom prst="rect">
            <a:avLst/>
          </a:prstGeom>
          <a:noFill/>
          <a:ln>
            <a:noFill/>
          </a:ln>
        </p:spPr>
      </p:pic>
      <p:sp>
        <p:nvSpPr>
          <p:cNvPr id="906" name="Google Shape;906;p134"/>
          <p:cNvSpPr txBox="1"/>
          <p:nvPr/>
        </p:nvSpPr>
        <p:spPr>
          <a:xfrm>
            <a:off x="5746700" y="2251438"/>
            <a:ext cx="3000000" cy="431100"/>
          </a:xfrm>
          <a:prstGeom prst="rect">
            <a:avLst/>
          </a:prstGeom>
          <a:noFill/>
          <a:ln>
            <a:noFill/>
          </a:ln>
        </p:spPr>
        <p:txBody>
          <a:bodyPr anchorCtr="0" anchor="t" bIns="91425" lIns="91425" spcFirstLastPara="1" rIns="91425" wrap="square" tIns="91425">
            <a:spAutoFit/>
          </a:bodyPr>
          <a:lstStyle/>
          <a:p>
            <a:pPr indent="0" lvl="0" marL="0" rtl="0" algn="r">
              <a:lnSpc>
                <a:spcPct val="90000"/>
              </a:lnSpc>
              <a:spcBef>
                <a:spcPts val="1000"/>
              </a:spcBef>
              <a:spcAft>
                <a:spcPts val="0"/>
              </a:spcAft>
              <a:buNone/>
            </a:pPr>
            <a:r>
              <a:rPr lang="en" sz="1600">
                <a:solidFill>
                  <a:srgbClr val="002B42"/>
                </a:solidFill>
              </a:rPr>
              <a:t>SAF</a:t>
            </a:r>
            <a:endParaRPr sz="1600"/>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135"/>
          <p:cNvSpPr txBox="1"/>
          <p:nvPr>
            <p:ph type="title"/>
          </p:nvPr>
        </p:nvSpPr>
        <p:spPr>
          <a:xfrm>
            <a:off x="114300" y="156025"/>
            <a:ext cx="8453100" cy="7368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How many reads overlap annotated regions?</a:t>
            </a:r>
            <a:endParaRPr/>
          </a:p>
        </p:txBody>
      </p:sp>
      <p:sp>
        <p:nvSpPr>
          <p:cNvPr id="912" name="Google Shape;912;p135"/>
          <p:cNvSpPr txBox="1"/>
          <p:nvPr>
            <p:ph idx="1" type="body"/>
          </p:nvPr>
        </p:nvSpPr>
        <p:spPr>
          <a:xfrm>
            <a:off x="308925" y="785369"/>
            <a:ext cx="7886700" cy="3263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sz="100">
              <a:solidFill>
                <a:schemeClr val="accent2"/>
              </a:solidFill>
              <a:latin typeface="Arial"/>
              <a:ea typeface="Arial"/>
              <a:cs typeface="Arial"/>
              <a:sym typeface="Arial"/>
            </a:endParaRPr>
          </a:p>
          <a:p>
            <a:pPr indent="0" lvl="0" marL="457200" rtl="0" algn="l">
              <a:spcBef>
                <a:spcPts val="1000"/>
              </a:spcBef>
              <a:spcAft>
                <a:spcPts val="0"/>
              </a:spcAft>
              <a:buNone/>
            </a:pPr>
            <a:r>
              <a:rPr lang="en" sz="2200">
                <a:solidFill>
                  <a:srgbClr val="002B42"/>
                </a:solidFill>
                <a:latin typeface="Arial"/>
                <a:ea typeface="Arial"/>
                <a:cs typeface="Arial"/>
                <a:sym typeface="Arial"/>
              </a:rPr>
              <a:t>Use </a:t>
            </a:r>
            <a:r>
              <a:rPr lang="en" sz="2200" u="sng">
                <a:solidFill>
                  <a:schemeClr val="hlink"/>
                </a:solidFill>
                <a:latin typeface="Arial"/>
                <a:ea typeface="Arial"/>
                <a:cs typeface="Arial"/>
                <a:sym typeface="Arial"/>
                <a:hlinkClick r:id="rId3"/>
              </a:rPr>
              <a:t>featureCounts</a:t>
            </a:r>
            <a:endParaRPr sz="2200">
              <a:latin typeface="Arial"/>
              <a:ea typeface="Arial"/>
              <a:cs typeface="Arial"/>
              <a:sym typeface="Arial"/>
            </a:endParaRPr>
          </a:p>
          <a:p>
            <a:pPr indent="0" lvl="0" marL="457200" rtl="0" algn="l">
              <a:spcBef>
                <a:spcPts val="0"/>
              </a:spcBef>
              <a:spcAft>
                <a:spcPts val="0"/>
              </a:spcAft>
              <a:buNone/>
            </a:pPr>
            <a:r>
              <a:t/>
            </a:r>
            <a:endParaRPr sz="1500">
              <a:solidFill>
                <a:schemeClr val="accent2"/>
              </a:solidFill>
              <a:latin typeface="Arial"/>
              <a:ea typeface="Arial"/>
              <a:cs typeface="Arial"/>
              <a:sym typeface="Arial"/>
            </a:endParaRPr>
          </a:p>
          <a:p>
            <a:pPr indent="0" lvl="0" marL="457200" rtl="0" algn="l">
              <a:spcBef>
                <a:spcPts val="0"/>
              </a:spcBef>
              <a:spcAft>
                <a:spcPts val="0"/>
              </a:spcAft>
              <a:buNone/>
            </a:pPr>
            <a:r>
              <a:t/>
            </a:r>
            <a:endParaRPr sz="1500">
              <a:solidFill>
                <a:schemeClr val="accent2"/>
              </a:solidFill>
              <a:latin typeface="Arial"/>
              <a:ea typeface="Arial"/>
              <a:cs typeface="Arial"/>
              <a:sym typeface="Arial"/>
            </a:endParaRPr>
          </a:p>
        </p:txBody>
      </p:sp>
      <p:pic>
        <p:nvPicPr>
          <p:cNvPr id="913" name="Google Shape;913;p135"/>
          <p:cNvPicPr preferRelativeResize="0"/>
          <p:nvPr/>
        </p:nvPicPr>
        <p:blipFill rotWithShape="1">
          <a:blip r:embed="rId4">
            <a:alphaModFix/>
          </a:blip>
          <a:srcRect b="0" l="0" r="31497" t="0"/>
          <a:stretch/>
        </p:blipFill>
        <p:spPr>
          <a:xfrm>
            <a:off x="5626050" y="785375"/>
            <a:ext cx="2270150" cy="4187325"/>
          </a:xfrm>
          <a:prstGeom prst="rect">
            <a:avLst/>
          </a:prstGeom>
          <a:noFill/>
          <a:ln>
            <a:noFill/>
          </a:ln>
        </p:spPr>
      </p:pic>
      <p:pic>
        <p:nvPicPr>
          <p:cNvPr id="914" name="Google Shape;914;p135"/>
          <p:cNvPicPr preferRelativeResize="0"/>
          <p:nvPr/>
        </p:nvPicPr>
        <p:blipFill>
          <a:blip r:embed="rId5">
            <a:alphaModFix/>
          </a:blip>
          <a:stretch>
            <a:fillRect/>
          </a:stretch>
        </p:blipFill>
        <p:spPr>
          <a:xfrm>
            <a:off x="114300" y="1828427"/>
            <a:ext cx="5362826" cy="1342949"/>
          </a:xfrm>
          <a:prstGeom prst="rect">
            <a:avLst/>
          </a:prstGeom>
          <a:noFill/>
          <a:ln>
            <a:noFill/>
          </a:ln>
        </p:spPr>
      </p:pic>
      <p:sp>
        <p:nvSpPr>
          <p:cNvPr id="915" name="Google Shape;915;p135"/>
          <p:cNvSpPr txBox="1"/>
          <p:nvPr/>
        </p:nvSpPr>
        <p:spPr>
          <a:xfrm>
            <a:off x="179750" y="3235425"/>
            <a:ext cx="5115900" cy="175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700"/>
          </a:p>
          <a:p>
            <a:pPr indent="0" lvl="0" marL="0" rtl="0" algn="l">
              <a:spcBef>
                <a:spcPts val="0"/>
              </a:spcBef>
              <a:spcAft>
                <a:spcPts val="0"/>
              </a:spcAft>
              <a:buNone/>
            </a:pPr>
            <a:r>
              <a:rPr lang="en" sz="1700">
                <a:solidFill>
                  <a:schemeClr val="dk1"/>
                </a:solidFill>
              </a:rPr>
              <a:t>N</a:t>
            </a:r>
            <a:r>
              <a:rPr lang="en" sz="1700">
                <a:solidFill>
                  <a:srgbClr val="2A2A2A"/>
                </a:solidFill>
                <a:highlight>
                  <a:schemeClr val="lt1"/>
                </a:highlight>
              </a:rPr>
              <a:t>arrow down the genomic region that could contain features overlapping with the query read</a:t>
            </a:r>
            <a:endParaRPr sz="1700">
              <a:solidFill>
                <a:srgbClr val="2A2A2A"/>
              </a:solidFill>
              <a:highlight>
                <a:schemeClr val="lt1"/>
              </a:highlight>
            </a:endParaRPr>
          </a:p>
          <a:p>
            <a:pPr indent="0" lvl="0" marL="0" rtl="0" algn="l">
              <a:spcBef>
                <a:spcPts val="0"/>
              </a:spcBef>
              <a:spcAft>
                <a:spcPts val="0"/>
              </a:spcAft>
              <a:buNone/>
            </a:pPr>
            <a:r>
              <a:t/>
            </a:r>
            <a:endParaRPr sz="1700"/>
          </a:p>
          <a:p>
            <a:pPr indent="0" lvl="0" marL="0" rtl="0" algn="l">
              <a:spcBef>
                <a:spcPts val="0"/>
              </a:spcBef>
              <a:spcAft>
                <a:spcPts val="0"/>
              </a:spcAft>
              <a:buNone/>
            </a:pPr>
            <a:r>
              <a:rPr lang="en" sz="1700"/>
              <a:t>Hierarchical data structure - features within blocks within bins</a:t>
            </a:r>
            <a:endParaRPr sz="1700"/>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136"/>
          <p:cNvSpPr txBox="1"/>
          <p:nvPr>
            <p:ph type="title"/>
          </p:nvPr>
        </p:nvSpPr>
        <p:spPr>
          <a:xfrm>
            <a:off x="117475" y="155450"/>
            <a:ext cx="8891100" cy="736800"/>
          </a:xfrm>
          <a:prstGeom prst="rect">
            <a:avLst/>
          </a:prstGeom>
        </p:spPr>
        <p:txBody>
          <a:bodyPr anchorCtr="0" anchor="t" bIns="0" lIns="0" spcFirstLastPara="1" rIns="0" wrap="square" tIns="0">
            <a:noAutofit/>
          </a:bodyPr>
          <a:lstStyle/>
          <a:p>
            <a:pPr indent="0" lvl="0" marL="0" rtl="0" algn="l">
              <a:spcBef>
                <a:spcPts val="0"/>
              </a:spcBef>
              <a:spcAft>
                <a:spcPts val="0"/>
              </a:spcAft>
              <a:buSzPts val="990"/>
              <a:buNone/>
            </a:pPr>
            <a:r>
              <a:rPr lang="en" sz="2570"/>
              <a:t>Estimation of the strandness - directionality of the RNA molecule</a:t>
            </a:r>
            <a:endParaRPr sz="2570"/>
          </a:p>
        </p:txBody>
      </p:sp>
      <p:pic>
        <p:nvPicPr>
          <p:cNvPr id="921" name="Google Shape;921;p136"/>
          <p:cNvPicPr preferRelativeResize="0"/>
          <p:nvPr/>
        </p:nvPicPr>
        <p:blipFill>
          <a:blip r:embed="rId3">
            <a:alphaModFix/>
          </a:blip>
          <a:stretch>
            <a:fillRect/>
          </a:stretch>
        </p:blipFill>
        <p:spPr>
          <a:xfrm>
            <a:off x="319925" y="990641"/>
            <a:ext cx="4407407" cy="3637007"/>
          </a:xfrm>
          <a:prstGeom prst="rect">
            <a:avLst/>
          </a:prstGeom>
          <a:noFill/>
          <a:ln>
            <a:noFill/>
          </a:ln>
        </p:spPr>
      </p:pic>
      <p:sp>
        <p:nvSpPr>
          <p:cNvPr id="922" name="Google Shape;922;p136"/>
          <p:cNvSpPr txBox="1"/>
          <p:nvPr/>
        </p:nvSpPr>
        <p:spPr>
          <a:xfrm>
            <a:off x="4938550" y="874125"/>
            <a:ext cx="4129200" cy="24936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In a stranded forward library, reads map mostly on the genes located on forward strand (here gene1). </a:t>
            </a:r>
            <a:endParaRPr sz="1500"/>
          </a:p>
          <a:p>
            <a:pPr indent="0" lvl="0" marL="457200" rtl="0" algn="l">
              <a:spcBef>
                <a:spcPts val="0"/>
              </a:spcBef>
              <a:spcAft>
                <a:spcPts val="0"/>
              </a:spcAft>
              <a:buNone/>
            </a:pPr>
            <a:r>
              <a:t/>
            </a:r>
            <a:endParaRPr sz="1500"/>
          </a:p>
          <a:p>
            <a:pPr indent="-323850" lvl="0" marL="457200" rtl="0" algn="l">
              <a:spcBef>
                <a:spcPts val="0"/>
              </a:spcBef>
              <a:spcAft>
                <a:spcPts val="0"/>
              </a:spcAft>
              <a:buSzPts val="1500"/>
              <a:buChar char="●"/>
            </a:pPr>
            <a:r>
              <a:rPr lang="en" sz="1500"/>
              <a:t>With stranded reverse library, reads map mostly on genes on the reverse strand (here gene2).</a:t>
            </a:r>
            <a:endParaRPr sz="1500"/>
          </a:p>
          <a:p>
            <a:pPr indent="0" lvl="0" marL="457200" rtl="0" algn="l">
              <a:spcBef>
                <a:spcPts val="0"/>
              </a:spcBef>
              <a:spcAft>
                <a:spcPts val="0"/>
              </a:spcAft>
              <a:buNone/>
            </a:pPr>
            <a:r>
              <a:rPr lang="en" sz="1500"/>
              <a:t> </a:t>
            </a:r>
            <a:endParaRPr sz="1500"/>
          </a:p>
          <a:p>
            <a:pPr indent="-323850" lvl="0" marL="457200" rtl="0" algn="l">
              <a:spcBef>
                <a:spcPts val="0"/>
              </a:spcBef>
              <a:spcAft>
                <a:spcPts val="0"/>
              </a:spcAft>
              <a:buSzPts val="1500"/>
              <a:buChar char="●"/>
            </a:pPr>
            <a:r>
              <a:rPr lang="en" sz="1500"/>
              <a:t>With unstranded library, reads maps on genes on both strands.</a:t>
            </a:r>
            <a:endParaRPr sz="1500"/>
          </a:p>
        </p:txBody>
      </p:sp>
      <p:sp>
        <p:nvSpPr>
          <p:cNvPr id="923" name="Google Shape;923;p136"/>
          <p:cNvSpPr txBox="1"/>
          <p:nvPr/>
        </p:nvSpPr>
        <p:spPr>
          <a:xfrm>
            <a:off x="63925" y="4778550"/>
            <a:ext cx="6306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666666"/>
                </a:solidFill>
              </a:rPr>
              <a:t>Image source: https://training.galaxyproject.org/training-material/</a:t>
            </a:r>
            <a:endParaRPr sz="1200">
              <a:solidFill>
                <a:srgbClr val="666666"/>
              </a:solidFill>
            </a:endParaRPr>
          </a:p>
        </p:txBody>
      </p:sp>
      <p:pic>
        <p:nvPicPr>
          <p:cNvPr id="924" name="Google Shape;924;p136"/>
          <p:cNvPicPr preferRelativeResize="0"/>
          <p:nvPr/>
        </p:nvPicPr>
        <p:blipFill>
          <a:blip r:embed="rId4">
            <a:alphaModFix/>
          </a:blip>
          <a:stretch>
            <a:fillRect/>
          </a:stretch>
        </p:blipFill>
        <p:spPr>
          <a:xfrm>
            <a:off x="4997625" y="3367725"/>
            <a:ext cx="4011050" cy="172050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137"/>
          <p:cNvSpPr txBox="1"/>
          <p:nvPr>
            <p:ph type="title"/>
          </p:nvPr>
        </p:nvSpPr>
        <p:spPr>
          <a:xfrm>
            <a:off x="114300" y="156025"/>
            <a:ext cx="84531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featureCounts output</a:t>
            </a:r>
            <a:endParaRPr/>
          </a:p>
        </p:txBody>
      </p:sp>
      <p:sp>
        <p:nvSpPr>
          <p:cNvPr id="930" name="Google Shape;930;p137"/>
          <p:cNvSpPr txBox="1"/>
          <p:nvPr>
            <p:ph idx="1" type="body"/>
          </p:nvPr>
        </p:nvSpPr>
        <p:spPr>
          <a:xfrm>
            <a:off x="60625" y="773544"/>
            <a:ext cx="7886700" cy="3263400"/>
          </a:xfrm>
          <a:prstGeom prst="rect">
            <a:avLst/>
          </a:prstGeom>
        </p:spPr>
        <p:txBody>
          <a:bodyPr anchorCtr="0" anchor="t" bIns="0" lIns="0" spcFirstLastPara="1" rIns="0" wrap="square" tIns="0">
            <a:noAutofit/>
          </a:bodyPr>
          <a:lstStyle/>
          <a:p>
            <a:pPr indent="0" lvl="0" marL="457200" rtl="0" algn="l">
              <a:spcBef>
                <a:spcPts val="1000"/>
              </a:spcBef>
              <a:spcAft>
                <a:spcPts val="0"/>
              </a:spcAft>
              <a:buNone/>
            </a:pPr>
            <a:r>
              <a:t/>
            </a:r>
            <a:endParaRPr sz="2500">
              <a:latin typeface="Arial"/>
              <a:ea typeface="Arial"/>
              <a:cs typeface="Arial"/>
              <a:sym typeface="Arial"/>
            </a:endParaRPr>
          </a:p>
          <a:p>
            <a:pPr indent="-387350" lvl="1" marL="914400" rtl="0" algn="l">
              <a:spcBef>
                <a:spcPts val="1000"/>
              </a:spcBef>
              <a:spcAft>
                <a:spcPts val="0"/>
              </a:spcAft>
              <a:buSzPts val="2500"/>
              <a:buFont typeface="Arial"/>
              <a:buChar char="○"/>
            </a:pPr>
            <a:r>
              <a:rPr lang="en" sz="2500">
                <a:latin typeface="Arial"/>
                <a:ea typeface="Arial"/>
                <a:cs typeface="Arial"/>
                <a:sym typeface="Arial"/>
              </a:rPr>
              <a:t>count matrix (text file)</a:t>
            </a:r>
            <a:endParaRPr sz="2500">
              <a:latin typeface="Arial"/>
              <a:ea typeface="Arial"/>
              <a:cs typeface="Arial"/>
              <a:sym typeface="Arial"/>
            </a:endParaRPr>
          </a:p>
          <a:p>
            <a:pPr indent="-387350" lvl="1" marL="914400" rtl="0" algn="l">
              <a:spcBef>
                <a:spcPts val="0"/>
              </a:spcBef>
              <a:spcAft>
                <a:spcPts val="0"/>
              </a:spcAft>
              <a:buSzPts val="2500"/>
              <a:buFont typeface="Arial"/>
              <a:buChar char="○"/>
            </a:pPr>
            <a:r>
              <a:rPr lang="en" sz="2500">
                <a:latin typeface="Arial"/>
                <a:ea typeface="Arial"/>
                <a:cs typeface="Arial"/>
                <a:sym typeface="Arial"/>
              </a:rPr>
              <a:t>a summary file</a:t>
            </a:r>
            <a:endParaRPr sz="2500">
              <a:latin typeface="Arial"/>
              <a:ea typeface="Arial"/>
              <a:cs typeface="Arial"/>
              <a:sym typeface="Arial"/>
            </a:endParaRPr>
          </a:p>
          <a:p>
            <a:pPr indent="0" lvl="0" marL="457200" rtl="0" algn="l">
              <a:spcBef>
                <a:spcPts val="0"/>
              </a:spcBef>
              <a:spcAft>
                <a:spcPts val="0"/>
              </a:spcAft>
              <a:buNone/>
            </a:pPr>
            <a:r>
              <a:t/>
            </a:r>
            <a:endParaRPr sz="1800">
              <a:solidFill>
                <a:schemeClr val="accent2"/>
              </a:solidFill>
              <a:latin typeface="Arial"/>
              <a:ea typeface="Arial"/>
              <a:cs typeface="Arial"/>
              <a:sym typeface="Arial"/>
            </a:endParaRPr>
          </a:p>
          <a:p>
            <a:pPr indent="0" lvl="0" marL="457200" rtl="0" algn="l">
              <a:spcBef>
                <a:spcPts val="0"/>
              </a:spcBef>
              <a:spcAft>
                <a:spcPts val="0"/>
              </a:spcAft>
              <a:buNone/>
            </a:pPr>
            <a:r>
              <a:t/>
            </a:r>
            <a:endParaRPr sz="1800">
              <a:solidFill>
                <a:schemeClr val="accent2"/>
              </a:solidFill>
              <a:latin typeface="Arial"/>
              <a:ea typeface="Arial"/>
              <a:cs typeface="Arial"/>
              <a:sym typeface="Arial"/>
            </a:endParaRPr>
          </a:p>
        </p:txBody>
      </p:sp>
      <p:pic>
        <p:nvPicPr>
          <p:cNvPr id="931" name="Google Shape;931;p137"/>
          <p:cNvPicPr preferRelativeResize="0"/>
          <p:nvPr/>
        </p:nvPicPr>
        <p:blipFill>
          <a:blip r:embed="rId3">
            <a:alphaModFix/>
          </a:blip>
          <a:stretch>
            <a:fillRect/>
          </a:stretch>
        </p:blipFill>
        <p:spPr>
          <a:xfrm>
            <a:off x="4643700" y="1194250"/>
            <a:ext cx="4154950" cy="3756075"/>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138"/>
          <p:cNvSpPr txBox="1"/>
          <p:nvPr>
            <p:ph type="title"/>
          </p:nvPr>
        </p:nvSpPr>
        <p:spPr>
          <a:xfrm>
            <a:off x="628650" y="531341"/>
            <a:ext cx="7886700" cy="736800"/>
          </a:xfrm>
          <a:prstGeom prst="rect">
            <a:avLst/>
          </a:prstGeom>
        </p:spPr>
        <p:txBody>
          <a:bodyPr anchorCtr="0" anchor="t" bIns="0" lIns="0" spcFirstLastPara="1" rIns="0" wrap="square" tIns="0">
            <a:normAutofit fontScale="90000"/>
          </a:bodyPr>
          <a:lstStyle/>
          <a:p>
            <a:pPr indent="0" lvl="0" marL="0" rtl="0" algn="ctr">
              <a:spcBef>
                <a:spcPts val="0"/>
              </a:spcBef>
              <a:spcAft>
                <a:spcPts val="0"/>
              </a:spcAft>
              <a:buNone/>
            </a:pPr>
            <a:r>
              <a:rPr lang="en">
                <a:solidFill>
                  <a:srgbClr val="A64D79"/>
                </a:solidFill>
              </a:rPr>
              <a:t>Break (5 min) </a:t>
            </a:r>
            <a:endParaRPr>
              <a:solidFill>
                <a:srgbClr val="A64D79"/>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Need help? Please drop a question in the chat or speak up</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p139"/>
          <p:cNvSpPr txBox="1"/>
          <p:nvPr>
            <p:ph type="title"/>
          </p:nvPr>
        </p:nvSpPr>
        <p:spPr>
          <a:xfrm>
            <a:off x="120000" y="-9"/>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RNA-seq - analysis workflow</a:t>
            </a:r>
            <a:endParaRPr/>
          </a:p>
        </p:txBody>
      </p:sp>
      <p:sp>
        <p:nvSpPr>
          <p:cNvPr id="942" name="Google Shape;942;p139"/>
          <p:cNvSpPr txBox="1"/>
          <p:nvPr/>
        </p:nvSpPr>
        <p:spPr>
          <a:xfrm>
            <a:off x="54700" y="2474075"/>
            <a:ext cx="312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741B47"/>
                </a:solidFill>
                <a:latin typeface="Helvetica Neue"/>
                <a:ea typeface="Helvetica Neue"/>
                <a:cs typeface="Helvetica Neue"/>
                <a:sym typeface="Helvetica Neue"/>
              </a:rPr>
              <a:t>Session 1 Concepts: </a:t>
            </a:r>
            <a:endParaRPr b="1" sz="1200">
              <a:solidFill>
                <a:srgbClr val="741B47"/>
              </a:solidFill>
              <a:highlight>
                <a:srgbClr val="F7F6F3"/>
              </a:highlight>
            </a:endParaRPr>
          </a:p>
        </p:txBody>
      </p:sp>
      <p:sp>
        <p:nvSpPr>
          <p:cNvPr id="943" name="Google Shape;943;p139"/>
          <p:cNvSpPr/>
          <p:nvPr/>
        </p:nvSpPr>
        <p:spPr>
          <a:xfrm flipH="1">
            <a:off x="2835850" y="2015275"/>
            <a:ext cx="207300" cy="10881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39"/>
          <p:cNvSpPr txBox="1"/>
          <p:nvPr/>
        </p:nvSpPr>
        <p:spPr>
          <a:xfrm>
            <a:off x="54700" y="3589413"/>
            <a:ext cx="3125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a:solidFill>
                  <a:srgbClr val="741B47"/>
                </a:solidFill>
                <a:latin typeface="Helvetica Neue"/>
                <a:ea typeface="Helvetica Neue"/>
                <a:cs typeface="Helvetica Neue"/>
                <a:sym typeface="Helvetica Neue"/>
              </a:rPr>
              <a:t>Session 2 Concepts: </a:t>
            </a:r>
            <a:endParaRPr b="1" sz="1200">
              <a:solidFill>
                <a:srgbClr val="741B47"/>
              </a:solidFill>
              <a:highlight>
                <a:srgbClr val="F7F6F3"/>
              </a:highlight>
            </a:endParaRPr>
          </a:p>
          <a:p>
            <a:pPr indent="0" lvl="0" marL="0" rtl="0" algn="l">
              <a:spcBef>
                <a:spcPts val="0"/>
              </a:spcBef>
              <a:spcAft>
                <a:spcPts val="0"/>
              </a:spcAft>
              <a:buNone/>
            </a:pPr>
            <a:r>
              <a:t/>
            </a:r>
            <a:endParaRPr b="1">
              <a:solidFill>
                <a:srgbClr val="741B47"/>
              </a:solidFill>
              <a:latin typeface="Helvetica Neue"/>
              <a:ea typeface="Helvetica Neue"/>
              <a:cs typeface="Helvetica Neue"/>
              <a:sym typeface="Helvetica Neue"/>
            </a:endParaRPr>
          </a:p>
        </p:txBody>
      </p:sp>
      <p:sp>
        <p:nvSpPr>
          <p:cNvPr id="945" name="Google Shape;945;p139"/>
          <p:cNvSpPr/>
          <p:nvPr/>
        </p:nvSpPr>
        <p:spPr>
          <a:xfrm>
            <a:off x="3316325" y="2030150"/>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Sequencer: Reads</a:t>
            </a:r>
            <a:r>
              <a:rPr lang="en"/>
              <a:t> </a:t>
            </a:r>
            <a:r>
              <a:rPr b="1" lang="en">
                <a:solidFill>
                  <a:schemeClr val="accent2"/>
                </a:solidFill>
              </a:rPr>
              <a:t>Fastq</a:t>
            </a:r>
            <a:endParaRPr b="1">
              <a:solidFill>
                <a:schemeClr val="accent2"/>
              </a:solidFill>
            </a:endParaRPr>
          </a:p>
        </p:txBody>
      </p:sp>
      <p:sp>
        <p:nvSpPr>
          <p:cNvPr id="946" name="Google Shape;946;p139"/>
          <p:cNvSpPr/>
          <p:nvPr/>
        </p:nvSpPr>
        <p:spPr>
          <a:xfrm>
            <a:off x="5445750" y="2030150"/>
            <a:ext cx="1727700" cy="493800"/>
          </a:xfrm>
          <a:prstGeom prst="roundRect">
            <a:avLst>
              <a:gd fmla="val 16667" name="adj"/>
            </a:avLst>
          </a:prstGeom>
          <a:solidFill>
            <a:srgbClr val="D9D9D9"/>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None/>
            </a:pPr>
            <a:r>
              <a:rPr b="1" lang="en">
                <a:solidFill>
                  <a:schemeClr val="accent2"/>
                </a:solidFill>
              </a:rPr>
              <a:t>FastQC </a:t>
            </a:r>
            <a:endParaRPr b="1">
              <a:solidFill>
                <a:schemeClr val="accent2"/>
              </a:solidFill>
            </a:endParaRPr>
          </a:p>
        </p:txBody>
      </p:sp>
      <p:sp>
        <p:nvSpPr>
          <p:cNvPr id="947" name="Google Shape;947;p139"/>
          <p:cNvSpPr/>
          <p:nvPr/>
        </p:nvSpPr>
        <p:spPr>
          <a:xfrm>
            <a:off x="3316325" y="3283863"/>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Alignment/Mapping</a:t>
            </a:r>
            <a:endParaRPr b="1"/>
          </a:p>
          <a:p>
            <a:pPr indent="0" lvl="0" marL="0" rtl="0" algn="ctr">
              <a:spcBef>
                <a:spcPts val="0"/>
              </a:spcBef>
              <a:spcAft>
                <a:spcPts val="0"/>
              </a:spcAft>
              <a:buNone/>
            </a:pPr>
            <a:r>
              <a:rPr b="1" lang="en">
                <a:solidFill>
                  <a:schemeClr val="accent2"/>
                </a:solidFill>
              </a:rPr>
              <a:t>STAR</a:t>
            </a:r>
            <a:r>
              <a:rPr lang="en"/>
              <a:t> </a:t>
            </a:r>
            <a:endParaRPr/>
          </a:p>
        </p:txBody>
      </p:sp>
      <p:sp>
        <p:nvSpPr>
          <p:cNvPr id="948" name="Google Shape;948;p139"/>
          <p:cNvSpPr/>
          <p:nvPr/>
        </p:nvSpPr>
        <p:spPr>
          <a:xfrm>
            <a:off x="3316325" y="3886175"/>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1200">
                <a:solidFill>
                  <a:schemeClr val="dk1"/>
                </a:solidFill>
              </a:rPr>
              <a:t>Counting Reads </a:t>
            </a:r>
            <a:endParaRPr b="1" sz="1200">
              <a:solidFill>
                <a:schemeClr val="dk1"/>
              </a:solidFill>
            </a:endParaRPr>
          </a:p>
          <a:p>
            <a:pPr indent="0" lvl="0" marL="0" rtl="0" algn="ctr">
              <a:spcBef>
                <a:spcPts val="0"/>
              </a:spcBef>
              <a:spcAft>
                <a:spcPts val="0"/>
              </a:spcAft>
              <a:buNone/>
            </a:pPr>
            <a:r>
              <a:rPr b="1" lang="en">
                <a:solidFill>
                  <a:schemeClr val="accent2"/>
                </a:solidFill>
              </a:rPr>
              <a:t>featureCounts</a:t>
            </a:r>
            <a:endParaRPr b="1" sz="1200"/>
          </a:p>
        </p:txBody>
      </p:sp>
      <p:sp>
        <p:nvSpPr>
          <p:cNvPr id="949" name="Google Shape;949;p139"/>
          <p:cNvSpPr/>
          <p:nvPr/>
        </p:nvSpPr>
        <p:spPr>
          <a:xfrm>
            <a:off x="3316325" y="2681575"/>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Trimming</a:t>
            </a:r>
            <a:endParaRPr b="1"/>
          </a:p>
          <a:p>
            <a:pPr indent="0" lvl="0" marL="0" rtl="0" algn="ctr">
              <a:spcBef>
                <a:spcPts val="0"/>
              </a:spcBef>
              <a:spcAft>
                <a:spcPts val="0"/>
              </a:spcAft>
              <a:buNone/>
            </a:pPr>
            <a:r>
              <a:rPr b="1" lang="en">
                <a:solidFill>
                  <a:schemeClr val="accent2"/>
                </a:solidFill>
              </a:rPr>
              <a:t>cutadapt</a:t>
            </a:r>
            <a:endParaRPr b="1">
              <a:solidFill>
                <a:schemeClr val="accent2"/>
              </a:solidFill>
            </a:endParaRPr>
          </a:p>
        </p:txBody>
      </p:sp>
      <p:sp>
        <p:nvSpPr>
          <p:cNvPr id="950" name="Google Shape;950;p139"/>
          <p:cNvSpPr/>
          <p:nvPr/>
        </p:nvSpPr>
        <p:spPr>
          <a:xfrm>
            <a:off x="5445750" y="2681575"/>
            <a:ext cx="1727700" cy="493800"/>
          </a:xfrm>
          <a:prstGeom prst="roundRect">
            <a:avLst>
              <a:gd fmla="val 16667" name="adj"/>
            </a:avLst>
          </a:prstGeom>
          <a:solidFill>
            <a:srgbClr val="D9D9D9"/>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Clr>
                <a:schemeClr val="dk1"/>
              </a:buClr>
              <a:buSzPts val="1100"/>
              <a:buFont typeface="Arial"/>
              <a:buNone/>
            </a:pPr>
            <a:r>
              <a:rPr b="1" lang="en">
                <a:solidFill>
                  <a:schemeClr val="accent2"/>
                </a:solidFill>
              </a:rPr>
              <a:t>FastQC</a:t>
            </a:r>
            <a:endParaRPr b="1">
              <a:solidFill>
                <a:schemeClr val="accent2"/>
              </a:solidFill>
            </a:endParaRPr>
          </a:p>
        </p:txBody>
      </p:sp>
      <p:sp>
        <p:nvSpPr>
          <p:cNvPr id="951" name="Google Shape;951;p139"/>
          <p:cNvSpPr/>
          <p:nvPr/>
        </p:nvSpPr>
        <p:spPr>
          <a:xfrm>
            <a:off x="5445750" y="3283875"/>
            <a:ext cx="1727700" cy="493800"/>
          </a:xfrm>
          <a:prstGeom prst="roundRect">
            <a:avLst>
              <a:gd fmla="val 16667" name="adj"/>
            </a:avLst>
          </a:prstGeom>
          <a:solidFill>
            <a:srgbClr val="F9CB9C"/>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Clr>
                <a:schemeClr val="dk1"/>
              </a:buClr>
              <a:buSzPts val="1100"/>
              <a:buFont typeface="Arial"/>
              <a:buNone/>
            </a:pPr>
            <a:r>
              <a:t/>
            </a:r>
            <a:endParaRPr b="1">
              <a:solidFill>
                <a:schemeClr val="accent2"/>
              </a:solidFill>
            </a:endParaRPr>
          </a:p>
        </p:txBody>
      </p:sp>
      <p:sp>
        <p:nvSpPr>
          <p:cNvPr id="952" name="Google Shape;952;p139"/>
          <p:cNvSpPr/>
          <p:nvPr/>
        </p:nvSpPr>
        <p:spPr>
          <a:xfrm>
            <a:off x="3316325" y="776450"/>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Biological question</a:t>
            </a:r>
            <a:endParaRPr b="1">
              <a:solidFill>
                <a:schemeClr val="accent2"/>
              </a:solidFill>
            </a:endParaRPr>
          </a:p>
        </p:txBody>
      </p:sp>
      <p:sp>
        <p:nvSpPr>
          <p:cNvPr id="953" name="Google Shape;953;p139"/>
          <p:cNvSpPr/>
          <p:nvPr/>
        </p:nvSpPr>
        <p:spPr>
          <a:xfrm>
            <a:off x="3316325" y="1403288"/>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Library preparation</a:t>
            </a:r>
            <a:endParaRPr b="1">
              <a:solidFill>
                <a:schemeClr val="accent2"/>
              </a:solidFill>
            </a:endParaRPr>
          </a:p>
        </p:txBody>
      </p:sp>
      <p:sp>
        <p:nvSpPr>
          <p:cNvPr id="954" name="Google Shape;954;p139"/>
          <p:cNvSpPr/>
          <p:nvPr/>
        </p:nvSpPr>
        <p:spPr>
          <a:xfrm>
            <a:off x="5445750" y="3893249"/>
            <a:ext cx="1727700" cy="493800"/>
          </a:xfrm>
          <a:prstGeom prst="roundRect">
            <a:avLst>
              <a:gd fmla="val 16667" name="adj"/>
            </a:avLst>
          </a:prstGeom>
          <a:solidFill>
            <a:srgbClr val="F9CB9C"/>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Quality check </a:t>
            </a:r>
            <a:r>
              <a:rPr lang="en"/>
              <a:t> </a:t>
            </a:r>
            <a:endParaRPr/>
          </a:p>
          <a:p>
            <a:pPr indent="0" lvl="0" marL="0" rtl="0" algn="ctr">
              <a:spcBef>
                <a:spcPts val="0"/>
              </a:spcBef>
              <a:spcAft>
                <a:spcPts val="0"/>
              </a:spcAft>
              <a:buClr>
                <a:schemeClr val="dk1"/>
              </a:buClr>
              <a:buSzPts val="1100"/>
              <a:buFont typeface="Arial"/>
              <a:buNone/>
            </a:pPr>
            <a:r>
              <a:t/>
            </a:r>
            <a:endParaRPr b="1">
              <a:solidFill>
                <a:schemeClr val="accent2"/>
              </a:solidFill>
            </a:endParaRPr>
          </a:p>
        </p:txBody>
      </p:sp>
      <p:sp>
        <p:nvSpPr>
          <p:cNvPr id="955" name="Google Shape;955;p139"/>
          <p:cNvSpPr/>
          <p:nvPr/>
        </p:nvSpPr>
        <p:spPr>
          <a:xfrm flipH="1">
            <a:off x="2835850" y="3259650"/>
            <a:ext cx="207300" cy="10881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39"/>
          <p:cNvSpPr txBox="1"/>
          <p:nvPr/>
        </p:nvSpPr>
        <p:spPr>
          <a:xfrm>
            <a:off x="7592050" y="2282038"/>
            <a:ext cx="1568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accent2"/>
                </a:solidFill>
                <a:latin typeface="Helvetica Neue"/>
                <a:ea typeface="Helvetica Neue"/>
                <a:cs typeface="Helvetica Neue"/>
                <a:sym typeface="Helvetica Neue"/>
              </a:rPr>
              <a:t>Session 1 Demo</a:t>
            </a:r>
            <a:endParaRPr b="1" sz="1200">
              <a:solidFill>
                <a:schemeClr val="accent2"/>
              </a:solidFill>
              <a:highlight>
                <a:srgbClr val="F7F6F3"/>
              </a:highlight>
            </a:endParaRPr>
          </a:p>
          <a:p>
            <a:pPr indent="0" lvl="0" marL="0" rtl="0" algn="l">
              <a:spcBef>
                <a:spcPts val="0"/>
              </a:spcBef>
              <a:spcAft>
                <a:spcPts val="0"/>
              </a:spcAft>
              <a:buNone/>
            </a:pPr>
            <a:r>
              <a:t/>
            </a:r>
            <a:endParaRPr b="1">
              <a:latin typeface="Helvetica Neue"/>
              <a:ea typeface="Helvetica Neue"/>
              <a:cs typeface="Helvetica Neue"/>
              <a:sym typeface="Helvetica Neue"/>
            </a:endParaRPr>
          </a:p>
        </p:txBody>
      </p:sp>
      <p:sp>
        <p:nvSpPr>
          <p:cNvPr id="957" name="Google Shape;957;p139"/>
          <p:cNvSpPr/>
          <p:nvPr/>
        </p:nvSpPr>
        <p:spPr>
          <a:xfrm flipH="1" rot="10800000">
            <a:off x="7248950" y="2015175"/>
            <a:ext cx="267600" cy="10794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39"/>
          <p:cNvSpPr txBox="1"/>
          <p:nvPr/>
        </p:nvSpPr>
        <p:spPr>
          <a:xfrm>
            <a:off x="7581823" y="3495888"/>
            <a:ext cx="1568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accent2"/>
                </a:solidFill>
                <a:latin typeface="Helvetica Neue"/>
                <a:ea typeface="Helvetica Neue"/>
                <a:cs typeface="Helvetica Neue"/>
                <a:sym typeface="Helvetica Neue"/>
              </a:rPr>
              <a:t>Session 2 Demo</a:t>
            </a:r>
            <a:endParaRPr b="1" sz="1200">
              <a:solidFill>
                <a:schemeClr val="accent2"/>
              </a:solidFill>
              <a:highlight>
                <a:srgbClr val="F7F6F3"/>
              </a:highlight>
            </a:endParaRPr>
          </a:p>
          <a:p>
            <a:pPr indent="0" lvl="0" marL="0" rtl="0" algn="l">
              <a:spcBef>
                <a:spcPts val="0"/>
              </a:spcBef>
              <a:spcAft>
                <a:spcPts val="0"/>
              </a:spcAft>
              <a:buNone/>
            </a:pPr>
            <a:r>
              <a:t/>
            </a:r>
            <a:endParaRPr b="1">
              <a:latin typeface="Helvetica Neue"/>
              <a:ea typeface="Helvetica Neue"/>
              <a:cs typeface="Helvetica Neue"/>
              <a:sym typeface="Helvetica Neue"/>
            </a:endParaRPr>
          </a:p>
        </p:txBody>
      </p:sp>
      <p:sp>
        <p:nvSpPr>
          <p:cNvPr id="959" name="Google Shape;959;p139"/>
          <p:cNvSpPr/>
          <p:nvPr/>
        </p:nvSpPr>
        <p:spPr>
          <a:xfrm flipH="1" rot="10800000">
            <a:off x="7238725" y="3334925"/>
            <a:ext cx="292800" cy="9735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60" name="Google Shape;960;p139"/>
          <p:cNvPicPr preferRelativeResize="0"/>
          <p:nvPr/>
        </p:nvPicPr>
        <p:blipFill>
          <a:blip r:embed="rId3">
            <a:alphaModFix/>
          </a:blip>
          <a:stretch>
            <a:fillRect/>
          </a:stretch>
        </p:blipFill>
        <p:spPr>
          <a:xfrm>
            <a:off x="6767525" y="147869"/>
            <a:ext cx="2011679" cy="512979"/>
          </a:xfrm>
          <a:prstGeom prst="rect">
            <a:avLst/>
          </a:prstGeom>
          <a:noFill/>
          <a:ln>
            <a:noFill/>
          </a:ln>
        </p:spPr>
      </p:pic>
      <p:sp>
        <p:nvSpPr>
          <p:cNvPr id="961" name="Google Shape;961;p139"/>
          <p:cNvSpPr/>
          <p:nvPr/>
        </p:nvSpPr>
        <p:spPr>
          <a:xfrm>
            <a:off x="3316325" y="4488475"/>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chemeClr val="dk1"/>
                </a:solidFill>
              </a:rPr>
              <a:t>Count Matrix</a:t>
            </a:r>
            <a:endParaRPr b="1" sz="1500"/>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140"/>
          <p:cNvSpPr txBox="1"/>
          <p:nvPr>
            <p:ph type="title"/>
          </p:nvPr>
        </p:nvSpPr>
        <p:spPr>
          <a:xfrm>
            <a:off x="628650" y="531341"/>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Demo using Docker</a:t>
            </a:r>
            <a:endParaRPr/>
          </a:p>
        </p:txBody>
      </p:sp>
      <p:sp>
        <p:nvSpPr>
          <p:cNvPr id="967" name="Google Shape;967;p140"/>
          <p:cNvSpPr txBox="1"/>
          <p:nvPr>
            <p:ph idx="1" type="body"/>
          </p:nvPr>
        </p:nvSpPr>
        <p:spPr>
          <a:xfrm>
            <a:off x="628650" y="1322294"/>
            <a:ext cx="7886700" cy="3263400"/>
          </a:xfrm>
          <a:prstGeom prst="rect">
            <a:avLst/>
          </a:prstGeom>
        </p:spPr>
        <p:txBody>
          <a:bodyPr anchorCtr="0" anchor="t" bIns="0" lIns="0" spcFirstLastPara="1" rIns="0" wrap="square" tIns="0">
            <a:normAutofit/>
          </a:bodyPr>
          <a:lstStyle/>
          <a:p>
            <a:pPr indent="0" lvl="0" marL="0" rtl="0" algn="l">
              <a:spcBef>
                <a:spcPts val="800"/>
              </a:spcBef>
              <a:spcAft>
                <a:spcPts val="0"/>
              </a:spcAft>
              <a:buNone/>
            </a:pPr>
            <a:r>
              <a:t/>
            </a:r>
            <a:endParaRPr sz="2400">
              <a:latin typeface="Arial"/>
              <a:ea typeface="Arial"/>
              <a:cs typeface="Arial"/>
              <a:sym typeface="Arial"/>
            </a:endParaRPr>
          </a:p>
          <a:p>
            <a:pPr indent="-381000" lvl="0" marL="457200" rtl="0" algn="l">
              <a:spcBef>
                <a:spcPts val="800"/>
              </a:spcBef>
              <a:spcAft>
                <a:spcPts val="0"/>
              </a:spcAft>
              <a:buSzPts val="2400"/>
              <a:buFont typeface="Arial"/>
              <a:buChar char="●"/>
            </a:pPr>
            <a:r>
              <a:rPr lang="en" sz="2400">
                <a:latin typeface="Arial"/>
                <a:ea typeface="Arial"/>
                <a:cs typeface="Arial"/>
                <a:sym typeface="Arial"/>
              </a:rPr>
              <a:t>Run STAR to align the reads to the reference genome</a:t>
            </a:r>
            <a:endParaRPr sz="2400">
              <a:latin typeface="Arial"/>
              <a:ea typeface="Arial"/>
              <a:cs typeface="Arial"/>
              <a:sym typeface="Arial"/>
            </a:endParaRPr>
          </a:p>
          <a:p>
            <a:pPr indent="0" lvl="0" marL="0" rtl="0" algn="l">
              <a:spcBef>
                <a:spcPts val="800"/>
              </a:spcBef>
              <a:spcAft>
                <a:spcPts val="0"/>
              </a:spcAft>
              <a:buNone/>
            </a:pPr>
            <a:r>
              <a:t/>
            </a:r>
            <a:endParaRPr sz="2400">
              <a:latin typeface="Arial"/>
              <a:ea typeface="Arial"/>
              <a:cs typeface="Arial"/>
              <a:sym typeface="Arial"/>
            </a:endParaRPr>
          </a:p>
          <a:p>
            <a:pPr indent="-381000" lvl="0" marL="457200" rtl="0" algn="l">
              <a:spcBef>
                <a:spcPts val="800"/>
              </a:spcBef>
              <a:spcAft>
                <a:spcPts val="0"/>
              </a:spcAft>
              <a:buSzPts val="2400"/>
              <a:buChar char="●"/>
            </a:pPr>
            <a:r>
              <a:rPr lang="en" sz="2400">
                <a:latin typeface="Arial"/>
                <a:ea typeface="Arial"/>
                <a:cs typeface="Arial"/>
                <a:sym typeface="Arial"/>
              </a:rPr>
              <a:t>Run featureCounts to tally counts</a:t>
            </a:r>
            <a:endParaRPr sz="2400">
              <a:latin typeface="Arial"/>
              <a:ea typeface="Arial"/>
              <a:cs typeface="Arial"/>
              <a:sym typeface="Arial"/>
            </a:endParaRPr>
          </a:p>
          <a:p>
            <a:pPr indent="0" lvl="0" marL="0" rtl="0" algn="l">
              <a:spcBef>
                <a:spcPts val="800"/>
              </a:spcBef>
              <a:spcAft>
                <a:spcPts val="0"/>
              </a:spcAft>
              <a:buNone/>
            </a:pPr>
            <a:r>
              <a:t/>
            </a:r>
            <a:endParaRPr sz="2400">
              <a:latin typeface="Arial"/>
              <a:ea typeface="Arial"/>
              <a:cs typeface="Arial"/>
              <a:sym typeface="Arial"/>
            </a:endParaRPr>
          </a:p>
          <a:p>
            <a:pPr indent="0" lvl="0" marL="0" rtl="0" algn="l">
              <a:spcBef>
                <a:spcPts val="800"/>
              </a:spcBef>
              <a:spcAft>
                <a:spcPts val="0"/>
              </a:spcAft>
              <a:buNone/>
            </a:pPr>
            <a:r>
              <a:t/>
            </a:r>
            <a:endParaRPr sz="2400">
              <a:latin typeface="Arial"/>
              <a:ea typeface="Arial"/>
              <a:cs typeface="Arial"/>
              <a:sym typeface="Arial"/>
            </a:endParaRPr>
          </a:p>
          <a:p>
            <a:pPr indent="0" lvl="0" marL="0" rtl="0" algn="l">
              <a:spcBef>
                <a:spcPts val="800"/>
              </a:spcBef>
              <a:spcAft>
                <a:spcPts val="0"/>
              </a:spcAft>
              <a:buNone/>
            </a:pPr>
            <a:r>
              <a:t/>
            </a:r>
            <a:endParaRPr sz="2400">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41"/>
          <p:cNvSpPr txBox="1"/>
          <p:nvPr>
            <p:ph type="title"/>
          </p:nvPr>
        </p:nvSpPr>
        <p:spPr>
          <a:xfrm>
            <a:off x="118872" y="0"/>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Real data is complex</a:t>
            </a:r>
            <a:endParaRPr/>
          </a:p>
        </p:txBody>
      </p:sp>
      <p:sp>
        <p:nvSpPr>
          <p:cNvPr id="973" name="Google Shape;973;p141"/>
          <p:cNvSpPr txBox="1"/>
          <p:nvPr>
            <p:ph idx="1" type="body"/>
          </p:nvPr>
        </p:nvSpPr>
        <p:spPr>
          <a:xfrm>
            <a:off x="628650" y="736800"/>
            <a:ext cx="8009700" cy="3873900"/>
          </a:xfrm>
          <a:prstGeom prst="rect">
            <a:avLst/>
          </a:prstGeom>
        </p:spPr>
        <p:txBody>
          <a:bodyPr anchorCtr="0" anchor="t" bIns="0" lIns="0" spcFirstLastPara="1" rIns="0" wrap="square" tIns="0">
            <a:noAutofit/>
          </a:bodyPr>
          <a:lstStyle/>
          <a:p>
            <a:pPr indent="-355600" lvl="0" marL="457200" rtl="0" algn="l">
              <a:spcBef>
                <a:spcPts val="800"/>
              </a:spcBef>
              <a:spcAft>
                <a:spcPts val="0"/>
              </a:spcAft>
              <a:buSzPts val="2000"/>
              <a:buChar char="●"/>
            </a:pPr>
            <a:r>
              <a:rPr lang="en" sz="2000"/>
              <a:t>Session I and II provides an introduction to typical RNA-seq analysis steps using an artificial dataset. </a:t>
            </a:r>
            <a:endParaRPr sz="2000"/>
          </a:p>
          <a:p>
            <a:pPr indent="0" lvl="0" marL="457200" rtl="0" algn="l">
              <a:spcBef>
                <a:spcPts val="800"/>
              </a:spcBef>
              <a:spcAft>
                <a:spcPts val="0"/>
              </a:spcAft>
              <a:buNone/>
            </a:pPr>
            <a:r>
              <a:rPr lang="en" sz="2000"/>
              <a:t>Real data might need additional analyses choices.</a:t>
            </a:r>
            <a:endParaRPr sz="2000"/>
          </a:p>
          <a:p>
            <a:pPr indent="0" lvl="0" marL="457200" rtl="0" algn="l">
              <a:spcBef>
                <a:spcPts val="800"/>
              </a:spcBef>
              <a:spcAft>
                <a:spcPts val="0"/>
              </a:spcAft>
              <a:buNone/>
            </a:pPr>
            <a:r>
              <a:t/>
            </a:r>
            <a:endParaRPr sz="1100"/>
          </a:p>
          <a:p>
            <a:pPr indent="-355600" lvl="0" marL="457200" rtl="0" algn="l">
              <a:spcBef>
                <a:spcPts val="800"/>
              </a:spcBef>
              <a:spcAft>
                <a:spcPts val="0"/>
              </a:spcAft>
              <a:buSzPts val="2000"/>
              <a:buChar char="●"/>
            </a:pPr>
            <a:r>
              <a:rPr lang="en" sz="2000"/>
              <a:t>Possible challenges with real data</a:t>
            </a:r>
            <a:r>
              <a:rPr lang="en" sz="2000"/>
              <a:t>: (What we did not cover today)</a:t>
            </a:r>
            <a:endParaRPr sz="2000"/>
          </a:p>
          <a:p>
            <a:pPr indent="-355600" lvl="1" marL="914400" rtl="0" algn="l">
              <a:spcBef>
                <a:spcPts val="0"/>
              </a:spcBef>
              <a:spcAft>
                <a:spcPts val="0"/>
              </a:spcAft>
              <a:buSzPts val="2000"/>
              <a:buChar char="○"/>
            </a:pPr>
            <a:r>
              <a:rPr lang="en" sz="2000"/>
              <a:t>What to do you if only 50%of reads align to reference?</a:t>
            </a:r>
            <a:endParaRPr sz="2000"/>
          </a:p>
          <a:p>
            <a:pPr indent="-355600" lvl="1" marL="914400" rtl="0" algn="l">
              <a:spcBef>
                <a:spcPts val="0"/>
              </a:spcBef>
              <a:spcAft>
                <a:spcPts val="0"/>
              </a:spcAft>
              <a:buSzPts val="2000"/>
              <a:buChar char="○"/>
            </a:pPr>
            <a:r>
              <a:rPr lang="en" sz="2000"/>
              <a:t>What to do if FastQC reports unusual GC content?</a:t>
            </a:r>
            <a:endParaRPr sz="2000"/>
          </a:p>
          <a:p>
            <a:pPr indent="-355600" lvl="1" marL="914400" rtl="0" algn="l">
              <a:spcBef>
                <a:spcPts val="0"/>
              </a:spcBef>
              <a:spcAft>
                <a:spcPts val="0"/>
              </a:spcAft>
              <a:buSzPts val="2000"/>
              <a:buChar char="○"/>
            </a:pPr>
            <a:r>
              <a:rPr lang="en" sz="2000"/>
              <a:t>What to do if the reference genome is incomplete?</a:t>
            </a:r>
            <a:endParaRPr sz="2000"/>
          </a:p>
          <a:p>
            <a:pPr indent="-355600" lvl="1" marL="914400" rtl="0" algn="l">
              <a:spcBef>
                <a:spcPts val="0"/>
              </a:spcBef>
              <a:spcAft>
                <a:spcPts val="0"/>
              </a:spcAft>
              <a:buSzPts val="2000"/>
              <a:buChar char="○"/>
            </a:pPr>
            <a:r>
              <a:rPr lang="en" sz="2000"/>
              <a:t>How to deal with more complicated experimental designs</a:t>
            </a:r>
            <a:r>
              <a:rPr lang="en" sz="2000"/>
              <a:t>?</a:t>
            </a:r>
            <a:endParaRPr sz="2000"/>
          </a:p>
          <a:p>
            <a:pPr indent="-355600" lvl="1" marL="914400" rtl="0" algn="l">
              <a:spcBef>
                <a:spcPts val="0"/>
              </a:spcBef>
              <a:spcAft>
                <a:spcPts val="0"/>
              </a:spcAft>
              <a:buSzPts val="2000"/>
              <a:buChar char="○"/>
            </a:pPr>
            <a:r>
              <a:rPr lang="en" sz="2000"/>
              <a:t>How many replicates to use for RNA-seq?</a:t>
            </a:r>
            <a:endParaRPr sz="2000"/>
          </a:p>
          <a:p>
            <a:pPr indent="0" lvl="0" marL="914400" rtl="0" algn="l">
              <a:spcBef>
                <a:spcPts val="800"/>
              </a:spcBef>
              <a:spcAft>
                <a:spcPts val="0"/>
              </a:spcAft>
              <a:buNone/>
            </a:pPr>
            <a:r>
              <a:t/>
            </a:r>
            <a:endParaRPr sz="1100"/>
          </a:p>
          <a:p>
            <a:pPr indent="-355600" lvl="0" marL="457200" rtl="0" algn="l">
              <a:spcBef>
                <a:spcPts val="800"/>
              </a:spcBef>
              <a:spcAft>
                <a:spcPts val="0"/>
              </a:spcAft>
              <a:buSzPts val="2000"/>
              <a:buChar char="●"/>
            </a:pPr>
            <a:r>
              <a:rPr lang="en" sz="2000"/>
              <a:t>Some analysis choices need experience. Consult with</a:t>
            </a:r>
            <a:r>
              <a:rPr lang="en" sz="2000"/>
              <a:t> the </a:t>
            </a:r>
            <a:r>
              <a:rPr lang="en" sz="2000" u="sng">
                <a:solidFill>
                  <a:schemeClr val="hlink"/>
                </a:solidFill>
                <a:hlinkClick r:id="rId3"/>
              </a:rPr>
              <a:t>Gladstone Bioinformatics core</a:t>
            </a:r>
            <a:r>
              <a:rPr lang="en" sz="2000"/>
              <a:t> for such scenarios and data.</a:t>
            </a:r>
            <a:endParaRPr sz="2000"/>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142"/>
          <p:cNvSpPr txBox="1"/>
          <p:nvPr>
            <p:ph idx="1" type="body"/>
          </p:nvPr>
        </p:nvSpPr>
        <p:spPr>
          <a:xfrm>
            <a:off x="628650" y="851769"/>
            <a:ext cx="7886700" cy="3263400"/>
          </a:xfrm>
          <a:prstGeom prst="rect">
            <a:avLst/>
          </a:prstGeom>
        </p:spPr>
        <p:txBody>
          <a:bodyPr anchorCtr="0" anchor="t" bIns="0" lIns="0" spcFirstLastPara="1" rIns="0" wrap="square" tIns="0">
            <a:normAutofit lnSpcReduction="10000"/>
          </a:bodyPr>
          <a:lstStyle/>
          <a:p>
            <a:pPr indent="0" lvl="0" marL="0" rtl="0" algn="l">
              <a:spcBef>
                <a:spcPts val="800"/>
              </a:spcBef>
              <a:spcAft>
                <a:spcPts val="0"/>
              </a:spcAft>
              <a:buNone/>
            </a:pPr>
            <a:r>
              <a:rPr b="1" lang="en"/>
              <a:t>What you will learn today:</a:t>
            </a:r>
            <a:endParaRPr b="1"/>
          </a:p>
          <a:p>
            <a:pPr indent="0" lvl="0" marL="0" rtl="0" algn="l">
              <a:spcBef>
                <a:spcPts val="800"/>
              </a:spcBef>
              <a:spcAft>
                <a:spcPts val="0"/>
              </a:spcAft>
              <a:buNone/>
            </a:pPr>
            <a:r>
              <a:rPr lang="en"/>
              <a:t>Individual tools (FastQC, cutadapt, STAR, featureCounts)</a:t>
            </a:r>
            <a:endParaRPr/>
          </a:p>
          <a:p>
            <a:pPr indent="0" lvl="0" marL="0" rtl="0" algn="l">
              <a:spcBef>
                <a:spcPts val="800"/>
              </a:spcBef>
              <a:spcAft>
                <a:spcPts val="0"/>
              </a:spcAft>
              <a:buNone/>
            </a:pPr>
            <a:r>
              <a:t/>
            </a:r>
            <a:endParaRPr/>
          </a:p>
          <a:p>
            <a:pPr indent="0" lvl="0" marL="0" rtl="0" algn="l">
              <a:spcBef>
                <a:spcPts val="800"/>
              </a:spcBef>
              <a:spcAft>
                <a:spcPts val="0"/>
              </a:spcAft>
              <a:buNone/>
            </a:pPr>
            <a:r>
              <a:rPr b="1" lang="en"/>
              <a:t>What we use at Gladstone Bioinformatics Core:</a:t>
            </a:r>
            <a:endParaRPr b="1"/>
          </a:p>
          <a:p>
            <a:pPr indent="0" lvl="0" marL="0" rtl="0" algn="l">
              <a:spcBef>
                <a:spcPts val="800"/>
              </a:spcBef>
              <a:spcAft>
                <a:spcPts val="0"/>
              </a:spcAft>
              <a:buNone/>
            </a:pPr>
            <a:r>
              <a:rPr lang="en"/>
              <a:t>Automated pipelines (nf-core/rnaseq)</a:t>
            </a:r>
            <a:endParaRPr/>
          </a:p>
          <a:p>
            <a:pPr indent="0" lvl="0" marL="457200" rtl="0" algn="l">
              <a:spcBef>
                <a:spcPts val="800"/>
              </a:spcBef>
              <a:spcAft>
                <a:spcPts val="0"/>
              </a:spcAft>
              <a:buNone/>
            </a:pPr>
            <a:r>
              <a:rPr lang="en"/>
              <a:t>• Runs all steps automatically</a:t>
            </a:r>
            <a:endParaRPr/>
          </a:p>
          <a:p>
            <a:pPr indent="0" lvl="0" marL="457200" rtl="0" algn="l">
              <a:spcBef>
                <a:spcPts val="800"/>
              </a:spcBef>
              <a:spcAft>
                <a:spcPts val="0"/>
              </a:spcAft>
              <a:buNone/>
            </a:pPr>
            <a:r>
              <a:rPr lang="en"/>
              <a:t>• Handles batch processing (100+ samples)</a:t>
            </a:r>
            <a:endParaRPr/>
          </a:p>
          <a:p>
            <a:pPr indent="0" lvl="0" marL="457200" rtl="0" algn="l">
              <a:spcBef>
                <a:spcPts val="800"/>
              </a:spcBef>
              <a:spcAft>
                <a:spcPts val="0"/>
              </a:spcAft>
              <a:buNone/>
            </a:pPr>
            <a:r>
              <a:rPr lang="en"/>
              <a:t>• Built-in best practices</a:t>
            </a:r>
            <a:endParaRPr/>
          </a:p>
          <a:p>
            <a:pPr indent="0" lvl="0" marL="457200" rtl="0" algn="l">
              <a:spcBef>
                <a:spcPts val="800"/>
              </a:spcBef>
              <a:spcAft>
                <a:spcPts val="0"/>
              </a:spcAft>
              <a:buNone/>
            </a:pPr>
            <a:r>
              <a:rPr lang="en"/>
              <a:t>• Comprehensive quality reports</a:t>
            </a:r>
            <a:endParaRPr/>
          </a:p>
        </p:txBody>
      </p:sp>
      <p:sp>
        <p:nvSpPr>
          <p:cNvPr id="979" name="Google Shape;979;p142"/>
          <p:cNvSpPr txBox="1"/>
          <p:nvPr>
            <p:ph type="title"/>
          </p:nvPr>
        </p:nvSpPr>
        <p:spPr>
          <a:xfrm>
            <a:off x="120000" y="7723"/>
            <a:ext cx="8607000" cy="7368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Production-ready pipelines: nf-core/rnaseq</a:t>
            </a:r>
            <a:endParaRPr/>
          </a:p>
          <a:p>
            <a:pPr indent="0" lvl="0" marL="0" rtl="0" algn="l">
              <a:spcBef>
                <a:spcPts val="0"/>
              </a:spcBef>
              <a:spcAft>
                <a:spcPts val="0"/>
              </a:spcAft>
              <a:buNone/>
            </a:pPr>
            <a:r>
              <a:t/>
            </a:r>
            <a:endParaRPr/>
          </a:p>
        </p:txBody>
      </p:sp>
      <p:sp>
        <p:nvSpPr>
          <p:cNvPr id="980" name="Google Shape;980;p142"/>
          <p:cNvSpPr txBox="1"/>
          <p:nvPr/>
        </p:nvSpPr>
        <p:spPr>
          <a:xfrm>
            <a:off x="4517925" y="4286250"/>
            <a:ext cx="4564200" cy="8796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0"/>
              </a:spcAft>
              <a:buNone/>
            </a:pPr>
            <a:r>
              <a:rPr lang="en" sz="1500">
                <a:solidFill>
                  <a:srgbClr val="0066CC"/>
                </a:solidFill>
                <a:latin typeface="Helvetica Neue"/>
                <a:ea typeface="Helvetica Neue"/>
                <a:cs typeface="Helvetica Neue"/>
                <a:sym typeface="Helvetica Neue"/>
              </a:rPr>
              <a:t>🔗 </a:t>
            </a:r>
            <a:r>
              <a:rPr lang="en" sz="2100">
                <a:solidFill>
                  <a:schemeClr val="accent2"/>
                </a:solidFill>
                <a:latin typeface="Helvetica Neue"/>
                <a:ea typeface="Helvetica Neue"/>
                <a:cs typeface="Helvetica Neue"/>
                <a:sym typeface="Helvetica Neue"/>
              </a:rPr>
              <a:t>nf-core/rnaseq documentation:</a:t>
            </a:r>
            <a:br>
              <a:rPr lang="en" sz="2100">
                <a:solidFill>
                  <a:srgbClr val="002B42"/>
                </a:solidFill>
                <a:latin typeface="Helvetica Neue"/>
                <a:ea typeface="Helvetica Neue"/>
                <a:cs typeface="Helvetica Neue"/>
                <a:sym typeface="Helvetica Neue"/>
              </a:rPr>
            </a:br>
            <a:r>
              <a:rPr lang="en" sz="2100" u="sng">
                <a:solidFill>
                  <a:schemeClr val="hlink"/>
                </a:solidFill>
                <a:latin typeface="Helvetica Neue"/>
                <a:ea typeface="Helvetica Neue"/>
                <a:cs typeface="Helvetica Neue"/>
                <a:sym typeface="Helvetica Neue"/>
                <a:hlinkClick r:id="rId3"/>
              </a:rPr>
              <a:t> https://nf-co.re/rnaseq</a:t>
            </a:r>
            <a:endParaRPr sz="2100">
              <a:solidFill>
                <a:srgbClr val="002B42"/>
              </a:solidFill>
              <a:latin typeface="Helvetica Neue"/>
              <a:ea typeface="Helvetica Neue"/>
              <a:cs typeface="Helvetica Neue"/>
              <a:sym typeface="Helvetica Neue"/>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143"/>
          <p:cNvSpPr txBox="1"/>
          <p:nvPr>
            <p:ph type="title"/>
          </p:nvPr>
        </p:nvSpPr>
        <p:spPr>
          <a:xfrm>
            <a:off x="156000" y="128191"/>
            <a:ext cx="7886700" cy="7368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solidFill>
                  <a:srgbClr val="F76912"/>
                </a:solidFill>
              </a:rPr>
              <a:t>Session I and II</a:t>
            </a:r>
            <a:r>
              <a:rPr lang="en"/>
              <a:t> </a:t>
            </a:r>
            <a:endParaRPr/>
          </a:p>
          <a:p>
            <a:pPr indent="0" lvl="0" marL="0" rtl="0" algn="l">
              <a:spcBef>
                <a:spcPts val="0"/>
              </a:spcBef>
              <a:spcAft>
                <a:spcPts val="0"/>
              </a:spcAft>
              <a:buNone/>
            </a:pPr>
            <a:r>
              <a:rPr lang="en"/>
              <a:t>Take-home messages</a:t>
            </a:r>
            <a:endParaRPr/>
          </a:p>
        </p:txBody>
      </p:sp>
      <p:sp>
        <p:nvSpPr>
          <p:cNvPr id="986" name="Google Shape;986;p143"/>
          <p:cNvSpPr txBox="1"/>
          <p:nvPr/>
        </p:nvSpPr>
        <p:spPr>
          <a:xfrm>
            <a:off x="111275" y="724650"/>
            <a:ext cx="8727000" cy="1847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t/>
            </a:r>
            <a:endParaRPr sz="2000">
              <a:solidFill>
                <a:schemeClr val="dk1"/>
              </a:solidFill>
            </a:endParaRPr>
          </a:p>
          <a:p>
            <a:pPr indent="-355600" lvl="0" marL="457200" rtl="0" algn="l">
              <a:lnSpc>
                <a:spcPct val="90000"/>
              </a:lnSpc>
              <a:spcBef>
                <a:spcPts val="0"/>
              </a:spcBef>
              <a:spcAft>
                <a:spcPts val="0"/>
              </a:spcAft>
              <a:buClr>
                <a:schemeClr val="dk1"/>
              </a:buClr>
              <a:buSzPts val="2000"/>
              <a:buAutoNum type="arabicParenR"/>
            </a:pPr>
            <a:r>
              <a:rPr lang="en" sz="2000">
                <a:solidFill>
                  <a:schemeClr val="dk1"/>
                </a:solidFill>
              </a:rPr>
              <a:t>Each steps of the analysis can be affected by some kind of bias - Check the quality after each step!</a:t>
            </a:r>
            <a:endParaRPr sz="2000">
              <a:solidFill>
                <a:schemeClr val="dk1"/>
              </a:solidFill>
            </a:endParaRPr>
          </a:p>
          <a:p>
            <a:pPr indent="0" lvl="0" marL="0" rtl="0" algn="l">
              <a:lnSpc>
                <a:spcPct val="90000"/>
              </a:lnSpc>
              <a:spcBef>
                <a:spcPts val="0"/>
              </a:spcBef>
              <a:spcAft>
                <a:spcPts val="0"/>
              </a:spcAft>
              <a:buNone/>
            </a:pPr>
            <a:r>
              <a:t/>
            </a:r>
            <a:endParaRPr sz="2000">
              <a:solidFill>
                <a:schemeClr val="dk1"/>
              </a:solidFill>
            </a:endParaRPr>
          </a:p>
          <a:p>
            <a:pPr indent="-355600" lvl="0" marL="457200" rtl="0" algn="l">
              <a:lnSpc>
                <a:spcPct val="90000"/>
              </a:lnSpc>
              <a:spcBef>
                <a:spcPts val="0"/>
              </a:spcBef>
              <a:spcAft>
                <a:spcPts val="0"/>
              </a:spcAft>
              <a:buClr>
                <a:schemeClr val="dk1"/>
              </a:buClr>
              <a:buSzPts val="2000"/>
              <a:buAutoNum type="arabicParenR"/>
            </a:pPr>
            <a:r>
              <a:rPr lang="en" sz="2000">
                <a:solidFill>
                  <a:schemeClr val="dk1"/>
                </a:solidFill>
              </a:rPr>
              <a:t>Know the tools and how they work. Use best practices for the analysis.</a:t>
            </a:r>
            <a:endParaRPr sz="2000">
              <a:solidFill>
                <a:schemeClr val="dk1"/>
              </a:solidFill>
            </a:endParaRPr>
          </a:p>
          <a:p>
            <a:pPr indent="0" lvl="0" marL="0" rtl="0" algn="l">
              <a:lnSpc>
                <a:spcPct val="90000"/>
              </a:lnSpc>
              <a:spcBef>
                <a:spcPts val="0"/>
              </a:spcBef>
              <a:spcAft>
                <a:spcPts val="0"/>
              </a:spcAft>
              <a:buNone/>
            </a:pPr>
            <a:r>
              <a:t/>
            </a:r>
            <a:endParaRPr sz="2000">
              <a:solidFill>
                <a:schemeClr val="dk1"/>
              </a:solidFill>
            </a:endParaRPr>
          </a:p>
        </p:txBody>
      </p:sp>
      <p:sp>
        <p:nvSpPr>
          <p:cNvPr id="987" name="Google Shape;987;p143"/>
          <p:cNvSpPr txBox="1"/>
          <p:nvPr/>
        </p:nvSpPr>
        <p:spPr>
          <a:xfrm>
            <a:off x="222425" y="3412000"/>
            <a:ext cx="8504700" cy="14931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SzPts val="1700"/>
              <a:buAutoNum type="arabicParenR"/>
            </a:pPr>
            <a:r>
              <a:rPr lang="en" sz="1700"/>
              <a:t>Common tools, e.g., fastqc, </a:t>
            </a:r>
            <a:r>
              <a:rPr lang="en" sz="1700">
                <a:solidFill>
                  <a:schemeClr val="dk1"/>
                </a:solidFill>
              </a:rPr>
              <a:t>cutadapt, </a:t>
            </a:r>
            <a:r>
              <a:rPr lang="en" sz="1700"/>
              <a:t>STAR</a:t>
            </a:r>
            <a:endParaRPr sz="1700"/>
          </a:p>
          <a:p>
            <a:pPr indent="0" lvl="0" marL="457200" rtl="0" algn="l">
              <a:spcBef>
                <a:spcPts val="0"/>
              </a:spcBef>
              <a:spcAft>
                <a:spcPts val="0"/>
              </a:spcAft>
              <a:buNone/>
            </a:pPr>
            <a:r>
              <a:t/>
            </a:r>
            <a:endParaRPr sz="1700"/>
          </a:p>
          <a:p>
            <a:pPr indent="-336550" lvl="0" marL="457200" rtl="0" algn="l">
              <a:spcBef>
                <a:spcPts val="0"/>
              </a:spcBef>
              <a:spcAft>
                <a:spcPts val="0"/>
              </a:spcAft>
              <a:buSzPts val="1700"/>
              <a:buAutoNum type="arabicParenR"/>
            </a:pPr>
            <a:r>
              <a:rPr lang="en" sz="1700"/>
              <a:t>Common file formats, e.g., FASTQ, FASTA, SAM, GTF, BAM</a:t>
            </a:r>
            <a:endParaRPr sz="1700"/>
          </a:p>
          <a:p>
            <a:pPr indent="0" lvl="0" marL="457200" rtl="0" algn="l">
              <a:spcBef>
                <a:spcPts val="0"/>
              </a:spcBef>
              <a:spcAft>
                <a:spcPts val="0"/>
              </a:spcAft>
              <a:buNone/>
            </a:pPr>
            <a:r>
              <a:t/>
            </a:r>
            <a:endParaRPr sz="1700"/>
          </a:p>
          <a:p>
            <a:pPr indent="-336550" lvl="0" marL="457200" rtl="0" algn="l">
              <a:spcBef>
                <a:spcPts val="0"/>
              </a:spcBef>
              <a:spcAft>
                <a:spcPts val="0"/>
              </a:spcAft>
              <a:buSzPts val="1700"/>
              <a:buAutoNum type="arabicParenR"/>
            </a:pPr>
            <a:r>
              <a:rPr lang="en" sz="1700"/>
              <a:t>Analysis on your computer using docker </a:t>
            </a:r>
            <a:endParaRPr sz="1700"/>
          </a:p>
        </p:txBody>
      </p:sp>
      <p:sp>
        <p:nvSpPr>
          <p:cNvPr id="988" name="Google Shape;988;p143"/>
          <p:cNvSpPr txBox="1"/>
          <p:nvPr/>
        </p:nvSpPr>
        <p:spPr>
          <a:xfrm>
            <a:off x="142125" y="2800350"/>
            <a:ext cx="6294300" cy="64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 sz="3300">
                <a:solidFill>
                  <a:srgbClr val="1155CC"/>
                </a:solidFill>
                <a:latin typeface="Helvetica Neue"/>
                <a:ea typeface="Helvetica Neue"/>
                <a:cs typeface="Helvetica Neue"/>
                <a:sym typeface="Helvetica Neue"/>
              </a:rPr>
              <a:t>What we covered so far: </a:t>
            </a:r>
            <a:endParaRPr b="1" sz="3300">
              <a:solidFill>
                <a:srgbClr val="1155CC"/>
              </a:solidFill>
              <a:latin typeface="Helvetica Neue"/>
              <a:ea typeface="Helvetica Neue"/>
              <a:cs typeface="Helvetica Neue"/>
              <a:sym typeface="Helvetica Neue"/>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p144"/>
          <p:cNvSpPr txBox="1"/>
          <p:nvPr>
            <p:ph type="title"/>
          </p:nvPr>
        </p:nvSpPr>
        <p:spPr>
          <a:xfrm>
            <a:off x="156000" y="128200"/>
            <a:ext cx="8914200" cy="736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800"/>
              <a:t>If you are not able to attend </a:t>
            </a:r>
            <a:endParaRPr sz="3800"/>
          </a:p>
          <a:p>
            <a:pPr indent="0" lvl="0" marL="0" rtl="0" algn="l">
              <a:spcBef>
                <a:spcPts val="0"/>
              </a:spcBef>
              <a:spcAft>
                <a:spcPts val="0"/>
              </a:spcAft>
              <a:buNone/>
            </a:pPr>
            <a:r>
              <a:rPr lang="en" sz="3600">
                <a:solidFill>
                  <a:srgbClr val="F76912"/>
                </a:solidFill>
              </a:rPr>
              <a:t>Session III</a:t>
            </a:r>
            <a:r>
              <a:rPr lang="en" sz="3600"/>
              <a:t> tomorrow at 1.05p</a:t>
            </a:r>
            <a:endParaRPr sz="3600"/>
          </a:p>
        </p:txBody>
      </p:sp>
      <p:sp>
        <p:nvSpPr>
          <p:cNvPr id="994" name="Google Shape;994;p144"/>
          <p:cNvSpPr txBox="1"/>
          <p:nvPr/>
        </p:nvSpPr>
        <p:spPr>
          <a:xfrm>
            <a:off x="114900" y="2147425"/>
            <a:ext cx="8914200" cy="1971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 sz="3500">
                <a:solidFill>
                  <a:srgbClr val="F76912"/>
                </a:solidFill>
              </a:rPr>
              <a:t>Please take the survey</a:t>
            </a:r>
            <a:endParaRPr b="1" sz="3500">
              <a:solidFill>
                <a:srgbClr val="F76912"/>
              </a:solidFill>
            </a:endParaRPr>
          </a:p>
          <a:p>
            <a:pPr indent="0" lvl="0" marL="0" rtl="0" algn="l">
              <a:lnSpc>
                <a:spcPct val="90000"/>
              </a:lnSpc>
              <a:spcBef>
                <a:spcPts val="0"/>
              </a:spcBef>
              <a:spcAft>
                <a:spcPts val="0"/>
              </a:spcAft>
              <a:buNone/>
            </a:pPr>
            <a:r>
              <a:t/>
            </a:r>
            <a:endParaRPr b="1" sz="2500">
              <a:solidFill>
                <a:schemeClr val="accent2"/>
              </a:solidFill>
            </a:endParaRPr>
          </a:p>
          <a:p>
            <a:pPr indent="0" lvl="0" marL="0" rtl="0" algn="l">
              <a:lnSpc>
                <a:spcPct val="90000"/>
              </a:lnSpc>
              <a:spcBef>
                <a:spcPts val="0"/>
              </a:spcBef>
              <a:spcAft>
                <a:spcPts val="0"/>
              </a:spcAft>
              <a:buNone/>
            </a:pPr>
            <a:r>
              <a:rPr lang="en" sz="2900">
                <a:solidFill>
                  <a:schemeClr val="dk1"/>
                </a:solidFill>
              </a:rPr>
              <a:t>https://www.surveymonkey.com/r/bioinfo-training26</a:t>
            </a:r>
            <a:endParaRPr b="1" sz="2900">
              <a:solidFill>
                <a:schemeClr val="accent2"/>
              </a:solidFill>
            </a:endParaRPr>
          </a:p>
          <a:p>
            <a:pPr indent="0" lvl="0" marL="0" rtl="0" algn="l">
              <a:lnSpc>
                <a:spcPct val="90000"/>
              </a:lnSpc>
              <a:spcBef>
                <a:spcPts val="0"/>
              </a:spcBef>
              <a:spcAft>
                <a:spcPts val="0"/>
              </a:spcAft>
              <a:buNone/>
            </a:pPr>
            <a:r>
              <a:t/>
            </a:r>
            <a:endParaRPr sz="4000">
              <a:solidFill>
                <a:schemeClr val="dk1"/>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145"/>
          <p:cNvSpPr txBox="1"/>
          <p:nvPr>
            <p:ph type="ctrTitle"/>
          </p:nvPr>
        </p:nvSpPr>
        <p:spPr>
          <a:xfrm>
            <a:off x="1143000" y="536972"/>
            <a:ext cx="6858000" cy="1790700"/>
          </a:xfrm>
          <a:prstGeom prst="rect">
            <a:avLst/>
          </a:prstGeom>
          <a:noFill/>
          <a:ln>
            <a:noFill/>
          </a:ln>
        </p:spPr>
        <p:txBody>
          <a:bodyPr anchorCtr="0" anchor="b" bIns="0" lIns="0" spcFirstLastPara="1" rIns="0" wrap="square" tIns="0">
            <a:normAutofit/>
          </a:bodyPr>
          <a:lstStyle/>
          <a:p>
            <a:pPr indent="0" lvl="0" marL="0" rtl="0" algn="ctr">
              <a:spcBef>
                <a:spcPts val="0"/>
              </a:spcBef>
              <a:spcAft>
                <a:spcPts val="0"/>
              </a:spcAft>
              <a:buClr>
                <a:schemeClr val="lt1"/>
              </a:buClr>
              <a:buSzPts val="6000"/>
              <a:buFont typeface="Arial"/>
              <a:buNone/>
            </a:pPr>
            <a:r>
              <a:rPr lang="en"/>
              <a:t>Introduction to RNA-seq data analysis</a:t>
            </a:r>
            <a:endParaRPr sz="3722">
              <a:solidFill>
                <a:srgbClr val="002B42"/>
              </a:solidFill>
            </a:endParaRPr>
          </a:p>
        </p:txBody>
      </p:sp>
      <p:sp>
        <p:nvSpPr>
          <p:cNvPr id="1001" name="Google Shape;1001;p145"/>
          <p:cNvSpPr txBox="1"/>
          <p:nvPr>
            <p:ph idx="1" type="subTitle"/>
          </p:nvPr>
        </p:nvSpPr>
        <p:spPr>
          <a:xfrm>
            <a:off x="1143000" y="2839803"/>
            <a:ext cx="6858000" cy="1241700"/>
          </a:xfrm>
          <a:prstGeom prst="rect">
            <a:avLst/>
          </a:prstGeom>
          <a:noFill/>
          <a:ln>
            <a:noFill/>
          </a:ln>
        </p:spPr>
        <p:txBody>
          <a:bodyPr anchorCtr="0" anchor="t" bIns="0" lIns="0" spcFirstLastPara="1" rIns="0" wrap="square" tIns="0">
            <a:normAutofit/>
          </a:bodyPr>
          <a:lstStyle/>
          <a:p>
            <a:pPr indent="0" lvl="0" marL="0" rtl="0" algn="ctr">
              <a:spcBef>
                <a:spcPts val="0"/>
              </a:spcBef>
              <a:spcAft>
                <a:spcPts val="0"/>
              </a:spcAft>
              <a:buClr>
                <a:schemeClr val="lt1"/>
              </a:buClr>
              <a:buSzPts val="2400"/>
              <a:buFont typeface="Arial"/>
              <a:buNone/>
            </a:pPr>
            <a:r>
              <a:rPr lang="en"/>
              <a:t>Michela Traglia, Ayushi Agrawal</a:t>
            </a:r>
            <a:endParaRPr/>
          </a:p>
          <a:p>
            <a:pPr indent="0" lvl="0" marL="0" rtl="0" algn="ctr">
              <a:lnSpc>
                <a:spcPct val="100000"/>
              </a:lnSpc>
              <a:spcBef>
                <a:spcPts val="0"/>
              </a:spcBef>
              <a:spcAft>
                <a:spcPts val="0"/>
              </a:spcAft>
              <a:buClr>
                <a:schemeClr val="lt1"/>
              </a:buClr>
              <a:buSzPts val="2400"/>
              <a:buFont typeface="Arial"/>
              <a:buNone/>
            </a:pPr>
            <a:r>
              <a:rPr lang="en"/>
              <a:t>Bioinformatics Core, GIDB</a:t>
            </a:r>
            <a:endParaRPr/>
          </a:p>
          <a:p>
            <a:pPr indent="0" lvl="0" marL="0" rtl="0" algn="ctr">
              <a:spcBef>
                <a:spcPts val="0"/>
              </a:spcBef>
              <a:spcAft>
                <a:spcPts val="0"/>
              </a:spcAft>
              <a:buClr>
                <a:schemeClr val="lt1"/>
              </a:buClr>
              <a:buSzPts val="2100"/>
              <a:buNone/>
            </a:pPr>
            <a:r>
              <a:rPr lang="en">
                <a:solidFill>
                  <a:schemeClr val="accent2"/>
                </a:solidFill>
              </a:rPr>
              <a:t>September 28-29</a:t>
            </a:r>
            <a:r>
              <a:rPr lang="en">
                <a:solidFill>
                  <a:schemeClr val="accent2"/>
                </a:solidFill>
              </a:rPr>
              <a:t>, 2026</a:t>
            </a:r>
            <a:endParaRPr>
              <a:solidFill>
                <a:schemeClr val="accent2"/>
              </a:solidFill>
            </a:endParaRPr>
          </a:p>
          <a:p>
            <a:pPr indent="0" lvl="0" marL="0" rtl="0" algn="l">
              <a:lnSpc>
                <a:spcPct val="90000"/>
              </a:lnSpc>
              <a:spcBef>
                <a:spcPts val="0"/>
              </a:spcBef>
              <a:spcAft>
                <a:spcPts val="0"/>
              </a:spcAft>
              <a:buClr>
                <a:schemeClr val="lt1"/>
              </a:buClr>
              <a:buSzPts val="2100"/>
              <a:buNone/>
            </a:pPr>
            <a:r>
              <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146"/>
          <p:cNvSpPr txBox="1"/>
          <p:nvPr>
            <p:ph type="title"/>
          </p:nvPr>
        </p:nvSpPr>
        <p:spPr>
          <a:xfrm>
            <a:off x="272825" y="94641"/>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Working material for this workshop</a:t>
            </a:r>
            <a:endParaRPr/>
          </a:p>
        </p:txBody>
      </p:sp>
      <p:sp>
        <p:nvSpPr>
          <p:cNvPr id="1007" name="Google Shape;1007;p146"/>
          <p:cNvSpPr txBox="1"/>
          <p:nvPr>
            <p:ph idx="1" type="body"/>
          </p:nvPr>
        </p:nvSpPr>
        <p:spPr>
          <a:xfrm>
            <a:off x="375875" y="668525"/>
            <a:ext cx="7886700" cy="1334700"/>
          </a:xfrm>
          <a:prstGeom prst="rect">
            <a:avLst/>
          </a:prstGeom>
        </p:spPr>
        <p:txBody>
          <a:bodyPr anchorCtr="0" anchor="t" bIns="0" lIns="0" spcFirstLastPara="1" rIns="0" wrap="square" tIns="0">
            <a:noAutofit/>
          </a:bodyPr>
          <a:lstStyle/>
          <a:p>
            <a:pPr indent="0" lvl="0" marL="0" rtl="0" algn="l">
              <a:lnSpc>
                <a:spcPct val="110000"/>
              </a:lnSpc>
              <a:spcBef>
                <a:spcPts val="800"/>
              </a:spcBef>
              <a:spcAft>
                <a:spcPts val="0"/>
              </a:spcAft>
              <a:buNone/>
            </a:pPr>
            <a:r>
              <a:rPr b="1" lang="en" sz="2800">
                <a:solidFill>
                  <a:srgbClr val="B7B7B7"/>
                </a:solidFill>
              </a:rPr>
              <a:t>Session I-II-III</a:t>
            </a:r>
            <a:endParaRPr b="1" sz="2800">
              <a:solidFill>
                <a:srgbClr val="B7B7B7"/>
              </a:solidFill>
            </a:endParaRPr>
          </a:p>
          <a:p>
            <a:pPr indent="-419100" lvl="0" marL="457200" rtl="0" algn="l">
              <a:lnSpc>
                <a:spcPct val="110000"/>
              </a:lnSpc>
              <a:spcBef>
                <a:spcPts val="800"/>
              </a:spcBef>
              <a:spcAft>
                <a:spcPts val="0"/>
              </a:spcAft>
              <a:buClr>
                <a:srgbClr val="B7B7B7"/>
              </a:buClr>
              <a:buSzPts val="3000"/>
              <a:buAutoNum type="arabicPeriod"/>
            </a:pPr>
            <a:r>
              <a:rPr lang="en" sz="3000" u="sng">
                <a:solidFill>
                  <a:srgbClr val="B7B7B7"/>
                </a:solidFill>
                <a:hlinkClick r:id="rId4">
                  <a:extLst>
                    <a:ext uri="{A12FA001-AC4F-418D-AE19-62706E023703}">
                      <ahyp:hlinkClr val="tx"/>
                    </a:ext>
                  </a:extLst>
                </a:hlinkClick>
              </a:rPr>
              <a:t>Slides</a:t>
            </a:r>
            <a:endParaRPr>
              <a:solidFill>
                <a:srgbClr val="B7B7B7"/>
              </a:solidFill>
            </a:endParaRPr>
          </a:p>
          <a:p>
            <a:pPr indent="0" lvl="0" marL="0" rtl="0" algn="l">
              <a:lnSpc>
                <a:spcPct val="110000"/>
              </a:lnSpc>
              <a:spcBef>
                <a:spcPts val="800"/>
              </a:spcBef>
              <a:spcAft>
                <a:spcPts val="0"/>
              </a:spcAft>
              <a:buNone/>
            </a:pPr>
            <a:r>
              <a:t/>
            </a:r>
            <a:endParaRPr>
              <a:solidFill>
                <a:srgbClr val="B7B7B7"/>
              </a:solidFill>
            </a:endParaRPr>
          </a:p>
          <a:p>
            <a:pPr indent="-419100" lvl="0" marL="457200" rtl="0" algn="l">
              <a:lnSpc>
                <a:spcPct val="110000"/>
              </a:lnSpc>
              <a:spcBef>
                <a:spcPts val="800"/>
              </a:spcBef>
              <a:spcAft>
                <a:spcPts val="0"/>
              </a:spcAft>
              <a:buClr>
                <a:srgbClr val="B7B7B7"/>
              </a:buClr>
              <a:buSzPts val="3000"/>
              <a:buAutoNum type="arabicPeriod"/>
            </a:pPr>
            <a:r>
              <a:rPr b="1" lang="en" sz="2800">
                <a:solidFill>
                  <a:srgbClr val="B7B7B7"/>
                </a:solidFill>
              </a:rPr>
              <a:t>Session I-II</a:t>
            </a:r>
            <a:r>
              <a:rPr lang="en">
                <a:solidFill>
                  <a:srgbClr val="B7B7B7"/>
                </a:solidFill>
              </a:rPr>
              <a:t> </a:t>
            </a:r>
            <a:r>
              <a:rPr b="1" lang="en" sz="2900">
                <a:solidFill>
                  <a:srgbClr val="B7B7B7"/>
                </a:solidFill>
              </a:rPr>
              <a:t>-</a:t>
            </a:r>
            <a:r>
              <a:rPr b="1" lang="en">
                <a:solidFill>
                  <a:srgbClr val="B7B7B7"/>
                </a:solidFill>
              </a:rPr>
              <a:t> </a:t>
            </a:r>
            <a:r>
              <a:rPr lang="en" sz="3000" u="sng">
                <a:solidFill>
                  <a:srgbClr val="B7B7B7"/>
                </a:solidFill>
                <a:hlinkClick r:id="rId5">
                  <a:extLst>
                    <a:ext uri="{A12FA001-AC4F-418D-AE19-62706E023703}">
                      <ahyp:hlinkClr val="tx"/>
                    </a:ext>
                  </a:extLst>
                </a:hlinkClick>
              </a:rPr>
              <a:t>Hands-on materials</a:t>
            </a:r>
            <a:endParaRPr sz="3000">
              <a:solidFill>
                <a:srgbClr val="B7B7B7"/>
              </a:solidFill>
            </a:endParaRPr>
          </a:p>
          <a:p>
            <a:pPr indent="-419100" lvl="0" marL="457200" rtl="0" algn="l">
              <a:lnSpc>
                <a:spcPct val="110000"/>
              </a:lnSpc>
              <a:spcBef>
                <a:spcPts val="0"/>
              </a:spcBef>
              <a:spcAft>
                <a:spcPts val="0"/>
              </a:spcAft>
              <a:buSzPts val="3000"/>
              <a:buAutoNum type="arabicPeriod"/>
            </a:pPr>
            <a:r>
              <a:rPr b="1" lang="en" sz="2800">
                <a:solidFill>
                  <a:srgbClr val="F76912"/>
                </a:solidFill>
              </a:rPr>
              <a:t>Session  III </a:t>
            </a:r>
            <a:r>
              <a:rPr b="1" lang="en" sz="2800">
                <a:solidFill>
                  <a:schemeClr val="dk1"/>
                </a:solidFill>
              </a:rPr>
              <a:t>-</a:t>
            </a:r>
            <a:r>
              <a:rPr b="1" lang="en" sz="2800">
                <a:solidFill>
                  <a:srgbClr val="F76912"/>
                </a:solidFill>
              </a:rPr>
              <a:t> </a:t>
            </a:r>
            <a:r>
              <a:rPr lang="en" sz="3000" u="sng">
                <a:solidFill>
                  <a:schemeClr val="hlink"/>
                </a:solidFill>
                <a:hlinkClick r:id="rId6"/>
              </a:rPr>
              <a:t>Hands-on materials</a:t>
            </a:r>
            <a:endParaRPr sz="3000">
              <a:solidFill>
                <a:srgbClr val="F76912"/>
              </a:solidFill>
            </a:endParaRPr>
          </a:p>
          <a:p>
            <a:pPr indent="0" lvl="0" marL="0" rtl="0" algn="l">
              <a:lnSpc>
                <a:spcPct val="110000"/>
              </a:lnSpc>
              <a:spcBef>
                <a:spcPts val="800"/>
              </a:spcBef>
              <a:spcAft>
                <a:spcPts val="0"/>
              </a:spcAft>
              <a:buNone/>
            </a:pPr>
            <a:r>
              <a:t/>
            </a:r>
            <a:endParaRPr b="1" sz="2800">
              <a:solidFill>
                <a:srgbClr val="F76912"/>
              </a:solidFill>
            </a:endParaRPr>
          </a:p>
          <a:p>
            <a:pPr indent="0" lvl="0" marL="0" rtl="0" algn="l">
              <a:lnSpc>
                <a:spcPct val="110000"/>
              </a:lnSpc>
              <a:spcBef>
                <a:spcPts val="800"/>
              </a:spcBef>
              <a:spcAft>
                <a:spcPts val="0"/>
              </a:spcAft>
              <a:buNone/>
            </a:pPr>
            <a:r>
              <a:t/>
            </a:r>
            <a:endParaRPr b="1" sz="2800">
              <a:solidFill>
                <a:srgbClr val="F76912"/>
              </a:solidFill>
            </a:endParaRPr>
          </a:p>
          <a:p>
            <a:pPr indent="0" lvl="0" marL="0" rtl="0" algn="l">
              <a:lnSpc>
                <a:spcPct val="110000"/>
              </a:lnSpc>
              <a:spcBef>
                <a:spcPts val="800"/>
              </a:spcBef>
              <a:spcAft>
                <a:spcPts val="0"/>
              </a:spcAft>
              <a:buNone/>
            </a:pPr>
            <a:r>
              <a:t/>
            </a:r>
            <a:endParaRPr sz="3000"/>
          </a:p>
          <a:p>
            <a:pPr indent="0" lvl="0" marL="0" rtl="0" algn="l">
              <a:lnSpc>
                <a:spcPct val="110000"/>
              </a:lnSpc>
              <a:spcBef>
                <a:spcPts val="800"/>
              </a:spcBef>
              <a:spcAft>
                <a:spcPts val="0"/>
              </a:spcAft>
              <a:buNone/>
            </a:pPr>
            <a:r>
              <a:t/>
            </a:r>
            <a:endParaRPr sz="1900"/>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147"/>
          <p:cNvSpPr txBox="1"/>
          <p:nvPr/>
        </p:nvSpPr>
        <p:spPr>
          <a:xfrm>
            <a:off x="160272" y="4"/>
            <a:ext cx="7886700" cy="3750900"/>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rPr b="1" i="0" lang="en" sz="2700" u="none" cap="none" strike="noStrike">
                <a:solidFill>
                  <a:srgbClr val="F76912"/>
                </a:solidFill>
                <a:latin typeface="Helvetica Neue"/>
                <a:ea typeface="Helvetica Neue"/>
                <a:cs typeface="Helvetica Neue"/>
                <a:sym typeface="Helvetica Neue"/>
              </a:rPr>
              <a:t>Hands-on session III files</a:t>
            </a:r>
            <a:endParaRPr b="1" i="0" sz="2700" u="none" cap="none" strike="noStrike">
              <a:solidFill>
                <a:srgbClr val="F76912"/>
              </a:solidFill>
              <a:latin typeface="Helvetica Neue"/>
              <a:ea typeface="Helvetica Neue"/>
              <a:cs typeface="Helvetica Neue"/>
              <a:sym typeface="Helvetica Neue"/>
            </a:endParaRPr>
          </a:p>
          <a:p>
            <a:pPr indent="0" lvl="0" marL="0" marR="0" rtl="0" algn="l">
              <a:lnSpc>
                <a:spcPct val="90000"/>
              </a:lnSpc>
              <a:spcBef>
                <a:spcPts val="0"/>
              </a:spcBef>
              <a:spcAft>
                <a:spcPts val="0"/>
              </a:spcAft>
              <a:buNone/>
            </a:pPr>
            <a:r>
              <a:t/>
            </a:r>
            <a:endParaRPr b="1" sz="2700">
              <a:solidFill>
                <a:srgbClr val="F76912"/>
              </a:solidFill>
              <a:latin typeface="Helvetica Neue"/>
              <a:ea typeface="Helvetica Neue"/>
              <a:cs typeface="Helvetica Neue"/>
              <a:sym typeface="Helvetica Neue"/>
            </a:endParaRPr>
          </a:p>
          <a:p>
            <a:pPr indent="0" lvl="0" marL="0" marR="0" rtl="0" algn="l">
              <a:lnSpc>
                <a:spcPct val="90000"/>
              </a:lnSpc>
              <a:spcBef>
                <a:spcPts val="800"/>
              </a:spcBef>
              <a:spcAft>
                <a:spcPts val="0"/>
              </a:spcAft>
              <a:buClr>
                <a:srgbClr val="002A40"/>
              </a:buClr>
              <a:buSzPts val="1700"/>
              <a:buFont typeface="Helvetica Neue"/>
              <a:buNone/>
            </a:pPr>
            <a:r>
              <a:rPr b="0" i="0" lang="en" sz="1700" u="none" cap="none" strike="noStrike">
                <a:solidFill>
                  <a:schemeClr val="dk2"/>
                </a:solidFill>
                <a:latin typeface="Helvetica Neue"/>
                <a:ea typeface="Helvetica Neue"/>
                <a:cs typeface="Helvetica Neue"/>
                <a:sym typeface="Helvetica Neue"/>
              </a:rPr>
              <a:t>	- </a:t>
            </a:r>
            <a:r>
              <a:rPr b="1" lang="en" sz="2200">
                <a:solidFill>
                  <a:srgbClr val="404040"/>
                </a:solidFill>
                <a:latin typeface="Helvetica Neue"/>
                <a:ea typeface="Helvetica Neue"/>
                <a:cs typeface="Helvetica Neue"/>
                <a:sym typeface="Helvetica Neue"/>
              </a:rPr>
              <a:t>2026Fall_RNAseq_SessionIII</a:t>
            </a:r>
            <a:r>
              <a:rPr b="1" lang="en" sz="2100">
                <a:solidFill>
                  <a:srgbClr val="404040"/>
                </a:solidFill>
                <a:latin typeface="Helvetica Neue"/>
                <a:ea typeface="Helvetica Neue"/>
                <a:cs typeface="Helvetica Neue"/>
                <a:sym typeface="Helvetica Neue"/>
              </a:rPr>
              <a:t>_handson.R</a:t>
            </a:r>
            <a:r>
              <a:rPr b="1" i="0" lang="en" sz="2100" u="none" cap="none" strike="noStrike">
                <a:solidFill>
                  <a:srgbClr val="404040"/>
                </a:solidFill>
                <a:latin typeface="Helvetica Neue"/>
                <a:ea typeface="Helvetica Neue"/>
                <a:cs typeface="Helvetica Neue"/>
                <a:sym typeface="Helvetica Neue"/>
              </a:rPr>
              <a:t> </a:t>
            </a:r>
            <a:r>
              <a:rPr lang="en" sz="2100">
                <a:solidFill>
                  <a:schemeClr val="dk2"/>
                </a:solidFill>
                <a:latin typeface="Helvetica Neue"/>
                <a:ea typeface="Helvetica Neue"/>
                <a:cs typeface="Helvetica Neue"/>
                <a:sym typeface="Helvetica Neue"/>
              </a:rPr>
              <a:t> #each step in R</a:t>
            </a:r>
            <a:endParaRPr b="0" i="0" sz="2100" u="none" cap="none" strike="noStrike">
              <a:solidFill>
                <a:schemeClr val="dk2"/>
              </a:solidFill>
              <a:latin typeface="Helvetica Neue"/>
              <a:ea typeface="Helvetica Neue"/>
              <a:cs typeface="Helvetica Neue"/>
              <a:sym typeface="Helvetica Neue"/>
            </a:endParaRPr>
          </a:p>
          <a:p>
            <a:pPr indent="0" lvl="0" marL="0" marR="0" rtl="0" algn="l">
              <a:lnSpc>
                <a:spcPct val="90000"/>
              </a:lnSpc>
              <a:spcBef>
                <a:spcPts val="800"/>
              </a:spcBef>
              <a:spcAft>
                <a:spcPts val="0"/>
              </a:spcAft>
              <a:buClr>
                <a:srgbClr val="002A40"/>
              </a:buClr>
              <a:buSzPts val="1700"/>
              <a:buFont typeface="Helvetica Neue"/>
              <a:buNone/>
            </a:pPr>
            <a:r>
              <a:rPr b="0" i="0" lang="en" sz="2100" u="none" cap="none" strike="noStrike">
                <a:solidFill>
                  <a:schemeClr val="dk2"/>
                </a:solidFill>
                <a:latin typeface="Helvetica Neue"/>
                <a:ea typeface="Helvetica Neue"/>
                <a:cs typeface="Helvetica Neue"/>
                <a:sym typeface="Helvetica Neue"/>
              </a:rPr>
              <a:t>	- targets.txt   #sample sheet</a:t>
            </a:r>
            <a:endParaRPr b="0" i="0" sz="2100" u="none" cap="none" strike="noStrike">
              <a:solidFill>
                <a:schemeClr val="dk2"/>
              </a:solidFill>
              <a:latin typeface="Helvetica Neue"/>
              <a:ea typeface="Helvetica Neue"/>
              <a:cs typeface="Helvetica Neue"/>
              <a:sym typeface="Helvetica Neue"/>
            </a:endParaRPr>
          </a:p>
          <a:p>
            <a:pPr indent="0" lvl="0" marL="0" marR="0" rtl="0" algn="l">
              <a:lnSpc>
                <a:spcPct val="90000"/>
              </a:lnSpc>
              <a:spcBef>
                <a:spcPts val="800"/>
              </a:spcBef>
              <a:spcAft>
                <a:spcPts val="0"/>
              </a:spcAft>
              <a:buClr>
                <a:srgbClr val="002A40"/>
              </a:buClr>
              <a:buSzPts val="1700"/>
              <a:buFont typeface="Helvetica Neue"/>
              <a:buNone/>
            </a:pPr>
            <a:r>
              <a:rPr b="0" i="0" lang="en" sz="2100" u="none" cap="none" strike="noStrike">
                <a:solidFill>
                  <a:schemeClr val="dk2"/>
                </a:solidFill>
                <a:latin typeface="Helvetica Neue"/>
                <a:ea typeface="Helvetica Neue"/>
                <a:cs typeface="Helvetica Neue"/>
                <a:sym typeface="Helvetica Neue"/>
              </a:rPr>
              <a:t>	- DE_resu</a:t>
            </a:r>
            <a:r>
              <a:rPr lang="en" sz="2100">
                <a:solidFill>
                  <a:schemeClr val="dk2"/>
                </a:solidFill>
                <a:latin typeface="Helvetica Neue"/>
                <a:ea typeface="Helvetica Neue"/>
                <a:cs typeface="Helvetica Neue"/>
                <a:sym typeface="Helvetica Neue"/>
              </a:rPr>
              <a:t>lt</a:t>
            </a:r>
            <a:r>
              <a:rPr b="0" i="0" lang="en" sz="2100" u="none" cap="none" strike="noStrike">
                <a:solidFill>
                  <a:schemeClr val="dk2"/>
                </a:solidFill>
                <a:latin typeface="Helvetica Neue"/>
                <a:ea typeface="Helvetica Neue"/>
                <a:cs typeface="Helvetica Neue"/>
                <a:sym typeface="Helvetica Neue"/>
              </a:rPr>
              <a:t>_handson.txt   #</a:t>
            </a:r>
            <a:r>
              <a:rPr lang="en" sz="2100">
                <a:solidFill>
                  <a:schemeClr val="dk2"/>
                </a:solidFill>
                <a:latin typeface="Helvetica Neue"/>
                <a:ea typeface="Helvetica Neue"/>
                <a:cs typeface="Helvetica Neue"/>
                <a:sym typeface="Helvetica Neue"/>
              </a:rPr>
              <a:t>results</a:t>
            </a:r>
            <a:r>
              <a:rPr b="0" i="0" lang="en" sz="2100" u="none" cap="none" strike="noStrike">
                <a:solidFill>
                  <a:schemeClr val="dk2"/>
                </a:solidFill>
                <a:latin typeface="Helvetica Neue"/>
                <a:ea typeface="Helvetica Neue"/>
                <a:cs typeface="Helvetica Neue"/>
                <a:sym typeface="Helvetica Neue"/>
              </a:rPr>
              <a:t> table</a:t>
            </a:r>
            <a:endParaRPr b="0" i="0" sz="2100" u="none" cap="none" strike="noStrike">
              <a:solidFill>
                <a:schemeClr val="dk2"/>
              </a:solidFill>
              <a:latin typeface="Helvetica Neue"/>
              <a:ea typeface="Helvetica Neue"/>
              <a:cs typeface="Helvetica Neue"/>
              <a:sym typeface="Helvetica Neue"/>
            </a:endParaRPr>
          </a:p>
          <a:p>
            <a:pPr indent="0" lvl="0" marL="0" marR="0" rtl="0" algn="l">
              <a:lnSpc>
                <a:spcPct val="90000"/>
              </a:lnSpc>
              <a:spcBef>
                <a:spcPts val="800"/>
              </a:spcBef>
              <a:spcAft>
                <a:spcPts val="0"/>
              </a:spcAft>
              <a:buClr>
                <a:srgbClr val="002A40"/>
              </a:buClr>
              <a:buSzPts val="1700"/>
              <a:buFont typeface="Helvetica Neue"/>
              <a:buNone/>
            </a:pPr>
            <a:r>
              <a:rPr b="0" i="0" lang="en" sz="2100" u="none" cap="none" strike="noStrike">
                <a:solidFill>
                  <a:schemeClr val="dk2"/>
                </a:solidFill>
                <a:latin typeface="Helvetica Neue"/>
                <a:ea typeface="Helvetica Neue"/>
                <a:cs typeface="Helvetica Neue"/>
                <a:sym typeface="Helvetica Neue"/>
              </a:rPr>
              <a:t>	- GSE60450_Lactation</a:t>
            </a:r>
            <a:r>
              <a:rPr lang="en" sz="2100">
                <a:solidFill>
                  <a:schemeClr val="dk2"/>
                </a:solidFill>
                <a:latin typeface="Helvetica Neue"/>
                <a:ea typeface="Helvetica Neue"/>
                <a:cs typeface="Helvetica Neue"/>
                <a:sym typeface="Helvetica Neue"/>
              </a:rPr>
              <a:t>-GenewiseCounts.txt.gz </a:t>
            </a:r>
            <a:r>
              <a:rPr b="0" i="0" lang="en" sz="2100" u="none" cap="none" strike="noStrike">
                <a:solidFill>
                  <a:schemeClr val="dk2"/>
                </a:solidFill>
                <a:latin typeface="Helvetica Neue"/>
                <a:ea typeface="Helvetica Neue"/>
                <a:cs typeface="Helvetica Neue"/>
                <a:sym typeface="Helvetica Neue"/>
              </a:rPr>
              <a:t> </a:t>
            </a:r>
            <a:r>
              <a:rPr lang="en" sz="2100">
                <a:solidFill>
                  <a:schemeClr val="dk2"/>
                </a:solidFill>
                <a:latin typeface="Helvetica Neue"/>
                <a:ea typeface="Helvetica Neue"/>
                <a:cs typeface="Helvetica Neue"/>
                <a:sym typeface="Helvetica Neue"/>
              </a:rPr>
              <a:t>#count matrix</a:t>
            </a:r>
            <a:endParaRPr b="0" i="0" sz="1500" u="none" cap="none" strike="noStrike">
              <a:solidFill>
                <a:schemeClr val="dk2"/>
              </a:solidFill>
              <a:latin typeface="Arial"/>
              <a:ea typeface="Arial"/>
              <a:cs typeface="Arial"/>
              <a:sym typeface="Arial"/>
            </a:endParaRPr>
          </a:p>
          <a:p>
            <a:pPr indent="0" lvl="0" marL="0" marR="0" rtl="0" algn="l">
              <a:lnSpc>
                <a:spcPct val="90000"/>
              </a:lnSpc>
              <a:spcBef>
                <a:spcPts val="800"/>
              </a:spcBef>
              <a:spcAft>
                <a:spcPts val="0"/>
              </a:spcAft>
              <a:buClr>
                <a:schemeClr val="dk1"/>
              </a:buClr>
              <a:buSzPts val="800"/>
              <a:buFont typeface="Helvetica Neue"/>
              <a:buNone/>
            </a:pPr>
            <a:r>
              <a:t/>
            </a:r>
            <a:endParaRPr b="0" i="0" sz="1200" u="none" cap="none" strike="noStrike">
              <a:solidFill>
                <a:schemeClr val="dk2"/>
              </a:solidFill>
              <a:latin typeface="Helvetica Neue"/>
              <a:ea typeface="Helvetica Neue"/>
              <a:cs typeface="Helvetica Neue"/>
              <a:sym typeface="Helvetica Neue"/>
            </a:endParaRPr>
          </a:p>
          <a:p>
            <a:pPr indent="0" lvl="0" marL="0" marR="0" rtl="0" algn="l">
              <a:lnSpc>
                <a:spcPct val="90000"/>
              </a:lnSpc>
              <a:spcBef>
                <a:spcPts val="800"/>
              </a:spcBef>
              <a:spcAft>
                <a:spcPts val="0"/>
              </a:spcAft>
              <a:buClr>
                <a:srgbClr val="002A40"/>
              </a:buClr>
              <a:buSzPts val="1200"/>
              <a:buFont typeface="Helvetica Neue"/>
              <a:buNone/>
            </a:pPr>
            <a:r>
              <a:t/>
            </a:r>
            <a:endParaRPr sz="1500">
              <a:solidFill>
                <a:schemeClr val="dk2"/>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p148"/>
          <p:cNvSpPr txBox="1"/>
          <p:nvPr/>
        </p:nvSpPr>
        <p:spPr>
          <a:xfrm>
            <a:off x="186275" y="2816525"/>
            <a:ext cx="8628300" cy="1514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 sz="3400">
                <a:solidFill>
                  <a:srgbClr val="002B42"/>
                </a:solidFill>
              </a:rPr>
              <a:t>Session 3</a:t>
            </a:r>
            <a:endParaRPr b="1" sz="3400">
              <a:solidFill>
                <a:srgbClr val="002B42"/>
              </a:solidFill>
            </a:endParaRPr>
          </a:p>
          <a:p>
            <a:pPr indent="0" lvl="0" marL="0" rtl="0" algn="l">
              <a:lnSpc>
                <a:spcPct val="90000"/>
              </a:lnSpc>
              <a:spcBef>
                <a:spcPts val="0"/>
              </a:spcBef>
              <a:spcAft>
                <a:spcPts val="0"/>
              </a:spcAft>
              <a:buNone/>
            </a:pPr>
            <a:r>
              <a:rPr b="1" lang="en" sz="3100">
                <a:solidFill>
                  <a:schemeClr val="accent2"/>
                </a:solidFill>
              </a:rPr>
              <a:t>From count matrix to DEGs</a:t>
            </a:r>
            <a:endParaRPr b="1" sz="3100">
              <a:solidFill>
                <a:schemeClr val="accent2"/>
              </a:solidFill>
            </a:endParaRPr>
          </a:p>
          <a:p>
            <a:pPr indent="0" lvl="0" marL="0" rtl="0" algn="l">
              <a:lnSpc>
                <a:spcPct val="90000"/>
              </a:lnSpc>
              <a:spcBef>
                <a:spcPts val="0"/>
              </a:spcBef>
              <a:spcAft>
                <a:spcPts val="0"/>
              </a:spcAft>
              <a:buNone/>
            </a:pPr>
            <a:r>
              <a:t/>
            </a:r>
            <a:endParaRPr b="1" i="1" sz="3100">
              <a:solidFill>
                <a:schemeClr val="dk1"/>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pic>
        <p:nvPicPr>
          <p:cNvPr id="1023" name="Google Shape;1023;p149"/>
          <p:cNvPicPr preferRelativeResize="0"/>
          <p:nvPr/>
        </p:nvPicPr>
        <p:blipFill>
          <a:blip r:embed="rId3">
            <a:alphaModFix/>
          </a:blip>
          <a:stretch>
            <a:fillRect/>
          </a:stretch>
        </p:blipFill>
        <p:spPr>
          <a:xfrm>
            <a:off x="244125" y="1001850"/>
            <a:ext cx="4154950" cy="3756075"/>
          </a:xfrm>
          <a:prstGeom prst="rect">
            <a:avLst/>
          </a:prstGeom>
          <a:noFill/>
          <a:ln>
            <a:noFill/>
          </a:ln>
        </p:spPr>
      </p:pic>
      <p:sp>
        <p:nvSpPr>
          <p:cNvPr id="1024" name="Google Shape;1024;p149"/>
          <p:cNvSpPr txBox="1"/>
          <p:nvPr/>
        </p:nvSpPr>
        <p:spPr>
          <a:xfrm>
            <a:off x="120000" y="0"/>
            <a:ext cx="8830200" cy="7368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lt1"/>
              </a:buClr>
              <a:buSzPts val="3300"/>
              <a:buFont typeface="Helvetica Neue"/>
              <a:buNone/>
            </a:pPr>
            <a:r>
              <a:rPr b="1" lang="en" sz="3300">
                <a:solidFill>
                  <a:srgbClr val="0066CC"/>
                </a:solidFill>
                <a:latin typeface="Helvetica Neue"/>
                <a:ea typeface="Helvetica Neue"/>
                <a:cs typeface="Helvetica Neue"/>
                <a:sym typeface="Helvetica Neue"/>
              </a:rPr>
              <a:t>From the count matrix to the DEG</a:t>
            </a:r>
            <a:endParaRPr b="1" i="0" sz="3300" u="none" cap="none" strike="noStrike">
              <a:solidFill>
                <a:srgbClr val="0066CC"/>
              </a:solidFill>
              <a:latin typeface="Helvetica Neue"/>
              <a:ea typeface="Helvetica Neue"/>
              <a:cs typeface="Helvetica Neue"/>
              <a:sym typeface="Helvetica Neue"/>
            </a:endParaRPr>
          </a:p>
        </p:txBody>
      </p:sp>
      <p:pic>
        <p:nvPicPr>
          <p:cNvPr id="1025" name="Google Shape;1025;p149"/>
          <p:cNvPicPr preferRelativeResize="0"/>
          <p:nvPr/>
        </p:nvPicPr>
        <p:blipFill rotWithShape="1">
          <a:blip r:embed="rId4">
            <a:alphaModFix/>
          </a:blip>
          <a:srcRect b="0" l="0" r="3063" t="11222"/>
          <a:stretch/>
        </p:blipFill>
        <p:spPr>
          <a:xfrm>
            <a:off x="5702725" y="1844200"/>
            <a:ext cx="2099450" cy="1785375"/>
          </a:xfrm>
          <a:prstGeom prst="rect">
            <a:avLst/>
          </a:prstGeom>
          <a:noFill/>
          <a:ln>
            <a:noFill/>
          </a:ln>
        </p:spPr>
      </p:pic>
      <p:sp>
        <p:nvSpPr>
          <p:cNvPr id="1026" name="Google Shape;1026;p149"/>
          <p:cNvSpPr/>
          <p:nvPr/>
        </p:nvSpPr>
        <p:spPr>
          <a:xfrm>
            <a:off x="4683350" y="2423475"/>
            <a:ext cx="761100" cy="317100"/>
          </a:xfrm>
          <a:prstGeom prst="rightArrow">
            <a:avLst>
              <a:gd fmla="val 50000" name="adj1"/>
              <a:gd fmla="val 50000" name="adj2"/>
            </a:avLst>
          </a:prstGeom>
          <a:solidFill>
            <a:srgbClr val="A64D79"/>
          </a:solidFill>
          <a:ln cap="flat" cmpd="sng" w="952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150"/>
          <p:cNvSpPr txBox="1"/>
          <p:nvPr>
            <p:ph type="title"/>
          </p:nvPr>
        </p:nvSpPr>
        <p:spPr>
          <a:xfrm>
            <a:off x="134750" y="-4709"/>
            <a:ext cx="7886700" cy="736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Workshop outline</a:t>
            </a:r>
            <a:endParaRPr/>
          </a:p>
        </p:txBody>
      </p:sp>
      <p:sp>
        <p:nvSpPr>
          <p:cNvPr id="1032" name="Google Shape;1032;p150"/>
          <p:cNvSpPr txBox="1"/>
          <p:nvPr>
            <p:ph idx="1" type="body"/>
          </p:nvPr>
        </p:nvSpPr>
        <p:spPr>
          <a:xfrm>
            <a:off x="134750" y="457575"/>
            <a:ext cx="4589400" cy="462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900">
                <a:solidFill>
                  <a:srgbClr val="999999"/>
                </a:solidFill>
                <a:latin typeface="Arial"/>
                <a:ea typeface="Arial"/>
                <a:cs typeface="Arial"/>
                <a:sym typeface="Arial"/>
              </a:rPr>
              <a:t>Session I </a:t>
            </a:r>
            <a:endParaRPr b="1" sz="1900">
              <a:solidFill>
                <a:srgbClr val="999999"/>
              </a:solidFill>
              <a:latin typeface="Arial"/>
              <a:ea typeface="Arial"/>
              <a:cs typeface="Arial"/>
              <a:sym typeface="Arial"/>
            </a:endParaRPr>
          </a:p>
          <a:p>
            <a:pPr indent="0" lvl="0" marL="0" rtl="0" algn="l">
              <a:lnSpc>
                <a:spcPct val="100000"/>
              </a:lnSpc>
              <a:spcBef>
                <a:spcPts val="0"/>
              </a:spcBef>
              <a:spcAft>
                <a:spcPts val="0"/>
              </a:spcAft>
              <a:buNone/>
            </a:pPr>
            <a:r>
              <a:t/>
            </a:r>
            <a:endParaRPr sz="600">
              <a:solidFill>
                <a:srgbClr val="999999"/>
              </a:solidFill>
              <a:latin typeface="Arial"/>
              <a:ea typeface="Arial"/>
              <a:cs typeface="Arial"/>
              <a:sym typeface="Arial"/>
            </a:endParaRPr>
          </a:p>
          <a:p>
            <a:pPr indent="-336550" lvl="0" marL="457200" rtl="0" algn="l">
              <a:lnSpc>
                <a:spcPct val="100000"/>
              </a:lnSpc>
              <a:spcBef>
                <a:spcPts val="0"/>
              </a:spcBef>
              <a:spcAft>
                <a:spcPts val="0"/>
              </a:spcAft>
              <a:buClr>
                <a:srgbClr val="999999"/>
              </a:buClr>
              <a:buSzPts val="1700"/>
              <a:buFont typeface="Arial"/>
              <a:buChar char="•"/>
            </a:pPr>
            <a:r>
              <a:rPr lang="en" sz="1700">
                <a:solidFill>
                  <a:srgbClr val="999999"/>
                </a:solidFill>
                <a:latin typeface="Arial"/>
                <a:ea typeface="Arial"/>
                <a:cs typeface="Arial"/>
                <a:sym typeface="Arial"/>
              </a:rPr>
              <a:t>RNA-seq analysis overview</a:t>
            </a:r>
            <a:endParaRPr sz="1700">
              <a:solidFill>
                <a:srgbClr val="999999"/>
              </a:solidFill>
              <a:latin typeface="Arial"/>
              <a:ea typeface="Arial"/>
              <a:cs typeface="Arial"/>
              <a:sym typeface="Arial"/>
            </a:endParaRPr>
          </a:p>
          <a:p>
            <a:pPr indent="-336550" lvl="0" marL="457200" rtl="0" algn="l">
              <a:lnSpc>
                <a:spcPct val="100000"/>
              </a:lnSpc>
              <a:spcBef>
                <a:spcPts val="0"/>
              </a:spcBef>
              <a:spcAft>
                <a:spcPts val="0"/>
              </a:spcAft>
              <a:buClr>
                <a:srgbClr val="999999"/>
              </a:buClr>
              <a:buSzPts val="1700"/>
              <a:buFont typeface="Arial"/>
              <a:buChar char="•"/>
            </a:pPr>
            <a:r>
              <a:rPr lang="en" sz="1700">
                <a:solidFill>
                  <a:srgbClr val="999999"/>
                </a:solidFill>
                <a:latin typeface="Arial"/>
                <a:ea typeface="Arial"/>
                <a:cs typeface="Arial"/>
                <a:sym typeface="Arial"/>
              </a:rPr>
              <a:t>Understanding the sequencer output</a:t>
            </a:r>
            <a:endParaRPr sz="1500">
              <a:solidFill>
                <a:srgbClr val="999999"/>
              </a:solidFill>
              <a:latin typeface="Arial"/>
              <a:ea typeface="Arial"/>
              <a:cs typeface="Arial"/>
              <a:sym typeface="Arial"/>
            </a:endParaRPr>
          </a:p>
          <a:p>
            <a:pPr indent="-336550" lvl="0" marL="457200" rtl="0" algn="l">
              <a:lnSpc>
                <a:spcPct val="100000"/>
              </a:lnSpc>
              <a:spcBef>
                <a:spcPts val="0"/>
              </a:spcBef>
              <a:spcAft>
                <a:spcPts val="0"/>
              </a:spcAft>
              <a:buClr>
                <a:srgbClr val="999999"/>
              </a:buClr>
              <a:buSzPts val="1700"/>
              <a:buFont typeface="Arial"/>
              <a:buChar char="•"/>
            </a:pPr>
            <a:r>
              <a:rPr lang="en" sz="1700">
                <a:solidFill>
                  <a:srgbClr val="999999"/>
                </a:solidFill>
                <a:latin typeface="Arial"/>
                <a:ea typeface="Arial"/>
                <a:cs typeface="Arial"/>
                <a:sym typeface="Arial"/>
              </a:rPr>
              <a:t>Quality checks</a:t>
            </a:r>
            <a:endParaRPr b="1" sz="1400">
              <a:solidFill>
                <a:srgbClr val="999999"/>
              </a:solidFill>
              <a:latin typeface="Arial"/>
              <a:ea typeface="Arial"/>
              <a:cs typeface="Arial"/>
              <a:sym typeface="Arial"/>
            </a:endParaRPr>
          </a:p>
          <a:p>
            <a:pPr indent="-336550" lvl="0" marL="457200" rtl="0" algn="l">
              <a:lnSpc>
                <a:spcPct val="100000"/>
              </a:lnSpc>
              <a:spcBef>
                <a:spcPts val="0"/>
              </a:spcBef>
              <a:spcAft>
                <a:spcPts val="0"/>
              </a:spcAft>
              <a:buClr>
                <a:srgbClr val="999999"/>
              </a:buClr>
              <a:buSzPts val="1700"/>
              <a:buChar char="•"/>
            </a:pPr>
            <a:r>
              <a:rPr lang="en" sz="1700">
                <a:solidFill>
                  <a:srgbClr val="999999"/>
                </a:solidFill>
                <a:latin typeface="Arial"/>
                <a:ea typeface="Arial"/>
                <a:cs typeface="Arial"/>
                <a:sym typeface="Arial"/>
              </a:rPr>
              <a:t>Trimming of adapters</a:t>
            </a:r>
            <a:endParaRPr sz="1700">
              <a:solidFill>
                <a:srgbClr val="999999"/>
              </a:solidFill>
              <a:latin typeface="Arial"/>
              <a:ea typeface="Arial"/>
              <a:cs typeface="Arial"/>
              <a:sym typeface="Arial"/>
            </a:endParaRPr>
          </a:p>
          <a:p>
            <a:pPr indent="0" lvl="0" marL="914400" rtl="0" algn="l">
              <a:lnSpc>
                <a:spcPct val="100000"/>
              </a:lnSpc>
              <a:spcBef>
                <a:spcPts val="1000"/>
              </a:spcBef>
              <a:spcAft>
                <a:spcPts val="0"/>
              </a:spcAft>
              <a:buNone/>
            </a:pPr>
            <a:r>
              <a:rPr lang="en" sz="1700">
                <a:solidFill>
                  <a:srgbClr val="999999"/>
                </a:solidFill>
                <a:latin typeface="Arial"/>
                <a:ea typeface="Arial"/>
                <a:cs typeface="Arial"/>
                <a:sym typeface="Arial"/>
              </a:rPr>
              <a:t>Break</a:t>
            </a:r>
            <a:endParaRPr sz="1700">
              <a:solidFill>
                <a:srgbClr val="999999"/>
              </a:solidFill>
              <a:latin typeface="Arial"/>
              <a:ea typeface="Arial"/>
              <a:cs typeface="Arial"/>
              <a:sym typeface="Arial"/>
            </a:endParaRPr>
          </a:p>
          <a:p>
            <a:pPr indent="-336550" lvl="0" marL="457200" rtl="0" algn="l">
              <a:lnSpc>
                <a:spcPct val="100000"/>
              </a:lnSpc>
              <a:spcBef>
                <a:spcPts val="0"/>
              </a:spcBef>
              <a:spcAft>
                <a:spcPts val="0"/>
              </a:spcAft>
              <a:buClr>
                <a:srgbClr val="999999"/>
              </a:buClr>
              <a:buSzPts val="1700"/>
              <a:buChar char="•"/>
            </a:pPr>
            <a:r>
              <a:rPr lang="en" sz="1700">
                <a:solidFill>
                  <a:srgbClr val="999999"/>
                </a:solidFill>
                <a:latin typeface="Arial"/>
                <a:ea typeface="Arial"/>
                <a:cs typeface="Arial"/>
                <a:sym typeface="Arial"/>
              </a:rPr>
              <a:t>Introduction to docker and setup</a:t>
            </a:r>
            <a:endParaRPr sz="1700">
              <a:solidFill>
                <a:srgbClr val="999999"/>
              </a:solidFill>
              <a:latin typeface="Arial"/>
              <a:ea typeface="Arial"/>
              <a:cs typeface="Arial"/>
              <a:sym typeface="Arial"/>
            </a:endParaRPr>
          </a:p>
          <a:p>
            <a:pPr indent="-336550" lvl="0" marL="457200" rtl="0" algn="l">
              <a:lnSpc>
                <a:spcPct val="100000"/>
              </a:lnSpc>
              <a:spcBef>
                <a:spcPts val="0"/>
              </a:spcBef>
              <a:spcAft>
                <a:spcPts val="0"/>
              </a:spcAft>
              <a:buClr>
                <a:srgbClr val="999999"/>
              </a:buClr>
              <a:buSzPts val="1700"/>
              <a:buFont typeface="Arial"/>
              <a:buChar char="•"/>
            </a:pPr>
            <a:r>
              <a:rPr lang="en" sz="1700">
                <a:solidFill>
                  <a:srgbClr val="999999"/>
                </a:solidFill>
                <a:latin typeface="Arial"/>
                <a:ea typeface="Arial"/>
                <a:cs typeface="Arial"/>
                <a:sym typeface="Arial"/>
              </a:rPr>
              <a:t>Demo - QC steps</a:t>
            </a:r>
            <a:endParaRPr sz="1700">
              <a:solidFill>
                <a:srgbClr val="999999"/>
              </a:solidFill>
              <a:latin typeface="Arial"/>
              <a:ea typeface="Arial"/>
              <a:cs typeface="Arial"/>
              <a:sym typeface="Arial"/>
            </a:endParaRPr>
          </a:p>
          <a:p>
            <a:pPr indent="0" lvl="0" marL="0" rtl="0" algn="l">
              <a:spcBef>
                <a:spcPts val="0"/>
              </a:spcBef>
              <a:spcAft>
                <a:spcPts val="0"/>
              </a:spcAft>
              <a:buNone/>
            </a:pPr>
            <a:r>
              <a:t/>
            </a:r>
            <a:endParaRPr b="1" sz="1000">
              <a:latin typeface="Arial"/>
              <a:ea typeface="Arial"/>
              <a:cs typeface="Arial"/>
              <a:sym typeface="Arial"/>
            </a:endParaRPr>
          </a:p>
          <a:p>
            <a:pPr indent="0" lvl="0" marL="0" rtl="0" algn="l">
              <a:spcBef>
                <a:spcPts val="0"/>
              </a:spcBef>
              <a:spcAft>
                <a:spcPts val="0"/>
              </a:spcAft>
              <a:buNone/>
            </a:pPr>
            <a:r>
              <a:rPr b="1" lang="en" sz="1900">
                <a:solidFill>
                  <a:srgbClr val="CCCCCC"/>
                </a:solidFill>
                <a:latin typeface="Arial"/>
                <a:ea typeface="Arial"/>
                <a:cs typeface="Arial"/>
                <a:sym typeface="Arial"/>
              </a:rPr>
              <a:t>Session II </a:t>
            </a:r>
            <a:endParaRPr b="1" sz="1900">
              <a:solidFill>
                <a:srgbClr val="CCCCCC"/>
              </a:solidFill>
              <a:latin typeface="Arial"/>
              <a:ea typeface="Arial"/>
              <a:cs typeface="Arial"/>
              <a:sym typeface="Arial"/>
            </a:endParaRPr>
          </a:p>
          <a:p>
            <a:pPr indent="-336550" lvl="0" marL="457200" rtl="0" algn="l">
              <a:lnSpc>
                <a:spcPct val="100000"/>
              </a:lnSpc>
              <a:spcBef>
                <a:spcPts val="1000"/>
              </a:spcBef>
              <a:spcAft>
                <a:spcPts val="0"/>
              </a:spcAft>
              <a:buClr>
                <a:srgbClr val="CCCCCC"/>
              </a:buClr>
              <a:buSzPts val="1700"/>
              <a:buFont typeface="Arial"/>
              <a:buChar char="•"/>
            </a:pPr>
            <a:r>
              <a:rPr lang="en" sz="1700">
                <a:solidFill>
                  <a:srgbClr val="CCCCCC"/>
                </a:solidFill>
                <a:latin typeface="Arial"/>
                <a:ea typeface="Arial"/>
                <a:cs typeface="Arial"/>
                <a:sym typeface="Arial"/>
              </a:rPr>
              <a:t>Mapping the read to reference genome</a:t>
            </a:r>
            <a:endParaRPr sz="1700">
              <a:solidFill>
                <a:srgbClr val="CCCCCC"/>
              </a:solidFill>
              <a:latin typeface="Arial"/>
              <a:ea typeface="Arial"/>
              <a:cs typeface="Arial"/>
              <a:sym typeface="Arial"/>
            </a:endParaRPr>
          </a:p>
          <a:p>
            <a:pPr indent="-336550" lvl="0" marL="457200" rtl="0" algn="l">
              <a:lnSpc>
                <a:spcPct val="100000"/>
              </a:lnSpc>
              <a:spcBef>
                <a:spcPts val="0"/>
              </a:spcBef>
              <a:spcAft>
                <a:spcPts val="0"/>
              </a:spcAft>
              <a:buClr>
                <a:srgbClr val="CCCCCC"/>
              </a:buClr>
              <a:buSzPts val="1700"/>
              <a:buFont typeface="Arial"/>
              <a:buChar char="•"/>
            </a:pPr>
            <a:r>
              <a:rPr lang="en" sz="1700">
                <a:solidFill>
                  <a:srgbClr val="CCCCCC"/>
                </a:solidFill>
                <a:latin typeface="Arial"/>
                <a:ea typeface="Arial"/>
                <a:cs typeface="Arial"/>
                <a:sym typeface="Arial"/>
              </a:rPr>
              <a:t>From alignment to counting features </a:t>
            </a:r>
            <a:endParaRPr sz="1700">
              <a:solidFill>
                <a:srgbClr val="CCCCCC"/>
              </a:solidFill>
              <a:latin typeface="Arial"/>
              <a:ea typeface="Arial"/>
              <a:cs typeface="Arial"/>
              <a:sym typeface="Arial"/>
            </a:endParaRPr>
          </a:p>
          <a:p>
            <a:pPr indent="457200" lvl="0" marL="457200" rtl="0" algn="l">
              <a:lnSpc>
                <a:spcPct val="100000"/>
              </a:lnSpc>
              <a:spcBef>
                <a:spcPts val="1000"/>
              </a:spcBef>
              <a:spcAft>
                <a:spcPts val="0"/>
              </a:spcAft>
              <a:buNone/>
            </a:pPr>
            <a:r>
              <a:rPr lang="en" sz="1600">
                <a:solidFill>
                  <a:srgbClr val="CCCCCC"/>
                </a:solidFill>
                <a:latin typeface="Arial"/>
                <a:ea typeface="Arial"/>
                <a:cs typeface="Arial"/>
                <a:sym typeface="Arial"/>
              </a:rPr>
              <a:t>Break</a:t>
            </a:r>
            <a:endParaRPr sz="1600">
              <a:solidFill>
                <a:srgbClr val="CCCCCC"/>
              </a:solidFill>
              <a:latin typeface="Arial"/>
              <a:ea typeface="Arial"/>
              <a:cs typeface="Arial"/>
              <a:sym typeface="Arial"/>
            </a:endParaRPr>
          </a:p>
          <a:p>
            <a:pPr indent="-336550" lvl="0" marL="457200" rtl="0" algn="l">
              <a:lnSpc>
                <a:spcPct val="100000"/>
              </a:lnSpc>
              <a:spcBef>
                <a:spcPts val="1000"/>
              </a:spcBef>
              <a:spcAft>
                <a:spcPts val="0"/>
              </a:spcAft>
              <a:buClr>
                <a:srgbClr val="CCCCCC"/>
              </a:buClr>
              <a:buSzPts val="1700"/>
              <a:buFont typeface="Arial"/>
              <a:buChar char="•"/>
            </a:pPr>
            <a:r>
              <a:rPr lang="en" sz="1700">
                <a:solidFill>
                  <a:srgbClr val="CCCCCC"/>
                </a:solidFill>
                <a:latin typeface="Arial"/>
                <a:ea typeface="Arial"/>
                <a:cs typeface="Arial"/>
                <a:sym typeface="Arial"/>
              </a:rPr>
              <a:t>Demo - from Mapping to the count matrix</a:t>
            </a:r>
            <a:endParaRPr sz="1700">
              <a:solidFill>
                <a:srgbClr val="CCCCCC"/>
              </a:solidFill>
              <a:latin typeface="Arial"/>
              <a:ea typeface="Arial"/>
              <a:cs typeface="Arial"/>
              <a:sym typeface="Arial"/>
            </a:endParaRPr>
          </a:p>
          <a:p>
            <a:pPr indent="0" lvl="0" marL="0" rtl="0" algn="l">
              <a:lnSpc>
                <a:spcPct val="100000"/>
              </a:lnSpc>
              <a:spcBef>
                <a:spcPts val="0"/>
              </a:spcBef>
              <a:spcAft>
                <a:spcPts val="0"/>
              </a:spcAft>
              <a:buNone/>
            </a:pPr>
            <a:r>
              <a:t/>
            </a:r>
            <a:endParaRPr b="1" sz="1800">
              <a:solidFill>
                <a:srgbClr val="CCCCCC"/>
              </a:solidFill>
              <a:latin typeface="Arial"/>
              <a:ea typeface="Arial"/>
              <a:cs typeface="Arial"/>
              <a:sym typeface="Arial"/>
            </a:endParaRPr>
          </a:p>
          <a:p>
            <a:pPr indent="0" lvl="0" marL="0" rtl="0" algn="l">
              <a:spcBef>
                <a:spcPts val="0"/>
              </a:spcBef>
              <a:spcAft>
                <a:spcPts val="0"/>
              </a:spcAft>
              <a:buNone/>
            </a:pPr>
            <a:r>
              <a:t/>
            </a:r>
            <a:endParaRPr b="1" sz="1800">
              <a:latin typeface="Arial"/>
              <a:ea typeface="Arial"/>
              <a:cs typeface="Arial"/>
              <a:sym typeface="Arial"/>
            </a:endParaRPr>
          </a:p>
        </p:txBody>
      </p:sp>
      <p:sp>
        <p:nvSpPr>
          <p:cNvPr id="1033" name="Google Shape;1033;p150"/>
          <p:cNvSpPr txBox="1"/>
          <p:nvPr>
            <p:ph idx="1" type="body"/>
          </p:nvPr>
        </p:nvSpPr>
        <p:spPr>
          <a:xfrm>
            <a:off x="4662900" y="457575"/>
            <a:ext cx="4481100" cy="462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900">
                <a:solidFill>
                  <a:srgbClr val="F76912"/>
                </a:solidFill>
                <a:latin typeface="Arial"/>
                <a:ea typeface="Arial"/>
                <a:cs typeface="Arial"/>
                <a:sym typeface="Arial"/>
              </a:rPr>
              <a:t>Session III </a:t>
            </a:r>
            <a:endParaRPr b="1" sz="1900">
              <a:solidFill>
                <a:srgbClr val="F76912"/>
              </a:solidFill>
              <a:latin typeface="Arial"/>
              <a:ea typeface="Arial"/>
              <a:cs typeface="Arial"/>
              <a:sym typeface="Arial"/>
            </a:endParaRPr>
          </a:p>
          <a:p>
            <a:pPr indent="0" lvl="0" marL="0" rtl="0" algn="l">
              <a:lnSpc>
                <a:spcPct val="100000"/>
              </a:lnSpc>
              <a:spcBef>
                <a:spcPts val="0"/>
              </a:spcBef>
              <a:spcAft>
                <a:spcPts val="0"/>
              </a:spcAft>
              <a:buNone/>
            </a:pPr>
            <a:r>
              <a:t/>
            </a:r>
            <a:endParaRPr sz="600">
              <a:solidFill>
                <a:srgbClr val="B7B7B7"/>
              </a:solidFill>
              <a:latin typeface="Arial"/>
              <a:ea typeface="Arial"/>
              <a:cs typeface="Arial"/>
              <a:sym typeface="Arial"/>
            </a:endParaRPr>
          </a:p>
          <a:p>
            <a:pPr indent="-336550" lvl="0" marL="457200" rtl="0" algn="l">
              <a:lnSpc>
                <a:spcPct val="100000"/>
              </a:lnSpc>
              <a:spcBef>
                <a:spcPts val="0"/>
              </a:spcBef>
              <a:spcAft>
                <a:spcPts val="0"/>
              </a:spcAft>
              <a:buClr>
                <a:schemeClr val="dk1"/>
              </a:buClr>
              <a:buSzPts val="1700"/>
              <a:buFont typeface="Arial"/>
              <a:buChar char="•"/>
            </a:pPr>
            <a:r>
              <a:rPr lang="en" sz="1700">
                <a:solidFill>
                  <a:schemeClr val="dk1"/>
                </a:solidFill>
                <a:latin typeface="Arial"/>
                <a:ea typeface="Arial"/>
                <a:cs typeface="Arial"/>
                <a:sym typeface="Arial"/>
              </a:rPr>
              <a:t>Filtering low counts genes</a:t>
            </a:r>
            <a:endParaRPr sz="1700">
              <a:solidFill>
                <a:schemeClr val="dk1"/>
              </a:solidFill>
              <a:latin typeface="Arial"/>
              <a:ea typeface="Arial"/>
              <a:cs typeface="Arial"/>
              <a:sym typeface="Arial"/>
            </a:endParaRPr>
          </a:p>
          <a:p>
            <a:pPr indent="-336550" lvl="0" marL="457200" rtl="0" algn="l">
              <a:lnSpc>
                <a:spcPct val="100000"/>
              </a:lnSpc>
              <a:spcBef>
                <a:spcPts val="0"/>
              </a:spcBef>
              <a:spcAft>
                <a:spcPts val="0"/>
              </a:spcAft>
              <a:buClr>
                <a:schemeClr val="dk1"/>
              </a:buClr>
              <a:buSzPts val="1700"/>
              <a:buFont typeface="Arial"/>
              <a:buChar char="•"/>
            </a:pPr>
            <a:r>
              <a:rPr lang="en" sz="1700">
                <a:solidFill>
                  <a:schemeClr val="dk1"/>
                </a:solidFill>
                <a:latin typeface="Arial"/>
                <a:ea typeface="Arial"/>
                <a:cs typeface="Arial"/>
                <a:sym typeface="Arial"/>
              </a:rPr>
              <a:t>Dimensionality reduction </a:t>
            </a:r>
            <a:endParaRPr sz="1700">
              <a:solidFill>
                <a:schemeClr val="dk1"/>
              </a:solidFill>
              <a:latin typeface="Arial"/>
              <a:ea typeface="Arial"/>
              <a:cs typeface="Arial"/>
              <a:sym typeface="Arial"/>
            </a:endParaRPr>
          </a:p>
          <a:p>
            <a:pPr indent="-336550" lvl="0" marL="457200" rtl="0" algn="l">
              <a:lnSpc>
                <a:spcPct val="100000"/>
              </a:lnSpc>
              <a:spcBef>
                <a:spcPts val="0"/>
              </a:spcBef>
              <a:spcAft>
                <a:spcPts val="0"/>
              </a:spcAft>
              <a:buClr>
                <a:schemeClr val="dk1"/>
              </a:buClr>
              <a:buSzPts val="1700"/>
              <a:buFont typeface="Arial"/>
              <a:buChar char="•"/>
            </a:pPr>
            <a:r>
              <a:rPr lang="en" sz="1700">
                <a:solidFill>
                  <a:schemeClr val="dk1"/>
                </a:solidFill>
                <a:latin typeface="Arial"/>
                <a:ea typeface="Arial"/>
                <a:cs typeface="Arial"/>
                <a:sym typeface="Arial"/>
              </a:rPr>
              <a:t>Normalization</a:t>
            </a:r>
            <a:endParaRPr sz="1700">
              <a:solidFill>
                <a:schemeClr val="dk1"/>
              </a:solidFill>
              <a:latin typeface="Arial"/>
              <a:ea typeface="Arial"/>
              <a:cs typeface="Arial"/>
              <a:sym typeface="Arial"/>
            </a:endParaRPr>
          </a:p>
          <a:p>
            <a:pPr indent="0" lvl="0" marL="914400" rtl="0" algn="l">
              <a:lnSpc>
                <a:spcPct val="100000"/>
              </a:lnSpc>
              <a:spcBef>
                <a:spcPts val="1000"/>
              </a:spcBef>
              <a:spcAft>
                <a:spcPts val="0"/>
              </a:spcAft>
              <a:buNone/>
            </a:pPr>
            <a:r>
              <a:rPr lang="en" sz="1700">
                <a:solidFill>
                  <a:schemeClr val="dk1"/>
                </a:solidFill>
                <a:latin typeface="Arial"/>
                <a:ea typeface="Arial"/>
                <a:cs typeface="Arial"/>
                <a:sym typeface="Arial"/>
              </a:rPr>
              <a:t>Break</a:t>
            </a:r>
            <a:endParaRPr sz="1700">
              <a:solidFill>
                <a:schemeClr val="dk1"/>
              </a:solidFill>
              <a:latin typeface="Arial"/>
              <a:ea typeface="Arial"/>
              <a:cs typeface="Arial"/>
              <a:sym typeface="Arial"/>
            </a:endParaRPr>
          </a:p>
          <a:p>
            <a:pPr indent="-336550" lvl="0" marL="457200" rtl="0" algn="l">
              <a:lnSpc>
                <a:spcPct val="100000"/>
              </a:lnSpc>
              <a:spcBef>
                <a:spcPts val="1000"/>
              </a:spcBef>
              <a:spcAft>
                <a:spcPts val="0"/>
              </a:spcAft>
              <a:buClr>
                <a:schemeClr val="dk1"/>
              </a:buClr>
              <a:buSzPts val="1700"/>
              <a:buChar char="•"/>
            </a:pPr>
            <a:r>
              <a:rPr lang="en" sz="1700">
                <a:solidFill>
                  <a:schemeClr val="dk1"/>
                </a:solidFill>
                <a:latin typeface="Arial"/>
                <a:ea typeface="Arial"/>
                <a:cs typeface="Arial"/>
                <a:sym typeface="Arial"/>
              </a:rPr>
              <a:t>Model fitting</a:t>
            </a:r>
            <a:endParaRPr sz="1700">
              <a:solidFill>
                <a:schemeClr val="dk1"/>
              </a:solidFill>
              <a:latin typeface="Arial"/>
              <a:ea typeface="Arial"/>
              <a:cs typeface="Arial"/>
              <a:sym typeface="Arial"/>
            </a:endParaRPr>
          </a:p>
          <a:p>
            <a:pPr indent="-336550" lvl="0" marL="457200" rtl="0" algn="l">
              <a:lnSpc>
                <a:spcPct val="100000"/>
              </a:lnSpc>
              <a:spcBef>
                <a:spcPts val="0"/>
              </a:spcBef>
              <a:spcAft>
                <a:spcPts val="0"/>
              </a:spcAft>
              <a:buClr>
                <a:schemeClr val="dk1"/>
              </a:buClr>
              <a:buSzPts val="1700"/>
              <a:buFont typeface="Arial"/>
              <a:buChar char="•"/>
            </a:pPr>
            <a:r>
              <a:rPr lang="en" sz="1700">
                <a:solidFill>
                  <a:schemeClr val="dk1"/>
                </a:solidFill>
                <a:latin typeface="Arial"/>
                <a:ea typeface="Arial"/>
                <a:cs typeface="Arial"/>
                <a:sym typeface="Arial"/>
              </a:rPr>
              <a:t>DEG and visualization</a:t>
            </a:r>
            <a:endParaRPr sz="1700">
              <a:solidFill>
                <a:schemeClr val="dk1"/>
              </a:solidFill>
              <a:latin typeface="Arial"/>
              <a:ea typeface="Arial"/>
              <a:cs typeface="Arial"/>
              <a:sym typeface="Arial"/>
            </a:endParaRPr>
          </a:p>
          <a:p>
            <a:pPr indent="0" lvl="0" marL="914400" rtl="0" algn="l">
              <a:lnSpc>
                <a:spcPct val="100000"/>
              </a:lnSpc>
              <a:spcBef>
                <a:spcPts val="1000"/>
              </a:spcBef>
              <a:spcAft>
                <a:spcPts val="0"/>
              </a:spcAft>
              <a:buNone/>
            </a:pPr>
            <a:r>
              <a:rPr lang="en" sz="1700">
                <a:solidFill>
                  <a:schemeClr val="dk1"/>
                </a:solidFill>
                <a:latin typeface="Arial"/>
                <a:ea typeface="Arial"/>
                <a:cs typeface="Arial"/>
                <a:sym typeface="Arial"/>
              </a:rPr>
              <a:t>Break</a:t>
            </a:r>
            <a:endParaRPr sz="1700">
              <a:solidFill>
                <a:schemeClr val="dk1"/>
              </a:solidFill>
              <a:latin typeface="Arial"/>
              <a:ea typeface="Arial"/>
              <a:cs typeface="Arial"/>
              <a:sym typeface="Arial"/>
            </a:endParaRPr>
          </a:p>
          <a:p>
            <a:pPr indent="-336550" lvl="0" marL="457200" rtl="0" algn="l">
              <a:lnSpc>
                <a:spcPct val="100000"/>
              </a:lnSpc>
              <a:spcBef>
                <a:spcPts val="0"/>
              </a:spcBef>
              <a:spcAft>
                <a:spcPts val="0"/>
              </a:spcAft>
              <a:buClr>
                <a:schemeClr val="dk1"/>
              </a:buClr>
              <a:buSzPts val="1700"/>
              <a:buFont typeface="Arial"/>
              <a:buChar char="•"/>
            </a:pPr>
            <a:r>
              <a:rPr lang="en" sz="1700">
                <a:solidFill>
                  <a:schemeClr val="dk1"/>
                </a:solidFill>
                <a:latin typeface="Arial"/>
                <a:ea typeface="Arial"/>
                <a:cs typeface="Arial"/>
                <a:sym typeface="Arial"/>
              </a:rPr>
              <a:t>Demo - from count matrix to DEG</a:t>
            </a:r>
            <a:endParaRPr sz="1700">
              <a:solidFill>
                <a:schemeClr val="dk1"/>
              </a:solidFill>
              <a:latin typeface="Arial"/>
              <a:ea typeface="Arial"/>
              <a:cs typeface="Arial"/>
              <a:sym typeface="Arial"/>
            </a:endParaRPr>
          </a:p>
          <a:p>
            <a:pPr indent="0" lvl="0" marL="0" rtl="0" algn="l">
              <a:spcBef>
                <a:spcPts val="0"/>
              </a:spcBef>
              <a:spcAft>
                <a:spcPts val="0"/>
              </a:spcAft>
              <a:buNone/>
            </a:pPr>
            <a:r>
              <a:t/>
            </a:r>
            <a:endParaRPr b="1" sz="1800">
              <a:solidFill>
                <a:schemeClr val="dk1"/>
              </a:solidFill>
              <a:latin typeface="Arial"/>
              <a:ea typeface="Arial"/>
              <a:cs typeface="Arial"/>
              <a:sym typeface="Aria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151"/>
          <p:cNvSpPr/>
          <p:nvPr/>
        </p:nvSpPr>
        <p:spPr>
          <a:xfrm>
            <a:off x="3316325" y="1763438"/>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Filtering low counts genes</a:t>
            </a:r>
            <a:endParaRPr b="1" sz="900"/>
          </a:p>
        </p:txBody>
      </p:sp>
      <p:sp>
        <p:nvSpPr>
          <p:cNvPr id="1039" name="Google Shape;1039;p151"/>
          <p:cNvSpPr/>
          <p:nvPr/>
        </p:nvSpPr>
        <p:spPr>
          <a:xfrm>
            <a:off x="3316325" y="2882500"/>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Normalization </a:t>
            </a:r>
            <a:endParaRPr/>
          </a:p>
        </p:txBody>
      </p:sp>
      <p:sp>
        <p:nvSpPr>
          <p:cNvPr id="1040" name="Google Shape;1040;p151"/>
          <p:cNvSpPr/>
          <p:nvPr/>
        </p:nvSpPr>
        <p:spPr>
          <a:xfrm>
            <a:off x="3316325" y="3436875"/>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Fit the model</a:t>
            </a:r>
            <a:endParaRPr b="1"/>
          </a:p>
        </p:txBody>
      </p:sp>
      <p:sp>
        <p:nvSpPr>
          <p:cNvPr id="1041" name="Google Shape;1041;p151"/>
          <p:cNvSpPr/>
          <p:nvPr/>
        </p:nvSpPr>
        <p:spPr>
          <a:xfrm>
            <a:off x="3316325" y="2328124"/>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Dimensionality reduction</a:t>
            </a:r>
            <a:endParaRPr b="1"/>
          </a:p>
        </p:txBody>
      </p:sp>
      <p:sp>
        <p:nvSpPr>
          <p:cNvPr id="1042" name="Google Shape;1042;p151"/>
          <p:cNvSpPr/>
          <p:nvPr/>
        </p:nvSpPr>
        <p:spPr>
          <a:xfrm>
            <a:off x="3316325" y="592375"/>
            <a:ext cx="1993500" cy="493800"/>
          </a:xfrm>
          <a:prstGeom prst="roundRect">
            <a:avLst>
              <a:gd fmla="val 16667" name="adj"/>
            </a:avLst>
          </a:prstGeom>
          <a:solidFill>
            <a:srgbClr val="C27BA0"/>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Count matrix</a:t>
            </a:r>
            <a:endParaRPr b="1"/>
          </a:p>
        </p:txBody>
      </p:sp>
      <p:sp>
        <p:nvSpPr>
          <p:cNvPr id="1043" name="Google Shape;1043;p151"/>
          <p:cNvSpPr/>
          <p:nvPr/>
        </p:nvSpPr>
        <p:spPr>
          <a:xfrm>
            <a:off x="3316325" y="1178313"/>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Source of variability</a:t>
            </a:r>
            <a:endParaRPr b="1">
              <a:solidFill>
                <a:schemeClr val="accent2"/>
              </a:solidFill>
            </a:endParaRPr>
          </a:p>
        </p:txBody>
      </p:sp>
      <p:sp>
        <p:nvSpPr>
          <p:cNvPr id="1044" name="Google Shape;1044;p151"/>
          <p:cNvSpPr txBox="1"/>
          <p:nvPr/>
        </p:nvSpPr>
        <p:spPr>
          <a:xfrm>
            <a:off x="3471100" y="4586663"/>
            <a:ext cx="156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76912"/>
                </a:solidFill>
                <a:latin typeface="Helvetica Neue"/>
                <a:ea typeface="Helvetica Neue"/>
                <a:cs typeface="Helvetica Neue"/>
                <a:sym typeface="Helvetica Neue"/>
              </a:rPr>
              <a:t>Session 3 Demo</a:t>
            </a:r>
            <a:endParaRPr b="1">
              <a:solidFill>
                <a:srgbClr val="F76912"/>
              </a:solidFill>
              <a:latin typeface="Helvetica Neue"/>
              <a:ea typeface="Helvetica Neue"/>
              <a:cs typeface="Helvetica Neue"/>
              <a:sym typeface="Helvetica Neue"/>
            </a:endParaRPr>
          </a:p>
        </p:txBody>
      </p:sp>
      <p:sp>
        <p:nvSpPr>
          <p:cNvPr id="1045" name="Google Shape;1045;p151"/>
          <p:cNvSpPr/>
          <p:nvPr/>
        </p:nvSpPr>
        <p:spPr>
          <a:xfrm>
            <a:off x="3316325" y="3991250"/>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DEG and visualization</a:t>
            </a:r>
            <a:endParaRPr b="1"/>
          </a:p>
        </p:txBody>
      </p:sp>
      <p:sp>
        <p:nvSpPr>
          <p:cNvPr id="1046" name="Google Shape;1046;p151"/>
          <p:cNvSpPr txBox="1"/>
          <p:nvPr/>
        </p:nvSpPr>
        <p:spPr>
          <a:xfrm>
            <a:off x="54700" y="2474075"/>
            <a:ext cx="312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741B47"/>
                </a:solidFill>
                <a:latin typeface="Helvetica Neue"/>
                <a:ea typeface="Helvetica Neue"/>
                <a:cs typeface="Helvetica Neue"/>
                <a:sym typeface="Helvetica Neue"/>
              </a:rPr>
              <a:t>Session 3 Concepts: </a:t>
            </a:r>
            <a:endParaRPr b="1" sz="1200">
              <a:solidFill>
                <a:srgbClr val="741B47"/>
              </a:solidFill>
              <a:highlight>
                <a:srgbClr val="F7F6F3"/>
              </a:highlight>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152"/>
          <p:cNvSpPr txBox="1"/>
          <p:nvPr/>
        </p:nvSpPr>
        <p:spPr>
          <a:xfrm>
            <a:off x="109449" y="200456"/>
            <a:ext cx="8732100" cy="7368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lt1"/>
              </a:buClr>
              <a:buSzPts val="3300"/>
              <a:buFont typeface="Helvetica Neue"/>
              <a:buNone/>
            </a:pPr>
            <a:r>
              <a:rPr b="1" i="0" lang="en" sz="3300" u="none" cap="none" strike="noStrike">
                <a:solidFill>
                  <a:srgbClr val="0066CC"/>
                </a:solidFill>
                <a:latin typeface="Helvetica Neue"/>
                <a:ea typeface="Helvetica Neue"/>
                <a:cs typeface="Helvetica Neue"/>
                <a:sym typeface="Helvetica Neue"/>
              </a:rPr>
              <a:t>Reference for the workshop</a:t>
            </a:r>
            <a:endParaRPr b="0" i="0" sz="1100" u="none" cap="none" strike="noStrike">
              <a:solidFill>
                <a:srgbClr val="0066CC"/>
              </a:solidFill>
              <a:latin typeface="Arial"/>
              <a:ea typeface="Arial"/>
              <a:cs typeface="Arial"/>
              <a:sym typeface="Arial"/>
            </a:endParaRPr>
          </a:p>
        </p:txBody>
      </p:sp>
      <p:pic>
        <p:nvPicPr>
          <p:cNvPr id="1053" name="Google Shape;1053;p152"/>
          <p:cNvPicPr preferRelativeResize="0"/>
          <p:nvPr/>
        </p:nvPicPr>
        <p:blipFill rotWithShape="1">
          <a:blip r:embed="rId3">
            <a:alphaModFix/>
          </a:blip>
          <a:srcRect b="0" l="0" r="0" t="0"/>
          <a:stretch/>
        </p:blipFill>
        <p:spPr>
          <a:xfrm>
            <a:off x="302455" y="716201"/>
            <a:ext cx="8433386" cy="396834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p153"/>
          <p:cNvSpPr txBox="1"/>
          <p:nvPr/>
        </p:nvSpPr>
        <p:spPr>
          <a:xfrm>
            <a:off x="109449" y="200456"/>
            <a:ext cx="8732100" cy="7368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lt1"/>
              </a:buClr>
              <a:buSzPts val="3300"/>
              <a:buFont typeface="Helvetica Neue"/>
              <a:buNone/>
            </a:pPr>
            <a:r>
              <a:rPr b="1" i="0" lang="en" sz="3300" u="none" cap="none" strike="noStrike">
                <a:solidFill>
                  <a:srgbClr val="F76912"/>
                </a:solidFill>
                <a:latin typeface="Helvetica Neue"/>
                <a:ea typeface="Helvetica Neue"/>
                <a:cs typeface="Helvetica Neue"/>
                <a:sym typeface="Helvetica Neue"/>
              </a:rPr>
              <a:t>Dataset</a:t>
            </a:r>
            <a:endParaRPr b="0" i="0" sz="1100" u="none" cap="none" strike="noStrike">
              <a:solidFill>
                <a:srgbClr val="F76912"/>
              </a:solidFill>
              <a:latin typeface="Arial"/>
              <a:ea typeface="Arial"/>
              <a:cs typeface="Arial"/>
              <a:sym typeface="Arial"/>
            </a:endParaRPr>
          </a:p>
        </p:txBody>
      </p:sp>
      <p:grpSp>
        <p:nvGrpSpPr>
          <p:cNvPr id="1060" name="Google Shape;1060;p153"/>
          <p:cNvGrpSpPr/>
          <p:nvPr/>
        </p:nvGrpSpPr>
        <p:grpSpPr>
          <a:xfrm>
            <a:off x="7277764" y="1119337"/>
            <a:ext cx="1563786" cy="1933463"/>
            <a:chOff x="7522764" y="1850462"/>
            <a:chExt cx="1563786" cy="1933463"/>
          </a:xfrm>
        </p:grpSpPr>
        <p:pic>
          <p:nvPicPr>
            <p:cNvPr id="1061" name="Google Shape;1061;p153"/>
            <p:cNvPicPr preferRelativeResize="0"/>
            <p:nvPr/>
          </p:nvPicPr>
          <p:blipFill>
            <a:blip r:embed="rId3">
              <a:alphaModFix/>
            </a:blip>
            <a:stretch>
              <a:fillRect/>
            </a:stretch>
          </p:blipFill>
          <p:spPr>
            <a:xfrm>
              <a:off x="7522764" y="1850462"/>
              <a:ext cx="1468836" cy="1579394"/>
            </a:xfrm>
            <a:prstGeom prst="rect">
              <a:avLst/>
            </a:prstGeom>
            <a:noFill/>
            <a:ln>
              <a:noFill/>
            </a:ln>
          </p:spPr>
        </p:pic>
        <p:sp>
          <p:nvSpPr>
            <p:cNvPr id="1062" name="Google Shape;1062;p153"/>
            <p:cNvSpPr/>
            <p:nvPr/>
          </p:nvSpPr>
          <p:spPr>
            <a:xfrm>
              <a:off x="8315550" y="3075400"/>
              <a:ext cx="771000" cy="480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1063" name="Google Shape;1063;p153"/>
            <p:cNvSpPr/>
            <p:nvPr/>
          </p:nvSpPr>
          <p:spPr>
            <a:xfrm>
              <a:off x="8000350" y="3303625"/>
              <a:ext cx="771000" cy="480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grpSp>
      <p:sp>
        <p:nvSpPr>
          <p:cNvPr id="1064" name="Google Shape;1064;p153"/>
          <p:cNvSpPr/>
          <p:nvPr/>
        </p:nvSpPr>
        <p:spPr>
          <a:xfrm>
            <a:off x="109449" y="729731"/>
            <a:ext cx="8848200" cy="669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466C"/>
                </a:solidFill>
                <a:latin typeface="Arial"/>
                <a:ea typeface="Arial"/>
                <a:cs typeface="Arial"/>
                <a:sym typeface="Arial"/>
              </a:rPr>
              <a:t>Transcriptome analysis of luminal and basal cell subpopulations in the lactating versus pregnant mammary gland</a:t>
            </a:r>
            <a:endParaRPr b="0" i="0" sz="1100" u="none" cap="none" strike="noStrike">
              <a:solidFill>
                <a:srgbClr val="000000"/>
              </a:solidFill>
              <a:latin typeface="Arial"/>
              <a:ea typeface="Arial"/>
              <a:cs typeface="Arial"/>
              <a:sym typeface="Arial"/>
            </a:endParaRPr>
          </a:p>
        </p:txBody>
      </p:sp>
      <p:sp>
        <p:nvSpPr>
          <p:cNvPr id="1065" name="Google Shape;1065;p153"/>
          <p:cNvSpPr txBox="1"/>
          <p:nvPr/>
        </p:nvSpPr>
        <p:spPr>
          <a:xfrm>
            <a:off x="186400" y="1478375"/>
            <a:ext cx="8890500" cy="2363700"/>
          </a:xfrm>
          <a:prstGeom prst="rect">
            <a:avLst/>
          </a:prstGeom>
          <a:noFill/>
          <a:ln>
            <a:noFill/>
          </a:ln>
        </p:spPr>
        <p:txBody>
          <a:bodyPr anchorCtr="0" anchor="t" bIns="34275" lIns="68575" spcFirstLastPara="1" rIns="68575" wrap="square" tIns="34275">
            <a:noAutofit/>
          </a:bodyPr>
          <a:lstStyle/>
          <a:p>
            <a:pPr indent="-107950" lvl="0" marL="0" marR="0" rtl="0" algn="l">
              <a:lnSpc>
                <a:spcPct val="150000"/>
              </a:lnSpc>
              <a:spcBef>
                <a:spcPts val="0"/>
              </a:spcBef>
              <a:spcAft>
                <a:spcPts val="0"/>
              </a:spcAft>
              <a:buClr>
                <a:srgbClr val="002A40"/>
              </a:buClr>
              <a:buSzPts val="1700"/>
              <a:buFont typeface="Courier New"/>
              <a:buChar char="o"/>
            </a:pPr>
            <a:r>
              <a:rPr b="0" i="0" lang="en" sz="1700" u="none" cap="none" strike="noStrike">
                <a:solidFill>
                  <a:srgbClr val="002A40"/>
                </a:solidFill>
                <a:latin typeface="Helvetica Neue"/>
                <a:ea typeface="Helvetica Neue"/>
                <a:cs typeface="Helvetica Neue"/>
                <a:sym typeface="Helvetica Neue"/>
              </a:rPr>
              <a:t> GEO (gene expression omnibus) accession: </a:t>
            </a:r>
            <a:r>
              <a:rPr b="1" i="0" lang="en" sz="1700" u="none" cap="none" strike="noStrike">
                <a:solidFill>
                  <a:srgbClr val="0071AF"/>
                </a:solidFill>
                <a:latin typeface="Helvetica Neue"/>
                <a:ea typeface="Helvetica Neue"/>
                <a:cs typeface="Helvetica Neue"/>
                <a:sym typeface="Helvetica Neue"/>
              </a:rPr>
              <a:t>GSE60450</a:t>
            </a:r>
            <a:endParaRPr b="1" i="0" sz="1700" u="none" cap="none" strike="noStrike">
              <a:solidFill>
                <a:srgbClr val="0071AF"/>
              </a:solidFill>
              <a:latin typeface="Helvetica Neue"/>
              <a:ea typeface="Helvetica Neue"/>
              <a:cs typeface="Helvetica Neue"/>
              <a:sym typeface="Helvetica Neue"/>
            </a:endParaRPr>
          </a:p>
          <a:p>
            <a:pPr indent="0" lvl="0" marL="457200" marR="0" rtl="0" algn="l">
              <a:lnSpc>
                <a:spcPct val="150000"/>
              </a:lnSpc>
              <a:spcBef>
                <a:spcPts val="0"/>
              </a:spcBef>
              <a:spcAft>
                <a:spcPts val="0"/>
              </a:spcAft>
              <a:buNone/>
            </a:pPr>
            <a:r>
              <a:rPr b="1" lang="en" sz="1700">
                <a:solidFill>
                  <a:srgbClr val="0071AF"/>
                </a:solidFill>
                <a:latin typeface="Helvetica Neue"/>
                <a:ea typeface="Helvetica Neue"/>
                <a:cs typeface="Helvetica Neue"/>
                <a:sym typeface="Helvetica Neue"/>
              </a:rPr>
              <a:t>https://www.ncbi.nlm.nih.gov/gds</a:t>
            </a:r>
            <a:endParaRPr b="1" sz="1700">
              <a:solidFill>
                <a:srgbClr val="0071AF"/>
              </a:solidFill>
              <a:latin typeface="Helvetica Neue"/>
              <a:ea typeface="Helvetica Neue"/>
              <a:cs typeface="Helvetica Neue"/>
              <a:sym typeface="Helvetica Neue"/>
            </a:endParaRPr>
          </a:p>
          <a:p>
            <a:pPr indent="-107950" lvl="0" marL="0" marR="0" rtl="0" algn="l">
              <a:lnSpc>
                <a:spcPct val="150000"/>
              </a:lnSpc>
              <a:spcBef>
                <a:spcPts val="800"/>
              </a:spcBef>
              <a:spcAft>
                <a:spcPts val="0"/>
              </a:spcAft>
              <a:buClr>
                <a:srgbClr val="0071AF"/>
              </a:buClr>
              <a:buSzPts val="1700"/>
              <a:buFont typeface="Courier New"/>
              <a:buChar char="o"/>
            </a:pPr>
            <a:r>
              <a:rPr b="0" i="0" lang="en" sz="1700" u="none" cap="none" strike="noStrike">
                <a:solidFill>
                  <a:srgbClr val="0071AF"/>
                </a:solidFill>
                <a:latin typeface="Helvetica Neue"/>
                <a:ea typeface="Helvetica Neue"/>
                <a:cs typeface="Helvetica Neue"/>
                <a:sym typeface="Helvetica Neue"/>
              </a:rPr>
              <a:t> Tissue of origin</a:t>
            </a:r>
            <a:r>
              <a:rPr b="0" i="0" lang="en" sz="1700" u="none" cap="none" strike="noStrike">
                <a:solidFill>
                  <a:srgbClr val="002A40"/>
                </a:solidFill>
                <a:latin typeface="Helvetica Neue"/>
                <a:ea typeface="Helvetica Neue"/>
                <a:cs typeface="Helvetica Neue"/>
                <a:sym typeface="Helvetica Neue"/>
              </a:rPr>
              <a:t>: Mammary glands of mouse</a:t>
            </a:r>
            <a:endParaRPr b="0" i="0" sz="1100" u="none" cap="none" strike="noStrike">
              <a:solidFill>
                <a:srgbClr val="000000"/>
              </a:solidFill>
              <a:latin typeface="Arial"/>
              <a:ea typeface="Arial"/>
              <a:cs typeface="Arial"/>
              <a:sym typeface="Arial"/>
            </a:endParaRPr>
          </a:p>
          <a:p>
            <a:pPr indent="-107950" lvl="0" marL="0" marR="0" rtl="0" algn="l">
              <a:lnSpc>
                <a:spcPct val="150000"/>
              </a:lnSpc>
              <a:spcBef>
                <a:spcPts val="800"/>
              </a:spcBef>
              <a:spcAft>
                <a:spcPts val="0"/>
              </a:spcAft>
              <a:buClr>
                <a:srgbClr val="002A40"/>
              </a:buClr>
              <a:buSzPts val="1700"/>
              <a:buFont typeface="Courier New"/>
              <a:buChar char="o"/>
            </a:pPr>
            <a:r>
              <a:rPr b="0" i="0" lang="en" sz="1700" u="none" cap="none" strike="noStrike">
                <a:solidFill>
                  <a:srgbClr val="002A40"/>
                </a:solidFill>
                <a:latin typeface="Helvetica Neue"/>
                <a:ea typeface="Helvetica Neue"/>
                <a:cs typeface="Helvetica Neue"/>
                <a:sym typeface="Helvetica Neue"/>
              </a:rPr>
              <a:t> </a:t>
            </a:r>
            <a:r>
              <a:rPr b="0" i="0" lang="en" sz="1700" u="none" cap="none" strike="noStrike">
                <a:solidFill>
                  <a:srgbClr val="0071AF"/>
                </a:solidFill>
                <a:latin typeface="Helvetica Neue"/>
                <a:ea typeface="Helvetica Neue"/>
                <a:cs typeface="Helvetica Neue"/>
                <a:sym typeface="Helvetica Neue"/>
              </a:rPr>
              <a:t>Cell types</a:t>
            </a:r>
            <a:r>
              <a:rPr b="0" i="0" lang="en" sz="1700" u="none" cap="none" strike="noStrike">
                <a:solidFill>
                  <a:srgbClr val="002A40"/>
                </a:solidFill>
                <a:latin typeface="Helvetica Neue"/>
                <a:ea typeface="Helvetica Neue"/>
                <a:cs typeface="Helvetica Neue"/>
                <a:sym typeface="Helvetica Neue"/>
              </a:rPr>
              <a:t>: Basal stem-cell enriched cells (B) and committed luminal cells (L)</a:t>
            </a:r>
            <a:endParaRPr b="0" i="0" sz="1100" u="none" cap="none" strike="noStrike">
              <a:solidFill>
                <a:srgbClr val="000000"/>
              </a:solidFill>
              <a:latin typeface="Arial"/>
              <a:ea typeface="Arial"/>
              <a:cs typeface="Arial"/>
              <a:sym typeface="Arial"/>
            </a:endParaRPr>
          </a:p>
          <a:p>
            <a:pPr indent="-107950" lvl="0" marL="0" marR="0" rtl="0" algn="l">
              <a:lnSpc>
                <a:spcPct val="150000"/>
              </a:lnSpc>
              <a:spcBef>
                <a:spcPts val="800"/>
              </a:spcBef>
              <a:spcAft>
                <a:spcPts val="0"/>
              </a:spcAft>
              <a:buClr>
                <a:srgbClr val="002A40"/>
              </a:buClr>
              <a:buSzPts val="1700"/>
              <a:buFont typeface="Courier New"/>
              <a:buChar char="o"/>
            </a:pPr>
            <a:r>
              <a:rPr b="0" i="0" lang="en" sz="1700" u="none" cap="none" strike="noStrike">
                <a:solidFill>
                  <a:srgbClr val="002A40"/>
                </a:solidFill>
                <a:latin typeface="Helvetica Neue"/>
                <a:ea typeface="Helvetica Neue"/>
                <a:cs typeface="Helvetica Neue"/>
                <a:sym typeface="Helvetica Neue"/>
              </a:rPr>
              <a:t> </a:t>
            </a:r>
            <a:r>
              <a:rPr b="0" i="0" lang="en" sz="1700" u="none" cap="none" strike="noStrike">
                <a:solidFill>
                  <a:srgbClr val="0071AF"/>
                </a:solidFill>
                <a:latin typeface="Helvetica Neue"/>
                <a:ea typeface="Helvetica Neue"/>
                <a:cs typeface="Helvetica Neue"/>
                <a:sym typeface="Helvetica Neue"/>
              </a:rPr>
              <a:t>Biological conditions</a:t>
            </a:r>
            <a:r>
              <a:rPr b="0" i="0" lang="en" sz="1700" u="none" cap="none" strike="noStrike">
                <a:solidFill>
                  <a:srgbClr val="002A40"/>
                </a:solidFill>
                <a:latin typeface="Helvetica Neue"/>
                <a:ea typeface="Helvetica Neue"/>
                <a:cs typeface="Helvetica Neue"/>
                <a:sym typeface="Helvetica Neue"/>
              </a:rPr>
              <a:t>: Virgin, Lactating (2 day) and Pregnant (18.5 day)</a:t>
            </a:r>
            <a:endParaRPr b="0" i="0" sz="1100" u="none" cap="none" strike="noStrike">
              <a:solidFill>
                <a:srgbClr val="000000"/>
              </a:solidFill>
              <a:latin typeface="Arial"/>
              <a:ea typeface="Arial"/>
              <a:cs typeface="Arial"/>
              <a:sym typeface="Arial"/>
            </a:endParaRPr>
          </a:p>
          <a:p>
            <a:pPr indent="-107950" lvl="0" marL="0" marR="0" rtl="0" algn="l">
              <a:lnSpc>
                <a:spcPct val="150000"/>
              </a:lnSpc>
              <a:spcBef>
                <a:spcPts val="800"/>
              </a:spcBef>
              <a:spcAft>
                <a:spcPts val="0"/>
              </a:spcAft>
              <a:buClr>
                <a:srgbClr val="002A40"/>
              </a:buClr>
              <a:buSzPts val="1700"/>
              <a:buFont typeface="Courier New"/>
              <a:buChar char="o"/>
            </a:pPr>
            <a:r>
              <a:rPr b="0" i="0" lang="en" sz="1700" u="none" cap="none" strike="noStrike">
                <a:solidFill>
                  <a:srgbClr val="002A40"/>
                </a:solidFill>
                <a:latin typeface="Helvetica Neue"/>
                <a:ea typeface="Helvetica Neue"/>
                <a:cs typeface="Helvetica Neue"/>
                <a:sym typeface="Helvetica Neue"/>
              </a:rPr>
              <a:t> </a:t>
            </a:r>
            <a:r>
              <a:rPr b="0" i="0" lang="en" sz="1700" u="none" cap="none" strike="noStrike">
                <a:solidFill>
                  <a:srgbClr val="0071AF"/>
                </a:solidFill>
                <a:latin typeface="Helvetica Neue"/>
                <a:ea typeface="Helvetica Neue"/>
                <a:cs typeface="Helvetica Neue"/>
                <a:sym typeface="Helvetica Neue"/>
              </a:rPr>
              <a:t># of groups</a:t>
            </a:r>
            <a:r>
              <a:rPr b="0" i="0" lang="en" sz="1700" u="none" cap="none" strike="noStrike">
                <a:solidFill>
                  <a:srgbClr val="002A40"/>
                </a:solidFill>
                <a:latin typeface="Helvetica Neue"/>
                <a:ea typeface="Helvetica Neue"/>
                <a:cs typeface="Helvetica Neue"/>
                <a:sym typeface="Helvetica Neue"/>
              </a:rPr>
              <a:t>: 2 cell types (B/L)  x 3 conditions (V/L/P) = 6 groups</a:t>
            </a:r>
            <a:endParaRPr b="0" i="0" sz="1100" u="none" cap="none" strike="noStrike">
              <a:solidFill>
                <a:srgbClr val="000000"/>
              </a:solidFill>
              <a:latin typeface="Arial"/>
              <a:ea typeface="Arial"/>
              <a:cs typeface="Arial"/>
              <a:sym typeface="Arial"/>
            </a:endParaRPr>
          </a:p>
          <a:p>
            <a:pPr indent="-107950" lvl="0" marL="0" marR="0" rtl="0" algn="l">
              <a:lnSpc>
                <a:spcPct val="150000"/>
              </a:lnSpc>
              <a:spcBef>
                <a:spcPts val="800"/>
              </a:spcBef>
              <a:spcAft>
                <a:spcPts val="0"/>
              </a:spcAft>
              <a:buClr>
                <a:srgbClr val="002A40"/>
              </a:buClr>
              <a:buSzPts val="1700"/>
              <a:buFont typeface="Courier New"/>
              <a:buChar char="o"/>
            </a:pPr>
            <a:r>
              <a:rPr b="0" i="0" lang="en" sz="1700" u="none" cap="none" strike="noStrike">
                <a:solidFill>
                  <a:srgbClr val="002A40"/>
                </a:solidFill>
                <a:latin typeface="Helvetica Neue"/>
                <a:ea typeface="Helvetica Neue"/>
                <a:cs typeface="Helvetica Neue"/>
                <a:sym typeface="Helvetica Neue"/>
              </a:rPr>
              <a:t> </a:t>
            </a:r>
            <a:r>
              <a:rPr b="0" i="0" lang="en" sz="1700" u="none" cap="none" strike="noStrike">
                <a:solidFill>
                  <a:srgbClr val="0071AF"/>
                </a:solidFill>
                <a:latin typeface="Helvetica Neue"/>
                <a:ea typeface="Helvetica Neue"/>
                <a:cs typeface="Helvetica Neue"/>
                <a:sym typeface="Helvetica Neue"/>
              </a:rPr>
              <a:t># of replicates</a:t>
            </a:r>
            <a:r>
              <a:rPr b="0" i="0" lang="en" sz="1700" u="none" cap="none" strike="noStrike">
                <a:solidFill>
                  <a:srgbClr val="002A40"/>
                </a:solidFill>
                <a:latin typeface="Helvetica Neue"/>
                <a:ea typeface="Helvetica Neue"/>
                <a:cs typeface="Helvetica Neue"/>
                <a:sym typeface="Helvetica Neue"/>
              </a:rPr>
              <a:t>: 2 of each group</a:t>
            </a:r>
            <a:endParaRPr b="0" i="0" sz="1100" u="none" cap="none" strike="noStrike">
              <a:solidFill>
                <a:srgbClr val="000000"/>
              </a:solidFill>
              <a:latin typeface="Arial"/>
              <a:ea typeface="Arial"/>
              <a:cs typeface="Arial"/>
              <a:sym typeface="Arial"/>
            </a:endParaRPr>
          </a:p>
          <a:p>
            <a:pPr indent="-107950" lvl="0" marL="0" marR="0" rtl="0" algn="l">
              <a:lnSpc>
                <a:spcPct val="150000"/>
              </a:lnSpc>
              <a:spcBef>
                <a:spcPts val="800"/>
              </a:spcBef>
              <a:spcAft>
                <a:spcPts val="0"/>
              </a:spcAft>
              <a:buClr>
                <a:srgbClr val="002A40"/>
              </a:buClr>
              <a:buSzPts val="1700"/>
              <a:buFont typeface="Courier New"/>
              <a:buChar char="o"/>
            </a:pPr>
            <a:r>
              <a:rPr b="0" i="0" lang="en" sz="1700" u="none" cap="none" strike="noStrike">
                <a:solidFill>
                  <a:srgbClr val="002A40"/>
                </a:solidFill>
                <a:latin typeface="Helvetica Neue"/>
                <a:ea typeface="Helvetica Neue"/>
                <a:cs typeface="Helvetica Neue"/>
                <a:sym typeface="Helvetica Neue"/>
              </a:rPr>
              <a:t> Illumina Hiseq sequencer - about 30 million 100bp single-end reads for each sample.</a:t>
            </a:r>
            <a:endParaRPr b="0" i="0" sz="1100" u="none" cap="none" strike="noStrike">
              <a:solidFill>
                <a:srgbClr val="000000"/>
              </a:solidFill>
              <a:latin typeface="Arial"/>
              <a:ea typeface="Arial"/>
              <a:cs typeface="Arial"/>
              <a:sym typeface="Arial"/>
            </a:endParaRPr>
          </a:p>
          <a:p>
            <a:pPr indent="0" lvl="0" marL="0" marR="0" rtl="0" algn="l">
              <a:lnSpc>
                <a:spcPct val="150000"/>
              </a:lnSpc>
              <a:spcBef>
                <a:spcPts val="800"/>
              </a:spcBef>
              <a:spcAft>
                <a:spcPts val="0"/>
              </a:spcAft>
              <a:buClr>
                <a:schemeClr val="dk1"/>
              </a:buClr>
              <a:buSzPts val="1700"/>
              <a:buFont typeface="Helvetica Neue"/>
              <a:buNone/>
            </a:pPr>
            <a:r>
              <a:t/>
            </a:r>
            <a:endParaRPr b="0" i="0" sz="1700" u="none" cap="none" strike="noStrike">
              <a:solidFill>
                <a:srgbClr val="002A40"/>
              </a:solidFill>
              <a:latin typeface="Helvetica Neue"/>
              <a:ea typeface="Helvetica Neue"/>
              <a:cs typeface="Helvetica Neue"/>
              <a:sym typeface="Helvetica Neue"/>
            </a:endParaRPr>
          </a:p>
          <a:p>
            <a:pPr indent="0" lvl="0" marL="0" marR="0" rtl="0" algn="l">
              <a:lnSpc>
                <a:spcPct val="150000"/>
              </a:lnSpc>
              <a:spcBef>
                <a:spcPts val="800"/>
              </a:spcBef>
              <a:spcAft>
                <a:spcPts val="0"/>
              </a:spcAft>
              <a:buClr>
                <a:schemeClr val="dk1"/>
              </a:buClr>
              <a:buSzPts val="1700"/>
              <a:buFont typeface="Courier New"/>
              <a:buNone/>
            </a:pPr>
            <a:r>
              <a:t/>
            </a:r>
            <a:endParaRPr b="0" i="0" sz="1700" u="none" cap="none" strike="noStrike">
              <a:solidFill>
                <a:srgbClr val="002A40"/>
              </a:solidFill>
              <a:latin typeface="Helvetica Neue"/>
              <a:ea typeface="Helvetica Neue"/>
              <a:cs typeface="Helvetica Neue"/>
              <a:sym typeface="Helvetica Neue"/>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154"/>
          <p:cNvSpPr/>
          <p:nvPr/>
        </p:nvSpPr>
        <p:spPr>
          <a:xfrm>
            <a:off x="3316325" y="1763438"/>
            <a:ext cx="1993500" cy="493800"/>
          </a:xfrm>
          <a:prstGeom prst="roundRect">
            <a:avLst>
              <a:gd fmla="val 16667" name="adj"/>
            </a:avLst>
          </a:prstGeom>
          <a:solidFill>
            <a:srgbClr val="FCFCF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Filtering low counts genes</a:t>
            </a:r>
            <a:endParaRPr b="1" sz="900"/>
          </a:p>
        </p:txBody>
      </p:sp>
      <p:sp>
        <p:nvSpPr>
          <p:cNvPr id="1071" name="Google Shape;1071;p154"/>
          <p:cNvSpPr/>
          <p:nvPr/>
        </p:nvSpPr>
        <p:spPr>
          <a:xfrm>
            <a:off x="3316325" y="2882500"/>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Normalization </a:t>
            </a:r>
            <a:endParaRPr/>
          </a:p>
        </p:txBody>
      </p:sp>
      <p:sp>
        <p:nvSpPr>
          <p:cNvPr id="1072" name="Google Shape;1072;p154"/>
          <p:cNvSpPr/>
          <p:nvPr/>
        </p:nvSpPr>
        <p:spPr>
          <a:xfrm>
            <a:off x="3316325" y="3436875"/>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Fit the model</a:t>
            </a:r>
            <a:endParaRPr b="1"/>
          </a:p>
        </p:txBody>
      </p:sp>
      <p:sp>
        <p:nvSpPr>
          <p:cNvPr id="1073" name="Google Shape;1073;p154"/>
          <p:cNvSpPr/>
          <p:nvPr/>
        </p:nvSpPr>
        <p:spPr>
          <a:xfrm>
            <a:off x="3316325" y="2328124"/>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Dimensionality reduction</a:t>
            </a:r>
            <a:endParaRPr b="1"/>
          </a:p>
        </p:txBody>
      </p:sp>
      <p:sp>
        <p:nvSpPr>
          <p:cNvPr id="1074" name="Google Shape;1074;p154"/>
          <p:cNvSpPr/>
          <p:nvPr/>
        </p:nvSpPr>
        <p:spPr>
          <a:xfrm>
            <a:off x="3316325" y="592375"/>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Count matrix</a:t>
            </a:r>
            <a:endParaRPr b="1"/>
          </a:p>
        </p:txBody>
      </p:sp>
      <p:sp>
        <p:nvSpPr>
          <p:cNvPr id="1075" name="Google Shape;1075;p154"/>
          <p:cNvSpPr/>
          <p:nvPr/>
        </p:nvSpPr>
        <p:spPr>
          <a:xfrm>
            <a:off x="3316325" y="1178313"/>
            <a:ext cx="1993500" cy="493800"/>
          </a:xfrm>
          <a:prstGeom prst="roundRect">
            <a:avLst>
              <a:gd fmla="val 16667" name="adj"/>
            </a:avLst>
          </a:prstGeom>
          <a:solidFill>
            <a:srgbClr val="D5A6BD"/>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Source of variability</a:t>
            </a:r>
            <a:endParaRPr b="1">
              <a:solidFill>
                <a:schemeClr val="accent2"/>
              </a:solidFill>
            </a:endParaRPr>
          </a:p>
        </p:txBody>
      </p:sp>
      <p:sp>
        <p:nvSpPr>
          <p:cNvPr id="1076" name="Google Shape;1076;p154"/>
          <p:cNvSpPr txBox="1"/>
          <p:nvPr/>
        </p:nvSpPr>
        <p:spPr>
          <a:xfrm>
            <a:off x="3471100" y="4586663"/>
            <a:ext cx="156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76912"/>
                </a:solidFill>
                <a:latin typeface="Helvetica Neue"/>
                <a:ea typeface="Helvetica Neue"/>
                <a:cs typeface="Helvetica Neue"/>
                <a:sym typeface="Helvetica Neue"/>
              </a:rPr>
              <a:t>Session 3 Demo</a:t>
            </a:r>
            <a:endParaRPr b="1">
              <a:solidFill>
                <a:srgbClr val="F76912"/>
              </a:solidFill>
              <a:latin typeface="Helvetica Neue"/>
              <a:ea typeface="Helvetica Neue"/>
              <a:cs typeface="Helvetica Neue"/>
              <a:sym typeface="Helvetica Neue"/>
            </a:endParaRPr>
          </a:p>
        </p:txBody>
      </p:sp>
      <p:sp>
        <p:nvSpPr>
          <p:cNvPr id="1077" name="Google Shape;1077;p154"/>
          <p:cNvSpPr/>
          <p:nvPr/>
        </p:nvSpPr>
        <p:spPr>
          <a:xfrm>
            <a:off x="3316325" y="3991250"/>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DEG and visualization</a:t>
            </a:r>
            <a:endParaRPr b="1"/>
          </a:p>
        </p:txBody>
      </p:sp>
      <p:sp>
        <p:nvSpPr>
          <p:cNvPr id="1078" name="Google Shape;1078;p154"/>
          <p:cNvSpPr txBox="1"/>
          <p:nvPr/>
        </p:nvSpPr>
        <p:spPr>
          <a:xfrm>
            <a:off x="54700" y="2474075"/>
            <a:ext cx="312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741B47"/>
                </a:solidFill>
                <a:latin typeface="Helvetica Neue"/>
                <a:ea typeface="Helvetica Neue"/>
                <a:cs typeface="Helvetica Neue"/>
                <a:sym typeface="Helvetica Neue"/>
              </a:rPr>
              <a:t>Session 3 Concepts: </a:t>
            </a:r>
            <a:endParaRPr b="1" sz="1200">
              <a:solidFill>
                <a:srgbClr val="741B47"/>
              </a:solidFill>
              <a:highlight>
                <a:srgbClr val="F7F6F3"/>
              </a:highlight>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pic>
        <p:nvPicPr>
          <p:cNvPr id="1083" name="Google Shape;1083;p155"/>
          <p:cNvPicPr preferRelativeResize="0"/>
          <p:nvPr/>
        </p:nvPicPr>
        <p:blipFill rotWithShape="1">
          <a:blip r:embed="rId3">
            <a:alphaModFix/>
          </a:blip>
          <a:srcRect b="0" l="0" r="0" t="0"/>
          <a:stretch/>
        </p:blipFill>
        <p:spPr>
          <a:xfrm>
            <a:off x="360375" y="433737"/>
            <a:ext cx="8015175" cy="4276025"/>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156"/>
          <p:cNvSpPr txBox="1"/>
          <p:nvPr/>
        </p:nvSpPr>
        <p:spPr>
          <a:xfrm>
            <a:off x="181336" y="137151"/>
            <a:ext cx="8962800"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2700"/>
              <a:buFont typeface="Helvetica Neue"/>
              <a:buNone/>
            </a:pPr>
            <a:r>
              <a:rPr b="1" lang="en" sz="2700">
                <a:solidFill>
                  <a:srgbClr val="F76912"/>
                </a:solidFill>
                <a:latin typeface="Helvetica Neue"/>
                <a:ea typeface="Helvetica Neue"/>
                <a:cs typeface="Helvetica Neue"/>
                <a:sym typeface="Helvetica Neue"/>
              </a:rPr>
              <a:t>Source of variability</a:t>
            </a:r>
            <a:endParaRPr b="1" sz="2700">
              <a:solidFill>
                <a:srgbClr val="F76912"/>
              </a:solidFill>
              <a:latin typeface="Helvetica Neue"/>
              <a:ea typeface="Helvetica Neue"/>
              <a:cs typeface="Helvetica Neue"/>
              <a:sym typeface="Helvetica Neue"/>
            </a:endParaRPr>
          </a:p>
          <a:p>
            <a:pPr indent="0" lvl="0" marL="0" marR="0" rtl="0" algn="l">
              <a:lnSpc>
                <a:spcPct val="90000"/>
              </a:lnSpc>
              <a:spcBef>
                <a:spcPts val="0"/>
              </a:spcBef>
              <a:spcAft>
                <a:spcPts val="0"/>
              </a:spcAft>
              <a:buClr>
                <a:schemeClr val="lt1"/>
              </a:buClr>
              <a:buSzPts val="2700"/>
              <a:buFont typeface="Helvetica Neue"/>
              <a:buNone/>
            </a:pPr>
            <a:r>
              <a:rPr b="1" lang="en" sz="2700">
                <a:solidFill>
                  <a:srgbClr val="0066CC"/>
                </a:solidFill>
                <a:latin typeface="Helvetica Neue"/>
                <a:ea typeface="Helvetica Neue"/>
                <a:cs typeface="Helvetica Neue"/>
                <a:sym typeface="Helvetica Neue"/>
              </a:rPr>
              <a:t>Visualize replicates using s M</a:t>
            </a:r>
            <a:r>
              <a:rPr b="1" i="0" lang="en" sz="2700" u="none" cap="none" strike="noStrike">
                <a:solidFill>
                  <a:srgbClr val="0066CC"/>
                </a:solidFill>
                <a:latin typeface="Helvetica Neue"/>
                <a:ea typeface="Helvetica Neue"/>
                <a:cs typeface="Helvetica Neue"/>
                <a:sym typeface="Helvetica Neue"/>
              </a:rPr>
              <a:t>D or MA plot </a:t>
            </a:r>
            <a:endParaRPr b="0" i="0" sz="2700" u="none" cap="none" strike="noStrike">
              <a:solidFill>
                <a:srgbClr val="0066CC"/>
              </a:solidFill>
              <a:latin typeface="Helvetica Neue"/>
              <a:ea typeface="Helvetica Neue"/>
              <a:cs typeface="Helvetica Neue"/>
              <a:sym typeface="Helvetica Neue"/>
            </a:endParaRPr>
          </a:p>
        </p:txBody>
      </p:sp>
      <p:pic>
        <p:nvPicPr>
          <p:cNvPr descr="Chart, scatter chart&#10;&#10;Description automatically generated" id="1090" name="Google Shape;1090;p156"/>
          <p:cNvPicPr preferRelativeResize="0"/>
          <p:nvPr/>
        </p:nvPicPr>
        <p:blipFill rotWithShape="1">
          <a:blip r:embed="rId3">
            <a:alphaModFix/>
          </a:blip>
          <a:srcRect b="9861" l="5698" r="12193" t="0"/>
          <a:stretch/>
        </p:blipFill>
        <p:spPr>
          <a:xfrm>
            <a:off x="429475" y="1072875"/>
            <a:ext cx="3574050" cy="3477551"/>
          </a:xfrm>
          <a:prstGeom prst="rect">
            <a:avLst/>
          </a:prstGeom>
          <a:noFill/>
          <a:ln>
            <a:noFill/>
          </a:ln>
        </p:spPr>
      </p:pic>
      <p:sp>
        <p:nvSpPr>
          <p:cNvPr id="1091" name="Google Shape;1091;p156"/>
          <p:cNvSpPr txBox="1"/>
          <p:nvPr/>
        </p:nvSpPr>
        <p:spPr>
          <a:xfrm>
            <a:off x="4305900" y="990975"/>
            <a:ext cx="49179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Clr>
                <a:srgbClr val="000000"/>
              </a:buClr>
              <a:buSzPts val="1400"/>
              <a:buFont typeface="Arial"/>
              <a:buNone/>
            </a:pPr>
            <a:r>
              <a:t/>
            </a:r>
            <a:endParaRPr i="0" u="none" cap="none" strike="noStrike">
              <a:solidFill>
                <a:srgbClr val="000000"/>
              </a:solidFill>
              <a:latin typeface="Helvetica Neue Light"/>
              <a:ea typeface="Helvetica Neue Light"/>
              <a:cs typeface="Helvetica Neue Light"/>
              <a:sym typeface="Helvetica Neue Light"/>
            </a:endParaRPr>
          </a:p>
        </p:txBody>
      </p:sp>
      <p:sp>
        <p:nvSpPr>
          <p:cNvPr id="1092" name="Google Shape;1092;p156"/>
          <p:cNvSpPr txBox="1"/>
          <p:nvPr/>
        </p:nvSpPr>
        <p:spPr>
          <a:xfrm>
            <a:off x="501075" y="4550425"/>
            <a:ext cx="3967500" cy="3783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Helvetica Neue"/>
                <a:ea typeface="Helvetica Neue"/>
                <a:cs typeface="Helvetica Neue"/>
                <a:sym typeface="Helvetica Neue"/>
              </a:rPr>
              <a:t>Average</a:t>
            </a:r>
            <a:r>
              <a:rPr lang="en" sz="1200">
                <a:solidFill>
                  <a:schemeClr val="dk1"/>
                </a:solidFill>
                <a:latin typeface="Helvetica Neue"/>
                <a:ea typeface="Helvetica Neue"/>
                <a:cs typeface="Helvetica Neue"/>
                <a:sym typeface="Helvetica Neue"/>
              </a:rPr>
              <a:t> expression between sample A and sample B</a:t>
            </a:r>
            <a:endParaRPr sz="1000">
              <a:solidFill>
                <a:schemeClr val="dk1"/>
              </a:solidFill>
              <a:latin typeface="Helvetica Neue"/>
              <a:ea typeface="Helvetica Neue"/>
              <a:cs typeface="Helvetica Neue"/>
              <a:sym typeface="Helvetica Neue"/>
            </a:endParaRPr>
          </a:p>
        </p:txBody>
      </p:sp>
      <p:sp>
        <p:nvSpPr>
          <p:cNvPr id="1093" name="Google Shape;1093;p156"/>
          <p:cNvSpPr txBox="1"/>
          <p:nvPr/>
        </p:nvSpPr>
        <p:spPr>
          <a:xfrm rot="-5400000">
            <a:off x="-1370825" y="2433175"/>
            <a:ext cx="3263100" cy="3783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dk1"/>
                </a:solidFill>
                <a:latin typeface="Helvetica Neue"/>
                <a:ea typeface="Helvetica Neue"/>
                <a:cs typeface="Helvetica Neue"/>
                <a:sym typeface="Helvetica Neue"/>
              </a:rPr>
              <a:t>Log2 differences sample A and sample B</a:t>
            </a:r>
            <a:endParaRPr sz="1300">
              <a:solidFill>
                <a:schemeClr val="dk1"/>
              </a:solidFill>
              <a:latin typeface="Helvetica Neue"/>
              <a:ea typeface="Helvetica Neue"/>
              <a:cs typeface="Helvetica Neue"/>
              <a:sym typeface="Helvetica Neue"/>
            </a:endParaRPr>
          </a:p>
        </p:txBody>
      </p:sp>
      <p:sp>
        <p:nvSpPr>
          <p:cNvPr id="1094" name="Google Shape;1094;p156"/>
          <p:cNvSpPr txBox="1"/>
          <p:nvPr/>
        </p:nvSpPr>
        <p:spPr>
          <a:xfrm>
            <a:off x="4798650" y="1740450"/>
            <a:ext cx="3932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latin typeface="Helvetica Neue"/>
                <a:ea typeface="Helvetica Neue"/>
                <a:cs typeface="Helvetica Neue"/>
                <a:sym typeface="Helvetica Neue"/>
              </a:rPr>
              <a:t>Sample A - </a:t>
            </a:r>
            <a:r>
              <a:rPr lang="en" sz="2100">
                <a:solidFill>
                  <a:schemeClr val="dk1"/>
                </a:solidFill>
                <a:latin typeface="Helvetica Neue"/>
                <a:ea typeface="Helvetica Neue"/>
                <a:cs typeface="Helvetica Neue"/>
                <a:sym typeface="Helvetica Neue"/>
              </a:rPr>
              <a:t>expression gene 1</a:t>
            </a:r>
            <a:endParaRPr sz="21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 sz="2100">
                <a:solidFill>
                  <a:schemeClr val="dk1"/>
                </a:solidFill>
                <a:latin typeface="Helvetica Neue"/>
                <a:ea typeface="Helvetica Neue"/>
                <a:cs typeface="Helvetica Neue"/>
                <a:sym typeface="Helvetica Neue"/>
              </a:rPr>
              <a:t>Sample B - </a:t>
            </a:r>
            <a:r>
              <a:rPr lang="en" sz="2100">
                <a:solidFill>
                  <a:schemeClr val="dk1"/>
                </a:solidFill>
                <a:latin typeface="Helvetica Neue"/>
                <a:ea typeface="Helvetica Neue"/>
                <a:cs typeface="Helvetica Neue"/>
                <a:sym typeface="Helvetica Neue"/>
              </a:rPr>
              <a:t>expression gene 1</a:t>
            </a:r>
            <a:endParaRPr sz="2100">
              <a:solidFill>
                <a:schemeClr val="dk1"/>
              </a:solidFill>
              <a:latin typeface="Helvetica Neue"/>
              <a:ea typeface="Helvetica Neue"/>
              <a:cs typeface="Helvetica Neue"/>
              <a:sym typeface="Helvetica Neue"/>
            </a:endParaRPr>
          </a:p>
        </p:txBody>
      </p:sp>
      <p:sp>
        <p:nvSpPr>
          <p:cNvPr id="1095" name="Google Shape;1095;p156"/>
          <p:cNvSpPr txBox="1"/>
          <p:nvPr/>
        </p:nvSpPr>
        <p:spPr>
          <a:xfrm>
            <a:off x="3360813" y="986128"/>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Helvetica Neue"/>
                <a:ea typeface="Helvetica Neue"/>
                <a:cs typeface="Helvetica Neue"/>
                <a:sym typeface="Helvetica Neue"/>
              </a:rPr>
              <a:t>gene 1</a:t>
            </a:r>
            <a:endParaRPr sz="1200">
              <a:solidFill>
                <a:schemeClr val="dk1"/>
              </a:solidFill>
              <a:latin typeface="Helvetica Neue"/>
              <a:ea typeface="Helvetica Neue"/>
              <a:cs typeface="Helvetica Neue"/>
              <a:sym typeface="Helvetica Neue"/>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157"/>
          <p:cNvSpPr txBox="1"/>
          <p:nvPr/>
        </p:nvSpPr>
        <p:spPr>
          <a:xfrm>
            <a:off x="181336" y="137151"/>
            <a:ext cx="8962663"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3000"/>
              <a:buFont typeface="Helvetica Neue"/>
              <a:buNone/>
            </a:pPr>
            <a:r>
              <a:rPr b="1" lang="en" sz="3000">
                <a:solidFill>
                  <a:srgbClr val="0066CC"/>
                </a:solidFill>
                <a:latin typeface="Helvetica Neue"/>
                <a:ea typeface="Helvetica Neue"/>
                <a:cs typeface="Helvetica Neue"/>
                <a:sym typeface="Helvetica Neue"/>
              </a:rPr>
              <a:t>We need to detect and correct for the sources of bias</a:t>
            </a:r>
            <a:endParaRPr b="1" i="0" sz="2900" u="none" cap="none" strike="noStrike">
              <a:solidFill>
                <a:srgbClr val="0066CC"/>
              </a:solidFill>
              <a:latin typeface="Helvetica Neue"/>
              <a:ea typeface="Helvetica Neue"/>
              <a:cs typeface="Helvetica Neue"/>
              <a:sym typeface="Helvetica Neue"/>
            </a:endParaRPr>
          </a:p>
        </p:txBody>
      </p:sp>
      <p:sp>
        <p:nvSpPr>
          <p:cNvPr id="1102" name="Google Shape;1102;p157"/>
          <p:cNvSpPr/>
          <p:nvPr/>
        </p:nvSpPr>
        <p:spPr>
          <a:xfrm>
            <a:off x="181324" y="952550"/>
            <a:ext cx="8802900" cy="370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rgbClr val="002B42"/>
                </a:solidFill>
              </a:rPr>
              <a:t>Sample A has more counts assigned to these 3 genes </a:t>
            </a:r>
            <a:r>
              <a:rPr lang="en" sz="1800">
                <a:solidFill>
                  <a:srgbClr val="002B42"/>
                </a:solidFill>
              </a:rPr>
              <a:t>compared</a:t>
            </a:r>
            <a:r>
              <a:rPr lang="en" sz="1800">
                <a:solidFill>
                  <a:srgbClr val="002B42"/>
                </a:solidFill>
              </a:rPr>
              <a:t> to sample B </a:t>
            </a:r>
            <a:endParaRPr b="0" i="0" sz="1100" u="none" cap="none" strike="noStrike">
              <a:solidFill>
                <a:srgbClr val="000000"/>
              </a:solidFill>
              <a:latin typeface="Arial"/>
              <a:ea typeface="Arial"/>
              <a:cs typeface="Arial"/>
              <a:sym typeface="Arial"/>
            </a:endParaRPr>
          </a:p>
        </p:txBody>
      </p:sp>
      <p:sp>
        <p:nvSpPr>
          <p:cNvPr id="1103" name="Google Shape;1103;p157"/>
          <p:cNvSpPr txBox="1"/>
          <p:nvPr/>
        </p:nvSpPr>
        <p:spPr>
          <a:xfrm>
            <a:off x="58200" y="4384375"/>
            <a:ext cx="9027600" cy="71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 sz="1900">
                <a:solidFill>
                  <a:srgbClr val="F76912"/>
                </a:solidFill>
                <a:latin typeface="Helvetica Neue"/>
                <a:ea typeface="Helvetica Neue"/>
                <a:cs typeface="Helvetica Neue"/>
                <a:sym typeface="Helvetica Neue"/>
              </a:rPr>
              <a:t>Source of bias: Sequencing depth (or library size or total number of reads) of each sample</a:t>
            </a:r>
            <a:endParaRPr sz="300">
              <a:solidFill>
                <a:srgbClr val="F76912"/>
              </a:solidFill>
            </a:endParaRPr>
          </a:p>
        </p:txBody>
      </p:sp>
      <p:grpSp>
        <p:nvGrpSpPr>
          <p:cNvPr id="1104" name="Google Shape;1104;p157"/>
          <p:cNvGrpSpPr/>
          <p:nvPr/>
        </p:nvGrpSpPr>
        <p:grpSpPr>
          <a:xfrm>
            <a:off x="1710731" y="1422371"/>
            <a:ext cx="3625368" cy="2342979"/>
            <a:chOff x="1710731" y="1422371"/>
            <a:chExt cx="3625368" cy="2342979"/>
          </a:xfrm>
        </p:grpSpPr>
        <p:pic>
          <p:nvPicPr>
            <p:cNvPr descr="A picture containing graphical user interface&#10;&#10;Description automatically generated" id="1105" name="Google Shape;1105;p157"/>
            <p:cNvPicPr preferRelativeResize="0"/>
            <p:nvPr/>
          </p:nvPicPr>
          <p:blipFill rotWithShape="1">
            <a:blip r:embed="rId3">
              <a:alphaModFix/>
            </a:blip>
            <a:srcRect b="0" l="0" r="51198" t="0"/>
            <a:stretch/>
          </p:blipFill>
          <p:spPr>
            <a:xfrm>
              <a:off x="3602823" y="1456655"/>
              <a:ext cx="1733275" cy="2286325"/>
            </a:xfrm>
            <a:prstGeom prst="rect">
              <a:avLst/>
            </a:prstGeom>
            <a:noFill/>
            <a:ln>
              <a:noFill/>
            </a:ln>
          </p:spPr>
        </p:pic>
        <p:pic>
          <p:nvPicPr>
            <p:cNvPr descr="A picture containing graphical user interface&#10;&#10;Description automatically generated" id="1106" name="Google Shape;1106;p157"/>
            <p:cNvPicPr preferRelativeResize="0"/>
            <p:nvPr/>
          </p:nvPicPr>
          <p:blipFill rotWithShape="1">
            <a:blip r:embed="rId3">
              <a:alphaModFix/>
            </a:blip>
            <a:srcRect b="0" l="55038" r="0" t="0"/>
            <a:stretch/>
          </p:blipFill>
          <p:spPr>
            <a:xfrm>
              <a:off x="1710731" y="1479025"/>
              <a:ext cx="1596926" cy="2286325"/>
            </a:xfrm>
            <a:prstGeom prst="rect">
              <a:avLst/>
            </a:prstGeom>
            <a:noFill/>
            <a:ln>
              <a:noFill/>
            </a:ln>
          </p:spPr>
        </p:pic>
        <p:sp>
          <p:nvSpPr>
            <p:cNvPr id="1107" name="Google Shape;1107;p157"/>
            <p:cNvSpPr txBox="1"/>
            <p:nvPr/>
          </p:nvSpPr>
          <p:spPr>
            <a:xfrm>
              <a:off x="1846667" y="1422667"/>
              <a:ext cx="1665600" cy="226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Helvetica Neue"/>
                  <a:ea typeface="Helvetica Neue"/>
                  <a:cs typeface="Helvetica Neue"/>
                  <a:sym typeface="Helvetica Neue"/>
                </a:rPr>
                <a:t>Sample A</a:t>
              </a:r>
              <a:endParaRPr b="1" sz="1200">
                <a:solidFill>
                  <a:schemeClr val="dk1"/>
                </a:solidFill>
                <a:highlight>
                  <a:schemeClr val="lt1"/>
                </a:highlight>
                <a:latin typeface="Helvetica Neue"/>
                <a:ea typeface="Helvetica Neue"/>
                <a:cs typeface="Helvetica Neue"/>
                <a:sym typeface="Helvetica Neue"/>
              </a:endParaRPr>
            </a:p>
          </p:txBody>
        </p:sp>
        <p:sp>
          <p:nvSpPr>
            <p:cNvPr id="1108" name="Google Shape;1108;p157"/>
            <p:cNvSpPr txBox="1"/>
            <p:nvPr/>
          </p:nvSpPr>
          <p:spPr>
            <a:xfrm>
              <a:off x="3665535" y="1422371"/>
              <a:ext cx="1665600" cy="226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Helvetica Neue"/>
                  <a:ea typeface="Helvetica Neue"/>
                  <a:cs typeface="Helvetica Neue"/>
                  <a:sym typeface="Helvetica Neue"/>
                </a:rPr>
                <a:t>Sample B</a:t>
              </a:r>
              <a:endParaRPr b="1" sz="1200">
                <a:solidFill>
                  <a:schemeClr val="dk1"/>
                </a:solidFill>
                <a:highlight>
                  <a:schemeClr val="lt1"/>
                </a:highlight>
                <a:latin typeface="Helvetica Neue"/>
                <a:ea typeface="Helvetica Neue"/>
                <a:cs typeface="Helvetica Neue"/>
                <a:sym typeface="Helvetica Neue"/>
              </a:endParaRPr>
            </a:p>
          </p:txBody>
        </p:sp>
      </p:gr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sp>
        <p:nvSpPr>
          <p:cNvPr id="1114" name="Google Shape;1114;p158"/>
          <p:cNvSpPr txBox="1"/>
          <p:nvPr/>
        </p:nvSpPr>
        <p:spPr>
          <a:xfrm>
            <a:off x="181336" y="137151"/>
            <a:ext cx="8962800"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3000"/>
              <a:buFont typeface="Helvetica Neue"/>
              <a:buNone/>
            </a:pPr>
            <a:r>
              <a:rPr b="1" i="0" lang="en" sz="3000" u="none" cap="none" strike="noStrike">
                <a:solidFill>
                  <a:srgbClr val="0066CC"/>
                </a:solidFill>
                <a:latin typeface="Helvetica Neue"/>
                <a:ea typeface="Helvetica Neue"/>
                <a:cs typeface="Helvetica Neue"/>
                <a:sym typeface="Helvetica Neue"/>
              </a:rPr>
              <a:t>Different sequence depths may cause variation in counts</a:t>
            </a:r>
            <a:endParaRPr b="0" i="0" sz="1100" u="none" cap="none" strike="noStrike">
              <a:solidFill>
                <a:srgbClr val="0066CC"/>
              </a:solidFill>
              <a:latin typeface="Arial"/>
              <a:ea typeface="Arial"/>
              <a:cs typeface="Arial"/>
              <a:sym typeface="Arial"/>
            </a:endParaRPr>
          </a:p>
        </p:txBody>
      </p:sp>
      <p:sp>
        <p:nvSpPr>
          <p:cNvPr id="1115" name="Google Shape;1115;p158"/>
          <p:cNvSpPr txBox="1"/>
          <p:nvPr/>
        </p:nvSpPr>
        <p:spPr>
          <a:xfrm>
            <a:off x="628650" y="1407362"/>
            <a:ext cx="7886700" cy="290700"/>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rgbClr val="002A40"/>
              </a:buClr>
              <a:buSzPts val="2100"/>
              <a:buFont typeface="Helvetica Neue"/>
              <a:buNone/>
            </a:pPr>
            <a:r>
              <a:rPr b="0" i="0" lang="en" sz="2100" u="none" cap="none" strike="noStrike">
                <a:solidFill>
                  <a:srgbClr val="002A40"/>
                </a:solidFill>
                <a:latin typeface="Helvetica Neue"/>
                <a:ea typeface="Helvetica Neue"/>
                <a:cs typeface="Helvetica Neue"/>
                <a:sym typeface="Helvetica Neue"/>
              </a:rPr>
              <a:t>Variation in sequencing depths =&gt; Need to normalize counts</a:t>
            </a:r>
            <a:endParaRPr b="0" i="0" sz="1100" u="none" cap="none" strike="noStrike">
              <a:solidFill>
                <a:srgbClr val="000000"/>
              </a:solidFill>
              <a:latin typeface="Arial"/>
              <a:ea typeface="Arial"/>
              <a:cs typeface="Arial"/>
              <a:sym typeface="Arial"/>
            </a:endParaRPr>
          </a:p>
        </p:txBody>
      </p:sp>
      <p:graphicFrame>
        <p:nvGraphicFramePr>
          <p:cNvPr id="1116" name="Google Shape;1116;p158"/>
          <p:cNvGraphicFramePr/>
          <p:nvPr/>
        </p:nvGraphicFramePr>
        <p:xfrm>
          <a:off x="1563409" y="2132068"/>
          <a:ext cx="3000000" cy="3000000"/>
        </p:xfrm>
        <a:graphic>
          <a:graphicData uri="http://schemas.openxmlformats.org/drawingml/2006/table">
            <a:tbl>
              <a:tblPr bandRow="1" firstRow="1">
                <a:noFill/>
                <a:tableStyleId>{6C27299E-4DA1-4E46-9203-94E8517C1BA5}</a:tableStyleId>
              </a:tblPr>
              <a:tblGrid>
                <a:gridCol w="1157450"/>
                <a:gridCol w="1157450"/>
              </a:tblGrid>
              <a:tr h="27812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Group</a:t>
                      </a:r>
                      <a:endParaRPr sz="1100" u="none" cap="none" strike="noStrike"/>
                    </a:p>
                  </a:txBody>
                  <a:tcPr marT="34300" marB="34300" marR="68600" marL="68600"/>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Total counts</a:t>
                      </a:r>
                      <a:endParaRPr sz="1100" u="none" cap="none" strike="noStrike"/>
                    </a:p>
                  </a:txBody>
                  <a:tcPr marT="34300" marB="34300" marR="68600" marL="68600"/>
                </a:tc>
              </a:tr>
              <a:tr h="278125">
                <a:tc>
                  <a:txBody>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erriweather Sans"/>
                        <a:ea typeface="Merriweather Sans"/>
                        <a:cs typeface="Merriweather Sans"/>
                        <a:sym typeface="Merriweather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erriweather Sans"/>
                          <a:ea typeface="Merriweather Sans"/>
                          <a:cs typeface="Merriweather Sans"/>
                          <a:sym typeface="Merriweather Sans"/>
                        </a:rPr>
                        <a:t>B.virgin</a:t>
                      </a:r>
                      <a:endParaRPr b="0" i="0" sz="1200" u="none" cap="none" strike="noStrike">
                        <a:solidFill>
                          <a:srgbClr val="000000"/>
                        </a:solidFill>
                        <a:latin typeface="Merriweather Sans"/>
                        <a:ea typeface="Merriweather Sans"/>
                        <a:cs typeface="Merriweather Sans"/>
                        <a:sym typeface="Merriweather Sans"/>
                      </a:endParaRPr>
                    </a:p>
                  </a:txBody>
                  <a:tcPr marT="7150" marB="0" marR="7150" marL="7150" anchor="b"/>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erriweather Sans"/>
                        <a:ea typeface="Merriweather Sans"/>
                        <a:cs typeface="Merriweather Sans"/>
                        <a:sym typeface="Merriweather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erriweather Sans"/>
                          <a:ea typeface="Merriweather Sans"/>
                          <a:cs typeface="Merriweather Sans"/>
                          <a:sym typeface="Merriweather Sans"/>
                        </a:rPr>
                        <a:t>23085177</a:t>
                      </a:r>
                      <a:endParaRPr sz="1100" u="none" cap="none" strike="noStrike"/>
                    </a:p>
                  </a:txBody>
                  <a:tcPr marT="7150" marB="0" marR="7150" marL="7150" anchor="b"/>
                </a:tc>
              </a:tr>
              <a:tr h="278125">
                <a:tc>
                  <a:txBody>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erriweather Sans"/>
                        <a:ea typeface="Merriweather Sans"/>
                        <a:cs typeface="Merriweather Sans"/>
                        <a:sym typeface="Merriweather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erriweather Sans"/>
                          <a:ea typeface="Merriweather Sans"/>
                          <a:cs typeface="Merriweather Sans"/>
                          <a:sym typeface="Merriweather Sans"/>
                        </a:rPr>
                        <a:t>B.virgin</a:t>
                      </a:r>
                      <a:endParaRPr b="0" i="0" sz="1200" u="none" cap="none" strike="noStrike">
                        <a:solidFill>
                          <a:srgbClr val="000000"/>
                        </a:solidFill>
                        <a:latin typeface="Merriweather Sans"/>
                        <a:ea typeface="Merriweather Sans"/>
                        <a:cs typeface="Merriweather Sans"/>
                        <a:sym typeface="Merriweather Sans"/>
                      </a:endParaRPr>
                    </a:p>
                  </a:txBody>
                  <a:tcPr marT="7150" marB="0" marR="7150" marL="7150" anchor="b"/>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erriweather Sans"/>
                        <a:ea typeface="Merriweather Sans"/>
                        <a:cs typeface="Merriweather Sans"/>
                        <a:sym typeface="Merriweather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erriweather Sans"/>
                          <a:ea typeface="Merriweather Sans"/>
                          <a:cs typeface="Merriweather Sans"/>
                          <a:sym typeface="Merriweather Sans"/>
                        </a:rPr>
                        <a:t>21628857</a:t>
                      </a:r>
                      <a:endParaRPr sz="1100" u="none" cap="none" strike="noStrike"/>
                    </a:p>
                  </a:txBody>
                  <a:tcPr marT="7150" marB="0" marR="7150" marL="7150" anchor="b"/>
                </a:tc>
              </a:tr>
              <a:tr h="278125">
                <a:tc>
                  <a:txBody>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erriweather Sans"/>
                        <a:ea typeface="Merriweather Sans"/>
                        <a:cs typeface="Merriweather Sans"/>
                        <a:sym typeface="Merriweather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erriweather Sans"/>
                          <a:ea typeface="Merriweather Sans"/>
                          <a:cs typeface="Merriweather Sans"/>
                          <a:sym typeface="Merriweather Sans"/>
                        </a:rPr>
                        <a:t>B.pregnant</a:t>
                      </a:r>
                      <a:endParaRPr b="0" i="0" sz="1200" u="none" cap="none" strike="noStrike">
                        <a:solidFill>
                          <a:srgbClr val="000000"/>
                        </a:solidFill>
                        <a:latin typeface="Merriweather Sans"/>
                        <a:ea typeface="Merriweather Sans"/>
                        <a:cs typeface="Merriweather Sans"/>
                        <a:sym typeface="Merriweather Sans"/>
                      </a:endParaRPr>
                    </a:p>
                  </a:txBody>
                  <a:tcPr marT="7150" marB="0" marR="7150" marL="7150" anchor="b"/>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erriweather Sans"/>
                        <a:ea typeface="Merriweather Sans"/>
                        <a:cs typeface="Merriweather Sans"/>
                        <a:sym typeface="Merriweather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erriweather Sans"/>
                          <a:ea typeface="Merriweather Sans"/>
                          <a:cs typeface="Merriweather Sans"/>
                          <a:sym typeface="Merriweather Sans"/>
                        </a:rPr>
                        <a:t>23919152</a:t>
                      </a:r>
                      <a:endParaRPr sz="1100" u="none" cap="none" strike="noStrike"/>
                    </a:p>
                  </a:txBody>
                  <a:tcPr marT="7150" marB="0" marR="7150" marL="7150" anchor="b"/>
                </a:tc>
              </a:tr>
              <a:tr h="278125">
                <a:tc>
                  <a:txBody>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erriweather Sans"/>
                        <a:ea typeface="Merriweather Sans"/>
                        <a:cs typeface="Merriweather Sans"/>
                        <a:sym typeface="Merriweather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erriweather Sans"/>
                          <a:ea typeface="Merriweather Sans"/>
                          <a:cs typeface="Merriweather Sans"/>
                          <a:sym typeface="Merriweather Sans"/>
                        </a:rPr>
                        <a:t>B.pregnant</a:t>
                      </a:r>
                      <a:endParaRPr b="0" i="0" sz="1200" u="none" cap="none" strike="noStrike">
                        <a:solidFill>
                          <a:srgbClr val="000000"/>
                        </a:solidFill>
                        <a:latin typeface="Merriweather Sans"/>
                        <a:ea typeface="Merriweather Sans"/>
                        <a:cs typeface="Merriweather Sans"/>
                        <a:sym typeface="Merriweather Sans"/>
                      </a:endParaRPr>
                    </a:p>
                  </a:txBody>
                  <a:tcPr marT="7150" marB="0" marR="7150" marL="7150" anchor="b"/>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erriweather Sans"/>
                        <a:ea typeface="Merriweather Sans"/>
                        <a:cs typeface="Merriweather Sans"/>
                        <a:sym typeface="Merriweather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erriweather Sans"/>
                          <a:ea typeface="Merriweather Sans"/>
                          <a:cs typeface="Merriweather Sans"/>
                          <a:sym typeface="Merriweather Sans"/>
                        </a:rPr>
                        <a:t>22490570</a:t>
                      </a:r>
                      <a:endParaRPr sz="1100" u="none" cap="none" strike="noStrike"/>
                    </a:p>
                  </a:txBody>
                  <a:tcPr marT="7150" marB="0" marR="7150" marL="7150" anchor="b"/>
                </a:tc>
              </a:tr>
              <a:tr h="278125">
                <a:tc>
                  <a:txBody>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erriweather Sans"/>
                        <a:ea typeface="Merriweather Sans"/>
                        <a:cs typeface="Merriweather Sans"/>
                        <a:sym typeface="Merriweather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erriweather Sans"/>
                          <a:ea typeface="Merriweather Sans"/>
                          <a:cs typeface="Merriweather Sans"/>
                          <a:sym typeface="Merriweather Sans"/>
                        </a:rPr>
                        <a:t>B.lactating</a:t>
                      </a:r>
                      <a:endParaRPr sz="1100" u="none" cap="none" strike="noStrike"/>
                    </a:p>
                  </a:txBody>
                  <a:tcPr marT="7150" marB="0" marR="7150" marL="7150" anchor="b"/>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erriweather Sans"/>
                        <a:ea typeface="Merriweather Sans"/>
                        <a:cs typeface="Merriweather Sans"/>
                        <a:sym typeface="Merriweather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erriweather Sans"/>
                          <a:ea typeface="Merriweather Sans"/>
                          <a:cs typeface="Merriweather Sans"/>
                          <a:sym typeface="Merriweather Sans"/>
                        </a:rPr>
                        <a:t>21382233</a:t>
                      </a:r>
                      <a:endParaRPr sz="1100" u="none" cap="none" strike="noStrike"/>
                    </a:p>
                  </a:txBody>
                  <a:tcPr marT="7150" marB="0" marR="7150" marL="7150" anchor="b"/>
                </a:tc>
              </a:tr>
              <a:tr h="278125">
                <a:tc>
                  <a:txBody>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erriweather Sans"/>
                        <a:ea typeface="Merriweather Sans"/>
                        <a:cs typeface="Merriweather Sans"/>
                        <a:sym typeface="Merriweather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erriweather Sans"/>
                          <a:ea typeface="Merriweather Sans"/>
                          <a:cs typeface="Merriweather Sans"/>
                          <a:sym typeface="Merriweather Sans"/>
                        </a:rPr>
                        <a:t>B.lactating</a:t>
                      </a:r>
                      <a:endParaRPr sz="1100" u="none" cap="none" strike="noStrike"/>
                    </a:p>
                  </a:txBody>
                  <a:tcPr marT="7150" marB="0" marR="7150" marL="7150" anchor="b"/>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erriweather Sans"/>
                        <a:ea typeface="Merriweather Sans"/>
                        <a:cs typeface="Merriweather Sans"/>
                        <a:sym typeface="Merriweather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erriweather Sans"/>
                          <a:ea typeface="Merriweather Sans"/>
                          <a:cs typeface="Merriweather Sans"/>
                          <a:sym typeface="Merriweather Sans"/>
                        </a:rPr>
                        <a:t>19884434</a:t>
                      </a:r>
                      <a:endParaRPr sz="1100" u="none" cap="none" strike="noStrike"/>
                    </a:p>
                  </a:txBody>
                  <a:tcPr marT="7150" marB="0" marR="7150" marL="7150" anchor="b"/>
                </a:tc>
              </a:tr>
            </a:tbl>
          </a:graphicData>
        </a:graphic>
      </p:graphicFrame>
      <p:graphicFrame>
        <p:nvGraphicFramePr>
          <p:cNvPr id="1117" name="Google Shape;1117;p158"/>
          <p:cNvGraphicFramePr/>
          <p:nvPr/>
        </p:nvGraphicFramePr>
        <p:xfrm>
          <a:off x="4945114" y="2136230"/>
          <a:ext cx="3000000" cy="3000000"/>
        </p:xfrm>
        <a:graphic>
          <a:graphicData uri="http://schemas.openxmlformats.org/drawingml/2006/table">
            <a:tbl>
              <a:tblPr bandRow="1" firstRow="1">
                <a:noFill/>
                <a:tableStyleId>{6C27299E-4DA1-4E46-9203-94E8517C1BA5}</a:tableStyleId>
              </a:tblPr>
              <a:tblGrid>
                <a:gridCol w="1212625"/>
                <a:gridCol w="1212625"/>
              </a:tblGrid>
              <a:tr h="169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Group</a:t>
                      </a:r>
                      <a:endParaRPr sz="1100" u="none" cap="none" strike="noStrike"/>
                    </a:p>
                  </a:txBody>
                  <a:tcPr marT="34300" marB="34300" marR="68600" marL="68600"/>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Total counts</a:t>
                      </a:r>
                      <a:endParaRPr sz="1100" u="none" cap="none" strike="noStrike"/>
                    </a:p>
                  </a:txBody>
                  <a:tcPr marT="34300" marB="34300" marR="68600" marL="68600"/>
                </a:tc>
              </a:tr>
              <a:tr h="362800">
                <a:tc>
                  <a:txBody>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erriweather Sans"/>
                        <a:ea typeface="Merriweather Sans"/>
                        <a:cs typeface="Merriweather Sans"/>
                        <a:sym typeface="Merriweather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erriweather Sans"/>
                          <a:ea typeface="Merriweather Sans"/>
                          <a:cs typeface="Merriweather Sans"/>
                          <a:sym typeface="Merriweather Sans"/>
                        </a:rPr>
                        <a:t>L.virgin</a:t>
                      </a:r>
                      <a:endParaRPr b="0" i="0" sz="1200" u="none" cap="none" strike="noStrike">
                        <a:solidFill>
                          <a:srgbClr val="000000"/>
                        </a:solidFill>
                        <a:latin typeface="Merriweather Sans"/>
                        <a:ea typeface="Merriweather Sans"/>
                        <a:cs typeface="Merriweather Sans"/>
                        <a:sym typeface="Merriweather Sans"/>
                      </a:endParaRPr>
                    </a:p>
                  </a:txBody>
                  <a:tcPr marT="7150" marB="0" marR="7150" marL="7150" anchor="b"/>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erriweather Sans"/>
                        <a:ea typeface="Merriweather Sans"/>
                        <a:cs typeface="Merriweather Sans"/>
                        <a:sym typeface="Merriweather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erriweather Sans"/>
                          <a:ea typeface="Merriweather Sans"/>
                          <a:cs typeface="Merriweather Sans"/>
                          <a:sym typeface="Merriweather Sans"/>
                        </a:rPr>
                        <a:t>20213223</a:t>
                      </a:r>
                      <a:endParaRPr sz="1100" u="none" cap="none" strike="noStrike"/>
                    </a:p>
                  </a:txBody>
                  <a:tcPr marT="7150" marB="0" marR="7150" marL="7150" anchor="b"/>
                </a:tc>
              </a:tr>
              <a:tr h="362800">
                <a:tc>
                  <a:txBody>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erriweather Sans"/>
                        <a:ea typeface="Merriweather Sans"/>
                        <a:cs typeface="Merriweather Sans"/>
                        <a:sym typeface="Merriweather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erriweather Sans"/>
                          <a:ea typeface="Merriweather Sans"/>
                          <a:cs typeface="Merriweather Sans"/>
                          <a:sym typeface="Merriweather Sans"/>
                        </a:rPr>
                        <a:t>L.virgin</a:t>
                      </a:r>
                      <a:endParaRPr b="0" i="0" sz="1200" u="none" cap="none" strike="noStrike">
                        <a:solidFill>
                          <a:srgbClr val="000000"/>
                        </a:solidFill>
                        <a:latin typeface="Merriweather Sans"/>
                        <a:ea typeface="Merriweather Sans"/>
                        <a:cs typeface="Merriweather Sans"/>
                        <a:sym typeface="Merriweather Sans"/>
                      </a:endParaRPr>
                    </a:p>
                  </a:txBody>
                  <a:tcPr marT="7150" marB="0" marR="7150" marL="7150" anchor="b"/>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erriweather Sans"/>
                        <a:ea typeface="Merriweather Sans"/>
                        <a:cs typeface="Merriweather Sans"/>
                        <a:sym typeface="Merriweather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erriweather Sans"/>
                          <a:ea typeface="Merriweather Sans"/>
                          <a:cs typeface="Merriweather Sans"/>
                          <a:sym typeface="Merriweather Sans"/>
                        </a:rPr>
                        <a:t>21509988</a:t>
                      </a:r>
                      <a:endParaRPr sz="1100" u="none" cap="none" strike="noStrike"/>
                    </a:p>
                  </a:txBody>
                  <a:tcPr marT="7150" marB="0" marR="7150" marL="7150" anchor="b"/>
                </a:tc>
              </a:tr>
              <a:tr h="362800">
                <a:tc>
                  <a:txBody>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erriweather Sans"/>
                        <a:ea typeface="Merriweather Sans"/>
                        <a:cs typeface="Merriweather Sans"/>
                        <a:sym typeface="Merriweather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erriweather Sans"/>
                          <a:ea typeface="Merriweather Sans"/>
                          <a:cs typeface="Merriweather Sans"/>
                          <a:sym typeface="Merriweather Sans"/>
                        </a:rPr>
                        <a:t>L.pregnant</a:t>
                      </a:r>
                      <a:endParaRPr b="0" i="0" sz="1200" u="none" cap="none" strike="noStrike">
                        <a:solidFill>
                          <a:srgbClr val="000000"/>
                        </a:solidFill>
                        <a:latin typeface="Merriweather Sans"/>
                        <a:ea typeface="Merriweather Sans"/>
                        <a:cs typeface="Merriweather Sans"/>
                        <a:sym typeface="Merriweather Sans"/>
                      </a:endParaRPr>
                    </a:p>
                  </a:txBody>
                  <a:tcPr marT="7150" marB="0" marR="7150" marL="7150" anchor="b"/>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erriweather Sans"/>
                        <a:ea typeface="Merriweather Sans"/>
                        <a:cs typeface="Merriweather Sans"/>
                        <a:sym typeface="Merriweather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erriweather Sans"/>
                          <a:ea typeface="Merriweather Sans"/>
                          <a:cs typeface="Merriweather Sans"/>
                          <a:sym typeface="Merriweather Sans"/>
                        </a:rPr>
                        <a:t>22073815</a:t>
                      </a:r>
                      <a:endParaRPr sz="1100" u="none" cap="none" strike="noStrike"/>
                    </a:p>
                  </a:txBody>
                  <a:tcPr marT="7150" marB="0" marR="7150" marL="7150" anchor="b"/>
                </a:tc>
              </a:tr>
              <a:tr h="362800">
                <a:tc>
                  <a:txBody>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erriweather Sans"/>
                        <a:ea typeface="Merriweather Sans"/>
                        <a:cs typeface="Merriweather Sans"/>
                        <a:sym typeface="Merriweather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erriweather Sans"/>
                          <a:ea typeface="Merriweather Sans"/>
                          <a:cs typeface="Merriweather Sans"/>
                          <a:sym typeface="Merriweather Sans"/>
                        </a:rPr>
                        <a:t>L.pregnant</a:t>
                      </a:r>
                      <a:endParaRPr sz="1100" u="none" cap="none" strike="noStrike"/>
                    </a:p>
                  </a:txBody>
                  <a:tcPr marT="7150" marB="0" marR="7150" marL="7150" anchor="b"/>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erriweather Sans"/>
                        <a:ea typeface="Merriweather Sans"/>
                        <a:cs typeface="Merriweather Sans"/>
                        <a:sym typeface="Merriweather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erriweather Sans"/>
                          <a:ea typeface="Merriweather Sans"/>
                          <a:cs typeface="Merriweather Sans"/>
                          <a:sym typeface="Merriweather Sans"/>
                        </a:rPr>
                        <a:t>21837341</a:t>
                      </a:r>
                      <a:endParaRPr sz="1100" u="none" cap="none" strike="noStrike"/>
                    </a:p>
                  </a:txBody>
                  <a:tcPr marT="7150" marB="0" marR="7150" marL="7150" anchor="b"/>
                </a:tc>
              </a:tr>
              <a:tr h="362800">
                <a:tc>
                  <a:txBody>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erriweather Sans"/>
                        <a:ea typeface="Merriweather Sans"/>
                        <a:cs typeface="Merriweather Sans"/>
                        <a:sym typeface="Merriweather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erriweather Sans"/>
                          <a:ea typeface="Merriweather Sans"/>
                          <a:cs typeface="Merriweather Sans"/>
                          <a:sym typeface="Merriweather Sans"/>
                        </a:rPr>
                        <a:t>L.lactating</a:t>
                      </a:r>
                      <a:endParaRPr sz="1100" u="none" cap="none" strike="noStrike"/>
                    </a:p>
                  </a:txBody>
                  <a:tcPr marT="7150" marB="0" marR="7150" marL="7150" anchor="b"/>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erriweather Sans"/>
                        <a:ea typeface="Merriweather Sans"/>
                        <a:cs typeface="Merriweather Sans"/>
                        <a:sym typeface="Merriweather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erriweather Sans"/>
                          <a:ea typeface="Merriweather Sans"/>
                          <a:cs typeface="Merriweather Sans"/>
                          <a:sym typeface="Merriweather Sans"/>
                        </a:rPr>
                        <a:t>24638939</a:t>
                      </a:r>
                      <a:endParaRPr sz="1100" u="none" cap="none" strike="noStrike"/>
                    </a:p>
                  </a:txBody>
                  <a:tcPr marT="7150" marB="0" marR="7150" marL="7150" anchor="b"/>
                </a:tc>
              </a:tr>
              <a:tr h="362800">
                <a:tc>
                  <a:txBody>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erriweather Sans"/>
                        <a:ea typeface="Merriweather Sans"/>
                        <a:cs typeface="Merriweather Sans"/>
                        <a:sym typeface="Merriweather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erriweather Sans"/>
                          <a:ea typeface="Merriweather Sans"/>
                          <a:cs typeface="Merriweather Sans"/>
                          <a:sym typeface="Merriweather Sans"/>
                        </a:rPr>
                        <a:t>L.lactating</a:t>
                      </a:r>
                      <a:endParaRPr b="0" i="0" sz="1200" u="none" cap="none" strike="noStrike">
                        <a:solidFill>
                          <a:srgbClr val="000000"/>
                        </a:solidFill>
                        <a:latin typeface="Merriweather Sans"/>
                        <a:ea typeface="Merriweather Sans"/>
                        <a:cs typeface="Merriweather Sans"/>
                        <a:sym typeface="Merriweather Sans"/>
                      </a:endParaRPr>
                    </a:p>
                  </a:txBody>
                  <a:tcPr marT="7150" marB="0" marR="7150" marL="7150" anchor="b"/>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erriweather Sans"/>
                        <a:ea typeface="Merriweather Sans"/>
                        <a:cs typeface="Merriweather Sans"/>
                        <a:sym typeface="Merriweather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Merriweather Sans"/>
                          <a:ea typeface="Merriweather Sans"/>
                          <a:cs typeface="Merriweather Sans"/>
                          <a:sym typeface="Merriweather Sans"/>
                        </a:rPr>
                        <a:t>24581591</a:t>
                      </a:r>
                      <a:endParaRPr sz="1100" u="none" cap="none" strike="noStrike"/>
                    </a:p>
                  </a:txBody>
                  <a:tcPr marT="7150" marB="0" marR="7150" marL="7150" anchor="b"/>
                </a:tc>
              </a:tr>
            </a:tbl>
          </a:graphicData>
        </a:graphic>
      </p:graphicFrame>
      <p:sp>
        <p:nvSpPr>
          <p:cNvPr id="1118" name="Google Shape;1118;p158"/>
          <p:cNvSpPr txBox="1"/>
          <p:nvPr/>
        </p:nvSpPr>
        <p:spPr>
          <a:xfrm>
            <a:off x="254775" y="4742075"/>
            <a:ext cx="33807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2A40"/>
                </a:solidFill>
                <a:latin typeface="Arial"/>
                <a:ea typeface="Arial"/>
                <a:cs typeface="Arial"/>
                <a:sym typeface="Arial"/>
              </a:rPr>
              <a:t>Library size about 20M</a:t>
            </a:r>
            <a:endParaRPr b="0" i="0" sz="1100" u="none" cap="none" strike="noStrike">
              <a:solidFill>
                <a:srgbClr val="000000"/>
              </a:solidFill>
              <a:latin typeface="Arial"/>
              <a:ea typeface="Arial"/>
              <a:cs typeface="Arial"/>
              <a:sym typeface="Arial"/>
            </a:endParaRPr>
          </a:p>
        </p:txBody>
      </p:sp>
      <p:grpSp>
        <p:nvGrpSpPr>
          <p:cNvPr id="1119" name="Google Shape;1119;p158"/>
          <p:cNvGrpSpPr/>
          <p:nvPr/>
        </p:nvGrpSpPr>
        <p:grpSpPr>
          <a:xfrm>
            <a:off x="7522764" y="1850462"/>
            <a:ext cx="1563786" cy="1933463"/>
            <a:chOff x="7522764" y="1850462"/>
            <a:chExt cx="1563786" cy="1933463"/>
          </a:xfrm>
        </p:grpSpPr>
        <p:pic>
          <p:nvPicPr>
            <p:cNvPr id="1120" name="Google Shape;1120;p158"/>
            <p:cNvPicPr preferRelativeResize="0"/>
            <p:nvPr/>
          </p:nvPicPr>
          <p:blipFill>
            <a:blip r:embed="rId3">
              <a:alphaModFix/>
            </a:blip>
            <a:stretch>
              <a:fillRect/>
            </a:stretch>
          </p:blipFill>
          <p:spPr>
            <a:xfrm>
              <a:off x="7522764" y="1850462"/>
              <a:ext cx="1468836" cy="1579394"/>
            </a:xfrm>
            <a:prstGeom prst="rect">
              <a:avLst/>
            </a:prstGeom>
            <a:noFill/>
            <a:ln>
              <a:noFill/>
            </a:ln>
          </p:spPr>
        </p:pic>
        <p:sp>
          <p:nvSpPr>
            <p:cNvPr id="1121" name="Google Shape;1121;p158"/>
            <p:cNvSpPr/>
            <p:nvPr/>
          </p:nvSpPr>
          <p:spPr>
            <a:xfrm>
              <a:off x="8315550" y="3075400"/>
              <a:ext cx="771000" cy="480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1122" name="Google Shape;1122;p158"/>
            <p:cNvSpPr/>
            <p:nvPr/>
          </p:nvSpPr>
          <p:spPr>
            <a:xfrm>
              <a:off x="8000350" y="3303625"/>
              <a:ext cx="771000" cy="480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gr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p159"/>
          <p:cNvSpPr txBox="1"/>
          <p:nvPr/>
        </p:nvSpPr>
        <p:spPr>
          <a:xfrm>
            <a:off x="181336" y="137151"/>
            <a:ext cx="8962663"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2700"/>
              <a:buFont typeface="Helvetica Neue"/>
              <a:buNone/>
            </a:pPr>
            <a:r>
              <a:rPr b="1" i="0" lang="en" sz="2500" u="none" cap="none" strike="noStrike">
                <a:solidFill>
                  <a:srgbClr val="0066CC"/>
                </a:solidFill>
                <a:latin typeface="Helvetica Neue"/>
                <a:ea typeface="Helvetica Neue"/>
                <a:cs typeface="Helvetica Neue"/>
                <a:sym typeface="Helvetica Neue"/>
              </a:rPr>
              <a:t>Sequence depth/Library size - Count Per Million mapped reads </a:t>
            </a:r>
            <a:endParaRPr b="0" i="0" sz="2500" u="none" cap="none" strike="noStrike">
              <a:solidFill>
                <a:srgbClr val="0066CC"/>
              </a:solidFill>
              <a:latin typeface="Helvetica Neue"/>
              <a:ea typeface="Helvetica Neue"/>
              <a:cs typeface="Helvetica Neue"/>
              <a:sym typeface="Helvetica Neue"/>
            </a:endParaRPr>
          </a:p>
        </p:txBody>
      </p:sp>
      <p:sp>
        <p:nvSpPr>
          <p:cNvPr id="1129" name="Google Shape;1129;p159"/>
          <p:cNvSpPr/>
          <p:nvPr/>
        </p:nvSpPr>
        <p:spPr>
          <a:xfrm>
            <a:off x="181336" y="3903946"/>
            <a:ext cx="8071800" cy="6231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accent1"/>
                </a:solidFill>
              </a:rPr>
              <a:t>A gene at least 10–15 counts in at least some libraries before it is considered to be expressed -&gt; </a:t>
            </a:r>
            <a:r>
              <a:rPr b="1" i="0" lang="en" sz="1800" u="none" cap="none" strike="noStrike">
                <a:solidFill>
                  <a:schemeClr val="accent1"/>
                </a:solidFill>
                <a:latin typeface="Helvetica Neue"/>
                <a:ea typeface="Helvetica Neue"/>
                <a:cs typeface="Helvetica Neue"/>
                <a:sym typeface="Helvetica Neue"/>
              </a:rPr>
              <a:t>Identifying the CPM that corresponds to 10-15 counts</a:t>
            </a:r>
            <a:endParaRPr b="1" i="0" sz="1800" u="none" cap="none" strike="noStrike">
              <a:solidFill>
                <a:schemeClr val="accent1"/>
              </a:solidFill>
            </a:endParaRPr>
          </a:p>
        </p:txBody>
      </p:sp>
      <p:sp>
        <p:nvSpPr>
          <p:cNvPr id="1130" name="Google Shape;1130;p159"/>
          <p:cNvSpPr/>
          <p:nvPr/>
        </p:nvSpPr>
        <p:spPr>
          <a:xfrm>
            <a:off x="181337" y="2750873"/>
            <a:ext cx="5207119" cy="900247"/>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2B42"/>
                </a:solidFill>
                <a:latin typeface="Arial"/>
                <a:ea typeface="Arial"/>
                <a:cs typeface="Arial"/>
                <a:sym typeface="Arial"/>
              </a:rPr>
              <a:t>Filter on count-per-million (CPM) values to avoid favoring genes that are expressed in larger libraries over those expressed in smaller libraries</a:t>
            </a:r>
            <a:endParaRPr b="0" i="0" sz="1100" u="none" cap="none" strike="noStrike">
              <a:solidFill>
                <a:srgbClr val="000000"/>
              </a:solidFill>
              <a:latin typeface="Arial"/>
              <a:ea typeface="Arial"/>
              <a:cs typeface="Arial"/>
              <a:sym typeface="Arial"/>
            </a:endParaRPr>
          </a:p>
        </p:txBody>
      </p:sp>
      <p:pic>
        <p:nvPicPr>
          <p:cNvPr descr="Chart, histogram&#10;&#10;Description automatically generated" id="1131" name="Google Shape;1131;p159"/>
          <p:cNvPicPr preferRelativeResize="0"/>
          <p:nvPr/>
        </p:nvPicPr>
        <p:blipFill rotWithShape="1">
          <a:blip r:embed="rId3">
            <a:alphaModFix/>
          </a:blip>
          <a:srcRect b="0" l="0" r="0" t="0"/>
          <a:stretch/>
        </p:blipFill>
        <p:spPr>
          <a:xfrm>
            <a:off x="5772744" y="928073"/>
            <a:ext cx="3124651" cy="2921751"/>
          </a:xfrm>
          <a:prstGeom prst="rect">
            <a:avLst/>
          </a:prstGeom>
          <a:noFill/>
          <a:ln>
            <a:noFill/>
          </a:ln>
        </p:spPr>
      </p:pic>
      <p:pic>
        <p:nvPicPr>
          <p:cNvPr id="1132" name="Google Shape;1132;p159"/>
          <p:cNvPicPr preferRelativeResize="0"/>
          <p:nvPr/>
        </p:nvPicPr>
        <p:blipFill rotWithShape="1">
          <a:blip r:embed="rId4">
            <a:alphaModFix/>
          </a:blip>
          <a:srcRect b="0" l="0" r="0" t="0"/>
          <a:stretch/>
        </p:blipFill>
        <p:spPr>
          <a:xfrm>
            <a:off x="246605" y="1155074"/>
            <a:ext cx="4667250" cy="609600"/>
          </a:xfrm>
          <a:prstGeom prst="rect">
            <a:avLst/>
          </a:prstGeom>
          <a:noFill/>
          <a:ln>
            <a:noFill/>
          </a:ln>
        </p:spPr>
      </p:pic>
      <p:sp>
        <p:nvSpPr>
          <p:cNvPr id="1133" name="Google Shape;1133;p159"/>
          <p:cNvSpPr txBox="1"/>
          <p:nvPr/>
        </p:nvSpPr>
        <p:spPr>
          <a:xfrm>
            <a:off x="181336" y="1862574"/>
            <a:ext cx="7153800" cy="715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i="0" lang="en" sz="1400" u="none" cap="none" strike="noStrike">
                <a:solidFill>
                  <a:srgbClr val="002A40"/>
                </a:solidFill>
              </a:rPr>
              <a:t>Sequenced one library with 5 million(M) reads.</a:t>
            </a:r>
            <a:endParaRPr i="0" sz="1100" u="none" cap="none" strike="noStrike">
              <a:solidFill>
                <a:srgbClr val="000000"/>
              </a:solidFill>
            </a:endParaRPr>
          </a:p>
          <a:p>
            <a:pPr indent="0" lvl="0" marL="0" marR="0" rtl="0" algn="l">
              <a:lnSpc>
                <a:spcPct val="100000"/>
              </a:lnSpc>
              <a:spcBef>
                <a:spcPts val="0"/>
              </a:spcBef>
              <a:spcAft>
                <a:spcPts val="0"/>
              </a:spcAft>
              <a:buClr>
                <a:srgbClr val="000000"/>
              </a:buClr>
              <a:buSzPts val="1400"/>
              <a:buFont typeface="Arial"/>
              <a:buNone/>
            </a:pPr>
            <a:r>
              <a:rPr i="0" lang="en" sz="1400" u="none" cap="none" strike="noStrike">
                <a:solidFill>
                  <a:srgbClr val="002A40"/>
                </a:solidFill>
              </a:rPr>
              <a:t>Total 4 M matched to the genome sequence</a:t>
            </a:r>
            <a:endParaRPr i="0" sz="1100" u="none" cap="none" strike="noStrike">
              <a:solidFill>
                <a:srgbClr val="000000"/>
              </a:solidFill>
            </a:endParaRPr>
          </a:p>
          <a:p>
            <a:pPr indent="0" lvl="0" marL="0" marR="0" rtl="0" algn="l">
              <a:lnSpc>
                <a:spcPct val="100000"/>
              </a:lnSpc>
              <a:spcBef>
                <a:spcPts val="0"/>
              </a:spcBef>
              <a:spcAft>
                <a:spcPts val="0"/>
              </a:spcAft>
              <a:buClr>
                <a:srgbClr val="000000"/>
              </a:buClr>
              <a:buSzPts val="1400"/>
              <a:buFont typeface="Arial"/>
              <a:buNone/>
            </a:pPr>
            <a:r>
              <a:rPr i="0" lang="en" sz="1400" u="none" cap="none" strike="noStrike">
                <a:solidFill>
                  <a:srgbClr val="002A40"/>
                </a:solidFill>
              </a:rPr>
              <a:t>5000 reads matched to a given gene</a:t>
            </a:r>
            <a:endParaRPr i="0" sz="1400" u="none" cap="none" strike="noStrike">
              <a:solidFill>
                <a:srgbClr val="002A40"/>
              </a:solidFill>
            </a:endParaRPr>
          </a:p>
        </p:txBody>
      </p:sp>
      <p:pic>
        <p:nvPicPr>
          <p:cNvPr id="1134" name="Google Shape;1134;p159"/>
          <p:cNvPicPr preferRelativeResize="0"/>
          <p:nvPr/>
        </p:nvPicPr>
        <p:blipFill rotWithShape="1">
          <a:blip r:embed="rId5">
            <a:alphaModFix/>
          </a:blip>
          <a:srcRect b="0" l="0" r="0" t="0"/>
          <a:stretch/>
        </p:blipFill>
        <p:spPr>
          <a:xfrm>
            <a:off x="3362099" y="2351462"/>
            <a:ext cx="1981201" cy="362099"/>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sp>
        <p:nvSpPr>
          <p:cNvPr id="1140" name="Google Shape;1140;p160"/>
          <p:cNvSpPr txBox="1"/>
          <p:nvPr/>
        </p:nvSpPr>
        <p:spPr>
          <a:xfrm>
            <a:off x="181336" y="137151"/>
            <a:ext cx="8962800"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2700"/>
              <a:buFont typeface="Helvetica Neue"/>
              <a:buNone/>
            </a:pPr>
            <a:r>
              <a:rPr b="1" lang="en" sz="3000">
                <a:solidFill>
                  <a:srgbClr val="0066CC"/>
                </a:solidFill>
                <a:latin typeface="Helvetica Neue"/>
                <a:ea typeface="Helvetica Neue"/>
                <a:cs typeface="Helvetica Neue"/>
                <a:sym typeface="Helvetica Neue"/>
              </a:rPr>
              <a:t>logCPM values allow</a:t>
            </a:r>
            <a:endParaRPr b="0" i="0" sz="3000" u="none" cap="none" strike="noStrike">
              <a:solidFill>
                <a:srgbClr val="0066CC"/>
              </a:solidFill>
              <a:latin typeface="Helvetica Neue"/>
              <a:ea typeface="Helvetica Neue"/>
              <a:cs typeface="Helvetica Neue"/>
              <a:sym typeface="Helvetica Neue"/>
            </a:endParaRPr>
          </a:p>
        </p:txBody>
      </p:sp>
      <p:sp>
        <p:nvSpPr>
          <p:cNvPr id="1141" name="Google Shape;1141;p160"/>
          <p:cNvSpPr txBox="1"/>
          <p:nvPr/>
        </p:nvSpPr>
        <p:spPr>
          <a:xfrm>
            <a:off x="181325" y="1114600"/>
            <a:ext cx="5889900" cy="2447400"/>
          </a:xfrm>
          <a:prstGeom prst="rect">
            <a:avLst/>
          </a:prstGeom>
          <a:noFill/>
          <a:ln>
            <a:noFill/>
          </a:ln>
        </p:spPr>
        <p:txBody>
          <a:bodyPr anchorCtr="0" anchor="t" bIns="91425" lIns="91425" spcFirstLastPara="1" rIns="91425" wrap="square" tIns="91425">
            <a:spAutoFit/>
          </a:bodyPr>
          <a:lstStyle/>
          <a:p>
            <a:pPr indent="-361950" lvl="0" marL="457200" rtl="0" algn="l">
              <a:lnSpc>
                <a:spcPct val="150000"/>
              </a:lnSpc>
              <a:spcBef>
                <a:spcPts val="0"/>
              </a:spcBef>
              <a:spcAft>
                <a:spcPts val="0"/>
              </a:spcAft>
              <a:buClr>
                <a:schemeClr val="dk1"/>
              </a:buClr>
              <a:buSzPts val="2100"/>
              <a:buFont typeface="Helvetica Neue"/>
              <a:buChar char="●"/>
            </a:pPr>
            <a:r>
              <a:rPr lang="en" sz="2100">
                <a:solidFill>
                  <a:schemeClr val="dk1"/>
                </a:solidFill>
                <a:latin typeface="Helvetica Neue"/>
                <a:ea typeface="Helvetica Neue"/>
                <a:cs typeface="Helvetica Neue"/>
                <a:sym typeface="Helvetica Neue"/>
              </a:rPr>
              <a:t>Accounting for sequencing depth</a:t>
            </a:r>
            <a:endParaRPr sz="2100">
              <a:solidFill>
                <a:schemeClr val="dk1"/>
              </a:solidFill>
              <a:latin typeface="Helvetica Neue"/>
              <a:ea typeface="Helvetica Neue"/>
              <a:cs typeface="Helvetica Neue"/>
              <a:sym typeface="Helvetica Neue"/>
            </a:endParaRPr>
          </a:p>
          <a:p>
            <a:pPr indent="-361950" lvl="0" marL="457200" rtl="0" algn="l">
              <a:lnSpc>
                <a:spcPct val="150000"/>
              </a:lnSpc>
              <a:spcBef>
                <a:spcPts val="0"/>
              </a:spcBef>
              <a:spcAft>
                <a:spcPts val="0"/>
              </a:spcAft>
              <a:buClr>
                <a:schemeClr val="dk1"/>
              </a:buClr>
              <a:buSzPts val="2100"/>
              <a:buFont typeface="Helvetica Neue"/>
              <a:buChar char="●"/>
            </a:pPr>
            <a:r>
              <a:rPr lang="en" sz="2100">
                <a:solidFill>
                  <a:schemeClr val="dk1"/>
                </a:solidFill>
                <a:latin typeface="Helvetica Neue"/>
                <a:ea typeface="Helvetica Neue"/>
                <a:cs typeface="Helvetica Neue"/>
                <a:sym typeface="Helvetica Neue"/>
              </a:rPr>
              <a:t>Filtering out low counts genes</a:t>
            </a:r>
            <a:endParaRPr sz="2100">
              <a:solidFill>
                <a:schemeClr val="dk1"/>
              </a:solidFill>
              <a:latin typeface="Helvetica Neue"/>
              <a:ea typeface="Helvetica Neue"/>
              <a:cs typeface="Helvetica Neue"/>
              <a:sym typeface="Helvetica Neue"/>
            </a:endParaRPr>
          </a:p>
          <a:p>
            <a:pPr indent="-361950" lvl="0" marL="457200" rtl="0" algn="l">
              <a:lnSpc>
                <a:spcPct val="150000"/>
              </a:lnSpc>
              <a:spcBef>
                <a:spcPts val="0"/>
              </a:spcBef>
              <a:spcAft>
                <a:spcPts val="0"/>
              </a:spcAft>
              <a:buClr>
                <a:schemeClr val="dk1"/>
              </a:buClr>
              <a:buSzPts val="2100"/>
              <a:buFont typeface="Helvetica Neue"/>
              <a:buChar char="●"/>
            </a:pPr>
            <a:r>
              <a:rPr lang="en" sz="2100">
                <a:solidFill>
                  <a:schemeClr val="dk1"/>
                </a:solidFill>
                <a:latin typeface="Helvetica Neue"/>
                <a:ea typeface="Helvetica Neue"/>
                <a:cs typeface="Helvetica Neue"/>
                <a:sym typeface="Helvetica Neue"/>
              </a:rPr>
              <a:t>Visualizing inter sample variability</a:t>
            </a:r>
            <a:endParaRPr sz="2100">
              <a:solidFill>
                <a:schemeClr val="dk1"/>
              </a:solidFill>
              <a:latin typeface="Helvetica Neue"/>
              <a:ea typeface="Helvetica Neue"/>
              <a:cs typeface="Helvetica Neue"/>
              <a:sym typeface="Helvetica Neue"/>
            </a:endParaRPr>
          </a:p>
          <a:p>
            <a:pPr indent="0" lvl="0" marL="0" rtl="0" algn="l">
              <a:lnSpc>
                <a:spcPct val="150000"/>
              </a:lnSpc>
              <a:spcBef>
                <a:spcPts val="0"/>
              </a:spcBef>
              <a:spcAft>
                <a:spcPts val="0"/>
              </a:spcAft>
              <a:buNone/>
            </a:pPr>
            <a:r>
              <a:t/>
            </a:r>
            <a:endParaRPr sz="2100">
              <a:solidFill>
                <a:schemeClr val="dk1"/>
              </a:solidFill>
              <a:latin typeface="Helvetica Neue"/>
              <a:ea typeface="Helvetica Neue"/>
              <a:cs typeface="Helvetica Neue"/>
              <a:sym typeface="Helvetica Neue"/>
            </a:endParaRPr>
          </a:p>
          <a:p>
            <a:pPr indent="0" lvl="0" marL="0" rtl="0" algn="l">
              <a:lnSpc>
                <a:spcPct val="150000"/>
              </a:lnSpc>
              <a:spcBef>
                <a:spcPts val="0"/>
              </a:spcBef>
              <a:spcAft>
                <a:spcPts val="0"/>
              </a:spcAft>
              <a:buNone/>
            </a:pPr>
            <a:r>
              <a:rPr lang="en" sz="2100">
                <a:solidFill>
                  <a:schemeClr val="dk1"/>
                </a:solidFill>
                <a:latin typeface="Helvetica Neue"/>
                <a:ea typeface="Helvetica Neue"/>
                <a:cs typeface="Helvetica Neue"/>
                <a:sym typeface="Helvetica Neue"/>
              </a:rPr>
              <a:t>Not the correct normalization for DEG analysis</a:t>
            </a:r>
            <a:endParaRPr sz="2100">
              <a:solidFill>
                <a:schemeClr val="dk1"/>
              </a:solidFill>
              <a:latin typeface="Helvetica Neue"/>
              <a:ea typeface="Helvetica Neue"/>
              <a:cs typeface="Helvetica Neue"/>
              <a:sym typeface="Helvetica Neue"/>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p161"/>
          <p:cNvSpPr/>
          <p:nvPr/>
        </p:nvSpPr>
        <p:spPr>
          <a:xfrm>
            <a:off x="3316325" y="1763438"/>
            <a:ext cx="1993500" cy="493800"/>
          </a:xfrm>
          <a:prstGeom prst="roundRect">
            <a:avLst>
              <a:gd fmla="val 16667" name="adj"/>
            </a:avLst>
          </a:prstGeom>
          <a:solidFill>
            <a:srgbClr val="D5A6BD"/>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Filtering low counts genes</a:t>
            </a:r>
            <a:endParaRPr b="1" sz="900"/>
          </a:p>
        </p:txBody>
      </p:sp>
      <p:sp>
        <p:nvSpPr>
          <p:cNvPr id="1147" name="Google Shape;1147;p161"/>
          <p:cNvSpPr/>
          <p:nvPr/>
        </p:nvSpPr>
        <p:spPr>
          <a:xfrm>
            <a:off x="3316325" y="2882500"/>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Normalization </a:t>
            </a:r>
            <a:endParaRPr/>
          </a:p>
        </p:txBody>
      </p:sp>
      <p:sp>
        <p:nvSpPr>
          <p:cNvPr id="1148" name="Google Shape;1148;p161"/>
          <p:cNvSpPr/>
          <p:nvPr/>
        </p:nvSpPr>
        <p:spPr>
          <a:xfrm>
            <a:off x="3316325" y="3436875"/>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Fit the model</a:t>
            </a:r>
            <a:endParaRPr b="1"/>
          </a:p>
        </p:txBody>
      </p:sp>
      <p:sp>
        <p:nvSpPr>
          <p:cNvPr id="1149" name="Google Shape;1149;p161"/>
          <p:cNvSpPr/>
          <p:nvPr/>
        </p:nvSpPr>
        <p:spPr>
          <a:xfrm>
            <a:off x="3316325" y="2328124"/>
            <a:ext cx="1993500" cy="493800"/>
          </a:xfrm>
          <a:prstGeom prst="roundRect">
            <a:avLst>
              <a:gd fmla="val 16667" name="adj"/>
            </a:avLst>
          </a:prstGeom>
          <a:solidFill>
            <a:srgbClr val="FCFCF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Dimensionality reduction</a:t>
            </a:r>
            <a:endParaRPr b="1"/>
          </a:p>
        </p:txBody>
      </p:sp>
      <p:sp>
        <p:nvSpPr>
          <p:cNvPr id="1150" name="Google Shape;1150;p161"/>
          <p:cNvSpPr/>
          <p:nvPr/>
        </p:nvSpPr>
        <p:spPr>
          <a:xfrm>
            <a:off x="3316325" y="592375"/>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Count matrix</a:t>
            </a:r>
            <a:endParaRPr b="1"/>
          </a:p>
        </p:txBody>
      </p:sp>
      <p:sp>
        <p:nvSpPr>
          <p:cNvPr id="1151" name="Google Shape;1151;p161"/>
          <p:cNvSpPr/>
          <p:nvPr/>
        </p:nvSpPr>
        <p:spPr>
          <a:xfrm>
            <a:off x="3316325" y="1178313"/>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Source of variability</a:t>
            </a:r>
            <a:endParaRPr b="1">
              <a:solidFill>
                <a:schemeClr val="accent2"/>
              </a:solidFill>
            </a:endParaRPr>
          </a:p>
        </p:txBody>
      </p:sp>
      <p:sp>
        <p:nvSpPr>
          <p:cNvPr id="1152" name="Google Shape;1152;p161"/>
          <p:cNvSpPr txBox="1"/>
          <p:nvPr/>
        </p:nvSpPr>
        <p:spPr>
          <a:xfrm>
            <a:off x="3471100" y="4586663"/>
            <a:ext cx="156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76912"/>
                </a:solidFill>
                <a:latin typeface="Helvetica Neue"/>
                <a:ea typeface="Helvetica Neue"/>
                <a:cs typeface="Helvetica Neue"/>
                <a:sym typeface="Helvetica Neue"/>
              </a:rPr>
              <a:t>Session 3 Demo</a:t>
            </a:r>
            <a:endParaRPr b="1">
              <a:solidFill>
                <a:srgbClr val="F76912"/>
              </a:solidFill>
              <a:latin typeface="Helvetica Neue"/>
              <a:ea typeface="Helvetica Neue"/>
              <a:cs typeface="Helvetica Neue"/>
              <a:sym typeface="Helvetica Neue"/>
            </a:endParaRPr>
          </a:p>
        </p:txBody>
      </p:sp>
      <p:sp>
        <p:nvSpPr>
          <p:cNvPr id="1153" name="Google Shape;1153;p161"/>
          <p:cNvSpPr/>
          <p:nvPr/>
        </p:nvSpPr>
        <p:spPr>
          <a:xfrm>
            <a:off x="3316325" y="3991250"/>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DEG and visualization</a:t>
            </a:r>
            <a:endParaRPr b="1"/>
          </a:p>
        </p:txBody>
      </p:sp>
      <p:sp>
        <p:nvSpPr>
          <p:cNvPr id="1154" name="Google Shape;1154;p161"/>
          <p:cNvSpPr txBox="1"/>
          <p:nvPr/>
        </p:nvSpPr>
        <p:spPr>
          <a:xfrm>
            <a:off x="54700" y="2474075"/>
            <a:ext cx="312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741B47"/>
                </a:solidFill>
                <a:latin typeface="Helvetica Neue"/>
                <a:ea typeface="Helvetica Neue"/>
                <a:cs typeface="Helvetica Neue"/>
                <a:sym typeface="Helvetica Neue"/>
              </a:rPr>
              <a:t>Session 3 Concepts: </a:t>
            </a:r>
            <a:endParaRPr b="1" sz="1200">
              <a:solidFill>
                <a:srgbClr val="741B47"/>
              </a:solidFill>
              <a:highlight>
                <a:srgbClr val="F7F6F3"/>
              </a:highlight>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9" name="Shape 1159"/>
        <p:cNvGrpSpPr/>
        <p:nvPr/>
      </p:nvGrpSpPr>
      <p:grpSpPr>
        <a:xfrm>
          <a:off x="0" y="0"/>
          <a:ext cx="0" cy="0"/>
          <a:chOff x="0" y="0"/>
          <a:chExt cx="0" cy="0"/>
        </a:xfrm>
      </p:grpSpPr>
      <p:sp>
        <p:nvSpPr>
          <p:cNvPr id="1160" name="Google Shape;1160;p162"/>
          <p:cNvSpPr txBox="1"/>
          <p:nvPr/>
        </p:nvSpPr>
        <p:spPr>
          <a:xfrm>
            <a:off x="181336" y="137151"/>
            <a:ext cx="8962800" cy="7368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lt1"/>
              </a:buClr>
              <a:buSzPts val="2700"/>
              <a:buFont typeface="Helvetica Neue"/>
              <a:buNone/>
            </a:pPr>
            <a:r>
              <a:rPr b="1" lang="en" sz="2700">
                <a:solidFill>
                  <a:srgbClr val="F76912"/>
                </a:solidFill>
                <a:latin typeface="Helvetica Neue"/>
                <a:ea typeface="Helvetica Neue"/>
                <a:cs typeface="Helvetica Neue"/>
                <a:sym typeface="Helvetica Neue"/>
              </a:rPr>
              <a:t>Filtering</a:t>
            </a:r>
            <a:endParaRPr b="1" sz="2700">
              <a:solidFill>
                <a:srgbClr val="F76912"/>
              </a:solidFill>
              <a:latin typeface="Helvetica Neue"/>
              <a:ea typeface="Helvetica Neue"/>
              <a:cs typeface="Helvetica Neue"/>
              <a:sym typeface="Helvetica Neue"/>
            </a:endParaRPr>
          </a:p>
          <a:p>
            <a:pPr indent="0" lvl="0" marL="0" marR="0" rtl="0" algn="l">
              <a:lnSpc>
                <a:spcPct val="90000"/>
              </a:lnSpc>
              <a:spcBef>
                <a:spcPts val="0"/>
              </a:spcBef>
              <a:spcAft>
                <a:spcPts val="0"/>
              </a:spcAft>
              <a:buClr>
                <a:schemeClr val="lt1"/>
              </a:buClr>
              <a:buSzPts val="2900"/>
              <a:buFont typeface="Helvetica Neue"/>
              <a:buNone/>
            </a:pPr>
            <a:r>
              <a:rPr b="1" i="0" lang="en" sz="2900" u="none" cap="none" strike="noStrike">
                <a:solidFill>
                  <a:srgbClr val="0066CC"/>
                </a:solidFill>
                <a:latin typeface="Helvetica Neue"/>
                <a:ea typeface="Helvetica Neue"/>
                <a:cs typeface="Helvetica Neue"/>
                <a:sym typeface="Helvetica Neue"/>
              </a:rPr>
              <a:t>Potential biological questions</a:t>
            </a:r>
            <a:endParaRPr b="0" i="0" sz="1100" u="none" cap="none" strike="noStrike">
              <a:solidFill>
                <a:srgbClr val="0066CC"/>
              </a:solidFill>
              <a:latin typeface="Arial"/>
              <a:ea typeface="Arial"/>
              <a:cs typeface="Arial"/>
              <a:sym typeface="Arial"/>
            </a:endParaRPr>
          </a:p>
        </p:txBody>
      </p:sp>
      <p:pic>
        <p:nvPicPr>
          <p:cNvPr id="1161" name="Google Shape;1161;p162"/>
          <p:cNvPicPr preferRelativeResize="0"/>
          <p:nvPr/>
        </p:nvPicPr>
        <p:blipFill rotWithShape="1">
          <a:blip r:embed="rId3">
            <a:alphaModFix/>
          </a:blip>
          <a:srcRect b="0" l="0" r="0" t="0"/>
          <a:stretch/>
        </p:blipFill>
        <p:spPr>
          <a:xfrm>
            <a:off x="181337" y="1234449"/>
            <a:ext cx="4583367" cy="3771900"/>
          </a:xfrm>
          <a:prstGeom prst="rect">
            <a:avLst/>
          </a:prstGeom>
          <a:noFill/>
          <a:ln>
            <a:noFill/>
          </a:ln>
        </p:spPr>
      </p:pic>
      <p:sp>
        <p:nvSpPr>
          <p:cNvPr id="1162" name="Google Shape;1162;p162"/>
          <p:cNvSpPr txBox="1"/>
          <p:nvPr/>
        </p:nvSpPr>
        <p:spPr>
          <a:xfrm>
            <a:off x="5043268" y="1458310"/>
            <a:ext cx="3472200" cy="3671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2A40"/>
                </a:solidFill>
                <a:latin typeface="Arial"/>
                <a:ea typeface="Arial"/>
                <a:cs typeface="Arial"/>
                <a:sym typeface="Arial"/>
              </a:rPr>
              <a:t>Which comparisons are we interested in?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2A4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2A40"/>
                </a:solidFill>
                <a:latin typeface="Arial"/>
                <a:ea typeface="Arial"/>
                <a:cs typeface="Arial"/>
                <a:sym typeface="Arial"/>
              </a:rPr>
              <a:t>Example: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2A40"/>
              </a:solidFill>
              <a:latin typeface="Arial"/>
              <a:ea typeface="Arial"/>
              <a:cs typeface="Arial"/>
              <a:sym typeface="Arial"/>
            </a:endParaRPr>
          </a:p>
          <a:p>
            <a:pPr indent="-254000" lvl="0" marL="254000" marR="0" rtl="0" algn="l">
              <a:lnSpc>
                <a:spcPct val="100000"/>
              </a:lnSpc>
              <a:spcBef>
                <a:spcPts val="0"/>
              </a:spcBef>
              <a:spcAft>
                <a:spcPts val="0"/>
              </a:spcAft>
              <a:buClr>
                <a:srgbClr val="002A40"/>
              </a:buClr>
              <a:buSzPts val="1800"/>
              <a:buFont typeface="Calibri"/>
              <a:buAutoNum type="arabicPeriod"/>
            </a:pPr>
            <a:r>
              <a:rPr b="0" i="0" lang="en" sz="1800" u="none" cap="none" strike="noStrike">
                <a:solidFill>
                  <a:srgbClr val="002A40"/>
                </a:solidFill>
                <a:latin typeface="Arial"/>
                <a:ea typeface="Arial"/>
                <a:cs typeface="Arial"/>
                <a:sym typeface="Arial"/>
              </a:rPr>
              <a:t>B vs L,</a:t>
            </a:r>
            <a:endParaRPr b="0" i="0" sz="1100" u="none" cap="none" strike="noStrike">
              <a:solidFill>
                <a:srgbClr val="000000"/>
              </a:solidFill>
              <a:latin typeface="Arial"/>
              <a:ea typeface="Arial"/>
              <a:cs typeface="Arial"/>
              <a:sym typeface="Arial"/>
            </a:endParaRPr>
          </a:p>
          <a:p>
            <a:pPr indent="-254000" lvl="0" marL="254000" marR="0" rtl="0" algn="l">
              <a:lnSpc>
                <a:spcPct val="100000"/>
              </a:lnSpc>
              <a:spcBef>
                <a:spcPts val="0"/>
              </a:spcBef>
              <a:spcAft>
                <a:spcPts val="0"/>
              </a:spcAft>
              <a:buClr>
                <a:srgbClr val="002A40"/>
              </a:buClr>
              <a:buSzPts val="1800"/>
              <a:buFont typeface="Calibri"/>
              <a:buAutoNum type="arabicPeriod"/>
            </a:pPr>
            <a:r>
              <a:rPr b="0" i="0" lang="en" sz="1800" u="none" cap="none" strike="noStrike">
                <a:solidFill>
                  <a:srgbClr val="002A40"/>
                </a:solidFill>
                <a:latin typeface="Arial"/>
                <a:ea typeface="Arial"/>
                <a:cs typeface="Arial"/>
                <a:sym typeface="Arial"/>
              </a:rPr>
              <a:t>B.lactating vs L.pregnant, </a:t>
            </a:r>
            <a:endParaRPr b="0" i="0" sz="1100" u="none" cap="none" strike="noStrike">
              <a:solidFill>
                <a:srgbClr val="000000"/>
              </a:solidFill>
              <a:latin typeface="Arial"/>
              <a:ea typeface="Arial"/>
              <a:cs typeface="Arial"/>
              <a:sym typeface="Arial"/>
            </a:endParaRPr>
          </a:p>
          <a:p>
            <a:pPr indent="-254000" lvl="0" marL="254000" marR="0" rtl="0" algn="l">
              <a:lnSpc>
                <a:spcPct val="100000"/>
              </a:lnSpc>
              <a:spcBef>
                <a:spcPts val="0"/>
              </a:spcBef>
              <a:spcAft>
                <a:spcPts val="0"/>
              </a:spcAft>
              <a:buClr>
                <a:srgbClr val="002A40"/>
              </a:buClr>
              <a:buSzPts val="1800"/>
              <a:buFont typeface="Calibri"/>
              <a:buAutoNum type="arabicPeriod"/>
            </a:pPr>
            <a:r>
              <a:rPr b="0" i="0" lang="en" sz="1800" u="none" cap="none" strike="noStrike">
                <a:solidFill>
                  <a:srgbClr val="002A40"/>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a:p>
            <a:pPr indent="-254000" lvl="0" marL="254000" marR="0" rtl="0" algn="l">
              <a:lnSpc>
                <a:spcPct val="100000"/>
              </a:lnSpc>
              <a:spcBef>
                <a:spcPts val="0"/>
              </a:spcBef>
              <a:spcAft>
                <a:spcPts val="0"/>
              </a:spcAft>
              <a:buClr>
                <a:srgbClr val="002A40"/>
              </a:buClr>
              <a:buSzPts val="1800"/>
              <a:buFont typeface="Calibri"/>
              <a:buAutoNum type="arabicPeriod"/>
            </a:pPr>
            <a:r>
              <a:rPr b="0" i="0" lang="en" sz="1800" u="none" cap="none" strike="noStrike">
                <a:solidFill>
                  <a:srgbClr val="002A40"/>
                </a:solidFill>
                <a:latin typeface="Arial"/>
                <a:ea typeface="Arial"/>
                <a:cs typeface="Arial"/>
                <a:sym typeface="Arial"/>
              </a:rPr>
              <a:t>All of them</a:t>
            </a:r>
            <a:endParaRPr b="0" i="0" sz="1800" u="none" cap="none" strike="noStrike">
              <a:solidFill>
                <a:srgbClr val="002A4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2A4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2A40"/>
                </a:solidFill>
                <a:latin typeface="Arial"/>
                <a:ea typeface="Arial"/>
                <a:cs typeface="Arial"/>
                <a:sym typeface="Arial"/>
              </a:rPr>
              <a:t>Or not interested in comparisons but in gene expression of one sample</a:t>
            </a:r>
            <a:endParaRPr b="0" i="0" sz="1800" u="none" cap="none" strike="noStrike">
              <a:solidFill>
                <a:srgbClr val="002A40"/>
              </a:solidFill>
              <a:latin typeface="Arial"/>
              <a:ea typeface="Arial"/>
              <a:cs typeface="Arial"/>
              <a:sym typeface="Aria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163"/>
          <p:cNvSpPr txBox="1"/>
          <p:nvPr/>
        </p:nvSpPr>
        <p:spPr>
          <a:xfrm>
            <a:off x="181336" y="137151"/>
            <a:ext cx="8962800"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2900"/>
              <a:buFont typeface="Helvetica Neue"/>
              <a:buNone/>
            </a:pPr>
            <a:r>
              <a:rPr b="1" lang="en" sz="2900">
                <a:solidFill>
                  <a:srgbClr val="0066CC"/>
                </a:solidFill>
                <a:latin typeface="Helvetica Neue"/>
                <a:ea typeface="Helvetica Neue"/>
                <a:cs typeface="Helvetica Neue"/>
                <a:sym typeface="Helvetica Neue"/>
              </a:rPr>
              <a:t>Issue: genes with low counts</a:t>
            </a:r>
            <a:endParaRPr b="0" i="0" sz="1100" u="none" cap="none" strike="noStrike">
              <a:solidFill>
                <a:srgbClr val="0066CC"/>
              </a:solidFill>
              <a:latin typeface="Arial"/>
              <a:ea typeface="Arial"/>
              <a:cs typeface="Arial"/>
              <a:sym typeface="Arial"/>
            </a:endParaRPr>
          </a:p>
        </p:txBody>
      </p:sp>
      <p:pic>
        <p:nvPicPr>
          <p:cNvPr id="1169" name="Google Shape;1169;p163"/>
          <p:cNvPicPr preferRelativeResize="0"/>
          <p:nvPr/>
        </p:nvPicPr>
        <p:blipFill rotWithShape="1">
          <a:blip r:embed="rId3">
            <a:alphaModFix/>
          </a:blip>
          <a:srcRect b="0" l="0" r="0" t="0"/>
          <a:stretch/>
        </p:blipFill>
        <p:spPr>
          <a:xfrm>
            <a:off x="265742" y="1372001"/>
            <a:ext cx="4583367" cy="3634351"/>
          </a:xfrm>
          <a:prstGeom prst="rect">
            <a:avLst/>
          </a:prstGeom>
          <a:noFill/>
          <a:ln>
            <a:noFill/>
          </a:ln>
        </p:spPr>
      </p:pic>
      <p:sp>
        <p:nvSpPr>
          <p:cNvPr id="1170" name="Google Shape;1170;p163"/>
          <p:cNvSpPr txBox="1"/>
          <p:nvPr/>
        </p:nvSpPr>
        <p:spPr>
          <a:xfrm>
            <a:off x="5218385" y="1625219"/>
            <a:ext cx="3125400" cy="13776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2A4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 sz="1700" u="none" cap="none" strike="noStrike">
                <a:solidFill>
                  <a:srgbClr val="002A40"/>
                </a:solidFill>
                <a:latin typeface="Arial"/>
                <a:ea typeface="Arial"/>
                <a:cs typeface="Arial"/>
                <a:sym typeface="Arial"/>
              </a:rPr>
              <a:t>Can we make reliable inferences for genes with very low counts? What should we consider “very low”?</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164"/>
          <p:cNvSpPr txBox="1"/>
          <p:nvPr/>
        </p:nvSpPr>
        <p:spPr>
          <a:xfrm>
            <a:off x="181336" y="137151"/>
            <a:ext cx="8962800"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3000"/>
              <a:buFont typeface="Arial"/>
              <a:buNone/>
            </a:pPr>
            <a:r>
              <a:rPr b="1" i="0" lang="en" sz="3000" u="none" cap="none" strike="noStrike">
                <a:solidFill>
                  <a:srgbClr val="0066CC"/>
                </a:solidFill>
                <a:latin typeface="Arial"/>
                <a:ea typeface="Arial"/>
                <a:cs typeface="Arial"/>
                <a:sym typeface="Arial"/>
              </a:rPr>
              <a:t>“Uninteresting” genes</a:t>
            </a:r>
            <a:br>
              <a:rPr b="1" i="0" lang="en" sz="3000" u="none" cap="none" strike="noStrike">
                <a:solidFill>
                  <a:srgbClr val="0066CC"/>
                </a:solidFill>
                <a:latin typeface="Arial"/>
                <a:ea typeface="Arial"/>
                <a:cs typeface="Arial"/>
                <a:sym typeface="Arial"/>
              </a:rPr>
            </a:br>
            <a:r>
              <a:rPr b="1" i="0" lang="en" sz="2100" u="none" cap="none" strike="noStrike">
                <a:solidFill>
                  <a:srgbClr val="0066CC"/>
                </a:solidFill>
                <a:latin typeface="Arial"/>
                <a:ea typeface="Arial"/>
                <a:cs typeface="Arial"/>
                <a:sym typeface="Arial"/>
              </a:rPr>
              <a:t>Filtering</a:t>
            </a:r>
            <a:endParaRPr b="1" i="0" sz="2900" u="none" cap="none" strike="noStrike">
              <a:solidFill>
                <a:srgbClr val="0066CC"/>
              </a:solidFill>
              <a:latin typeface="Helvetica Neue"/>
              <a:ea typeface="Helvetica Neue"/>
              <a:cs typeface="Helvetica Neue"/>
              <a:sym typeface="Helvetica Neue"/>
            </a:endParaRPr>
          </a:p>
        </p:txBody>
      </p:sp>
      <p:sp>
        <p:nvSpPr>
          <p:cNvPr id="1177" name="Google Shape;1177;p164"/>
          <p:cNvSpPr/>
          <p:nvPr/>
        </p:nvSpPr>
        <p:spPr>
          <a:xfrm>
            <a:off x="181336" y="1252967"/>
            <a:ext cx="8221500" cy="2954700"/>
          </a:xfrm>
          <a:prstGeom prst="rect">
            <a:avLst/>
          </a:prstGeom>
          <a:noFill/>
          <a:ln>
            <a:noFill/>
          </a:ln>
        </p:spPr>
        <p:txBody>
          <a:bodyPr anchorCtr="0" anchor="t" bIns="34275" lIns="68575" spcFirstLastPara="1" rIns="68575" wrap="square" tIns="34275">
            <a:noAutofit/>
          </a:bodyPr>
          <a:lstStyle/>
          <a:p>
            <a:pPr indent="-215900" lvl="0" marL="215900" marR="0" rtl="0" algn="l">
              <a:lnSpc>
                <a:spcPct val="100000"/>
              </a:lnSpc>
              <a:spcBef>
                <a:spcPts val="0"/>
              </a:spcBef>
              <a:spcAft>
                <a:spcPts val="0"/>
              </a:spcAft>
              <a:buClr>
                <a:srgbClr val="002B42"/>
              </a:buClr>
              <a:buSzPts val="2000"/>
              <a:buFont typeface="Courier New"/>
              <a:buChar char="o"/>
            </a:pPr>
            <a:r>
              <a:rPr b="0" i="1" lang="en" sz="2300" u="none" cap="none" strike="noStrike">
                <a:solidFill>
                  <a:srgbClr val="002B42"/>
                </a:solidFill>
                <a:latin typeface="Arial"/>
                <a:ea typeface="Arial"/>
                <a:cs typeface="Arial"/>
                <a:sym typeface="Arial"/>
              </a:rPr>
              <a:t>Biological point of view: </a:t>
            </a:r>
            <a:r>
              <a:rPr b="0" i="0" lang="en" sz="2000" u="none" cap="none" strike="noStrike">
                <a:solidFill>
                  <a:srgbClr val="002B42"/>
                </a:solidFill>
                <a:latin typeface="Arial"/>
                <a:ea typeface="Arial"/>
                <a:cs typeface="Arial"/>
                <a:sym typeface="Arial"/>
              </a:rPr>
              <a:t>minimal expression level of a gene -&gt; translation into a protein -&gt; biologically relevant</a:t>
            </a:r>
            <a:endParaRPr b="0" i="0" sz="1100" u="none" cap="none" strike="noStrike">
              <a:solidFill>
                <a:srgbClr val="000000"/>
              </a:solidFill>
              <a:latin typeface="Arial"/>
              <a:ea typeface="Arial"/>
              <a:cs typeface="Arial"/>
              <a:sym typeface="Arial"/>
            </a:endParaRPr>
          </a:p>
          <a:p>
            <a:pPr indent="-101600" lvl="0" marL="215900" marR="0" rtl="0" algn="l">
              <a:lnSpc>
                <a:spcPct val="100000"/>
              </a:lnSpc>
              <a:spcBef>
                <a:spcPts val="0"/>
              </a:spcBef>
              <a:spcAft>
                <a:spcPts val="0"/>
              </a:spcAft>
              <a:buClr>
                <a:schemeClr val="dk1"/>
              </a:buClr>
              <a:buSzPts val="1800"/>
              <a:buFont typeface="Courier New"/>
              <a:buNone/>
            </a:pPr>
            <a:r>
              <a:t/>
            </a:r>
            <a:endParaRPr b="0" i="1" sz="2000" u="none" cap="none" strike="noStrike">
              <a:solidFill>
                <a:srgbClr val="002B42"/>
              </a:solidFill>
              <a:latin typeface="Arial"/>
              <a:ea typeface="Arial"/>
              <a:cs typeface="Arial"/>
              <a:sym typeface="Arial"/>
            </a:endParaRPr>
          </a:p>
          <a:p>
            <a:pPr indent="-215900" lvl="0" marL="215900" marR="0" rtl="0" algn="l">
              <a:lnSpc>
                <a:spcPct val="100000"/>
              </a:lnSpc>
              <a:spcBef>
                <a:spcPts val="0"/>
              </a:spcBef>
              <a:spcAft>
                <a:spcPts val="0"/>
              </a:spcAft>
              <a:buClr>
                <a:srgbClr val="002B42"/>
              </a:buClr>
              <a:buSzPts val="2000"/>
              <a:buFont typeface="Courier New"/>
              <a:buChar char="o"/>
            </a:pPr>
            <a:r>
              <a:rPr b="0" i="1" lang="en" sz="2300" u="none" cap="none" strike="noStrike">
                <a:solidFill>
                  <a:srgbClr val="002B42"/>
                </a:solidFill>
                <a:latin typeface="Arial"/>
                <a:ea typeface="Arial"/>
                <a:cs typeface="Arial"/>
                <a:sym typeface="Arial"/>
              </a:rPr>
              <a:t>Statistical point of view</a:t>
            </a:r>
            <a:r>
              <a:rPr b="0" i="0" lang="en" sz="2300" u="none" cap="none" strike="noStrike">
                <a:solidFill>
                  <a:srgbClr val="002B42"/>
                </a:solidFill>
                <a:latin typeface="Arial"/>
                <a:ea typeface="Arial"/>
                <a:cs typeface="Arial"/>
                <a:sym typeface="Arial"/>
              </a:rPr>
              <a:t>: </a:t>
            </a:r>
            <a:r>
              <a:rPr b="0" i="0" lang="en" sz="2000" u="none" cap="none" strike="noStrike">
                <a:solidFill>
                  <a:srgbClr val="002B42"/>
                </a:solidFill>
                <a:latin typeface="Arial"/>
                <a:ea typeface="Arial"/>
                <a:cs typeface="Arial"/>
                <a:sym typeface="Arial"/>
              </a:rPr>
              <a:t>low counts -&gt; not enough statistical evidence. </a:t>
            </a:r>
            <a:endParaRPr b="0" i="0" sz="1100" u="none" cap="none" strike="noStrike">
              <a:solidFill>
                <a:srgbClr val="000000"/>
              </a:solidFill>
              <a:latin typeface="Arial"/>
              <a:ea typeface="Arial"/>
              <a:cs typeface="Arial"/>
              <a:sym typeface="Arial"/>
            </a:endParaRPr>
          </a:p>
          <a:p>
            <a:pPr indent="-88900" lvl="0" marL="215900" marR="0" rtl="0" algn="l">
              <a:lnSpc>
                <a:spcPct val="100000"/>
              </a:lnSpc>
              <a:spcBef>
                <a:spcPts val="0"/>
              </a:spcBef>
              <a:spcAft>
                <a:spcPts val="0"/>
              </a:spcAft>
              <a:buClr>
                <a:schemeClr val="dk1"/>
              </a:buClr>
              <a:buSzPts val="2000"/>
              <a:buFont typeface="Courier New"/>
              <a:buNone/>
            </a:pPr>
            <a:r>
              <a:t/>
            </a:r>
            <a:endParaRPr b="0" i="0" sz="2000" u="none" cap="none" strike="noStrike">
              <a:solidFill>
                <a:srgbClr val="002B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100"/>
              <a:buFont typeface="Arial"/>
              <a:buNone/>
            </a:pPr>
            <a:r>
              <a:rPr b="0" i="0" lang="en" sz="2100" u="none" cap="none" strike="noStrike">
                <a:solidFill>
                  <a:srgbClr val="002B42"/>
                </a:solidFill>
                <a:latin typeface="Arial"/>
                <a:ea typeface="Arial"/>
                <a:cs typeface="Arial"/>
                <a:sym typeface="Arial"/>
              </a:rPr>
              <a:t>Genes with consistently low counts are very unlikely be assessed as significantly DE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002B42"/>
              </a:solidFill>
              <a:latin typeface="Arial"/>
              <a:ea typeface="Arial"/>
              <a:cs typeface="Arial"/>
              <a:sym typeface="Arial"/>
            </a:endParaRPr>
          </a:p>
        </p:txBody>
      </p:sp>
      <p:grpSp>
        <p:nvGrpSpPr>
          <p:cNvPr id="1178" name="Google Shape;1178;p164"/>
          <p:cNvGrpSpPr/>
          <p:nvPr/>
        </p:nvGrpSpPr>
        <p:grpSpPr>
          <a:xfrm>
            <a:off x="2145890" y="3617342"/>
            <a:ext cx="4490884" cy="1433160"/>
            <a:chOff x="2861186" y="4823122"/>
            <a:chExt cx="5987845" cy="1910880"/>
          </a:xfrm>
        </p:grpSpPr>
        <p:pic>
          <p:nvPicPr>
            <p:cNvPr id="1179" name="Google Shape;1179;p164"/>
            <p:cNvPicPr preferRelativeResize="0"/>
            <p:nvPr/>
          </p:nvPicPr>
          <p:blipFill rotWithShape="1">
            <a:blip r:embed="rId3">
              <a:alphaModFix/>
            </a:blip>
            <a:srcRect b="0" l="0" r="0" t="0"/>
            <a:stretch/>
          </p:blipFill>
          <p:spPr>
            <a:xfrm>
              <a:off x="2861186" y="4823122"/>
              <a:ext cx="5987845" cy="1852010"/>
            </a:xfrm>
            <a:prstGeom prst="rect">
              <a:avLst/>
            </a:prstGeom>
            <a:noFill/>
            <a:ln>
              <a:noFill/>
            </a:ln>
          </p:spPr>
        </p:pic>
        <p:sp>
          <p:nvSpPr>
            <p:cNvPr id="1180" name="Google Shape;1180;p164"/>
            <p:cNvSpPr/>
            <p:nvPr/>
          </p:nvSpPr>
          <p:spPr>
            <a:xfrm>
              <a:off x="5678129" y="6371302"/>
              <a:ext cx="1961400" cy="3627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grpSp>
      <p:sp>
        <p:nvSpPr>
          <p:cNvPr id="1181" name="Google Shape;1181;p164"/>
          <p:cNvSpPr txBox="1"/>
          <p:nvPr/>
        </p:nvSpPr>
        <p:spPr>
          <a:xfrm>
            <a:off x="181325" y="4694575"/>
            <a:ext cx="73881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latin typeface="Helvetica Neue"/>
                <a:ea typeface="Helvetica Neue"/>
                <a:cs typeface="Helvetica Neue"/>
                <a:sym typeface="Helvetica Neue"/>
              </a:rPr>
              <a:t>Using cpm to filter out genes</a:t>
            </a:r>
            <a:endParaRPr sz="2100">
              <a:solidFill>
                <a:schemeClr val="dk1"/>
              </a:solidFill>
              <a:latin typeface="Helvetica Neue"/>
              <a:ea typeface="Helvetica Neue"/>
              <a:cs typeface="Helvetica Neue"/>
              <a:sym typeface="Helvetica Neue"/>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165"/>
          <p:cNvSpPr txBox="1"/>
          <p:nvPr/>
        </p:nvSpPr>
        <p:spPr>
          <a:xfrm>
            <a:off x="181336" y="137151"/>
            <a:ext cx="8962800"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3000"/>
              <a:buFont typeface="Helvetica Neue"/>
              <a:buNone/>
            </a:pPr>
            <a:r>
              <a:rPr b="1" i="0" lang="en" sz="3000" u="none" cap="none" strike="noStrike">
                <a:solidFill>
                  <a:srgbClr val="0066CC"/>
                </a:solidFill>
                <a:latin typeface="Helvetica Neue"/>
                <a:ea typeface="Helvetica Neue"/>
                <a:cs typeface="Helvetica Neue"/>
                <a:sym typeface="Helvetica Neue"/>
              </a:rPr>
              <a:t>Need to correct for multiple testing</a:t>
            </a:r>
            <a:endParaRPr b="1" i="0" sz="2900" u="none" cap="none" strike="noStrike">
              <a:solidFill>
                <a:srgbClr val="0066CC"/>
              </a:solidFill>
              <a:latin typeface="Helvetica Neue"/>
              <a:ea typeface="Helvetica Neue"/>
              <a:cs typeface="Helvetica Neue"/>
              <a:sym typeface="Helvetica Neue"/>
            </a:endParaRPr>
          </a:p>
        </p:txBody>
      </p:sp>
      <p:sp>
        <p:nvSpPr>
          <p:cNvPr id="1188" name="Google Shape;1188;p165"/>
          <p:cNvSpPr txBox="1"/>
          <p:nvPr/>
        </p:nvSpPr>
        <p:spPr>
          <a:xfrm>
            <a:off x="76199" y="722398"/>
            <a:ext cx="9221400" cy="3698700"/>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rgbClr val="002A40"/>
              </a:buClr>
              <a:buSzPts val="2100"/>
              <a:buFont typeface="Helvetica Neue"/>
              <a:buNone/>
            </a:pPr>
            <a:r>
              <a:rPr b="0" i="0" lang="en" sz="2100" u="none" cap="none" strike="noStrike">
                <a:solidFill>
                  <a:srgbClr val="002A40"/>
                </a:solidFill>
                <a:latin typeface="Helvetica Neue"/>
                <a:ea typeface="Helvetica Neue"/>
                <a:cs typeface="Helvetica Neue"/>
                <a:sym typeface="Helvetica Neue"/>
              </a:rPr>
              <a:t>P value represents the chance that we may be wrong in calling something significantly differential. Example:</a:t>
            </a:r>
            <a:endParaRPr b="0" i="0" sz="1100" u="none" cap="none" strike="noStrike">
              <a:solidFill>
                <a:srgbClr val="000000"/>
              </a:solidFill>
              <a:latin typeface="Arial"/>
              <a:ea typeface="Arial"/>
              <a:cs typeface="Arial"/>
              <a:sym typeface="Arial"/>
            </a:endParaRPr>
          </a:p>
          <a:p>
            <a:pPr indent="-247650" lvl="1" marL="596900" marR="0" rtl="0" algn="l">
              <a:lnSpc>
                <a:spcPct val="90000"/>
              </a:lnSpc>
              <a:spcBef>
                <a:spcPts val="400"/>
              </a:spcBef>
              <a:spcAft>
                <a:spcPts val="0"/>
              </a:spcAft>
              <a:buClr>
                <a:srgbClr val="002A40"/>
              </a:buClr>
              <a:buSzPts val="1500"/>
              <a:buFont typeface="Helvetica Neue"/>
              <a:buChar char="-"/>
            </a:pPr>
            <a:r>
              <a:rPr b="0" i="0" lang="en" sz="1500" u="none" cap="none" strike="noStrike">
                <a:solidFill>
                  <a:srgbClr val="002A40"/>
                </a:solidFill>
                <a:latin typeface="Helvetica Neue"/>
                <a:ea typeface="Helvetica Neue"/>
                <a:cs typeface="Helvetica Neue"/>
                <a:sym typeface="Helvetica Neue"/>
              </a:rPr>
              <a:t>P = 0.01 means 1% chance that we may be wrong.</a:t>
            </a:r>
            <a:endParaRPr b="0" i="0" sz="1100" u="none" cap="none" strike="noStrike">
              <a:solidFill>
                <a:srgbClr val="000000"/>
              </a:solidFill>
              <a:latin typeface="Arial"/>
              <a:ea typeface="Arial"/>
              <a:cs typeface="Arial"/>
              <a:sym typeface="Arial"/>
            </a:endParaRPr>
          </a:p>
          <a:p>
            <a:pPr indent="0" lvl="0" marL="0" marR="0" rtl="0" algn="l">
              <a:lnSpc>
                <a:spcPct val="90000"/>
              </a:lnSpc>
              <a:spcBef>
                <a:spcPts val="800"/>
              </a:spcBef>
              <a:spcAft>
                <a:spcPts val="0"/>
              </a:spcAft>
              <a:buClr>
                <a:schemeClr val="dk1"/>
              </a:buClr>
              <a:buSzPts val="200"/>
              <a:buFont typeface="Courier New"/>
              <a:buNone/>
            </a:pPr>
            <a:r>
              <a:t/>
            </a:r>
            <a:endParaRPr b="0" i="0" sz="200" u="none" cap="none" strike="noStrike">
              <a:solidFill>
                <a:srgbClr val="002A40"/>
              </a:solidFill>
              <a:latin typeface="Helvetica Neue"/>
              <a:ea typeface="Helvetica Neue"/>
              <a:cs typeface="Helvetica Neue"/>
              <a:sym typeface="Helvetica Neue"/>
            </a:endParaRPr>
          </a:p>
          <a:p>
            <a:pPr indent="0" lvl="0" marL="0" marR="0" rtl="0" algn="l">
              <a:lnSpc>
                <a:spcPct val="90000"/>
              </a:lnSpc>
              <a:spcBef>
                <a:spcPts val="800"/>
              </a:spcBef>
              <a:spcAft>
                <a:spcPts val="0"/>
              </a:spcAft>
              <a:buClr>
                <a:srgbClr val="002A40"/>
              </a:buClr>
              <a:buSzPts val="2100"/>
              <a:buFont typeface="Helvetica Neue"/>
              <a:buNone/>
            </a:pPr>
            <a:r>
              <a:rPr b="0" i="0" lang="en" sz="2100" u="none" cap="none" strike="noStrike">
                <a:solidFill>
                  <a:srgbClr val="002A40"/>
                </a:solidFill>
                <a:latin typeface="Helvetica Neue"/>
                <a:ea typeface="Helvetica Neue"/>
                <a:cs typeface="Helvetica Neue"/>
                <a:sym typeface="Helvetica Neue"/>
              </a:rPr>
              <a:t>More than 20k genes under consideration</a:t>
            </a:r>
            <a:endParaRPr b="0" i="0" sz="1100" u="none" cap="none" strike="noStrike">
              <a:solidFill>
                <a:srgbClr val="000000"/>
              </a:solidFill>
              <a:latin typeface="Arial"/>
              <a:ea typeface="Arial"/>
              <a:cs typeface="Arial"/>
              <a:sym typeface="Arial"/>
            </a:endParaRPr>
          </a:p>
          <a:p>
            <a:pPr indent="0" lvl="0" marL="0" marR="0" rtl="0" algn="l">
              <a:lnSpc>
                <a:spcPct val="90000"/>
              </a:lnSpc>
              <a:spcBef>
                <a:spcPts val="800"/>
              </a:spcBef>
              <a:spcAft>
                <a:spcPts val="0"/>
              </a:spcAft>
              <a:buClr>
                <a:srgbClr val="002A40"/>
              </a:buClr>
              <a:buSzPts val="1100"/>
              <a:buFont typeface="Helvetica Neue"/>
              <a:buNone/>
            </a:pPr>
            <a:r>
              <a:rPr b="0" i="0" lang="en" sz="2100" u="none" cap="none" strike="noStrike">
                <a:solidFill>
                  <a:srgbClr val="002A40"/>
                </a:solidFill>
                <a:latin typeface="Helvetica Neue"/>
                <a:ea typeface="Helvetica Neue"/>
                <a:cs typeface="Helvetica Neue"/>
                <a:sym typeface="Helvetica Neue"/>
              </a:rPr>
              <a:t>    </a:t>
            </a:r>
            <a:r>
              <a:rPr b="0" i="0" lang="en" sz="1500" u="none" cap="none" strike="noStrike">
                <a:solidFill>
                  <a:srgbClr val="002A40"/>
                </a:solidFill>
                <a:latin typeface="Helvetica Neue"/>
                <a:ea typeface="Helvetica Neue"/>
                <a:cs typeface="Helvetica Neue"/>
                <a:sym typeface="Helvetica Neue"/>
              </a:rPr>
              <a:t>=&gt; if a certain difference in expression levels has only 1% chance of happening given the null model, it </a:t>
            </a:r>
            <a:endParaRPr b="0" i="0" sz="1100" u="none" cap="none" strike="noStrike">
              <a:solidFill>
                <a:srgbClr val="000000"/>
              </a:solidFill>
              <a:latin typeface="Arial"/>
              <a:ea typeface="Arial"/>
              <a:cs typeface="Arial"/>
              <a:sym typeface="Arial"/>
            </a:endParaRPr>
          </a:p>
          <a:p>
            <a:pPr indent="0" lvl="0" marL="0" marR="0" rtl="0" algn="l">
              <a:lnSpc>
                <a:spcPct val="90000"/>
              </a:lnSpc>
              <a:spcBef>
                <a:spcPts val="800"/>
              </a:spcBef>
              <a:spcAft>
                <a:spcPts val="0"/>
              </a:spcAft>
              <a:buClr>
                <a:srgbClr val="002A40"/>
              </a:buClr>
              <a:buSzPts val="800"/>
              <a:buFont typeface="Helvetica Neue"/>
              <a:buNone/>
            </a:pPr>
            <a:r>
              <a:rPr b="0" i="0" lang="en" sz="1500" u="none" cap="none" strike="noStrike">
                <a:solidFill>
                  <a:srgbClr val="002A40"/>
                </a:solidFill>
                <a:latin typeface="Helvetica Neue"/>
                <a:ea typeface="Helvetica Neue"/>
                <a:cs typeface="Helvetica Neue"/>
                <a:sym typeface="Helvetica Neue"/>
              </a:rPr>
              <a:t>           might be observed for 200 genes even if the null model were true for all the genes.</a:t>
            </a:r>
            <a:endParaRPr b="0" i="0" sz="1100" u="none" cap="none" strike="noStrike">
              <a:solidFill>
                <a:srgbClr val="000000"/>
              </a:solidFill>
              <a:latin typeface="Arial"/>
              <a:ea typeface="Arial"/>
              <a:cs typeface="Arial"/>
              <a:sym typeface="Arial"/>
            </a:endParaRPr>
          </a:p>
          <a:p>
            <a:pPr indent="0" lvl="0" marL="0" marR="0" rtl="0" algn="l">
              <a:lnSpc>
                <a:spcPct val="90000"/>
              </a:lnSpc>
              <a:spcBef>
                <a:spcPts val="800"/>
              </a:spcBef>
              <a:spcAft>
                <a:spcPts val="0"/>
              </a:spcAft>
              <a:buClr>
                <a:schemeClr val="dk1"/>
              </a:buClr>
              <a:buSzPts val="500"/>
              <a:buFont typeface="Helvetica Neue"/>
              <a:buNone/>
            </a:pPr>
            <a:r>
              <a:t/>
            </a:r>
            <a:endParaRPr b="0" i="0" sz="900" u="none" cap="none" strike="noStrike">
              <a:solidFill>
                <a:srgbClr val="002A40"/>
              </a:solidFill>
              <a:latin typeface="Helvetica Neue"/>
              <a:ea typeface="Helvetica Neue"/>
              <a:cs typeface="Helvetica Neue"/>
              <a:sym typeface="Helvetica Neue"/>
            </a:endParaRPr>
          </a:p>
          <a:p>
            <a:pPr indent="0" lvl="0" marL="0" marR="0" rtl="0" algn="l">
              <a:lnSpc>
                <a:spcPct val="90000"/>
              </a:lnSpc>
              <a:spcBef>
                <a:spcPts val="800"/>
              </a:spcBef>
              <a:spcAft>
                <a:spcPts val="0"/>
              </a:spcAft>
              <a:buClr>
                <a:srgbClr val="002A40"/>
              </a:buClr>
              <a:buSzPts val="800"/>
              <a:buFont typeface="Helvetica Neue"/>
              <a:buNone/>
            </a:pPr>
            <a:r>
              <a:rPr b="0" i="0" lang="en" sz="1500" u="none" cap="none" strike="noStrike">
                <a:solidFill>
                  <a:srgbClr val="002A40"/>
                </a:solidFill>
                <a:latin typeface="Helvetica Neue"/>
                <a:ea typeface="Helvetica Neue"/>
                <a:cs typeface="Helvetica Neue"/>
                <a:sym typeface="Helvetica Neue"/>
              </a:rPr>
              <a:t>      =&gt; 200+ false positives</a:t>
            </a:r>
            <a:endParaRPr b="0" i="0" sz="1100" u="none" cap="none" strike="noStrike">
              <a:solidFill>
                <a:srgbClr val="000000"/>
              </a:solidFill>
              <a:latin typeface="Arial"/>
              <a:ea typeface="Arial"/>
              <a:cs typeface="Arial"/>
              <a:sym typeface="Arial"/>
            </a:endParaRPr>
          </a:p>
          <a:p>
            <a:pPr indent="0" lvl="0" marL="0" marR="0" rtl="0" algn="l">
              <a:lnSpc>
                <a:spcPct val="90000"/>
              </a:lnSpc>
              <a:spcBef>
                <a:spcPts val="800"/>
              </a:spcBef>
              <a:spcAft>
                <a:spcPts val="0"/>
              </a:spcAft>
              <a:buClr>
                <a:schemeClr val="dk1"/>
              </a:buClr>
              <a:buSzPts val="200"/>
              <a:buFont typeface="Courier New"/>
              <a:buNone/>
            </a:pPr>
            <a:r>
              <a:t/>
            </a:r>
            <a:endParaRPr b="0" i="0" sz="200" u="none" cap="none" strike="noStrike">
              <a:solidFill>
                <a:srgbClr val="002A40"/>
              </a:solidFill>
              <a:latin typeface="Helvetica Neue"/>
              <a:ea typeface="Helvetica Neue"/>
              <a:cs typeface="Helvetica Neue"/>
              <a:sym typeface="Helvetica Neue"/>
            </a:endParaRPr>
          </a:p>
          <a:p>
            <a:pPr indent="0" lvl="0" marL="0" marR="0" rtl="0" algn="l">
              <a:lnSpc>
                <a:spcPct val="90000"/>
              </a:lnSpc>
              <a:spcBef>
                <a:spcPts val="800"/>
              </a:spcBef>
              <a:spcAft>
                <a:spcPts val="0"/>
              </a:spcAft>
              <a:buClr>
                <a:schemeClr val="dk1"/>
              </a:buClr>
              <a:buSzPts val="200"/>
              <a:buFont typeface="Courier New"/>
              <a:buNone/>
            </a:pPr>
            <a:r>
              <a:t/>
            </a:r>
            <a:endParaRPr b="0" i="0" sz="200" u="none" cap="none" strike="noStrike">
              <a:solidFill>
                <a:srgbClr val="002A40"/>
              </a:solidFill>
              <a:latin typeface="Helvetica Neue"/>
              <a:ea typeface="Helvetica Neue"/>
              <a:cs typeface="Helvetica Neue"/>
              <a:sym typeface="Helvetica Neue"/>
            </a:endParaRPr>
          </a:p>
          <a:p>
            <a:pPr indent="0" lvl="0" marL="0" marR="0" rtl="0" algn="l">
              <a:lnSpc>
                <a:spcPct val="90000"/>
              </a:lnSpc>
              <a:spcBef>
                <a:spcPts val="800"/>
              </a:spcBef>
              <a:spcAft>
                <a:spcPts val="0"/>
              </a:spcAft>
              <a:buClr>
                <a:srgbClr val="002A40"/>
              </a:buClr>
              <a:buSzPts val="2100"/>
              <a:buFont typeface="Helvetica Neue"/>
              <a:buNone/>
            </a:pPr>
            <a:r>
              <a:rPr b="0" i="0" lang="en" sz="2100" u="none" cap="none" strike="noStrike">
                <a:solidFill>
                  <a:srgbClr val="002A40"/>
                </a:solidFill>
                <a:latin typeface="Helvetica Neue"/>
                <a:ea typeface="Helvetica Neue"/>
                <a:cs typeface="Helvetica Neue"/>
                <a:sym typeface="Helvetica Neue"/>
              </a:rPr>
              <a:t>Hence, there is a need to adjust the p-values.</a:t>
            </a:r>
            <a:endParaRPr b="0" i="0" sz="1100" u="none" cap="none" strike="noStrike">
              <a:solidFill>
                <a:srgbClr val="000000"/>
              </a:solidFill>
              <a:latin typeface="Arial"/>
              <a:ea typeface="Arial"/>
              <a:cs typeface="Arial"/>
              <a:sym typeface="Arial"/>
            </a:endParaRPr>
          </a:p>
          <a:p>
            <a:pPr indent="0" lvl="1" marL="342900" marR="0" rtl="0" algn="l">
              <a:lnSpc>
                <a:spcPct val="90000"/>
              </a:lnSpc>
              <a:spcBef>
                <a:spcPts val="400"/>
              </a:spcBef>
              <a:spcAft>
                <a:spcPts val="0"/>
              </a:spcAft>
              <a:buClr>
                <a:srgbClr val="002A40"/>
              </a:buClr>
              <a:buSzPts val="1500"/>
              <a:buFont typeface="Helvetica Neue"/>
              <a:buNone/>
            </a:pPr>
            <a:r>
              <a:rPr b="0" i="0" lang="en" sz="1500" u="none" cap="none" strike="noStrike">
                <a:solidFill>
                  <a:srgbClr val="002A40"/>
                </a:solidFill>
                <a:latin typeface="Helvetica Neue"/>
                <a:ea typeface="Helvetica Neue"/>
                <a:cs typeface="Helvetica Neue"/>
                <a:sym typeface="Helvetica Neue"/>
              </a:rPr>
              <a:t>- The more genes we test, the more we must adjust.</a:t>
            </a:r>
            <a:endParaRPr b="0" i="0" sz="1100" u="none" cap="none" strike="noStrike">
              <a:solidFill>
                <a:srgbClr val="000000"/>
              </a:solidFill>
              <a:latin typeface="Arial"/>
              <a:ea typeface="Arial"/>
              <a:cs typeface="Arial"/>
              <a:sym typeface="Arial"/>
            </a:endParaRPr>
          </a:p>
          <a:p>
            <a:pPr indent="0" lvl="1" marL="342900" marR="0" rtl="0" algn="l">
              <a:lnSpc>
                <a:spcPct val="90000"/>
              </a:lnSpc>
              <a:spcBef>
                <a:spcPts val="400"/>
              </a:spcBef>
              <a:spcAft>
                <a:spcPts val="0"/>
              </a:spcAft>
              <a:buClr>
                <a:srgbClr val="002A40"/>
              </a:buClr>
              <a:buSzPts val="1500"/>
              <a:buFont typeface="Helvetica Neue"/>
              <a:buNone/>
            </a:pPr>
            <a:r>
              <a:rPr b="0" i="0" lang="en" sz="1500" u="none" cap="none" strike="noStrike">
                <a:solidFill>
                  <a:srgbClr val="002A40"/>
                </a:solidFill>
                <a:latin typeface="Helvetica Neue"/>
                <a:ea typeface="Helvetica Neue"/>
                <a:cs typeface="Helvetica Neue"/>
                <a:sym typeface="Helvetica Neue"/>
              </a:rPr>
              <a:t>- Reduce the number of tests by filtering out “uninteresting” genes. </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p166"/>
          <p:cNvSpPr/>
          <p:nvPr/>
        </p:nvSpPr>
        <p:spPr>
          <a:xfrm>
            <a:off x="3316325" y="1763438"/>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Filtering low counts genes</a:t>
            </a:r>
            <a:endParaRPr b="1" sz="900"/>
          </a:p>
        </p:txBody>
      </p:sp>
      <p:sp>
        <p:nvSpPr>
          <p:cNvPr id="1194" name="Google Shape;1194;p166"/>
          <p:cNvSpPr/>
          <p:nvPr/>
        </p:nvSpPr>
        <p:spPr>
          <a:xfrm>
            <a:off x="3316325" y="2882500"/>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Normalization </a:t>
            </a:r>
            <a:endParaRPr/>
          </a:p>
        </p:txBody>
      </p:sp>
      <p:sp>
        <p:nvSpPr>
          <p:cNvPr id="1195" name="Google Shape;1195;p166"/>
          <p:cNvSpPr/>
          <p:nvPr/>
        </p:nvSpPr>
        <p:spPr>
          <a:xfrm>
            <a:off x="3316325" y="3436875"/>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Fit the model</a:t>
            </a:r>
            <a:endParaRPr b="1"/>
          </a:p>
        </p:txBody>
      </p:sp>
      <p:sp>
        <p:nvSpPr>
          <p:cNvPr id="1196" name="Google Shape;1196;p166"/>
          <p:cNvSpPr/>
          <p:nvPr/>
        </p:nvSpPr>
        <p:spPr>
          <a:xfrm>
            <a:off x="3316325" y="2328124"/>
            <a:ext cx="1993500" cy="493800"/>
          </a:xfrm>
          <a:prstGeom prst="roundRect">
            <a:avLst>
              <a:gd fmla="val 16667" name="adj"/>
            </a:avLst>
          </a:prstGeom>
          <a:solidFill>
            <a:srgbClr val="D5A6BD"/>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Dimensionality reduction</a:t>
            </a:r>
            <a:endParaRPr b="1"/>
          </a:p>
        </p:txBody>
      </p:sp>
      <p:sp>
        <p:nvSpPr>
          <p:cNvPr id="1197" name="Google Shape;1197;p166"/>
          <p:cNvSpPr/>
          <p:nvPr/>
        </p:nvSpPr>
        <p:spPr>
          <a:xfrm>
            <a:off x="3316325" y="592375"/>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Count matrix</a:t>
            </a:r>
            <a:endParaRPr b="1"/>
          </a:p>
        </p:txBody>
      </p:sp>
      <p:sp>
        <p:nvSpPr>
          <p:cNvPr id="1198" name="Google Shape;1198;p166"/>
          <p:cNvSpPr/>
          <p:nvPr/>
        </p:nvSpPr>
        <p:spPr>
          <a:xfrm>
            <a:off x="3316325" y="1178313"/>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Source of variability</a:t>
            </a:r>
            <a:endParaRPr b="1">
              <a:solidFill>
                <a:schemeClr val="accent2"/>
              </a:solidFill>
            </a:endParaRPr>
          </a:p>
        </p:txBody>
      </p:sp>
      <p:sp>
        <p:nvSpPr>
          <p:cNvPr id="1199" name="Google Shape;1199;p166"/>
          <p:cNvSpPr txBox="1"/>
          <p:nvPr/>
        </p:nvSpPr>
        <p:spPr>
          <a:xfrm>
            <a:off x="3471100" y="4586663"/>
            <a:ext cx="156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76912"/>
                </a:solidFill>
                <a:latin typeface="Helvetica Neue"/>
                <a:ea typeface="Helvetica Neue"/>
                <a:cs typeface="Helvetica Neue"/>
                <a:sym typeface="Helvetica Neue"/>
              </a:rPr>
              <a:t>Session 3 Demo</a:t>
            </a:r>
            <a:endParaRPr b="1">
              <a:solidFill>
                <a:srgbClr val="F76912"/>
              </a:solidFill>
              <a:latin typeface="Helvetica Neue"/>
              <a:ea typeface="Helvetica Neue"/>
              <a:cs typeface="Helvetica Neue"/>
              <a:sym typeface="Helvetica Neue"/>
            </a:endParaRPr>
          </a:p>
        </p:txBody>
      </p:sp>
      <p:sp>
        <p:nvSpPr>
          <p:cNvPr id="1200" name="Google Shape;1200;p166"/>
          <p:cNvSpPr/>
          <p:nvPr/>
        </p:nvSpPr>
        <p:spPr>
          <a:xfrm>
            <a:off x="3316325" y="3991250"/>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DEG and visualization</a:t>
            </a:r>
            <a:endParaRPr b="1"/>
          </a:p>
        </p:txBody>
      </p:sp>
      <p:sp>
        <p:nvSpPr>
          <p:cNvPr id="1201" name="Google Shape;1201;p166"/>
          <p:cNvSpPr txBox="1"/>
          <p:nvPr/>
        </p:nvSpPr>
        <p:spPr>
          <a:xfrm>
            <a:off x="54700" y="2474075"/>
            <a:ext cx="312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741B47"/>
                </a:solidFill>
                <a:latin typeface="Helvetica Neue"/>
                <a:ea typeface="Helvetica Neue"/>
                <a:cs typeface="Helvetica Neue"/>
                <a:sym typeface="Helvetica Neue"/>
              </a:rPr>
              <a:t>Session 3 Concepts: </a:t>
            </a:r>
            <a:endParaRPr b="1" sz="1200">
              <a:solidFill>
                <a:srgbClr val="741B47"/>
              </a:solidFill>
              <a:highlight>
                <a:srgbClr val="F7F6F3"/>
              </a:highlight>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6" name="Shape 1206"/>
        <p:cNvGrpSpPr/>
        <p:nvPr/>
      </p:nvGrpSpPr>
      <p:grpSpPr>
        <a:xfrm>
          <a:off x="0" y="0"/>
          <a:ext cx="0" cy="0"/>
          <a:chOff x="0" y="0"/>
          <a:chExt cx="0" cy="0"/>
        </a:xfrm>
      </p:grpSpPr>
      <p:sp>
        <p:nvSpPr>
          <p:cNvPr id="1207" name="Google Shape;1207;p167"/>
          <p:cNvSpPr txBox="1"/>
          <p:nvPr/>
        </p:nvSpPr>
        <p:spPr>
          <a:xfrm>
            <a:off x="181334" y="553354"/>
            <a:ext cx="8351400" cy="882000"/>
          </a:xfrm>
          <a:prstGeom prst="rect">
            <a:avLst/>
          </a:prstGeom>
          <a:noFill/>
          <a:ln>
            <a:noFill/>
          </a:ln>
        </p:spPr>
        <p:txBody>
          <a:bodyPr anchorCtr="0" anchor="t" bIns="34275" lIns="68575" spcFirstLastPara="1" rIns="68575" wrap="square" tIns="34275">
            <a:spAutoFit/>
          </a:bodyPr>
          <a:lstStyle/>
          <a:p>
            <a:pPr indent="-304800" lvl="0" marL="342900" marR="0" rtl="0" algn="l">
              <a:lnSpc>
                <a:spcPct val="115000"/>
              </a:lnSpc>
              <a:spcBef>
                <a:spcPts val="0"/>
              </a:spcBef>
              <a:spcAft>
                <a:spcPts val="0"/>
              </a:spcAft>
              <a:buClr>
                <a:schemeClr val="accent1"/>
              </a:buClr>
              <a:buSzPts val="1600"/>
              <a:buFont typeface="Courier New"/>
              <a:buChar char="o"/>
            </a:pPr>
            <a:r>
              <a:rPr b="0" i="0" lang="en" sz="1600" u="none" cap="none" strike="noStrike">
                <a:solidFill>
                  <a:schemeClr val="accent1"/>
                </a:solidFill>
                <a:latin typeface="Arial"/>
                <a:ea typeface="Arial"/>
                <a:cs typeface="Arial"/>
                <a:sym typeface="Arial"/>
              </a:rPr>
              <a:t>Which samples are similar to each other, which are different?</a:t>
            </a:r>
            <a:endParaRPr b="0" i="0" sz="600" u="none" cap="none" strike="noStrike">
              <a:solidFill>
                <a:srgbClr val="000000"/>
              </a:solidFill>
              <a:latin typeface="Arial"/>
              <a:ea typeface="Arial"/>
              <a:cs typeface="Arial"/>
              <a:sym typeface="Arial"/>
            </a:endParaRPr>
          </a:p>
          <a:p>
            <a:pPr indent="-304800" lvl="0" marL="342900" marR="0" rtl="0" algn="l">
              <a:lnSpc>
                <a:spcPct val="115000"/>
              </a:lnSpc>
              <a:spcBef>
                <a:spcPts val="0"/>
              </a:spcBef>
              <a:spcAft>
                <a:spcPts val="0"/>
              </a:spcAft>
              <a:buClr>
                <a:schemeClr val="accent1"/>
              </a:buClr>
              <a:buSzPts val="1600"/>
              <a:buFont typeface="Courier New"/>
              <a:buChar char="o"/>
            </a:pPr>
            <a:r>
              <a:rPr b="0" i="0" lang="en" sz="1600" u="none" cap="none" strike="noStrike">
                <a:solidFill>
                  <a:schemeClr val="accent1"/>
                </a:solidFill>
                <a:latin typeface="Arial"/>
                <a:ea typeface="Arial"/>
                <a:cs typeface="Arial"/>
                <a:sym typeface="Arial"/>
              </a:rPr>
              <a:t>Does this fit to the expectation from the experiment’s design?</a:t>
            </a:r>
            <a:endParaRPr b="0" i="0" sz="600" u="none" cap="none" strike="noStrike">
              <a:solidFill>
                <a:srgbClr val="000000"/>
              </a:solidFill>
              <a:latin typeface="Arial"/>
              <a:ea typeface="Arial"/>
              <a:cs typeface="Arial"/>
              <a:sym typeface="Arial"/>
            </a:endParaRPr>
          </a:p>
          <a:p>
            <a:pPr indent="-304800" lvl="0" marL="342900" marR="0" rtl="0" algn="l">
              <a:lnSpc>
                <a:spcPct val="115000"/>
              </a:lnSpc>
              <a:spcBef>
                <a:spcPts val="0"/>
              </a:spcBef>
              <a:spcAft>
                <a:spcPts val="0"/>
              </a:spcAft>
              <a:buClr>
                <a:schemeClr val="accent1"/>
              </a:buClr>
              <a:buSzPts val="1600"/>
              <a:buFont typeface="Courier New"/>
              <a:buChar char="o"/>
            </a:pPr>
            <a:r>
              <a:rPr b="0" i="0" lang="en" sz="1600" u="none" cap="none" strike="noStrike">
                <a:solidFill>
                  <a:schemeClr val="accent1"/>
                </a:solidFill>
                <a:latin typeface="Arial"/>
                <a:ea typeface="Arial"/>
                <a:cs typeface="Arial"/>
                <a:sym typeface="Arial"/>
              </a:rPr>
              <a:t>What are the major sources of variation in the dataset?</a:t>
            </a:r>
            <a:endParaRPr b="0" i="0" sz="1600" u="none" cap="none" strike="noStrike">
              <a:solidFill>
                <a:schemeClr val="accent1"/>
              </a:solidFill>
              <a:latin typeface="Arial"/>
              <a:ea typeface="Arial"/>
              <a:cs typeface="Arial"/>
              <a:sym typeface="Arial"/>
            </a:endParaRPr>
          </a:p>
        </p:txBody>
      </p:sp>
      <p:sp>
        <p:nvSpPr>
          <p:cNvPr id="1208" name="Google Shape;1208;p167"/>
          <p:cNvSpPr txBox="1"/>
          <p:nvPr/>
        </p:nvSpPr>
        <p:spPr>
          <a:xfrm>
            <a:off x="181336" y="125801"/>
            <a:ext cx="8962800"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2700"/>
              <a:buFont typeface="Helvetica Neue"/>
              <a:buNone/>
            </a:pPr>
            <a:r>
              <a:rPr b="1" i="0" lang="en" sz="2700" u="none" cap="none" strike="noStrike">
                <a:solidFill>
                  <a:srgbClr val="0066CC"/>
                </a:solidFill>
                <a:latin typeface="Helvetica Neue"/>
                <a:ea typeface="Helvetica Neue"/>
                <a:cs typeface="Helvetica Neue"/>
                <a:sym typeface="Helvetica Neue"/>
              </a:rPr>
              <a:t>Assessing overall similarity across samples</a:t>
            </a:r>
            <a:endParaRPr b="0" i="0" sz="2700" u="none" cap="none" strike="noStrike">
              <a:solidFill>
                <a:srgbClr val="0066CC"/>
              </a:solidFill>
              <a:latin typeface="Helvetica Neue"/>
              <a:ea typeface="Helvetica Neue"/>
              <a:cs typeface="Helvetica Neue"/>
              <a:sym typeface="Helvetica Neue"/>
            </a:endParaRPr>
          </a:p>
        </p:txBody>
      </p:sp>
      <p:pic>
        <p:nvPicPr>
          <p:cNvPr id="1209" name="Google Shape;1209;p167"/>
          <p:cNvPicPr preferRelativeResize="0"/>
          <p:nvPr/>
        </p:nvPicPr>
        <p:blipFill>
          <a:blip r:embed="rId3">
            <a:alphaModFix/>
          </a:blip>
          <a:stretch>
            <a:fillRect/>
          </a:stretch>
        </p:blipFill>
        <p:spPr>
          <a:xfrm>
            <a:off x="108575" y="1572400"/>
            <a:ext cx="8926826" cy="3540950"/>
          </a:xfrm>
          <a:prstGeom prst="rect">
            <a:avLst/>
          </a:prstGeom>
          <a:noFill/>
          <a:ln>
            <a:noFill/>
          </a:ln>
        </p:spPr>
      </p:pic>
      <p:sp>
        <p:nvSpPr>
          <p:cNvPr id="1210" name="Google Shape;1210;p167"/>
          <p:cNvSpPr txBox="1"/>
          <p:nvPr/>
        </p:nvSpPr>
        <p:spPr>
          <a:xfrm>
            <a:off x="4423550" y="4434875"/>
            <a:ext cx="4549200" cy="71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600">
                <a:solidFill>
                  <a:schemeClr val="accent1"/>
                </a:solidFill>
              </a:rPr>
              <a:t>Get the set of the most variable genes across samples and PCA using logCPM</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p168"/>
          <p:cNvSpPr txBox="1"/>
          <p:nvPr/>
        </p:nvSpPr>
        <p:spPr>
          <a:xfrm>
            <a:off x="181336" y="137151"/>
            <a:ext cx="8962663"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2700"/>
              <a:buFont typeface="Helvetica Neue"/>
              <a:buNone/>
            </a:pPr>
            <a:r>
              <a:rPr b="1" i="0" lang="en" sz="2700" u="none" cap="none" strike="noStrike">
                <a:solidFill>
                  <a:srgbClr val="0066CC"/>
                </a:solidFill>
                <a:latin typeface="Helvetica Neue"/>
                <a:ea typeface="Helvetica Neue"/>
                <a:cs typeface="Helvetica Neue"/>
                <a:sym typeface="Helvetica Neue"/>
              </a:rPr>
              <a:t>Expression level of Casein varies in a way that is strongly indicative of the effect of CellType and Status</a:t>
            </a:r>
            <a:endParaRPr b="0" i="0" sz="2700" u="none" cap="none" strike="noStrike">
              <a:solidFill>
                <a:srgbClr val="0066CC"/>
              </a:solidFill>
              <a:latin typeface="Helvetica Neue"/>
              <a:ea typeface="Helvetica Neue"/>
              <a:cs typeface="Helvetica Neue"/>
              <a:sym typeface="Helvetica Neue"/>
            </a:endParaRPr>
          </a:p>
        </p:txBody>
      </p:sp>
      <p:pic>
        <p:nvPicPr>
          <p:cNvPr id="1217" name="Google Shape;1217;p168"/>
          <p:cNvPicPr preferRelativeResize="0"/>
          <p:nvPr/>
        </p:nvPicPr>
        <p:blipFill rotWithShape="1">
          <a:blip r:embed="rId3">
            <a:alphaModFix/>
          </a:blip>
          <a:srcRect b="0" l="0" r="0" t="0"/>
          <a:stretch/>
        </p:blipFill>
        <p:spPr>
          <a:xfrm>
            <a:off x="3457577" y="1374737"/>
            <a:ext cx="3167510" cy="3270731"/>
          </a:xfrm>
          <a:prstGeom prst="rect">
            <a:avLst/>
          </a:prstGeom>
          <a:noFill/>
          <a:ln>
            <a:noFill/>
          </a:ln>
        </p:spPr>
      </p:pic>
      <p:sp>
        <p:nvSpPr>
          <p:cNvPr id="1218" name="Google Shape;1218;p168"/>
          <p:cNvSpPr txBox="1"/>
          <p:nvPr/>
        </p:nvSpPr>
        <p:spPr>
          <a:xfrm>
            <a:off x="374240" y="1728982"/>
            <a:ext cx="2700799" cy="2285241"/>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2A40"/>
                </a:solidFill>
                <a:latin typeface="Arial"/>
                <a:ea typeface="Arial"/>
                <a:cs typeface="Arial"/>
                <a:sym typeface="Arial"/>
              </a:rPr>
              <a:t>Why are the B.lactating samples not close to B.virgin and B.pregnant samples?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2A4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2A4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2A40"/>
                </a:solidFill>
                <a:latin typeface="Arial"/>
                <a:ea typeface="Arial"/>
                <a:cs typeface="Arial"/>
                <a:sym typeface="Arial"/>
              </a:rPr>
              <a:t>Could it be due to batch effects?</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3" name="Shape 1223"/>
        <p:cNvGrpSpPr/>
        <p:nvPr/>
      </p:nvGrpSpPr>
      <p:grpSpPr>
        <a:xfrm>
          <a:off x="0" y="0"/>
          <a:ext cx="0" cy="0"/>
          <a:chOff x="0" y="0"/>
          <a:chExt cx="0" cy="0"/>
        </a:xfrm>
      </p:grpSpPr>
      <p:sp>
        <p:nvSpPr>
          <p:cNvPr id="1224" name="Google Shape;1224;p169"/>
          <p:cNvSpPr txBox="1"/>
          <p:nvPr/>
        </p:nvSpPr>
        <p:spPr>
          <a:xfrm>
            <a:off x="181336" y="137151"/>
            <a:ext cx="8962663"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2700"/>
              <a:buFont typeface="Helvetica Neue"/>
              <a:buNone/>
            </a:pPr>
            <a:r>
              <a:rPr b="1" i="0" lang="en" sz="2700" u="none" cap="none" strike="noStrike">
                <a:solidFill>
                  <a:srgbClr val="0066CC"/>
                </a:solidFill>
                <a:latin typeface="Helvetica Neue"/>
                <a:ea typeface="Helvetica Neue"/>
                <a:cs typeface="Helvetica Neue"/>
                <a:sym typeface="Helvetica Neue"/>
              </a:rPr>
              <a:t>Expression appears to vary across samples but…</a:t>
            </a:r>
            <a:endParaRPr b="0" i="0" sz="2700" u="none" cap="none" strike="noStrike">
              <a:solidFill>
                <a:srgbClr val="0066CC"/>
              </a:solidFill>
              <a:latin typeface="Helvetica Neue"/>
              <a:ea typeface="Helvetica Neue"/>
              <a:cs typeface="Helvetica Neue"/>
              <a:sym typeface="Helvetica Neue"/>
            </a:endParaRPr>
          </a:p>
        </p:txBody>
      </p:sp>
      <p:sp>
        <p:nvSpPr>
          <p:cNvPr id="1225" name="Google Shape;1225;p169"/>
          <p:cNvSpPr txBox="1"/>
          <p:nvPr/>
        </p:nvSpPr>
        <p:spPr>
          <a:xfrm>
            <a:off x="367771" y="1703829"/>
            <a:ext cx="2286000" cy="2008242"/>
          </a:xfrm>
          <a:prstGeom prst="rect">
            <a:avLst/>
          </a:prstGeom>
          <a:noFill/>
          <a:ln>
            <a:noFill/>
          </a:ln>
        </p:spPr>
        <p:txBody>
          <a:bodyPr anchorCtr="0" anchor="t" bIns="34275" lIns="68575" spcFirstLastPara="1" rIns="68575" wrap="square" tIns="34275">
            <a:spAutoFit/>
          </a:bodyPr>
          <a:lstStyle/>
          <a:p>
            <a:pPr indent="0" lvl="0" marL="0" marR="0" rtl="0" algn="just">
              <a:lnSpc>
                <a:spcPct val="100000"/>
              </a:lnSpc>
              <a:spcBef>
                <a:spcPts val="0"/>
              </a:spcBef>
              <a:spcAft>
                <a:spcPts val="0"/>
              </a:spcAft>
              <a:buClr>
                <a:srgbClr val="000000"/>
              </a:buClr>
              <a:buSzPts val="1800"/>
              <a:buFont typeface="Arial"/>
              <a:buNone/>
            </a:pPr>
            <a:r>
              <a:rPr b="0" i="0" lang="en" sz="1800" u="none" cap="none" strike="noStrike">
                <a:solidFill>
                  <a:srgbClr val="002A40"/>
                </a:solidFill>
                <a:latin typeface="Arial"/>
                <a:ea typeface="Arial"/>
                <a:cs typeface="Arial"/>
                <a:sym typeface="Arial"/>
              </a:rPr>
              <a:t>In general, the way expression appears to vary across samples could be dominated by noise, batch effects, real signal, etc.</a:t>
            </a:r>
            <a:endParaRPr b="0" i="0" sz="1100" u="none" cap="none" strike="noStrike">
              <a:solidFill>
                <a:srgbClr val="000000"/>
              </a:solidFill>
              <a:latin typeface="Arial"/>
              <a:ea typeface="Arial"/>
              <a:cs typeface="Arial"/>
              <a:sym typeface="Arial"/>
            </a:endParaRPr>
          </a:p>
        </p:txBody>
      </p:sp>
      <p:pic>
        <p:nvPicPr>
          <p:cNvPr id="1226" name="Google Shape;1226;p169"/>
          <p:cNvPicPr preferRelativeResize="0"/>
          <p:nvPr/>
        </p:nvPicPr>
        <p:blipFill rotWithShape="1">
          <a:blip r:embed="rId3">
            <a:alphaModFix/>
          </a:blip>
          <a:srcRect b="0" l="0" r="0" t="0"/>
          <a:stretch/>
        </p:blipFill>
        <p:spPr>
          <a:xfrm>
            <a:off x="3152762" y="1308300"/>
            <a:ext cx="3610841" cy="3446859"/>
          </a:xfrm>
          <a:prstGeom prst="rect">
            <a:avLst/>
          </a:prstGeom>
          <a:noFill/>
          <a:ln>
            <a:noFill/>
          </a:ln>
        </p:spPr>
      </p:pic>
      <p:sp>
        <p:nvSpPr>
          <p:cNvPr id="1227" name="Google Shape;1227;p169"/>
          <p:cNvSpPr txBox="1"/>
          <p:nvPr/>
        </p:nvSpPr>
        <p:spPr>
          <a:xfrm>
            <a:off x="369275" y="4589575"/>
            <a:ext cx="75966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700" u="none" cap="none" strike="noStrike">
                <a:solidFill>
                  <a:srgbClr val="000000"/>
                </a:solidFill>
                <a:latin typeface="Helvetica Neue"/>
                <a:ea typeface="Helvetica Neue"/>
                <a:cs typeface="Helvetica Neue"/>
                <a:sym typeface="Helvetica Neue"/>
              </a:rPr>
              <a:t>Identify the source fo</a:t>
            </a:r>
            <a:r>
              <a:rPr lang="en" sz="1700">
                <a:latin typeface="Helvetica Neue"/>
                <a:ea typeface="Helvetica Neue"/>
                <a:cs typeface="Helvetica Neue"/>
                <a:sym typeface="Helvetica Neue"/>
              </a:rPr>
              <a:t>r</a:t>
            </a:r>
            <a:r>
              <a:rPr b="0" i="0" lang="en" sz="1700" u="none" cap="none" strike="noStrike">
                <a:solidFill>
                  <a:srgbClr val="000000"/>
                </a:solidFill>
                <a:latin typeface="Helvetica Neue"/>
                <a:ea typeface="Helvetica Neue"/>
                <a:cs typeface="Helvetica Neue"/>
                <a:sym typeface="Helvetica Neue"/>
              </a:rPr>
              <a:t> technical variability!</a:t>
            </a:r>
            <a:endParaRPr b="0" i="0" sz="17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1" name="Shape 1231"/>
        <p:cNvGrpSpPr/>
        <p:nvPr/>
      </p:nvGrpSpPr>
      <p:grpSpPr>
        <a:xfrm>
          <a:off x="0" y="0"/>
          <a:ext cx="0" cy="0"/>
          <a:chOff x="0" y="0"/>
          <a:chExt cx="0" cy="0"/>
        </a:xfrm>
      </p:grpSpPr>
      <p:sp>
        <p:nvSpPr>
          <p:cNvPr id="1232" name="Google Shape;1232;p170"/>
          <p:cNvSpPr/>
          <p:nvPr/>
        </p:nvSpPr>
        <p:spPr>
          <a:xfrm>
            <a:off x="3316325" y="1763438"/>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Filtering low counts genes</a:t>
            </a:r>
            <a:endParaRPr b="1" sz="900"/>
          </a:p>
        </p:txBody>
      </p:sp>
      <p:sp>
        <p:nvSpPr>
          <p:cNvPr id="1233" name="Google Shape;1233;p170"/>
          <p:cNvSpPr/>
          <p:nvPr/>
        </p:nvSpPr>
        <p:spPr>
          <a:xfrm>
            <a:off x="3316325" y="2882500"/>
            <a:ext cx="1993500" cy="493800"/>
          </a:xfrm>
          <a:prstGeom prst="roundRect">
            <a:avLst>
              <a:gd fmla="val 16667" name="adj"/>
            </a:avLst>
          </a:prstGeom>
          <a:solidFill>
            <a:srgbClr val="D5A6BD"/>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Normalization </a:t>
            </a:r>
            <a:endParaRPr/>
          </a:p>
        </p:txBody>
      </p:sp>
      <p:sp>
        <p:nvSpPr>
          <p:cNvPr id="1234" name="Google Shape;1234;p170"/>
          <p:cNvSpPr/>
          <p:nvPr/>
        </p:nvSpPr>
        <p:spPr>
          <a:xfrm>
            <a:off x="3316325" y="3436875"/>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Fit the model</a:t>
            </a:r>
            <a:endParaRPr b="1"/>
          </a:p>
        </p:txBody>
      </p:sp>
      <p:sp>
        <p:nvSpPr>
          <p:cNvPr id="1235" name="Google Shape;1235;p170"/>
          <p:cNvSpPr/>
          <p:nvPr/>
        </p:nvSpPr>
        <p:spPr>
          <a:xfrm>
            <a:off x="3316325" y="2328124"/>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Dimensionality reduction</a:t>
            </a:r>
            <a:endParaRPr b="1"/>
          </a:p>
        </p:txBody>
      </p:sp>
      <p:sp>
        <p:nvSpPr>
          <p:cNvPr id="1236" name="Google Shape;1236;p170"/>
          <p:cNvSpPr/>
          <p:nvPr/>
        </p:nvSpPr>
        <p:spPr>
          <a:xfrm>
            <a:off x="3316325" y="592375"/>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Count matrix</a:t>
            </a:r>
            <a:endParaRPr b="1"/>
          </a:p>
        </p:txBody>
      </p:sp>
      <p:sp>
        <p:nvSpPr>
          <p:cNvPr id="1237" name="Google Shape;1237;p170"/>
          <p:cNvSpPr/>
          <p:nvPr/>
        </p:nvSpPr>
        <p:spPr>
          <a:xfrm>
            <a:off x="3316325" y="1178313"/>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Source of variability</a:t>
            </a:r>
            <a:endParaRPr b="1">
              <a:solidFill>
                <a:schemeClr val="accent2"/>
              </a:solidFill>
            </a:endParaRPr>
          </a:p>
        </p:txBody>
      </p:sp>
      <p:sp>
        <p:nvSpPr>
          <p:cNvPr id="1238" name="Google Shape;1238;p170"/>
          <p:cNvSpPr txBox="1"/>
          <p:nvPr/>
        </p:nvSpPr>
        <p:spPr>
          <a:xfrm>
            <a:off x="3471100" y="4586663"/>
            <a:ext cx="156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76912"/>
                </a:solidFill>
                <a:latin typeface="Helvetica Neue"/>
                <a:ea typeface="Helvetica Neue"/>
                <a:cs typeface="Helvetica Neue"/>
                <a:sym typeface="Helvetica Neue"/>
              </a:rPr>
              <a:t>Session 3 Demo</a:t>
            </a:r>
            <a:endParaRPr b="1">
              <a:solidFill>
                <a:srgbClr val="F76912"/>
              </a:solidFill>
              <a:latin typeface="Helvetica Neue"/>
              <a:ea typeface="Helvetica Neue"/>
              <a:cs typeface="Helvetica Neue"/>
              <a:sym typeface="Helvetica Neue"/>
            </a:endParaRPr>
          </a:p>
        </p:txBody>
      </p:sp>
      <p:sp>
        <p:nvSpPr>
          <p:cNvPr id="1239" name="Google Shape;1239;p170"/>
          <p:cNvSpPr/>
          <p:nvPr/>
        </p:nvSpPr>
        <p:spPr>
          <a:xfrm>
            <a:off x="3316325" y="3991250"/>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DEG and visualization</a:t>
            </a:r>
            <a:endParaRPr b="1"/>
          </a:p>
        </p:txBody>
      </p:sp>
      <p:sp>
        <p:nvSpPr>
          <p:cNvPr id="1240" name="Google Shape;1240;p170"/>
          <p:cNvSpPr txBox="1"/>
          <p:nvPr/>
        </p:nvSpPr>
        <p:spPr>
          <a:xfrm>
            <a:off x="54700" y="2474075"/>
            <a:ext cx="312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741B47"/>
                </a:solidFill>
                <a:latin typeface="Helvetica Neue"/>
                <a:ea typeface="Helvetica Neue"/>
                <a:cs typeface="Helvetica Neue"/>
                <a:sym typeface="Helvetica Neue"/>
              </a:rPr>
              <a:t>Session 3 Concepts: </a:t>
            </a:r>
            <a:endParaRPr b="1" sz="1200">
              <a:solidFill>
                <a:srgbClr val="741B47"/>
              </a:solidFill>
              <a:highlight>
                <a:srgbClr val="F7F6F3"/>
              </a:highlight>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sp>
        <p:nvSpPr>
          <p:cNvPr id="1246" name="Google Shape;1246;p171"/>
          <p:cNvSpPr txBox="1"/>
          <p:nvPr/>
        </p:nvSpPr>
        <p:spPr>
          <a:xfrm>
            <a:off x="181336" y="137151"/>
            <a:ext cx="8962800"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3000"/>
              <a:buFont typeface="Helvetica Neue"/>
              <a:buNone/>
            </a:pPr>
            <a:r>
              <a:rPr b="1" lang="en" sz="3000">
                <a:solidFill>
                  <a:srgbClr val="F76912"/>
                </a:solidFill>
                <a:latin typeface="Helvetica Neue"/>
                <a:ea typeface="Helvetica Neue"/>
                <a:cs typeface="Helvetica Neue"/>
                <a:sym typeface="Helvetica Neue"/>
              </a:rPr>
              <a:t>Normalization</a:t>
            </a:r>
            <a:r>
              <a:rPr b="1" lang="en" sz="3000">
                <a:solidFill>
                  <a:srgbClr val="0066CC"/>
                </a:solidFill>
                <a:latin typeface="Helvetica Neue"/>
                <a:ea typeface="Helvetica Neue"/>
                <a:cs typeface="Helvetica Neue"/>
                <a:sym typeface="Helvetica Neue"/>
              </a:rPr>
              <a:t> a</a:t>
            </a:r>
            <a:r>
              <a:rPr b="1" i="0" lang="en" sz="3000" u="none" cap="none" strike="noStrike">
                <a:solidFill>
                  <a:srgbClr val="0066CC"/>
                </a:solidFill>
                <a:latin typeface="Helvetica Neue"/>
                <a:ea typeface="Helvetica Neue"/>
                <a:cs typeface="Helvetica Neue"/>
                <a:sym typeface="Helvetica Neue"/>
              </a:rPr>
              <a:t>pproach to identify DE genes: edgeR</a:t>
            </a:r>
            <a:endParaRPr b="1" i="0" sz="2900" u="none" cap="none" strike="noStrike">
              <a:solidFill>
                <a:srgbClr val="0066CC"/>
              </a:solidFill>
              <a:latin typeface="Helvetica Neue"/>
              <a:ea typeface="Helvetica Neue"/>
              <a:cs typeface="Helvetica Neue"/>
              <a:sym typeface="Helvetica Neue"/>
            </a:endParaRPr>
          </a:p>
        </p:txBody>
      </p:sp>
      <p:sp>
        <p:nvSpPr>
          <p:cNvPr id="1247" name="Google Shape;1247;p171"/>
          <p:cNvSpPr txBox="1"/>
          <p:nvPr/>
        </p:nvSpPr>
        <p:spPr>
          <a:xfrm>
            <a:off x="181336" y="1161821"/>
            <a:ext cx="8781300" cy="3579000"/>
          </a:xfrm>
          <a:prstGeom prst="rect">
            <a:avLst/>
          </a:prstGeom>
          <a:noFill/>
          <a:ln>
            <a:noFill/>
          </a:ln>
        </p:spPr>
        <p:txBody>
          <a:bodyPr anchorCtr="0" anchor="t" bIns="34275" lIns="68575" spcFirstLastPara="1" rIns="68575" wrap="square" tIns="34275">
            <a:noAutofit/>
          </a:bodyPr>
          <a:lstStyle/>
          <a:p>
            <a:pPr indent="-342900" lvl="0" marL="342900" marR="0" rtl="0" algn="l">
              <a:lnSpc>
                <a:spcPct val="90000"/>
              </a:lnSpc>
              <a:spcBef>
                <a:spcPts val="0"/>
              </a:spcBef>
              <a:spcAft>
                <a:spcPts val="0"/>
              </a:spcAft>
              <a:buClr>
                <a:srgbClr val="0071AF"/>
              </a:buClr>
              <a:buSzPts val="1700"/>
              <a:buFont typeface="Courier New"/>
              <a:buChar char="o"/>
            </a:pPr>
            <a:r>
              <a:rPr b="0" i="1" lang="en" sz="2100" u="none" cap="none" strike="noStrike">
                <a:solidFill>
                  <a:srgbClr val="002A40"/>
                </a:solidFill>
                <a:latin typeface="Helvetica Neue"/>
                <a:ea typeface="Helvetica Neue"/>
                <a:cs typeface="Helvetica Neue"/>
                <a:sym typeface="Helvetica Neue"/>
              </a:rPr>
              <a:t>Bioconductor package </a:t>
            </a:r>
            <a:r>
              <a:rPr b="0" i="1" lang="en" sz="2100" u="none" cap="none" strike="noStrike">
                <a:solidFill>
                  <a:srgbClr val="0071AF"/>
                </a:solidFill>
                <a:latin typeface="Helvetica Neue"/>
                <a:ea typeface="Helvetica Neue"/>
                <a:cs typeface="Helvetica Neue"/>
                <a:sym typeface="Helvetica Neue"/>
              </a:rPr>
              <a:t>edgeR</a:t>
            </a:r>
            <a:r>
              <a:rPr b="0" i="0" lang="en" sz="2100" u="none" cap="none" strike="noStrike">
                <a:solidFill>
                  <a:schemeClr val="dk1"/>
                </a:solidFill>
                <a:latin typeface="Helvetica Neue"/>
                <a:ea typeface="Helvetica Neue"/>
                <a:cs typeface="Helvetica Neue"/>
                <a:sym typeface="Helvetica Neue"/>
              </a:rPr>
              <a:t> </a:t>
            </a:r>
            <a:endParaRPr sz="2100">
              <a:solidFill>
                <a:schemeClr val="dk1"/>
              </a:solidFill>
              <a:latin typeface="Helvetica Neue"/>
              <a:ea typeface="Helvetica Neue"/>
              <a:cs typeface="Helvetica Neue"/>
              <a:sym typeface="Helvetica Neue"/>
            </a:endParaRPr>
          </a:p>
          <a:p>
            <a:pPr indent="0" lvl="0" marL="457200" marR="0" rtl="0" algn="l">
              <a:lnSpc>
                <a:spcPct val="90000"/>
              </a:lnSpc>
              <a:spcBef>
                <a:spcPts val="0"/>
              </a:spcBef>
              <a:spcAft>
                <a:spcPts val="0"/>
              </a:spcAft>
              <a:buNone/>
            </a:pPr>
            <a:r>
              <a:t/>
            </a:r>
            <a:endParaRPr i="1" sz="2100">
              <a:solidFill>
                <a:schemeClr val="dk1"/>
              </a:solidFill>
              <a:latin typeface="Helvetica Neue"/>
              <a:ea typeface="Helvetica Neue"/>
              <a:cs typeface="Helvetica Neue"/>
              <a:sym typeface="Helvetica Neue"/>
            </a:endParaRPr>
          </a:p>
          <a:p>
            <a:pPr indent="-342900" lvl="0" marL="342900" marR="0" rtl="0" algn="l">
              <a:lnSpc>
                <a:spcPct val="90000"/>
              </a:lnSpc>
              <a:spcBef>
                <a:spcPts val="0"/>
              </a:spcBef>
              <a:spcAft>
                <a:spcPts val="0"/>
              </a:spcAft>
              <a:buClr>
                <a:srgbClr val="0071AF"/>
              </a:buClr>
              <a:buSzPts val="1700"/>
              <a:buFont typeface="Courier New"/>
              <a:buChar char="o"/>
            </a:pPr>
            <a:r>
              <a:rPr i="1" lang="en" sz="2100">
                <a:solidFill>
                  <a:schemeClr val="dk1"/>
                </a:solidFill>
                <a:latin typeface="Helvetica Neue"/>
                <a:ea typeface="Helvetica Neue"/>
                <a:cs typeface="Helvetica Neue"/>
                <a:sym typeface="Helvetica Neue"/>
              </a:rPr>
              <a:t>Null model - differences due </a:t>
            </a:r>
            <a:r>
              <a:rPr b="0" i="1" lang="en" sz="2100" u="none" cap="none" strike="noStrike">
                <a:solidFill>
                  <a:schemeClr val="dk1"/>
                </a:solidFill>
                <a:latin typeface="Helvetica Neue"/>
                <a:ea typeface="Helvetica Neue"/>
                <a:cs typeface="Helvetica Neue"/>
                <a:sym typeface="Helvetica Neue"/>
              </a:rPr>
              <a:t>to noise in counts </a:t>
            </a:r>
            <a:r>
              <a:rPr b="0" i="0" lang="en" sz="2100" u="none" cap="none" strike="noStrike">
                <a:solidFill>
                  <a:schemeClr val="dk1"/>
                </a:solidFill>
                <a:latin typeface="Helvetica Neue"/>
                <a:ea typeface="Helvetica Neue"/>
                <a:cs typeface="Helvetica Neue"/>
                <a:sym typeface="Helvetica Neue"/>
              </a:rPr>
              <a:t>data</a:t>
            </a:r>
            <a:endParaRPr b="0" i="0" sz="1100" u="none" cap="none" strike="noStrike">
              <a:solidFill>
                <a:srgbClr val="000000"/>
              </a:solidFill>
              <a:latin typeface="Arial"/>
              <a:ea typeface="Arial"/>
              <a:cs typeface="Arial"/>
              <a:sym typeface="Arial"/>
            </a:endParaRPr>
          </a:p>
          <a:p>
            <a:pPr indent="-114300" lvl="0" marL="127000" marR="0" rtl="0" algn="l">
              <a:lnSpc>
                <a:spcPct val="90000"/>
              </a:lnSpc>
              <a:spcBef>
                <a:spcPts val="800"/>
              </a:spcBef>
              <a:spcAft>
                <a:spcPts val="0"/>
              </a:spcAft>
              <a:buClr>
                <a:srgbClr val="0071AF"/>
              </a:buClr>
              <a:buSzPts val="200"/>
              <a:buFont typeface="Courier New"/>
              <a:buNone/>
            </a:pPr>
            <a:r>
              <a:t/>
            </a:r>
            <a:endParaRPr b="0" i="0" sz="200" u="none" cap="none" strike="noStrike">
              <a:solidFill>
                <a:schemeClr val="dk1"/>
              </a:solidFill>
              <a:latin typeface="Helvetica Neue"/>
              <a:ea typeface="Helvetica Neue"/>
              <a:cs typeface="Helvetica Neue"/>
              <a:sym typeface="Helvetica Neue"/>
            </a:endParaRPr>
          </a:p>
          <a:p>
            <a:pPr indent="-342900" lvl="0" marL="342900" marR="0" rtl="0" algn="l">
              <a:lnSpc>
                <a:spcPct val="90000"/>
              </a:lnSpc>
              <a:spcBef>
                <a:spcPts val="800"/>
              </a:spcBef>
              <a:spcAft>
                <a:spcPts val="0"/>
              </a:spcAft>
              <a:buClr>
                <a:srgbClr val="0071AF"/>
              </a:buClr>
              <a:buSzPts val="1700"/>
              <a:buFont typeface="Courier New"/>
              <a:buChar char="o"/>
            </a:pPr>
            <a:r>
              <a:rPr b="0" i="0" lang="en" sz="2100" u="none" cap="none" strike="noStrike">
                <a:solidFill>
                  <a:schemeClr val="dk1"/>
                </a:solidFill>
                <a:latin typeface="Helvetica Neue"/>
                <a:ea typeface="Helvetica Neue"/>
                <a:cs typeface="Helvetica Neue"/>
                <a:sym typeface="Helvetica Neue"/>
              </a:rPr>
              <a:t>If the probability is very low (e.g., p &lt; 0.05), infer that something may be happening that we did not account for in the null model. (e.g., biological processes in L cells for milk production) - </a:t>
            </a:r>
            <a:r>
              <a:rPr lang="en" sz="2100">
                <a:solidFill>
                  <a:schemeClr val="dk1"/>
                </a:solidFill>
                <a:latin typeface="Helvetica Neue"/>
                <a:ea typeface="Helvetica Neue"/>
                <a:cs typeface="Helvetica Neue"/>
                <a:sym typeface="Helvetica Neue"/>
              </a:rPr>
              <a:t>biological signal</a:t>
            </a:r>
            <a:endParaRPr sz="2100">
              <a:solidFill>
                <a:schemeClr val="dk1"/>
              </a:solidFill>
              <a:latin typeface="Helvetica Neue"/>
              <a:ea typeface="Helvetica Neue"/>
              <a:cs typeface="Helvetica Neue"/>
              <a:sym typeface="Helvetica Neue"/>
            </a:endParaRPr>
          </a:p>
          <a:p>
            <a:pPr indent="0" lvl="0" marL="0" marR="0" rtl="0" algn="l">
              <a:lnSpc>
                <a:spcPct val="90000"/>
              </a:lnSpc>
              <a:spcBef>
                <a:spcPts val="800"/>
              </a:spcBef>
              <a:spcAft>
                <a:spcPts val="0"/>
              </a:spcAft>
              <a:buNone/>
            </a:pPr>
            <a:r>
              <a:t/>
            </a:r>
            <a:endParaRPr sz="2100">
              <a:solidFill>
                <a:schemeClr val="dk1"/>
              </a:solidFill>
              <a:latin typeface="Helvetica Neue"/>
              <a:ea typeface="Helvetica Neue"/>
              <a:cs typeface="Helvetica Neue"/>
              <a:sym typeface="Helvetica Neue"/>
            </a:endParaRPr>
          </a:p>
          <a:p>
            <a:pPr indent="0" lvl="0" marL="0" marR="0" rtl="0" algn="l">
              <a:lnSpc>
                <a:spcPct val="90000"/>
              </a:lnSpc>
              <a:spcBef>
                <a:spcPts val="800"/>
              </a:spcBef>
              <a:spcAft>
                <a:spcPts val="0"/>
              </a:spcAft>
              <a:buNone/>
            </a:pPr>
            <a:r>
              <a:t/>
            </a:r>
            <a:endParaRPr sz="2100">
              <a:solidFill>
                <a:schemeClr val="dk1"/>
              </a:solidFill>
              <a:latin typeface="Helvetica Neue"/>
              <a:ea typeface="Helvetica Neue"/>
              <a:cs typeface="Helvetica Neue"/>
              <a:sym typeface="Helvetica Neue"/>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sp>
        <p:nvSpPr>
          <p:cNvPr id="1253" name="Google Shape;1253;p172"/>
          <p:cNvSpPr txBox="1"/>
          <p:nvPr/>
        </p:nvSpPr>
        <p:spPr>
          <a:xfrm>
            <a:off x="181336" y="100109"/>
            <a:ext cx="8962800"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3000"/>
              <a:buFont typeface="Helvetica Neue"/>
              <a:buNone/>
            </a:pPr>
            <a:r>
              <a:rPr b="1" lang="en" sz="3000">
                <a:solidFill>
                  <a:srgbClr val="0066CC"/>
                </a:solidFill>
                <a:latin typeface="Helvetica Neue"/>
                <a:ea typeface="Helvetica Neue"/>
                <a:cs typeface="Helvetica Neue"/>
                <a:sym typeface="Helvetica Neue"/>
              </a:rPr>
              <a:t>To perform DEG - additional source of bias to account for </a:t>
            </a:r>
            <a:endParaRPr b="1" i="0" sz="2900" u="none" cap="none" strike="noStrike">
              <a:solidFill>
                <a:srgbClr val="0066CC"/>
              </a:solidFill>
              <a:latin typeface="Helvetica Neue"/>
              <a:ea typeface="Helvetica Neue"/>
              <a:cs typeface="Helvetica Neue"/>
              <a:sym typeface="Helvetica Neue"/>
            </a:endParaRPr>
          </a:p>
        </p:txBody>
      </p:sp>
      <p:sp>
        <p:nvSpPr>
          <p:cNvPr id="1254" name="Google Shape;1254;p172"/>
          <p:cNvSpPr txBox="1"/>
          <p:nvPr/>
        </p:nvSpPr>
        <p:spPr>
          <a:xfrm>
            <a:off x="247050" y="4223075"/>
            <a:ext cx="8649900" cy="555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None/>
            </a:pPr>
            <a:r>
              <a:rPr b="1" lang="en" sz="2100">
                <a:solidFill>
                  <a:srgbClr val="F76912"/>
                </a:solidFill>
                <a:latin typeface="Helvetica Neue"/>
                <a:ea typeface="Helvetica Neue"/>
                <a:cs typeface="Helvetica Neue"/>
                <a:sym typeface="Helvetica Neue"/>
              </a:rPr>
              <a:t>Different </a:t>
            </a:r>
            <a:r>
              <a:rPr b="1" i="0" lang="en" sz="2100" u="sng" cap="none" strike="noStrike">
                <a:solidFill>
                  <a:srgbClr val="F76912"/>
                </a:solidFill>
                <a:latin typeface="Helvetica Neue"/>
                <a:ea typeface="Helvetica Neue"/>
                <a:cs typeface="Helvetica Neue"/>
                <a:sym typeface="Helvetica Neue"/>
              </a:rPr>
              <a:t>RNA sample composition</a:t>
            </a:r>
            <a:endParaRPr b="1" sz="2100" u="sng">
              <a:solidFill>
                <a:srgbClr val="F76912"/>
              </a:solidFill>
              <a:latin typeface="Helvetica Neue"/>
              <a:ea typeface="Helvetica Neue"/>
              <a:cs typeface="Helvetica Neue"/>
              <a:sym typeface="Helvetica Neue"/>
            </a:endParaRPr>
          </a:p>
          <a:p>
            <a:pPr indent="0" lvl="0" marL="0" marR="0" rtl="0" algn="l">
              <a:lnSpc>
                <a:spcPct val="100000"/>
              </a:lnSpc>
              <a:spcBef>
                <a:spcPts val="0"/>
              </a:spcBef>
              <a:spcAft>
                <a:spcPts val="0"/>
              </a:spcAft>
              <a:buNone/>
            </a:pPr>
            <a:r>
              <a:rPr lang="en" sz="1700">
                <a:solidFill>
                  <a:schemeClr val="accent1"/>
                </a:solidFill>
                <a:latin typeface="Helvetica Neue"/>
                <a:ea typeface="Helvetica Neue"/>
                <a:cs typeface="Helvetica Neue"/>
                <a:sym typeface="Helvetica Neue"/>
              </a:rPr>
              <a:t>Cells don’t necessarily produce similar levels of RNA/cell between cell types, disease states or developmental stages is not always valid</a:t>
            </a:r>
            <a:endParaRPr sz="1700">
              <a:solidFill>
                <a:schemeClr val="accent1"/>
              </a:solidFill>
              <a:latin typeface="Helvetica Neue"/>
              <a:ea typeface="Helvetica Neue"/>
              <a:cs typeface="Helvetica Neue"/>
              <a:sym typeface="Helvetica Neue"/>
            </a:endParaRPr>
          </a:p>
          <a:p>
            <a:pPr indent="0" lvl="0" marL="0" marR="0" rtl="0" algn="l">
              <a:lnSpc>
                <a:spcPct val="100000"/>
              </a:lnSpc>
              <a:spcBef>
                <a:spcPts val="0"/>
              </a:spcBef>
              <a:spcAft>
                <a:spcPts val="0"/>
              </a:spcAft>
              <a:buNone/>
            </a:pPr>
            <a:r>
              <a:t/>
            </a:r>
            <a:endParaRPr b="1" sz="2100">
              <a:solidFill>
                <a:schemeClr val="dk2"/>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2400"/>
              <a:buFont typeface="Helvetica Neue"/>
              <a:buNone/>
            </a:pPr>
            <a:r>
              <a:t/>
            </a:r>
            <a:endParaRPr b="1" i="0" sz="2400" u="none" cap="none" strike="noStrike">
              <a:solidFill>
                <a:schemeClr val="dk2"/>
              </a:solidFill>
              <a:latin typeface="Helvetica Neue"/>
              <a:ea typeface="Helvetica Neue"/>
              <a:cs typeface="Helvetica Neue"/>
              <a:sym typeface="Helvetica Neue"/>
            </a:endParaRPr>
          </a:p>
        </p:txBody>
      </p:sp>
      <p:sp>
        <p:nvSpPr>
          <p:cNvPr id="1255" name="Google Shape;1255;p172"/>
          <p:cNvSpPr txBox="1"/>
          <p:nvPr/>
        </p:nvSpPr>
        <p:spPr>
          <a:xfrm>
            <a:off x="3589200" y="3376950"/>
            <a:ext cx="55116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dk1"/>
                </a:solidFill>
                <a:highlight>
                  <a:srgbClr val="FFFFFF"/>
                </a:highlight>
              </a:rPr>
              <a:t>If a gene is overexpressed in one group of samples, the other genes look lower expressed</a:t>
            </a:r>
            <a:endParaRPr sz="1900"/>
          </a:p>
        </p:txBody>
      </p:sp>
      <p:pic>
        <p:nvPicPr>
          <p:cNvPr id="1256" name="Google Shape;1256;p172" title="1710756982791.jpg"/>
          <p:cNvPicPr preferRelativeResize="0"/>
          <p:nvPr/>
        </p:nvPicPr>
        <p:blipFill>
          <a:blip r:embed="rId3">
            <a:alphaModFix/>
          </a:blip>
          <a:stretch>
            <a:fillRect/>
          </a:stretch>
        </p:blipFill>
        <p:spPr>
          <a:xfrm>
            <a:off x="246300" y="1040250"/>
            <a:ext cx="3129550" cy="3182825"/>
          </a:xfrm>
          <a:prstGeom prst="rect">
            <a:avLst/>
          </a:prstGeom>
          <a:noFill/>
          <a:ln>
            <a:noFill/>
          </a:ln>
        </p:spPr>
      </p:pic>
      <p:sp>
        <p:nvSpPr>
          <p:cNvPr id="1257" name="Google Shape;1257;p172"/>
          <p:cNvSpPr txBox="1"/>
          <p:nvPr/>
        </p:nvSpPr>
        <p:spPr>
          <a:xfrm>
            <a:off x="3722125" y="765325"/>
            <a:ext cx="56244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Helvetica Neue"/>
                <a:ea typeface="Helvetica Neue"/>
                <a:cs typeface="Helvetica Neue"/>
                <a:sym typeface="Helvetica Neue"/>
              </a:rPr>
              <a:t>Library size 1M</a:t>
            </a:r>
            <a:endParaRPr b="1" sz="16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6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 sz="1600">
                <a:solidFill>
                  <a:schemeClr val="dk1"/>
                </a:solidFill>
                <a:latin typeface="Helvetica Neue"/>
                <a:ea typeface="Helvetica Neue"/>
                <a:cs typeface="Helvetica Neue"/>
                <a:sym typeface="Helvetica Neue"/>
              </a:rPr>
              <a:t>Sample A (where the gene is overexpressed)</a:t>
            </a:r>
            <a:endParaRPr b="1" sz="16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 sz="1600">
                <a:solidFill>
                  <a:schemeClr val="dk1"/>
                </a:solidFill>
                <a:latin typeface="Helvetica Neue"/>
                <a:ea typeface="Helvetica Neue"/>
                <a:cs typeface="Helvetica Neue"/>
                <a:sym typeface="Helvetica Neue"/>
              </a:rPr>
              <a:t>Gene DE 500,000 raw counts</a:t>
            </a:r>
            <a:endParaRPr sz="16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 sz="1600">
                <a:solidFill>
                  <a:schemeClr val="dk1"/>
                </a:solidFill>
                <a:latin typeface="Helvetica Neue"/>
                <a:ea typeface="Helvetica Neue"/>
                <a:cs typeface="Helvetica Neue"/>
                <a:sym typeface="Helvetica Neue"/>
              </a:rPr>
              <a:t>All other genes 500,000</a:t>
            </a:r>
            <a:endParaRPr sz="16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b="1" sz="16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 sz="1600">
                <a:solidFill>
                  <a:schemeClr val="dk1"/>
                </a:solidFill>
                <a:latin typeface="Helvetica Neue"/>
                <a:ea typeface="Helvetica Neue"/>
                <a:cs typeface="Helvetica Neue"/>
                <a:sym typeface="Helvetica Neue"/>
              </a:rPr>
              <a:t>Sample B (where the gene is </a:t>
            </a:r>
            <a:r>
              <a:rPr b="1" lang="en" sz="1600" u="sng">
                <a:solidFill>
                  <a:schemeClr val="dk1"/>
                </a:solidFill>
                <a:latin typeface="Helvetica Neue"/>
                <a:ea typeface="Helvetica Neue"/>
                <a:cs typeface="Helvetica Neue"/>
                <a:sym typeface="Helvetica Neue"/>
              </a:rPr>
              <a:t>not</a:t>
            </a:r>
            <a:r>
              <a:rPr b="1" lang="en" sz="1600">
                <a:solidFill>
                  <a:schemeClr val="dk1"/>
                </a:solidFill>
                <a:latin typeface="Helvetica Neue"/>
                <a:ea typeface="Helvetica Neue"/>
                <a:cs typeface="Helvetica Neue"/>
                <a:sym typeface="Helvetica Neue"/>
              </a:rPr>
              <a:t> overexpressed)</a:t>
            </a:r>
            <a:endParaRPr b="1" sz="16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 sz="1600">
                <a:solidFill>
                  <a:schemeClr val="dk1"/>
                </a:solidFill>
                <a:latin typeface="Helvetica Neue"/>
                <a:ea typeface="Helvetica Neue"/>
                <a:cs typeface="Helvetica Neue"/>
                <a:sym typeface="Helvetica Neue"/>
              </a:rPr>
              <a:t>Gene DE 10,000 raw counts</a:t>
            </a:r>
            <a:endParaRPr sz="16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 sz="1600">
                <a:solidFill>
                  <a:schemeClr val="dk1"/>
                </a:solidFill>
                <a:latin typeface="Helvetica Neue"/>
                <a:ea typeface="Helvetica Neue"/>
                <a:cs typeface="Helvetica Neue"/>
                <a:sym typeface="Helvetica Neue"/>
              </a:rPr>
              <a:t>All other genes 990,000</a:t>
            </a:r>
            <a:endParaRPr sz="1600">
              <a:solidFill>
                <a:schemeClr val="dk1"/>
              </a:solidFill>
              <a:latin typeface="Helvetica Neue"/>
              <a:ea typeface="Helvetica Neue"/>
              <a:cs typeface="Helvetica Neue"/>
              <a:sym typeface="Helvetica Neue"/>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1" name="Shape 1261"/>
        <p:cNvGrpSpPr/>
        <p:nvPr/>
      </p:nvGrpSpPr>
      <p:grpSpPr>
        <a:xfrm>
          <a:off x="0" y="0"/>
          <a:ext cx="0" cy="0"/>
          <a:chOff x="0" y="0"/>
          <a:chExt cx="0" cy="0"/>
        </a:xfrm>
      </p:grpSpPr>
      <p:pic>
        <p:nvPicPr>
          <p:cNvPr id="1262" name="Google Shape;1262;p173"/>
          <p:cNvPicPr preferRelativeResize="0"/>
          <p:nvPr/>
        </p:nvPicPr>
        <p:blipFill>
          <a:blip r:embed="rId3">
            <a:alphaModFix/>
          </a:blip>
          <a:stretch>
            <a:fillRect/>
          </a:stretch>
        </p:blipFill>
        <p:spPr>
          <a:xfrm>
            <a:off x="4353349" y="585000"/>
            <a:ext cx="4287324" cy="2782724"/>
          </a:xfrm>
          <a:prstGeom prst="rect">
            <a:avLst/>
          </a:prstGeom>
          <a:noFill/>
          <a:ln>
            <a:noFill/>
          </a:ln>
        </p:spPr>
      </p:pic>
      <p:sp>
        <p:nvSpPr>
          <p:cNvPr id="1263" name="Google Shape;1263;p173"/>
          <p:cNvSpPr txBox="1"/>
          <p:nvPr/>
        </p:nvSpPr>
        <p:spPr>
          <a:xfrm>
            <a:off x="7162800" y="4758600"/>
            <a:ext cx="19812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300">
                <a:solidFill>
                  <a:schemeClr val="dk1"/>
                </a:solidFill>
              </a:rPr>
              <a:t>doi: </a:t>
            </a:r>
            <a:r>
              <a:rPr lang="en" sz="1300" u="sng">
                <a:solidFill>
                  <a:schemeClr val="hlink"/>
                </a:solidFill>
                <a:hlinkClick r:id="rId4"/>
              </a:rPr>
              <a:t>10.1093/bib/bbx008</a:t>
            </a:r>
            <a:endParaRPr sz="1600">
              <a:solidFill>
                <a:schemeClr val="dk1"/>
              </a:solidFill>
              <a:latin typeface="Helvetica Neue"/>
              <a:ea typeface="Helvetica Neue"/>
              <a:cs typeface="Helvetica Neue"/>
              <a:sym typeface="Helvetica Neue"/>
            </a:endParaRPr>
          </a:p>
        </p:txBody>
      </p:sp>
      <p:sp>
        <p:nvSpPr>
          <p:cNvPr id="1264" name="Google Shape;1264;p173"/>
          <p:cNvSpPr txBox="1"/>
          <p:nvPr/>
        </p:nvSpPr>
        <p:spPr>
          <a:xfrm>
            <a:off x="152875" y="555300"/>
            <a:ext cx="3893700" cy="4032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000">
                <a:solidFill>
                  <a:srgbClr val="002A40"/>
                </a:solidFill>
              </a:rPr>
              <a:t>Total read count for each sample is the same.</a:t>
            </a:r>
            <a:endParaRPr sz="2000">
              <a:solidFill>
                <a:srgbClr val="002A40"/>
              </a:solidFill>
            </a:endParaRPr>
          </a:p>
          <a:p>
            <a:pPr indent="0" lvl="0" marL="0" rtl="0" algn="l">
              <a:lnSpc>
                <a:spcPct val="115000"/>
              </a:lnSpc>
              <a:spcBef>
                <a:spcPts val="0"/>
              </a:spcBef>
              <a:spcAft>
                <a:spcPts val="0"/>
              </a:spcAft>
              <a:buNone/>
            </a:pPr>
            <a:r>
              <a:t/>
            </a:r>
            <a:endParaRPr sz="2000">
              <a:solidFill>
                <a:srgbClr val="002A40"/>
              </a:solidFill>
            </a:endParaRPr>
          </a:p>
          <a:p>
            <a:pPr indent="0" lvl="0" marL="0" rtl="0" algn="l">
              <a:lnSpc>
                <a:spcPct val="115000"/>
              </a:lnSpc>
              <a:spcBef>
                <a:spcPts val="0"/>
              </a:spcBef>
              <a:spcAft>
                <a:spcPts val="0"/>
              </a:spcAft>
              <a:buNone/>
            </a:pPr>
            <a:r>
              <a:rPr lang="en" sz="2000">
                <a:solidFill>
                  <a:srgbClr val="002A40"/>
                </a:solidFill>
              </a:rPr>
              <a:t>Few highly expressed genes make up a greater share of the total molecules (total library size) of samples B.</a:t>
            </a:r>
            <a:endParaRPr sz="2000">
              <a:solidFill>
                <a:srgbClr val="002A40"/>
              </a:solidFill>
            </a:endParaRPr>
          </a:p>
          <a:p>
            <a:pPr indent="0" lvl="0" marL="0" rtl="0" algn="l">
              <a:lnSpc>
                <a:spcPct val="115000"/>
              </a:lnSpc>
              <a:spcBef>
                <a:spcPts val="0"/>
              </a:spcBef>
              <a:spcAft>
                <a:spcPts val="0"/>
              </a:spcAft>
              <a:buNone/>
            </a:pPr>
            <a:r>
              <a:t/>
            </a:r>
            <a:endParaRPr sz="2000">
              <a:solidFill>
                <a:srgbClr val="002A40"/>
              </a:solidFill>
            </a:endParaRPr>
          </a:p>
          <a:p>
            <a:pPr indent="0" lvl="0" marL="0" rtl="0" algn="l">
              <a:lnSpc>
                <a:spcPct val="115000"/>
              </a:lnSpc>
              <a:spcBef>
                <a:spcPts val="0"/>
              </a:spcBef>
              <a:spcAft>
                <a:spcPts val="0"/>
              </a:spcAft>
              <a:buNone/>
            </a:pPr>
            <a:r>
              <a:rPr lang="en" sz="2000">
                <a:solidFill>
                  <a:srgbClr val="002A40"/>
                </a:solidFill>
              </a:rPr>
              <a:t>Smaller fraction of the reads will be left for the other genes for that samples (undersampling).</a:t>
            </a:r>
            <a:endParaRPr sz="2000">
              <a:solidFill>
                <a:schemeClr val="dk1"/>
              </a:solidFill>
              <a:latin typeface="Helvetica Neue"/>
              <a:ea typeface="Helvetica Neue"/>
              <a:cs typeface="Helvetica Neue"/>
              <a:sym typeface="Helvetica Neue"/>
            </a:endParaRPr>
          </a:p>
        </p:txBody>
      </p:sp>
      <p:sp>
        <p:nvSpPr>
          <p:cNvPr id="1265" name="Google Shape;1265;p173"/>
          <p:cNvSpPr txBox="1"/>
          <p:nvPr/>
        </p:nvSpPr>
        <p:spPr>
          <a:xfrm>
            <a:off x="25800" y="0"/>
            <a:ext cx="9144000" cy="585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2600">
                <a:solidFill>
                  <a:srgbClr val="0066CC"/>
                </a:solidFill>
                <a:latin typeface="Helvetica Neue"/>
                <a:ea typeface="Helvetica Neue"/>
                <a:cs typeface="Helvetica Neue"/>
                <a:sym typeface="Helvetica Neue"/>
              </a:rPr>
              <a:t>Highly expressed genes bias the real DEG</a:t>
            </a:r>
            <a:endParaRPr b="1" sz="2600">
              <a:solidFill>
                <a:srgbClr val="0066CC"/>
              </a:solidFill>
              <a:latin typeface="Helvetica Neue"/>
              <a:ea typeface="Helvetica Neue"/>
              <a:cs typeface="Helvetica Neue"/>
              <a:sym typeface="Helvetica Neue"/>
            </a:endParaRPr>
          </a:p>
        </p:txBody>
      </p:sp>
      <p:pic>
        <p:nvPicPr>
          <p:cNvPr id="1266" name="Google Shape;1266;p173" title="Screenshot 2026-02-22 at 9.15.33 PM.png"/>
          <p:cNvPicPr preferRelativeResize="0"/>
          <p:nvPr/>
        </p:nvPicPr>
        <p:blipFill>
          <a:blip r:embed="rId5">
            <a:alphaModFix/>
          </a:blip>
          <a:stretch>
            <a:fillRect/>
          </a:stretch>
        </p:blipFill>
        <p:spPr>
          <a:xfrm>
            <a:off x="4684474" y="3367715"/>
            <a:ext cx="4068675" cy="1435660"/>
          </a:xfrm>
          <a:prstGeom prst="rect">
            <a:avLst/>
          </a:prstGeom>
          <a:noFill/>
          <a:ln>
            <a:noFill/>
          </a:ln>
        </p:spPr>
      </p:pic>
      <p:sp>
        <p:nvSpPr>
          <p:cNvPr id="1267" name="Google Shape;1267;p173"/>
          <p:cNvSpPr txBox="1"/>
          <p:nvPr/>
        </p:nvSpPr>
        <p:spPr>
          <a:xfrm>
            <a:off x="152875" y="4666500"/>
            <a:ext cx="8710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rPr>
              <a:t>Normalization for DEG: </a:t>
            </a:r>
            <a:r>
              <a:rPr lang="en" sz="1800">
                <a:solidFill>
                  <a:srgbClr val="CD28A3"/>
                </a:solidFill>
              </a:rPr>
              <a:t>TMM (edgeR), RLE (DESeq)</a:t>
            </a:r>
            <a:endParaRPr sz="1300">
              <a:solidFill>
                <a:schemeClr val="dk1"/>
              </a:solidFill>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p174"/>
          <p:cNvSpPr/>
          <p:nvPr/>
        </p:nvSpPr>
        <p:spPr>
          <a:xfrm>
            <a:off x="181336" y="44351"/>
            <a:ext cx="8515500" cy="32778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100"/>
              <a:buFont typeface="Arial"/>
              <a:buNone/>
            </a:pPr>
            <a:r>
              <a:rPr b="1" i="0" lang="en" sz="2100" u="none" cap="none" strike="noStrike">
                <a:solidFill>
                  <a:srgbClr val="0066CC"/>
                </a:solidFill>
                <a:latin typeface="Arial"/>
                <a:ea typeface="Arial"/>
                <a:cs typeface="Arial"/>
                <a:sym typeface="Arial"/>
              </a:rPr>
              <a:t>A few highly differentially expressed genes may have a strong influence on read counts -&gt; minimizing effect of such genes</a:t>
            </a:r>
            <a:endParaRPr b="0" i="0" sz="1100" u="none" cap="none" strike="noStrike">
              <a:solidFill>
                <a:srgbClr val="0066CC"/>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2B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100"/>
              <a:buFont typeface="Arial"/>
              <a:buNone/>
            </a:pPr>
            <a:r>
              <a:rPr b="0" i="0" lang="en" sz="2100" u="none" cap="none" strike="noStrike">
                <a:solidFill>
                  <a:srgbClr val="002B42"/>
                </a:solidFill>
                <a:latin typeface="Arial"/>
                <a:ea typeface="Arial"/>
                <a:cs typeface="Arial"/>
                <a:sym typeface="Arial"/>
              </a:rPr>
              <a:t>Assumption:  A majority of transcripts is not differentially expressed</a:t>
            </a:r>
            <a:endParaRPr b="0" i="0" sz="2100" u="none" cap="none" strike="noStrike">
              <a:solidFill>
                <a:srgbClr val="002B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sz="2000">
              <a:solidFill>
                <a:srgbClr val="002B42"/>
              </a:solidFill>
            </a:endParaRPr>
          </a:p>
          <a:p>
            <a:pPr indent="0" lvl="0" marL="0" marR="0" rtl="0" algn="l">
              <a:lnSpc>
                <a:spcPct val="100000"/>
              </a:lnSpc>
              <a:spcBef>
                <a:spcPts val="0"/>
              </a:spcBef>
              <a:spcAft>
                <a:spcPts val="0"/>
              </a:spcAft>
              <a:buClr>
                <a:srgbClr val="000000"/>
              </a:buClr>
              <a:buSzPts val="2000"/>
              <a:buFont typeface="Arial"/>
              <a:buNone/>
            </a:pPr>
            <a:r>
              <a:t/>
            </a:r>
            <a:endParaRPr sz="2000">
              <a:solidFill>
                <a:srgbClr val="002B42"/>
              </a:solidFill>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2B42"/>
                </a:solidFill>
                <a:latin typeface="Arial"/>
                <a:ea typeface="Arial"/>
                <a:cs typeface="Arial"/>
                <a:sym typeface="Arial"/>
              </a:rPr>
              <a:t>Adjust counts such that for most genes, counts are not differential.</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2B42"/>
              </a:solidFill>
              <a:latin typeface="Arial"/>
              <a:ea typeface="Arial"/>
              <a:cs typeface="Arial"/>
              <a:sym typeface="Arial"/>
            </a:endParaRPr>
          </a:p>
        </p:txBody>
      </p:sp>
      <p:sp>
        <p:nvSpPr>
          <p:cNvPr id="1274" name="Google Shape;1274;p174"/>
          <p:cNvSpPr/>
          <p:nvPr/>
        </p:nvSpPr>
        <p:spPr>
          <a:xfrm>
            <a:off x="136211" y="3708708"/>
            <a:ext cx="8515500" cy="715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100"/>
              <a:buFont typeface="Arial"/>
              <a:buNone/>
            </a:pPr>
            <a:r>
              <a:rPr b="0" i="0" lang="en" sz="2100" u="none" cap="none" strike="noStrike">
                <a:solidFill>
                  <a:srgbClr val="0070C0"/>
                </a:solidFill>
                <a:latin typeface="Arial"/>
                <a:ea typeface="Arial"/>
                <a:cs typeface="Arial"/>
                <a:sym typeface="Arial"/>
              </a:rPr>
              <a:t>Normalize for RNA composition by a </a:t>
            </a:r>
            <a:r>
              <a:rPr b="1" i="0" lang="en" sz="2100" u="none" cap="none" strike="noStrike">
                <a:solidFill>
                  <a:srgbClr val="F76912"/>
                </a:solidFill>
              </a:rPr>
              <a:t>set of scaling factors</a:t>
            </a:r>
            <a:r>
              <a:rPr b="0" i="0" lang="en" sz="2100" u="none" cap="none" strike="noStrike">
                <a:solidFill>
                  <a:srgbClr val="0070C0"/>
                </a:solidFill>
                <a:latin typeface="Arial"/>
                <a:ea typeface="Arial"/>
                <a:cs typeface="Arial"/>
                <a:sym typeface="Arial"/>
              </a:rPr>
              <a:t> that </a:t>
            </a:r>
            <a:r>
              <a:rPr b="1" i="0" lang="en" sz="2100" u="none" cap="none" strike="noStrike">
                <a:solidFill>
                  <a:srgbClr val="0070C0"/>
                </a:solidFill>
              </a:rPr>
              <a:t>minimize</a:t>
            </a:r>
            <a:r>
              <a:rPr b="0" i="0" lang="en" sz="2100" u="none" cap="none" strike="noStrike">
                <a:solidFill>
                  <a:srgbClr val="0070C0"/>
                </a:solidFill>
                <a:latin typeface="Arial"/>
                <a:ea typeface="Arial"/>
                <a:cs typeface="Arial"/>
                <a:sym typeface="Arial"/>
              </a:rPr>
              <a:t> the log-fold changes between the samples for most genes.</a:t>
            </a:r>
            <a:endParaRPr b="0" i="0" sz="1100" u="none" cap="none" strike="noStrike">
              <a:solidFill>
                <a:srgbClr val="000000"/>
              </a:solidFill>
              <a:latin typeface="Arial"/>
              <a:ea typeface="Arial"/>
              <a:cs typeface="Arial"/>
              <a:sym typeface="Arial"/>
            </a:endParaRPr>
          </a:p>
        </p:txBody>
      </p:sp>
      <p:pic>
        <p:nvPicPr>
          <p:cNvPr id="1275" name="Google Shape;1275;p174" title="Screenshot 2025-10-06 at 10.31.49 AM.png"/>
          <p:cNvPicPr preferRelativeResize="0"/>
          <p:nvPr/>
        </p:nvPicPr>
        <p:blipFill rotWithShape="1">
          <a:blip r:embed="rId3">
            <a:alphaModFix/>
          </a:blip>
          <a:srcRect b="0" l="56303" r="0" t="0"/>
          <a:stretch/>
        </p:blipFill>
        <p:spPr>
          <a:xfrm>
            <a:off x="7832849" y="1421150"/>
            <a:ext cx="999476" cy="104020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0" name="Shape 1280"/>
        <p:cNvGrpSpPr/>
        <p:nvPr/>
      </p:nvGrpSpPr>
      <p:grpSpPr>
        <a:xfrm>
          <a:off x="0" y="0"/>
          <a:ext cx="0" cy="0"/>
          <a:chOff x="0" y="0"/>
          <a:chExt cx="0" cy="0"/>
        </a:xfrm>
      </p:grpSpPr>
      <p:sp>
        <p:nvSpPr>
          <p:cNvPr id="1281" name="Google Shape;1281;p175"/>
          <p:cNvSpPr txBox="1"/>
          <p:nvPr/>
        </p:nvSpPr>
        <p:spPr>
          <a:xfrm>
            <a:off x="90000" y="2439305"/>
            <a:ext cx="8607900" cy="2137200"/>
          </a:xfrm>
          <a:prstGeom prst="rect">
            <a:avLst/>
          </a:prstGeom>
          <a:noFill/>
          <a:ln>
            <a:noFill/>
          </a:ln>
        </p:spPr>
        <p:txBody>
          <a:bodyPr anchorCtr="0" anchor="t" bIns="34275" lIns="68575" spcFirstLastPara="1" rIns="68575" wrap="square" tIns="34275">
            <a:noAutofit/>
          </a:bodyPr>
          <a:lstStyle/>
          <a:p>
            <a:pPr indent="-361950" lvl="0" marL="457200" marR="0" rtl="0" algn="l">
              <a:lnSpc>
                <a:spcPct val="90000"/>
              </a:lnSpc>
              <a:spcBef>
                <a:spcPts val="0"/>
              </a:spcBef>
              <a:spcAft>
                <a:spcPts val="0"/>
              </a:spcAft>
              <a:buSzPts val="2100"/>
              <a:buChar char="●"/>
            </a:pPr>
            <a:r>
              <a:rPr b="0" i="1" lang="en" sz="2100" u="none" cap="none" strike="noStrike">
                <a:solidFill>
                  <a:srgbClr val="0071AF"/>
                </a:solidFill>
                <a:latin typeface="Helvetica Neue"/>
                <a:ea typeface="Helvetica Neue"/>
                <a:cs typeface="Helvetica Neue"/>
                <a:sym typeface="Helvetica Neue"/>
              </a:rPr>
              <a:t>Reference sample</a:t>
            </a:r>
            <a:r>
              <a:rPr b="0" i="0" lang="en" sz="2100" u="none" cap="none" strike="noStrike">
                <a:solidFill>
                  <a:schemeClr val="dk1"/>
                </a:solidFill>
                <a:latin typeface="Helvetica Neue"/>
                <a:ea typeface="Helvetica Neue"/>
                <a:cs typeface="Helvetica Neue"/>
                <a:sym typeface="Helvetica Neue"/>
              </a:rPr>
              <a:t>: </a:t>
            </a:r>
            <a:r>
              <a:rPr b="0" i="0" lang="en" sz="2100" u="none" cap="none" strike="noStrike">
                <a:solidFill>
                  <a:schemeClr val="dk1"/>
                </a:solidFill>
                <a:latin typeface="Arial"/>
                <a:ea typeface="Arial"/>
                <a:cs typeface="Arial"/>
                <a:sym typeface="Arial"/>
              </a:rPr>
              <a:t>have the closest average expressions to the mean of al</a:t>
            </a:r>
            <a:r>
              <a:rPr lang="en" sz="2100">
                <a:solidFill>
                  <a:schemeClr val="dk1"/>
                </a:solidFill>
              </a:rPr>
              <a:t>l </a:t>
            </a:r>
            <a:r>
              <a:rPr b="0" i="0" lang="en" sz="2100" u="none" cap="none" strike="noStrike">
                <a:solidFill>
                  <a:schemeClr val="dk1"/>
                </a:solidFill>
                <a:latin typeface="Arial"/>
                <a:ea typeface="Arial"/>
                <a:cs typeface="Arial"/>
                <a:sym typeface="Arial"/>
              </a:rPr>
              <a:t>samples</a:t>
            </a:r>
            <a:endParaRPr sz="2100">
              <a:solidFill>
                <a:schemeClr val="dk1"/>
              </a:solidFill>
            </a:endParaRPr>
          </a:p>
          <a:p>
            <a:pPr indent="-361950" lvl="0" marL="457200" marR="0" rtl="0" algn="l">
              <a:lnSpc>
                <a:spcPct val="90000"/>
              </a:lnSpc>
              <a:spcBef>
                <a:spcPts val="0"/>
              </a:spcBef>
              <a:spcAft>
                <a:spcPts val="0"/>
              </a:spcAft>
              <a:buSzPts val="2100"/>
              <a:buChar char="●"/>
            </a:pPr>
            <a:r>
              <a:rPr b="0" i="1" lang="en" sz="2100" u="none" cap="none" strike="noStrike">
                <a:solidFill>
                  <a:srgbClr val="0071AF"/>
                </a:solidFill>
                <a:latin typeface="Arial"/>
                <a:ea typeface="Arial"/>
                <a:cs typeface="Arial"/>
                <a:sym typeface="Arial"/>
              </a:rPr>
              <a:t>Test samples</a:t>
            </a:r>
            <a:r>
              <a:rPr b="0" i="0" lang="en" sz="2100" u="none" cap="none" strike="noStrike">
                <a:solidFill>
                  <a:schemeClr val="dk1"/>
                </a:solidFill>
                <a:latin typeface="Arial"/>
                <a:ea typeface="Arial"/>
                <a:cs typeface="Arial"/>
                <a:sym typeface="Arial"/>
              </a:rPr>
              <a:t>: other samples</a:t>
            </a:r>
            <a:endParaRPr b="0" i="0" sz="2100" u="none" cap="none" strike="noStrike">
              <a:solidFill>
                <a:srgbClr val="000000"/>
              </a:solidFill>
              <a:latin typeface="Arial"/>
              <a:ea typeface="Arial"/>
              <a:cs typeface="Arial"/>
              <a:sym typeface="Arial"/>
            </a:endParaRPr>
          </a:p>
          <a:p>
            <a:pPr indent="0" lvl="0" marL="0" marR="0" rtl="0" algn="l">
              <a:lnSpc>
                <a:spcPct val="90000"/>
              </a:lnSpc>
              <a:spcBef>
                <a:spcPts val="800"/>
              </a:spcBef>
              <a:spcAft>
                <a:spcPts val="0"/>
              </a:spcAft>
              <a:buClr>
                <a:schemeClr val="dk1"/>
              </a:buClr>
              <a:buSzPts val="2100"/>
              <a:buFont typeface="Helvetica Neue"/>
              <a:buNone/>
            </a:pPr>
            <a:r>
              <a:t/>
            </a:r>
            <a:endParaRPr b="0" i="0" sz="1100" u="none" cap="none" strike="noStrike">
              <a:solidFill>
                <a:srgbClr val="000000"/>
              </a:solidFill>
              <a:latin typeface="Arial"/>
              <a:ea typeface="Arial"/>
              <a:cs typeface="Arial"/>
              <a:sym typeface="Arial"/>
            </a:endParaRPr>
          </a:p>
          <a:p>
            <a:pPr indent="0" lvl="0" marL="0" marR="0" rtl="0" algn="l">
              <a:lnSpc>
                <a:spcPct val="90000"/>
              </a:lnSpc>
              <a:spcBef>
                <a:spcPts val="800"/>
              </a:spcBef>
              <a:spcAft>
                <a:spcPts val="0"/>
              </a:spcAft>
              <a:buClr>
                <a:schemeClr val="dk1"/>
              </a:buClr>
              <a:buSzPts val="2100"/>
              <a:buFont typeface="Arial"/>
              <a:buNone/>
            </a:pPr>
            <a:r>
              <a:rPr lang="en" sz="2200">
                <a:solidFill>
                  <a:schemeClr val="dk1"/>
                </a:solidFill>
              </a:rPr>
              <a:t>Generate a </a:t>
            </a:r>
            <a:r>
              <a:rPr b="0" i="0" lang="en" sz="2200" u="none" cap="none" strike="noStrike">
                <a:solidFill>
                  <a:schemeClr val="dk1"/>
                </a:solidFill>
                <a:latin typeface="Arial"/>
                <a:ea typeface="Arial"/>
                <a:cs typeface="Arial"/>
                <a:sym typeface="Arial"/>
              </a:rPr>
              <a:t>gene set removing most/lowest expressed genes (</a:t>
            </a:r>
            <a:r>
              <a:rPr b="0" i="0" lang="en" sz="2200" u="none" cap="none" strike="noStrike">
                <a:solidFill>
                  <a:srgbClr val="0071AF"/>
                </a:solidFill>
                <a:latin typeface="Arial"/>
                <a:ea typeface="Arial"/>
                <a:cs typeface="Arial"/>
                <a:sym typeface="Arial"/>
              </a:rPr>
              <a:t>avg read counts</a:t>
            </a:r>
            <a:r>
              <a:rPr b="0" i="0" lang="en" sz="2200" u="none" cap="none" strike="noStrike">
                <a:solidFill>
                  <a:schemeClr val="dk1"/>
                </a:solidFill>
                <a:latin typeface="Arial"/>
                <a:ea typeface="Arial"/>
                <a:cs typeface="Arial"/>
                <a:sym typeface="Arial"/>
              </a:rPr>
              <a:t>)  and genes with highest/lowest log ratios (</a:t>
            </a:r>
            <a:r>
              <a:rPr b="0" i="0" lang="en" sz="2200" u="none" cap="none" strike="noStrike">
                <a:solidFill>
                  <a:srgbClr val="0070C0"/>
                </a:solidFill>
                <a:latin typeface="Arial"/>
                <a:ea typeface="Arial"/>
                <a:cs typeface="Arial"/>
                <a:sym typeface="Arial"/>
              </a:rPr>
              <a:t>differences in expression</a:t>
            </a:r>
            <a:r>
              <a:rPr b="0" i="0" lang="en" sz="2200" u="none" cap="none" strike="noStrike">
                <a:solidFill>
                  <a:schemeClr val="dk1"/>
                </a:solidFill>
                <a:latin typeface="Arial"/>
                <a:ea typeface="Arial"/>
                <a:cs typeface="Arial"/>
                <a:sym typeface="Arial"/>
              </a:rPr>
              <a:t>)</a:t>
            </a:r>
            <a:endParaRPr b="0" i="0" sz="2200" u="none" cap="none" strike="noStrike">
              <a:solidFill>
                <a:schemeClr val="dk1"/>
              </a:solidFill>
              <a:latin typeface="Helvetica Neue"/>
              <a:ea typeface="Helvetica Neue"/>
              <a:cs typeface="Helvetica Neue"/>
              <a:sym typeface="Helvetica Neue"/>
            </a:endParaRPr>
          </a:p>
        </p:txBody>
      </p:sp>
      <p:sp>
        <p:nvSpPr>
          <p:cNvPr id="1282" name="Google Shape;1282;p175"/>
          <p:cNvSpPr/>
          <p:nvPr/>
        </p:nvSpPr>
        <p:spPr>
          <a:xfrm>
            <a:off x="136211" y="1389738"/>
            <a:ext cx="8515500" cy="7155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100"/>
              <a:buFont typeface="Arial"/>
              <a:buNone/>
            </a:pPr>
            <a:r>
              <a:rPr b="1" lang="en" sz="2400">
                <a:solidFill>
                  <a:srgbClr val="F76912"/>
                </a:solidFill>
              </a:rPr>
              <a:t>S</a:t>
            </a:r>
            <a:r>
              <a:rPr b="1" i="0" lang="en" sz="2400" u="none" cap="none" strike="noStrike">
                <a:solidFill>
                  <a:srgbClr val="F76912"/>
                </a:solidFill>
              </a:rPr>
              <a:t>caling factors</a:t>
            </a:r>
            <a:r>
              <a:rPr b="1" i="0" lang="en" sz="2400" u="none" cap="none" strike="noStrike">
                <a:solidFill>
                  <a:srgbClr val="0070C0"/>
                </a:solidFill>
              </a:rPr>
              <a:t> </a:t>
            </a:r>
            <a:r>
              <a:rPr i="0" lang="en" sz="2400" u="none" cap="none" strike="noStrike">
                <a:solidFill>
                  <a:srgbClr val="0070C0"/>
                </a:solidFill>
              </a:rPr>
              <a:t>to minimiz</a:t>
            </a:r>
            <a:r>
              <a:rPr lang="en" sz="2400">
                <a:solidFill>
                  <a:srgbClr val="0070C0"/>
                </a:solidFill>
              </a:rPr>
              <a:t>e</a:t>
            </a:r>
            <a:r>
              <a:rPr b="0" i="0" lang="en" sz="2400" u="none" cap="none" strike="noStrike">
                <a:solidFill>
                  <a:srgbClr val="0070C0"/>
                </a:solidFill>
                <a:latin typeface="Arial"/>
                <a:ea typeface="Arial"/>
                <a:cs typeface="Arial"/>
                <a:sym typeface="Arial"/>
              </a:rPr>
              <a:t> the log-fold changes between the samples for most genes</a:t>
            </a:r>
            <a:endParaRPr b="0" i="0" u="none" cap="none" strike="noStrike">
              <a:solidFill>
                <a:srgbClr val="000000"/>
              </a:solidFill>
              <a:latin typeface="Arial"/>
              <a:ea typeface="Arial"/>
              <a:cs typeface="Arial"/>
              <a:sym typeface="Arial"/>
            </a:endParaRPr>
          </a:p>
        </p:txBody>
      </p:sp>
      <p:sp>
        <p:nvSpPr>
          <p:cNvPr id="1283" name="Google Shape;1283;p175"/>
          <p:cNvSpPr txBox="1"/>
          <p:nvPr/>
        </p:nvSpPr>
        <p:spPr>
          <a:xfrm>
            <a:off x="181336" y="137151"/>
            <a:ext cx="8962800"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3000"/>
              <a:buFont typeface="Helvetica Neue"/>
              <a:buNone/>
            </a:pPr>
            <a:r>
              <a:rPr b="1" i="0" lang="en" sz="3000" u="none" cap="none" strike="noStrike">
                <a:solidFill>
                  <a:srgbClr val="0066CC"/>
                </a:solidFill>
                <a:latin typeface="Helvetica Neue"/>
                <a:ea typeface="Helvetica Neue"/>
                <a:cs typeface="Helvetica Neue"/>
                <a:sym typeface="Helvetica Neue"/>
              </a:rPr>
              <a:t>Approach to identify DE genes: edgeR</a:t>
            </a:r>
            <a:endParaRPr b="1" i="0" sz="2900" u="none" cap="none" strike="noStrike">
              <a:solidFill>
                <a:srgbClr val="0066CC"/>
              </a:solidFill>
              <a:latin typeface="Helvetica Neue"/>
              <a:ea typeface="Helvetica Neue"/>
              <a:cs typeface="Helvetica Neue"/>
              <a:sym typeface="Helvetica Neue"/>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8" name="Shape 1288"/>
        <p:cNvGrpSpPr/>
        <p:nvPr/>
      </p:nvGrpSpPr>
      <p:grpSpPr>
        <a:xfrm>
          <a:off x="0" y="0"/>
          <a:ext cx="0" cy="0"/>
          <a:chOff x="0" y="0"/>
          <a:chExt cx="0" cy="0"/>
        </a:xfrm>
      </p:grpSpPr>
      <p:sp>
        <p:nvSpPr>
          <p:cNvPr id="1289" name="Google Shape;1289;p176"/>
          <p:cNvSpPr txBox="1"/>
          <p:nvPr/>
        </p:nvSpPr>
        <p:spPr>
          <a:xfrm>
            <a:off x="181336" y="137151"/>
            <a:ext cx="8962800"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2700"/>
              <a:buFont typeface="Helvetica Neue"/>
              <a:buNone/>
            </a:pPr>
            <a:r>
              <a:rPr b="1" i="0" lang="en" sz="2700" u="none" cap="none" strike="noStrike">
                <a:solidFill>
                  <a:srgbClr val="0066CC"/>
                </a:solidFill>
                <a:latin typeface="Helvetica Neue"/>
                <a:ea typeface="Helvetica Neue"/>
                <a:cs typeface="Helvetica Neue"/>
                <a:sym typeface="Helvetica Neue"/>
              </a:rPr>
              <a:t>Normalization with edgeR: Trimmed Mean of M-values </a:t>
            </a:r>
            <a:endParaRPr b="0" i="0" sz="2700" u="none" cap="none" strike="noStrike">
              <a:solidFill>
                <a:srgbClr val="0066CC"/>
              </a:solidFill>
              <a:latin typeface="Helvetica Neue"/>
              <a:ea typeface="Helvetica Neue"/>
              <a:cs typeface="Helvetica Neue"/>
              <a:sym typeface="Helvetica Neue"/>
            </a:endParaRPr>
          </a:p>
        </p:txBody>
      </p:sp>
      <p:sp>
        <p:nvSpPr>
          <p:cNvPr id="1290" name="Google Shape;1290;p176"/>
          <p:cNvSpPr txBox="1"/>
          <p:nvPr/>
        </p:nvSpPr>
        <p:spPr>
          <a:xfrm>
            <a:off x="11" y="873951"/>
            <a:ext cx="7886700" cy="2956500"/>
          </a:xfrm>
          <a:prstGeom prst="rect">
            <a:avLst/>
          </a:prstGeom>
          <a:blipFill rotWithShape="1">
            <a:blip r:embed="rId3">
              <a:alphaModFix/>
            </a:blip>
            <a:stretch>
              <a:fillRect b="-5130" l="-840" r="0" t="-1280"/>
            </a:stretch>
          </a:blip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alibri"/>
                <a:ea typeface="Calibri"/>
                <a:cs typeface="Calibri"/>
                <a:sym typeface="Calibri"/>
              </a:rPr>
              <a:t> </a:t>
            </a:r>
            <a:endParaRPr b="0" i="0" sz="1100" u="none" cap="none" strike="noStrike">
              <a:solidFill>
                <a:srgbClr val="000000"/>
              </a:solidFill>
              <a:latin typeface="Arial"/>
              <a:ea typeface="Arial"/>
              <a:cs typeface="Arial"/>
              <a:sym typeface="Arial"/>
            </a:endParaRPr>
          </a:p>
        </p:txBody>
      </p:sp>
      <p:sp>
        <p:nvSpPr>
          <p:cNvPr id="1291" name="Google Shape;1291;p176"/>
          <p:cNvSpPr txBox="1"/>
          <p:nvPr/>
        </p:nvSpPr>
        <p:spPr>
          <a:xfrm>
            <a:off x="181327" y="4105650"/>
            <a:ext cx="7232400" cy="9003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2A40"/>
                </a:solidFill>
                <a:latin typeface="Arial"/>
                <a:ea typeface="Arial"/>
                <a:cs typeface="Arial"/>
                <a:sym typeface="Arial"/>
              </a:rPr>
              <a:t>TMM is implemented in edgeR and performs </a:t>
            </a:r>
            <a:r>
              <a:rPr lang="en" sz="1800">
                <a:solidFill>
                  <a:srgbClr val="002A40"/>
                </a:solidFill>
              </a:rPr>
              <a:t>best</a:t>
            </a:r>
            <a:r>
              <a:rPr b="0" i="0" lang="en" sz="1800" u="none" cap="none" strike="noStrike">
                <a:solidFill>
                  <a:srgbClr val="002A40"/>
                </a:solidFill>
                <a:latin typeface="Arial"/>
                <a:ea typeface="Arial"/>
                <a:cs typeface="Arial"/>
                <a:sym typeface="Arial"/>
              </a:rPr>
              <a:t> for between-samples comparisons, when comparing the samples from different tissues or genotypes.</a:t>
            </a:r>
            <a:endParaRPr b="0" i="0" sz="1100" u="none" cap="none" strike="noStrike">
              <a:solidFill>
                <a:srgbClr val="000000"/>
              </a:solidFill>
              <a:latin typeface="Arial"/>
              <a:ea typeface="Arial"/>
              <a:cs typeface="Arial"/>
              <a:sym typeface="Arial"/>
            </a:endParaRPr>
          </a:p>
        </p:txBody>
      </p:sp>
      <p:pic>
        <p:nvPicPr>
          <p:cNvPr id="1292" name="Google Shape;1292;p176"/>
          <p:cNvPicPr preferRelativeResize="0"/>
          <p:nvPr/>
        </p:nvPicPr>
        <p:blipFill rotWithShape="1">
          <a:blip r:embed="rId4">
            <a:alphaModFix/>
          </a:blip>
          <a:srcRect b="-2082" l="0" r="0" t="0"/>
          <a:stretch/>
        </p:blipFill>
        <p:spPr>
          <a:xfrm>
            <a:off x="7582925" y="2947725"/>
            <a:ext cx="1345375" cy="1841300"/>
          </a:xfrm>
          <a:prstGeom prst="rect">
            <a:avLst/>
          </a:prstGeom>
          <a:noFill/>
          <a:ln>
            <a:noFill/>
          </a:ln>
        </p:spPr>
      </p:pic>
      <p:sp>
        <p:nvSpPr>
          <p:cNvPr id="1293" name="Google Shape;1293;p176"/>
          <p:cNvSpPr txBox="1"/>
          <p:nvPr/>
        </p:nvSpPr>
        <p:spPr>
          <a:xfrm>
            <a:off x="6656420" y="492896"/>
            <a:ext cx="27057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111111"/>
                </a:solidFill>
                <a:latin typeface="Helvetica Neue"/>
                <a:ea typeface="Helvetica Neue"/>
                <a:cs typeface="Helvetica Neue"/>
                <a:sym typeface="Helvetica Neue"/>
              </a:rPr>
              <a:t>MA (mean-difference) plot</a:t>
            </a:r>
            <a:endParaRPr b="0" i="0" sz="1100" u="none" cap="none" strike="noStrike">
              <a:solidFill>
                <a:srgbClr val="000000"/>
              </a:solidFill>
              <a:latin typeface="Arial"/>
              <a:ea typeface="Arial"/>
              <a:cs typeface="Arial"/>
              <a:sym typeface="Arial"/>
            </a:endParaRPr>
          </a:p>
        </p:txBody>
      </p:sp>
      <p:pic>
        <p:nvPicPr>
          <p:cNvPr id="1294" name="Google Shape;1294;p176"/>
          <p:cNvPicPr preferRelativeResize="0"/>
          <p:nvPr/>
        </p:nvPicPr>
        <p:blipFill rotWithShape="1">
          <a:blip r:embed="rId5">
            <a:alphaModFix/>
          </a:blip>
          <a:srcRect b="0" l="0" r="0" t="0"/>
          <a:stretch/>
        </p:blipFill>
        <p:spPr>
          <a:xfrm>
            <a:off x="6882509" y="873950"/>
            <a:ext cx="2045789" cy="1283100"/>
          </a:xfrm>
          <a:prstGeom prst="rect">
            <a:avLst/>
          </a:prstGeom>
          <a:noFill/>
          <a:ln>
            <a:noFill/>
          </a:ln>
        </p:spPr>
      </p:pic>
      <p:sp>
        <p:nvSpPr>
          <p:cNvPr id="1295" name="Google Shape;1295;p176"/>
          <p:cNvSpPr txBox="1"/>
          <p:nvPr/>
        </p:nvSpPr>
        <p:spPr>
          <a:xfrm>
            <a:off x="5928300" y="4718600"/>
            <a:ext cx="3000000" cy="392400"/>
          </a:xfrm>
          <a:prstGeom prst="rect">
            <a:avLst/>
          </a:prstGeom>
          <a:noFill/>
          <a:ln>
            <a:noFill/>
          </a:ln>
        </p:spPr>
        <p:txBody>
          <a:bodyPr anchorCtr="0" anchor="t" bIns="91425" lIns="91425" spcFirstLastPara="1" rIns="91425" wrap="square" tIns="91425">
            <a:spAutoFit/>
          </a:bodyPr>
          <a:lstStyle/>
          <a:p>
            <a:pPr indent="0" lvl="0" marL="101600" marR="101600" rtl="0" algn="r">
              <a:lnSpc>
                <a:spcPct val="142857"/>
              </a:lnSpc>
              <a:spcBef>
                <a:spcPts val="0"/>
              </a:spcBef>
              <a:spcAft>
                <a:spcPts val="0"/>
              </a:spcAft>
              <a:buNone/>
            </a:pPr>
            <a:r>
              <a:rPr lang="en" sz="1350">
                <a:solidFill>
                  <a:srgbClr val="CD28A3"/>
                </a:solidFill>
                <a:highlight>
                  <a:srgbClr val="F8F8F8"/>
                </a:highlight>
              </a:rPr>
              <a:t>y &lt;- calcNormFactors(y)</a:t>
            </a:r>
            <a:endParaRPr sz="1350">
              <a:solidFill>
                <a:srgbClr val="CD28A3"/>
              </a:solidFill>
              <a:highlight>
                <a:srgbClr val="F8F8F8"/>
              </a:highlight>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0" name="Shape 1300"/>
        <p:cNvGrpSpPr/>
        <p:nvPr/>
      </p:nvGrpSpPr>
      <p:grpSpPr>
        <a:xfrm>
          <a:off x="0" y="0"/>
          <a:ext cx="0" cy="0"/>
          <a:chOff x="0" y="0"/>
          <a:chExt cx="0" cy="0"/>
        </a:xfrm>
      </p:grpSpPr>
      <p:sp>
        <p:nvSpPr>
          <p:cNvPr id="1301" name="Google Shape;1301;p177"/>
          <p:cNvSpPr txBox="1"/>
          <p:nvPr/>
        </p:nvSpPr>
        <p:spPr>
          <a:xfrm>
            <a:off x="181336" y="137151"/>
            <a:ext cx="8962800"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2700"/>
              <a:buFont typeface="Helvetica Neue"/>
              <a:buNone/>
            </a:pPr>
            <a:r>
              <a:rPr b="1" i="0" lang="en" sz="2700" u="none" cap="none" strike="noStrike">
                <a:solidFill>
                  <a:srgbClr val="0066CC"/>
                </a:solidFill>
                <a:latin typeface="Helvetica Neue"/>
                <a:ea typeface="Helvetica Neue"/>
                <a:cs typeface="Helvetica Neue"/>
                <a:sym typeface="Helvetica Neue"/>
              </a:rPr>
              <a:t>Other approaches to normalization</a:t>
            </a:r>
            <a:endParaRPr b="0" i="0" sz="2700" u="none" cap="none" strike="noStrike">
              <a:solidFill>
                <a:srgbClr val="0066CC"/>
              </a:solidFill>
              <a:latin typeface="Helvetica Neue"/>
              <a:ea typeface="Helvetica Neue"/>
              <a:cs typeface="Helvetica Neue"/>
              <a:sym typeface="Helvetica Neue"/>
            </a:endParaRPr>
          </a:p>
        </p:txBody>
      </p:sp>
      <p:sp>
        <p:nvSpPr>
          <p:cNvPr id="1302" name="Google Shape;1302;p177"/>
          <p:cNvSpPr txBox="1"/>
          <p:nvPr/>
        </p:nvSpPr>
        <p:spPr>
          <a:xfrm>
            <a:off x="181336" y="1023335"/>
            <a:ext cx="8778300" cy="3983100"/>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rPr b="0" i="0" lang="en" sz="2000" u="none" cap="none" strike="noStrike">
                <a:solidFill>
                  <a:srgbClr val="002A40"/>
                </a:solidFill>
                <a:latin typeface="Helvetica Neue"/>
                <a:ea typeface="Helvetica Neue"/>
                <a:cs typeface="Helvetica Neue"/>
                <a:sym typeface="Helvetica Neue"/>
              </a:rPr>
              <a:t>Relative Log Expression (RLE) approach by Anders and Huber (2010)</a:t>
            </a:r>
            <a:endParaRPr b="0" i="0" sz="1100" u="none" cap="none" strike="noStrike">
              <a:solidFill>
                <a:srgbClr val="000000"/>
              </a:solidFill>
              <a:latin typeface="Arial"/>
              <a:ea typeface="Arial"/>
              <a:cs typeface="Arial"/>
              <a:sym typeface="Arial"/>
            </a:endParaRPr>
          </a:p>
          <a:p>
            <a:pPr indent="-107950" lvl="1" marL="342900" marR="0" rtl="0" algn="l">
              <a:lnSpc>
                <a:spcPct val="90000"/>
              </a:lnSpc>
              <a:spcBef>
                <a:spcPts val="400"/>
              </a:spcBef>
              <a:spcAft>
                <a:spcPts val="0"/>
              </a:spcAft>
              <a:buClr>
                <a:srgbClr val="002A40"/>
              </a:buClr>
              <a:buSzPts val="1700"/>
              <a:buFont typeface="Courier New"/>
              <a:buChar char="o"/>
            </a:pPr>
            <a:r>
              <a:rPr b="0" i="0" lang="en" sz="1700" u="none" cap="none" strike="noStrike">
                <a:solidFill>
                  <a:srgbClr val="002A40"/>
                </a:solidFill>
                <a:latin typeface="Helvetica Neue"/>
                <a:ea typeface="Helvetica Neue"/>
                <a:cs typeface="Helvetica Neue"/>
                <a:sym typeface="Helvetica Neue"/>
              </a:rPr>
              <a:t> Reference: geometric mean of all samples</a:t>
            </a:r>
            <a:endParaRPr b="0" i="0" sz="1000" u="none" cap="none" strike="noStrike">
              <a:solidFill>
                <a:srgbClr val="000000"/>
              </a:solidFill>
              <a:latin typeface="Arial"/>
              <a:ea typeface="Arial"/>
              <a:cs typeface="Arial"/>
              <a:sym typeface="Arial"/>
            </a:endParaRPr>
          </a:p>
          <a:p>
            <a:pPr indent="-107950" lvl="1" marL="342900" marR="0" rtl="0" algn="l">
              <a:lnSpc>
                <a:spcPct val="90000"/>
              </a:lnSpc>
              <a:spcBef>
                <a:spcPts val="400"/>
              </a:spcBef>
              <a:spcAft>
                <a:spcPts val="0"/>
              </a:spcAft>
              <a:buClr>
                <a:srgbClr val="002A40"/>
              </a:buClr>
              <a:buSzPts val="1700"/>
              <a:buFont typeface="Courier New"/>
              <a:buChar char="o"/>
            </a:pPr>
            <a:r>
              <a:rPr b="0" i="0" lang="en" sz="1700" u="none" cap="none" strike="noStrike">
                <a:solidFill>
                  <a:srgbClr val="002A40"/>
                </a:solidFill>
                <a:latin typeface="Helvetica Neue"/>
                <a:ea typeface="Helvetica Neue"/>
                <a:cs typeface="Helvetica Neue"/>
                <a:sym typeface="Helvetica Neue"/>
              </a:rPr>
              <a:t> Normalization factor: median ratio of each sample to the reference</a:t>
            </a:r>
            <a:endParaRPr b="0" i="0" sz="1000" u="none" cap="none" strike="noStrike">
              <a:solidFill>
                <a:srgbClr val="000000"/>
              </a:solidFill>
              <a:latin typeface="Arial"/>
              <a:ea typeface="Arial"/>
              <a:cs typeface="Arial"/>
              <a:sym typeface="Arial"/>
            </a:endParaRPr>
          </a:p>
          <a:p>
            <a:pPr indent="-107950" lvl="1" marL="342900" marR="0" rtl="0" algn="l">
              <a:lnSpc>
                <a:spcPct val="90000"/>
              </a:lnSpc>
              <a:spcBef>
                <a:spcPts val="400"/>
              </a:spcBef>
              <a:spcAft>
                <a:spcPts val="0"/>
              </a:spcAft>
              <a:buClr>
                <a:srgbClr val="002A40"/>
              </a:buClr>
              <a:buSzPts val="1700"/>
              <a:buFont typeface="Courier New"/>
              <a:buChar char="o"/>
            </a:pPr>
            <a:r>
              <a:rPr b="0" i="0" lang="en" sz="1700" u="none" cap="none" strike="noStrike">
                <a:solidFill>
                  <a:srgbClr val="002A40"/>
                </a:solidFill>
                <a:latin typeface="Helvetica Neue"/>
                <a:ea typeface="Helvetica Neue"/>
                <a:cs typeface="Helvetica Neue"/>
                <a:sym typeface="Helvetica Neue"/>
              </a:rPr>
              <a:t> RLE and TMM give similar ro</a:t>
            </a:r>
            <a:r>
              <a:rPr lang="en" sz="1700">
                <a:solidFill>
                  <a:srgbClr val="002A40"/>
                </a:solidFill>
                <a:latin typeface="Helvetica Neue"/>
                <a:ea typeface="Helvetica Neue"/>
                <a:cs typeface="Helvetica Neue"/>
                <a:sym typeface="Helvetica Neue"/>
              </a:rPr>
              <a:t>bust </a:t>
            </a:r>
            <a:r>
              <a:rPr b="0" i="0" lang="en" sz="1700" u="none" cap="none" strike="noStrike">
                <a:solidFill>
                  <a:srgbClr val="002A40"/>
                </a:solidFill>
                <a:latin typeface="Helvetica Neue"/>
                <a:ea typeface="Helvetica Neue"/>
                <a:cs typeface="Helvetica Neue"/>
                <a:sym typeface="Helvetica Neue"/>
              </a:rPr>
              <a:t>results with real and simulated data</a:t>
            </a:r>
            <a:endParaRPr b="0" i="0" sz="1000" u="none" cap="none" strike="noStrike">
              <a:solidFill>
                <a:srgbClr val="000000"/>
              </a:solidFill>
              <a:latin typeface="Arial"/>
              <a:ea typeface="Arial"/>
              <a:cs typeface="Arial"/>
              <a:sym typeface="Arial"/>
            </a:endParaRPr>
          </a:p>
          <a:p>
            <a:pPr indent="-107950" lvl="1" marL="342900" marR="0" rtl="0" algn="l">
              <a:lnSpc>
                <a:spcPct val="90000"/>
              </a:lnSpc>
              <a:spcBef>
                <a:spcPts val="400"/>
              </a:spcBef>
              <a:spcAft>
                <a:spcPts val="0"/>
              </a:spcAft>
              <a:buClr>
                <a:srgbClr val="002A40"/>
              </a:buClr>
              <a:buSzPts val="1700"/>
              <a:buFont typeface="Courier New"/>
              <a:buChar char="o"/>
            </a:pPr>
            <a:r>
              <a:rPr b="0" i="1" lang="en" sz="1700" u="none" cap="none" strike="noStrike">
                <a:solidFill>
                  <a:srgbClr val="002A40"/>
                </a:solidFill>
                <a:latin typeface="Helvetica Neue"/>
                <a:ea typeface="Helvetica Neue"/>
                <a:cs typeface="Helvetica Neue"/>
                <a:sym typeface="Helvetica Neue"/>
              </a:rPr>
              <a:t> R package </a:t>
            </a:r>
            <a:r>
              <a:rPr b="0" i="1" lang="en" sz="1700" cap="none" strike="noStrike">
                <a:solidFill>
                  <a:srgbClr val="002A40"/>
                </a:solidFill>
                <a:latin typeface="Helvetica Neue"/>
                <a:ea typeface="Helvetica Neue"/>
                <a:cs typeface="Helvetica Neue"/>
                <a:sym typeface="Helvetica Neue"/>
              </a:rPr>
              <a:t>DESeq</a:t>
            </a:r>
            <a:r>
              <a:rPr i="1" lang="en" sz="1700">
                <a:solidFill>
                  <a:srgbClr val="002A40"/>
                </a:solidFill>
                <a:latin typeface="Helvetica Neue"/>
                <a:ea typeface="Helvetica Neue"/>
                <a:cs typeface="Helvetica Neue"/>
                <a:sym typeface="Helvetica Neue"/>
              </a:rPr>
              <a:t> - </a:t>
            </a:r>
            <a:r>
              <a:rPr i="1" lang="en" sz="1700" u="sng">
                <a:solidFill>
                  <a:schemeClr val="hlink"/>
                </a:solidFill>
                <a:latin typeface="Helvetica Neue"/>
                <a:ea typeface="Helvetica Neue"/>
                <a:cs typeface="Helvetica Neue"/>
                <a:sym typeface="Helvetica Neue"/>
                <a:hlinkClick r:id="rId3"/>
              </a:rPr>
              <a:t>tutorial</a:t>
            </a:r>
            <a:endParaRPr b="0" i="1" sz="1700" u="none" cap="none" strike="noStrike">
              <a:solidFill>
                <a:srgbClr val="002A40"/>
              </a:solidFill>
              <a:latin typeface="Helvetica Neue"/>
              <a:ea typeface="Helvetica Neue"/>
              <a:cs typeface="Helvetica Neue"/>
              <a:sym typeface="Helvetica Neue"/>
            </a:endParaRPr>
          </a:p>
          <a:p>
            <a:pPr indent="0" lvl="1" marL="342900" marR="0" rtl="0" algn="l">
              <a:lnSpc>
                <a:spcPct val="90000"/>
              </a:lnSpc>
              <a:spcBef>
                <a:spcPts val="400"/>
              </a:spcBef>
              <a:spcAft>
                <a:spcPts val="0"/>
              </a:spcAft>
              <a:buClr>
                <a:schemeClr val="dk1"/>
              </a:buClr>
              <a:buSzPts val="800"/>
              <a:buFont typeface="Courier New"/>
              <a:buNone/>
            </a:pPr>
            <a:r>
              <a:t/>
            </a:r>
            <a:endParaRPr b="0" i="0" sz="800" u="none" cap="none" strike="noStrike">
              <a:solidFill>
                <a:srgbClr val="002A40"/>
              </a:solidFill>
              <a:latin typeface="Helvetica Neue"/>
              <a:ea typeface="Helvetica Neue"/>
              <a:cs typeface="Helvetica Neue"/>
              <a:sym typeface="Helvetica Neue"/>
            </a:endParaRPr>
          </a:p>
          <a:p>
            <a:pPr indent="0" lvl="0" marL="0" marR="0" rtl="0" algn="l">
              <a:lnSpc>
                <a:spcPct val="90000"/>
              </a:lnSpc>
              <a:spcBef>
                <a:spcPts val="800"/>
              </a:spcBef>
              <a:spcAft>
                <a:spcPts val="0"/>
              </a:spcAft>
              <a:buNone/>
            </a:pPr>
            <a:r>
              <a:rPr b="0" i="0" lang="en" sz="1900" u="none" cap="none" strike="noStrike">
                <a:solidFill>
                  <a:srgbClr val="002A40"/>
                </a:solidFill>
                <a:latin typeface="Helvetica Neue"/>
                <a:ea typeface="Helvetica Neue"/>
                <a:cs typeface="Helvetica Neue"/>
                <a:sym typeface="Helvetica Neue"/>
              </a:rPr>
              <a:t>Upper quartile normalization by Bullard et al (2010)</a:t>
            </a:r>
            <a:endParaRPr b="0" i="0" sz="1100" u="none" cap="none" strike="noStrike">
              <a:solidFill>
                <a:srgbClr val="000000"/>
              </a:solidFill>
              <a:latin typeface="Arial"/>
              <a:ea typeface="Arial"/>
              <a:cs typeface="Arial"/>
              <a:sym typeface="Arial"/>
            </a:endParaRPr>
          </a:p>
          <a:p>
            <a:pPr indent="-101600" lvl="1" marL="342900" marR="0" rtl="0" algn="l">
              <a:lnSpc>
                <a:spcPct val="90000"/>
              </a:lnSpc>
              <a:spcBef>
                <a:spcPts val="400"/>
              </a:spcBef>
              <a:spcAft>
                <a:spcPts val="0"/>
              </a:spcAft>
              <a:buClr>
                <a:srgbClr val="002A40"/>
              </a:buClr>
              <a:buSzPts val="1600"/>
              <a:buFont typeface="Courier New"/>
              <a:buChar char="o"/>
            </a:pPr>
            <a:r>
              <a:rPr lang="en" sz="1600">
                <a:solidFill>
                  <a:srgbClr val="002A40"/>
                </a:solidFill>
                <a:latin typeface="Helvetica Neue"/>
                <a:ea typeface="Helvetica Neue"/>
                <a:cs typeface="Helvetica Neue"/>
                <a:sym typeface="Helvetica Neue"/>
              </a:rPr>
              <a:t> </a:t>
            </a:r>
            <a:r>
              <a:rPr b="0" i="0" lang="en" sz="1600" u="none" cap="none" strike="noStrike">
                <a:solidFill>
                  <a:srgbClr val="002A40"/>
                </a:solidFill>
                <a:latin typeface="Helvetica Neue"/>
                <a:ea typeface="Helvetica Neue"/>
                <a:cs typeface="Helvetica Neue"/>
                <a:sym typeface="Helvetica Neue"/>
              </a:rPr>
              <a:t>Normalization factor: 75% quantile of the counts for each sample</a:t>
            </a:r>
            <a:endParaRPr b="0" i="0" sz="1600" u="none" cap="none" strike="noStrike">
              <a:solidFill>
                <a:srgbClr val="000000"/>
              </a:solidFill>
              <a:latin typeface="Arial"/>
              <a:ea typeface="Arial"/>
              <a:cs typeface="Arial"/>
              <a:sym typeface="Arial"/>
            </a:endParaRPr>
          </a:p>
          <a:p>
            <a:pPr indent="-101600" lvl="1" marL="342900" marR="0" rtl="0" algn="l">
              <a:lnSpc>
                <a:spcPct val="90000"/>
              </a:lnSpc>
              <a:spcBef>
                <a:spcPts val="400"/>
              </a:spcBef>
              <a:spcAft>
                <a:spcPts val="0"/>
              </a:spcAft>
              <a:buClr>
                <a:srgbClr val="002A40"/>
              </a:buClr>
              <a:buSzPts val="1600"/>
              <a:buFont typeface="Courier New"/>
              <a:buChar char="o"/>
            </a:pPr>
            <a:r>
              <a:rPr lang="en" sz="1600">
                <a:solidFill>
                  <a:srgbClr val="002A40"/>
                </a:solidFill>
                <a:latin typeface="Helvetica Neue"/>
                <a:ea typeface="Helvetica Neue"/>
                <a:cs typeface="Helvetica Neue"/>
                <a:sym typeface="Helvetica Neue"/>
              </a:rPr>
              <a:t> </a:t>
            </a:r>
            <a:r>
              <a:rPr b="0" i="0" lang="en" sz="1600" u="none" cap="none" strike="noStrike">
                <a:solidFill>
                  <a:srgbClr val="002A40"/>
                </a:solidFill>
                <a:latin typeface="Helvetica Neue"/>
                <a:ea typeface="Helvetica Neue"/>
                <a:cs typeface="Helvetica Neue"/>
                <a:sym typeface="Helvetica Neue"/>
              </a:rPr>
              <a:t>Not recommended in general - </a:t>
            </a:r>
            <a:r>
              <a:rPr lang="en" sz="1600">
                <a:solidFill>
                  <a:schemeClr val="accent1"/>
                </a:solidFill>
                <a:latin typeface="Helvetica Neue"/>
                <a:ea typeface="Helvetica Neue"/>
                <a:cs typeface="Helvetica Neue"/>
                <a:sym typeface="Helvetica Neue"/>
              </a:rPr>
              <a:t>implies a similarity between RNA molecular repertoires expressed </a:t>
            </a:r>
            <a:endParaRPr b="0" i="0" sz="1600" u="none" cap="none" strike="noStrike">
              <a:solidFill>
                <a:srgbClr val="000000"/>
              </a:solidFill>
              <a:latin typeface="Arial"/>
              <a:ea typeface="Arial"/>
              <a:cs typeface="Arial"/>
              <a:sym typeface="Arial"/>
            </a:endParaRPr>
          </a:p>
          <a:p>
            <a:pPr indent="0" lvl="1" marL="342900" marR="0" rtl="0" algn="l">
              <a:lnSpc>
                <a:spcPct val="90000"/>
              </a:lnSpc>
              <a:spcBef>
                <a:spcPts val="400"/>
              </a:spcBef>
              <a:spcAft>
                <a:spcPts val="0"/>
              </a:spcAft>
              <a:buClr>
                <a:schemeClr val="dk1"/>
              </a:buClr>
              <a:buSzPts val="800"/>
              <a:buFont typeface="Helvetica Neue"/>
              <a:buNone/>
            </a:pPr>
            <a:r>
              <a:t/>
            </a:r>
            <a:endParaRPr b="0" i="0" sz="800" u="none" cap="none" strike="noStrike">
              <a:solidFill>
                <a:srgbClr val="002A40"/>
              </a:solidFill>
              <a:latin typeface="Helvetica Neue"/>
              <a:ea typeface="Helvetica Neue"/>
              <a:cs typeface="Helvetica Neue"/>
              <a:sym typeface="Helvetica Neue"/>
            </a:endParaRPr>
          </a:p>
          <a:p>
            <a:pPr indent="0" lvl="0" marL="0" marR="0" rtl="0" algn="l">
              <a:lnSpc>
                <a:spcPct val="90000"/>
              </a:lnSpc>
              <a:spcBef>
                <a:spcPts val="800"/>
              </a:spcBef>
              <a:spcAft>
                <a:spcPts val="0"/>
              </a:spcAft>
              <a:buNone/>
            </a:pPr>
            <a:r>
              <a:rPr b="0" i="0" lang="en" sz="2000" u="none" cap="none" strike="noStrike">
                <a:solidFill>
                  <a:srgbClr val="002A40"/>
                </a:solidFill>
                <a:latin typeface="Helvetica Neue"/>
                <a:ea typeface="Helvetica Neue"/>
                <a:cs typeface="Helvetica Neue"/>
                <a:sym typeface="Helvetica Neue"/>
              </a:rPr>
              <a:t>Control genes (housekeeping genes, spike-in) to estimate technical noise (</a:t>
            </a:r>
            <a:r>
              <a:rPr b="0" i="0" lang="en" sz="2000" u="sng" cap="none" strike="noStrike">
                <a:solidFill>
                  <a:schemeClr val="hlink"/>
                </a:solidFill>
                <a:latin typeface="Helvetica Neue"/>
                <a:ea typeface="Helvetica Neue"/>
                <a:cs typeface="Helvetica Neue"/>
                <a:sym typeface="Helvetica Neue"/>
                <a:hlinkClick r:id="rId4"/>
              </a:rPr>
              <a:t>RUVSeq</a:t>
            </a:r>
            <a:r>
              <a:rPr b="0" i="0" lang="en" sz="2000" u="none" cap="none" strike="noStrike">
                <a:solidFill>
                  <a:srgbClr val="002A40"/>
                </a:solidFill>
                <a:latin typeface="Helvetica Neue"/>
                <a:ea typeface="Helvetica Neue"/>
                <a:cs typeface="Helvetica Neue"/>
                <a:sym typeface="Helvetica Neue"/>
              </a:rPr>
              <a:t> – 2014 Remove Unwanted Variation)</a:t>
            </a:r>
            <a:endParaRPr sz="2000">
              <a:solidFill>
                <a:srgbClr val="002A40"/>
              </a:solidFill>
              <a:latin typeface="Helvetica Neue"/>
              <a:ea typeface="Helvetica Neue"/>
              <a:cs typeface="Helvetica Neue"/>
              <a:sym typeface="Helvetica Neue"/>
            </a:endParaRPr>
          </a:p>
          <a:p>
            <a:pPr indent="-330200" lvl="1" marL="914400" marR="0" rtl="0" algn="l">
              <a:lnSpc>
                <a:spcPct val="90000"/>
              </a:lnSpc>
              <a:spcBef>
                <a:spcPts val="800"/>
              </a:spcBef>
              <a:spcAft>
                <a:spcPts val="0"/>
              </a:spcAft>
              <a:buClr>
                <a:srgbClr val="002A40"/>
              </a:buClr>
              <a:buSzPts val="1600"/>
              <a:buFont typeface="Courier New"/>
              <a:buChar char="o"/>
            </a:pPr>
            <a:r>
              <a:rPr lang="en" sz="1600">
                <a:solidFill>
                  <a:schemeClr val="accent1"/>
                </a:solidFill>
                <a:latin typeface="Helvetica Neue"/>
                <a:ea typeface="Helvetica Neue"/>
                <a:cs typeface="Helvetica Neue"/>
                <a:sym typeface="Helvetica Neue"/>
              </a:rPr>
              <a:t>powerful when a large set of control genes can be identified</a:t>
            </a:r>
            <a:endParaRPr sz="1600">
              <a:solidFill>
                <a:schemeClr val="dk1"/>
              </a:solidFill>
            </a:endParaRPr>
          </a:p>
          <a:p>
            <a:pPr indent="0" lvl="0" marL="457200" marR="0" rtl="0" algn="l">
              <a:lnSpc>
                <a:spcPct val="90000"/>
              </a:lnSpc>
              <a:spcBef>
                <a:spcPts val="800"/>
              </a:spcBef>
              <a:spcAft>
                <a:spcPts val="0"/>
              </a:spcAft>
              <a:buNone/>
            </a:pPr>
            <a:r>
              <a:t/>
            </a:r>
            <a:endParaRPr sz="2000">
              <a:solidFill>
                <a:srgbClr val="002A40"/>
              </a:solidFill>
              <a:latin typeface="Helvetica Neue"/>
              <a:ea typeface="Helvetica Neue"/>
              <a:cs typeface="Helvetica Neue"/>
              <a:sym typeface="Helvetica Neue"/>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7" name="Shape 1307"/>
        <p:cNvGrpSpPr/>
        <p:nvPr/>
      </p:nvGrpSpPr>
      <p:grpSpPr>
        <a:xfrm>
          <a:off x="0" y="0"/>
          <a:ext cx="0" cy="0"/>
          <a:chOff x="0" y="0"/>
          <a:chExt cx="0" cy="0"/>
        </a:xfrm>
      </p:grpSpPr>
      <p:sp>
        <p:nvSpPr>
          <p:cNvPr id="1308" name="Google Shape;1308;p178"/>
          <p:cNvSpPr txBox="1"/>
          <p:nvPr/>
        </p:nvSpPr>
        <p:spPr>
          <a:xfrm>
            <a:off x="265743" y="3745514"/>
            <a:ext cx="8962800"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2B42"/>
              </a:buClr>
              <a:buSzPts val="3000"/>
              <a:buFont typeface="Helvetica Neue"/>
              <a:buNone/>
            </a:pPr>
            <a:r>
              <a:rPr b="1" i="0" lang="en" sz="3000" u="none" cap="none" strike="noStrike">
                <a:solidFill>
                  <a:srgbClr val="0066CC"/>
                </a:solidFill>
                <a:latin typeface="Helvetica Neue"/>
                <a:ea typeface="Helvetica Neue"/>
                <a:cs typeface="Helvetica Neue"/>
                <a:sym typeface="Helvetica Neue"/>
              </a:rPr>
              <a:t>Break (</a:t>
            </a:r>
            <a:r>
              <a:rPr b="1" lang="en" sz="3000">
                <a:solidFill>
                  <a:srgbClr val="0066CC"/>
                </a:solidFill>
                <a:latin typeface="Helvetica Neue"/>
                <a:ea typeface="Helvetica Neue"/>
                <a:cs typeface="Helvetica Neue"/>
                <a:sym typeface="Helvetica Neue"/>
              </a:rPr>
              <a:t>5 </a:t>
            </a:r>
            <a:r>
              <a:rPr b="1" i="0" lang="en" sz="3000" u="none" cap="none" strike="noStrike">
                <a:solidFill>
                  <a:srgbClr val="0066CC"/>
                </a:solidFill>
                <a:latin typeface="Helvetica Neue"/>
                <a:ea typeface="Helvetica Neue"/>
                <a:cs typeface="Helvetica Neue"/>
                <a:sym typeface="Helvetica Neue"/>
              </a:rPr>
              <a:t>min) </a:t>
            </a:r>
            <a:endParaRPr b="1" i="0" sz="3000" u="none" cap="none" strike="noStrike">
              <a:solidFill>
                <a:srgbClr val="0066CC"/>
              </a:solidFill>
              <a:latin typeface="Helvetica Neue"/>
              <a:ea typeface="Helvetica Neue"/>
              <a:cs typeface="Helvetica Neue"/>
              <a:sym typeface="Helvetica Neue"/>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3" name="Shape 1313"/>
        <p:cNvGrpSpPr/>
        <p:nvPr/>
      </p:nvGrpSpPr>
      <p:grpSpPr>
        <a:xfrm>
          <a:off x="0" y="0"/>
          <a:ext cx="0" cy="0"/>
          <a:chOff x="0" y="0"/>
          <a:chExt cx="0" cy="0"/>
        </a:xfrm>
      </p:grpSpPr>
      <p:sp>
        <p:nvSpPr>
          <p:cNvPr id="1314" name="Google Shape;1314;p179"/>
          <p:cNvSpPr txBox="1"/>
          <p:nvPr/>
        </p:nvSpPr>
        <p:spPr>
          <a:xfrm>
            <a:off x="181337" y="218893"/>
            <a:ext cx="8962800"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2B42"/>
              </a:buClr>
              <a:buSzPts val="3000"/>
              <a:buFont typeface="Helvetica Neue"/>
              <a:buNone/>
            </a:pPr>
            <a:r>
              <a:rPr b="1" lang="en" sz="3000">
                <a:solidFill>
                  <a:srgbClr val="0066CC"/>
                </a:solidFill>
                <a:latin typeface="Helvetica Neue"/>
                <a:ea typeface="Helvetica Neue"/>
                <a:cs typeface="Helvetica Neue"/>
                <a:sym typeface="Helvetica Neue"/>
              </a:rPr>
              <a:t>Poll 6</a:t>
            </a:r>
            <a:endParaRPr b="1" i="0" sz="3000" u="none" cap="none" strike="noStrike">
              <a:solidFill>
                <a:srgbClr val="0066CC"/>
              </a:solidFill>
              <a:latin typeface="Helvetica Neue"/>
              <a:ea typeface="Helvetica Neue"/>
              <a:cs typeface="Helvetica Neue"/>
              <a:sym typeface="Helvetica Neue"/>
            </a:endParaRPr>
          </a:p>
        </p:txBody>
      </p:sp>
      <p:sp>
        <p:nvSpPr>
          <p:cNvPr id="1315" name="Google Shape;1315;p179"/>
          <p:cNvSpPr txBox="1"/>
          <p:nvPr/>
        </p:nvSpPr>
        <p:spPr>
          <a:xfrm>
            <a:off x="181322" y="1114450"/>
            <a:ext cx="8628600" cy="1861800"/>
          </a:xfrm>
          <a:prstGeom prst="rect">
            <a:avLst/>
          </a:prstGeom>
          <a:noFill/>
          <a:ln>
            <a:noFill/>
          </a:ln>
        </p:spPr>
        <p:txBody>
          <a:bodyPr anchorCtr="0" anchor="t" bIns="34275" lIns="68575" spcFirstLastPara="1" rIns="68575" wrap="square" tIns="34275">
            <a:spAutoFit/>
          </a:bodyPr>
          <a:lstStyle/>
          <a:p>
            <a:pPr indent="0" lvl="0" marL="0" rtl="0" algn="l">
              <a:lnSpc>
                <a:spcPct val="115000"/>
              </a:lnSpc>
              <a:spcBef>
                <a:spcPts val="1400"/>
              </a:spcBef>
              <a:spcAft>
                <a:spcPts val="0"/>
              </a:spcAft>
              <a:buNone/>
            </a:pPr>
            <a:r>
              <a:rPr lang="en" sz="2300">
                <a:solidFill>
                  <a:schemeClr val="dk1"/>
                </a:solidFill>
                <a:latin typeface="Helvetica Neue"/>
                <a:ea typeface="Helvetica Neue"/>
                <a:cs typeface="Helvetica Neue"/>
                <a:sym typeface="Helvetica Neue"/>
              </a:rPr>
              <a:t>What is the purpose of TMM normalization in edgeR?</a:t>
            </a:r>
            <a:endParaRPr sz="2300">
              <a:solidFill>
                <a:schemeClr val="dk1"/>
              </a:solidFill>
              <a:latin typeface="Helvetica Neue"/>
              <a:ea typeface="Helvetica Neue"/>
              <a:cs typeface="Helvetica Neue"/>
              <a:sym typeface="Helvetica Neue"/>
            </a:endParaRPr>
          </a:p>
          <a:p>
            <a:pPr indent="0" lvl="0" marL="0" rtl="0" algn="l">
              <a:lnSpc>
                <a:spcPct val="150000"/>
              </a:lnSpc>
              <a:spcBef>
                <a:spcPts val="1200"/>
              </a:spcBef>
              <a:spcAft>
                <a:spcPts val="1200"/>
              </a:spcAft>
              <a:buNone/>
            </a:pPr>
            <a:r>
              <a:rPr lang="en" sz="2000">
                <a:solidFill>
                  <a:schemeClr val="dk1"/>
                </a:solidFill>
                <a:latin typeface="Helvetica Neue"/>
                <a:ea typeface="Helvetica Neue"/>
                <a:cs typeface="Helvetica Neue"/>
                <a:sym typeface="Helvetica Neue"/>
              </a:rPr>
              <a:t>1. To remove lowly expressed genes</a:t>
            </a:r>
            <a:br>
              <a:rPr lang="en" sz="2000">
                <a:solidFill>
                  <a:schemeClr val="dk1"/>
                </a:solidFill>
                <a:latin typeface="Helvetica Neue"/>
                <a:ea typeface="Helvetica Neue"/>
                <a:cs typeface="Helvetica Neue"/>
                <a:sym typeface="Helvetica Neue"/>
              </a:rPr>
            </a:br>
            <a:r>
              <a:rPr lang="en" sz="2000">
                <a:solidFill>
                  <a:schemeClr val="dk1"/>
                </a:solidFill>
                <a:latin typeface="Helvetica Neue"/>
                <a:ea typeface="Helvetica Neue"/>
                <a:cs typeface="Helvetica Neue"/>
                <a:sym typeface="Helvetica Neue"/>
              </a:rPr>
              <a:t>2. To correct for compositional bias between samples</a:t>
            </a:r>
            <a:br>
              <a:rPr lang="en" sz="2000">
                <a:solidFill>
                  <a:schemeClr val="dk1"/>
                </a:solidFill>
                <a:latin typeface="Helvetica Neue"/>
                <a:ea typeface="Helvetica Neue"/>
                <a:cs typeface="Helvetica Neue"/>
                <a:sym typeface="Helvetica Neue"/>
              </a:rPr>
            </a:br>
            <a:r>
              <a:rPr lang="en" sz="2000">
                <a:solidFill>
                  <a:schemeClr val="dk1"/>
                </a:solidFill>
                <a:latin typeface="Helvetica Neue"/>
                <a:ea typeface="Helvetica Neue"/>
                <a:cs typeface="Helvetica Neue"/>
                <a:sym typeface="Helvetica Neue"/>
              </a:rPr>
              <a:t>3. To convert counts to log2 fold changes</a:t>
            </a:r>
            <a:endParaRPr sz="2900">
              <a:solidFill>
                <a:schemeClr val="accent1"/>
              </a:solidFill>
              <a:latin typeface="Helvetica Neue"/>
              <a:ea typeface="Helvetica Neue"/>
              <a:cs typeface="Helvetica Neue"/>
              <a:sym typeface="Helvetica Neue"/>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9" name="Shape 1319"/>
        <p:cNvGrpSpPr/>
        <p:nvPr/>
      </p:nvGrpSpPr>
      <p:grpSpPr>
        <a:xfrm>
          <a:off x="0" y="0"/>
          <a:ext cx="0" cy="0"/>
          <a:chOff x="0" y="0"/>
          <a:chExt cx="0" cy="0"/>
        </a:xfrm>
      </p:grpSpPr>
      <p:sp>
        <p:nvSpPr>
          <p:cNvPr id="1320" name="Google Shape;1320;p180"/>
          <p:cNvSpPr/>
          <p:nvPr/>
        </p:nvSpPr>
        <p:spPr>
          <a:xfrm>
            <a:off x="3316325" y="1763438"/>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Filtering low counts genes</a:t>
            </a:r>
            <a:endParaRPr b="1" sz="900"/>
          </a:p>
        </p:txBody>
      </p:sp>
      <p:sp>
        <p:nvSpPr>
          <p:cNvPr id="1321" name="Google Shape;1321;p180"/>
          <p:cNvSpPr/>
          <p:nvPr/>
        </p:nvSpPr>
        <p:spPr>
          <a:xfrm>
            <a:off x="3316325" y="2882500"/>
            <a:ext cx="1993500" cy="493800"/>
          </a:xfrm>
          <a:prstGeom prst="roundRect">
            <a:avLst>
              <a:gd fmla="val 16667" name="adj"/>
            </a:avLst>
          </a:prstGeom>
          <a:solidFill>
            <a:srgbClr val="B7B7B7"/>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Normalization </a:t>
            </a:r>
            <a:endParaRPr/>
          </a:p>
        </p:txBody>
      </p:sp>
      <p:sp>
        <p:nvSpPr>
          <p:cNvPr id="1322" name="Google Shape;1322;p180"/>
          <p:cNvSpPr/>
          <p:nvPr/>
        </p:nvSpPr>
        <p:spPr>
          <a:xfrm>
            <a:off x="3316325" y="3436875"/>
            <a:ext cx="1993500" cy="493800"/>
          </a:xfrm>
          <a:prstGeom prst="roundRect">
            <a:avLst>
              <a:gd fmla="val 16667" name="adj"/>
            </a:avLst>
          </a:prstGeom>
          <a:solidFill>
            <a:srgbClr val="C27BA0"/>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Fit the model</a:t>
            </a:r>
            <a:endParaRPr b="1"/>
          </a:p>
        </p:txBody>
      </p:sp>
      <p:sp>
        <p:nvSpPr>
          <p:cNvPr id="1323" name="Google Shape;1323;p180"/>
          <p:cNvSpPr/>
          <p:nvPr/>
        </p:nvSpPr>
        <p:spPr>
          <a:xfrm>
            <a:off x="3316325" y="2328124"/>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Dimensionality reduction</a:t>
            </a:r>
            <a:endParaRPr b="1"/>
          </a:p>
        </p:txBody>
      </p:sp>
      <p:sp>
        <p:nvSpPr>
          <p:cNvPr id="1324" name="Google Shape;1324;p180"/>
          <p:cNvSpPr/>
          <p:nvPr/>
        </p:nvSpPr>
        <p:spPr>
          <a:xfrm>
            <a:off x="3316325" y="592375"/>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Count matrix</a:t>
            </a:r>
            <a:endParaRPr b="1"/>
          </a:p>
        </p:txBody>
      </p:sp>
      <p:sp>
        <p:nvSpPr>
          <p:cNvPr id="1325" name="Google Shape;1325;p180"/>
          <p:cNvSpPr/>
          <p:nvPr/>
        </p:nvSpPr>
        <p:spPr>
          <a:xfrm>
            <a:off x="3316325" y="1178313"/>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Source of variability</a:t>
            </a:r>
            <a:endParaRPr b="1">
              <a:solidFill>
                <a:schemeClr val="accent2"/>
              </a:solidFill>
            </a:endParaRPr>
          </a:p>
        </p:txBody>
      </p:sp>
      <p:sp>
        <p:nvSpPr>
          <p:cNvPr id="1326" name="Google Shape;1326;p180"/>
          <p:cNvSpPr txBox="1"/>
          <p:nvPr/>
        </p:nvSpPr>
        <p:spPr>
          <a:xfrm>
            <a:off x="3471100" y="4586663"/>
            <a:ext cx="156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76912"/>
                </a:solidFill>
                <a:latin typeface="Helvetica Neue"/>
                <a:ea typeface="Helvetica Neue"/>
                <a:cs typeface="Helvetica Neue"/>
                <a:sym typeface="Helvetica Neue"/>
              </a:rPr>
              <a:t>Session 3 Demo</a:t>
            </a:r>
            <a:endParaRPr b="1">
              <a:solidFill>
                <a:srgbClr val="F76912"/>
              </a:solidFill>
              <a:latin typeface="Helvetica Neue"/>
              <a:ea typeface="Helvetica Neue"/>
              <a:cs typeface="Helvetica Neue"/>
              <a:sym typeface="Helvetica Neue"/>
            </a:endParaRPr>
          </a:p>
        </p:txBody>
      </p:sp>
      <p:sp>
        <p:nvSpPr>
          <p:cNvPr id="1327" name="Google Shape;1327;p180"/>
          <p:cNvSpPr/>
          <p:nvPr/>
        </p:nvSpPr>
        <p:spPr>
          <a:xfrm>
            <a:off x="3316325" y="3991250"/>
            <a:ext cx="1993500" cy="493800"/>
          </a:xfrm>
          <a:prstGeom prst="roundRect">
            <a:avLst>
              <a:gd fmla="val 16667" name="adj"/>
            </a:avLst>
          </a:prstGeom>
          <a:solidFill>
            <a:srgbClr val="F7F6F3"/>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DEG and visualization</a:t>
            </a:r>
            <a:endParaRPr b="1"/>
          </a:p>
        </p:txBody>
      </p:sp>
      <p:sp>
        <p:nvSpPr>
          <p:cNvPr id="1328" name="Google Shape;1328;p180"/>
          <p:cNvSpPr txBox="1"/>
          <p:nvPr/>
        </p:nvSpPr>
        <p:spPr>
          <a:xfrm>
            <a:off x="54700" y="2474075"/>
            <a:ext cx="312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741B47"/>
                </a:solidFill>
                <a:latin typeface="Helvetica Neue"/>
                <a:ea typeface="Helvetica Neue"/>
                <a:cs typeface="Helvetica Neue"/>
                <a:sym typeface="Helvetica Neue"/>
              </a:rPr>
              <a:t>Session 3 Concepts: </a:t>
            </a:r>
            <a:endParaRPr b="1" sz="1200">
              <a:solidFill>
                <a:srgbClr val="741B47"/>
              </a:solidFill>
              <a:highlight>
                <a:srgbClr val="F7F6F3"/>
              </a:highlight>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3" name="Shape 1333"/>
        <p:cNvGrpSpPr/>
        <p:nvPr/>
      </p:nvGrpSpPr>
      <p:grpSpPr>
        <a:xfrm>
          <a:off x="0" y="0"/>
          <a:ext cx="0" cy="0"/>
          <a:chOff x="0" y="0"/>
          <a:chExt cx="0" cy="0"/>
        </a:xfrm>
      </p:grpSpPr>
      <p:sp>
        <p:nvSpPr>
          <p:cNvPr id="1334" name="Google Shape;1334;p181"/>
          <p:cNvSpPr txBox="1"/>
          <p:nvPr/>
        </p:nvSpPr>
        <p:spPr>
          <a:xfrm>
            <a:off x="181319" y="2412750"/>
            <a:ext cx="8962800" cy="736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33333"/>
              </a:buClr>
              <a:buSzPts val="2000"/>
              <a:buFont typeface="Helvetica Neue"/>
              <a:buNone/>
            </a:pPr>
            <a:r>
              <a:rPr b="0" i="0" lang="en" sz="1800" u="none" cap="none" strike="noStrike">
                <a:solidFill>
                  <a:srgbClr val="333333"/>
                </a:solidFill>
                <a:latin typeface="Helvetica Neue"/>
                <a:ea typeface="Helvetica Neue"/>
                <a:cs typeface="Helvetica Neue"/>
                <a:sym typeface="Helvetica Neue"/>
              </a:rPr>
              <a:t>Total number of reads for a sample ~ millions</a:t>
            </a:r>
            <a:endParaRPr b="0" i="0" sz="9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333333"/>
              </a:buClr>
              <a:buSzPts val="2000"/>
              <a:buFont typeface="Helvetica Neue"/>
              <a:buNone/>
            </a:pPr>
            <a:r>
              <a:rPr b="0" i="0" lang="en" sz="1800" u="none" cap="none" strike="noStrike">
                <a:solidFill>
                  <a:srgbClr val="333333"/>
                </a:solidFill>
                <a:latin typeface="Helvetica Neue"/>
                <a:ea typeface="Helvetica Neue"/>
                <a:cs typeface="Helvetica Neue"/>
                <a:sym typeface="Helvetica Neue"/>
              </a:rPr>
              <a:t>Counts per gene ~ tens /hundreds /thousands. </a:t>
            </a:r>
            <a:endParaRPr b="0" i="0" sz="1800" u="none" cap="none" strike="noStrike">
              <a:solidFill>
                <a:srgbClr val="333333"/>
              </a:solidFill>
              <a:latin typeface="Helvetica Neue"/>
              <a:ea typeface="Helvetica Neue"/>
              <a:cs typeface="Helvetica Neue"/>
              <a:sym typeface="Helvetica Neue"/>
            </a:endParaRPr>
          </a:p>
          <a:p>
            <a:pPr indent="0" lvl="0" marL="0" marR="0" rtl="0" algn="l">
              <a:lnSpc>
                <a:spcPct val="150000"/>
              </a:lnSpc>
              <a:spcBef>
                <a:spcPts val="0"/>
              </a:spcBef>
              <a:spcAft>
                <a:spcPts val="0"/>
              </a:spcAft>
              <a:buClr>
                <a:srgbClr val="333333"/>
              </a:buClr>
              <a:buSzPts val="2000"/>
              <a:buFont typeface="Helvetica Neue"/>
              <a:buNone/>
            </a:pPr>
            <a:r>
              <a:rPr b="0" i="0" lang="en" sz="1800" u="none" cap="none" strike="noStrike">
                <a:solidFill>
                  <a:srgbClr val="333333"/>
                </a:solidFill>
                <a:latin typeface="Helvetica Neue"/>
                <a:ea typeface="Helvetica Neue"/>
                <a:cs typeface="Helvetica Neue"/>
                <a:sym typeface="Helvetica Neue"/>
              </a:rPr>
              <a:t>The chance of a </a:t>
            </a:r>
            <a:r>
              <a:rPr b="0" i="1" lang="en" sz="1800" u="none" cap="none" strike="noStrike">
                <a:solidFill>
                  <a:srgbClr val="333333"/>
                </a:solidFill>
                <a:latin typeface="Helvetica Neue"/>
                <a:ea typeface="Helvetica Neue"/>
                <a:cs typeface="Helvetica Neue"/>
                <a:sym typeface="Helvetica Neue"/>
              </a:rPr>
              <a:t>given read </a:t>
            </a:r>
            <a:r>
              <a:rPr b="0" i="0" lang="en" sz="1800" u="none" cap="none" strike="noStrike">
                <a:solidFill>
                  <a:srgbClr val="333333"/>
                </a:solidFill>
                <a:latin typeface="Helvetica Neue"/>
                <a:ea typeface="Helvetica Neue"/>
                <a:cs typeface="Helvetica Neue"/>
                <a:sym typeface="Helvetica Neue"/>
              </a:rPr>
              <a:t>to be mapped to any </a:t>
            </a:r>
            <a:r>
              <a:rPr b="0" i="1" lang="en" sz="1800" u="none" cap="none" strike="noStrike">
                <a:solidFill>
                  <a:srgbClr val="333333"/>
                </a:solidFill>
                <a:latin typeface="Helvetica Neue"/>
                <a:ea typeface="Helvetica Neue"/>
                <a:cs typeface="Helvetica Neue"/>
                <a:sym typeface="Helvetica Neue"/>
              </a:rPr>
              <a:t>specific gene </a:t>
            </a:r>
            <a:r>
              <a:rPr b="0" i="0" lang="en" sz="1800" u="none" cap="none" strike="noStrike">
                <a:solidFill>
                  <a:srgbClr val="333333"/>
                </a:solidFill>
                <a:latin typeface="Helvetica Neue"/>
                <a:ea typeface="Helvetica Neue"/>
                <a:cs typeface="Helvetica Neue"/>
                <a:sym typeface="Helvetica Neue"/>
              </a:rPr>
              <a:t>is rather small.</a:t>
            </a:r>
            <a:endParaRPr b="0" i="0" sz="1800" u="none" cap="none" strike="noStrike">
              <a:solidFill>
                <a:schemeClr val="lt1"/>
              </a:solidFill>
              <a:latin typeface="Helvetica Neue"/>
              <a:ea typeface="Helvetica Neue"/>
              <a:cs typeface="Helvetica Neue"/>
              <a:sym typeface="Helvetica Neue"/>
            </a:endParaRPr>
          </a:p>
        </p:txBody>
      </p:sp>
      <p:sp>
        <p:nvSpPr>
          <p:cNvPr id="1335" name="Google Shape;1335;p181"/>
          <p:cNvSpPr txBox="1"/>
          <p:nvPr/>
        </p:nvSpPr>
        <p:spPr>
          <a:xfrm>
            <a:off x="219957" y="4090140"/>
            <a:ext cx="8704200" cy="6849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800"/>
              <a:buFont typeface="Arial"/>
              <a:buNone/>
            </a:pPr>
            <a:r>
              <a:rPr b="0" i="1" lang="en" sz="2000" u="none" cap="none" strike="noStrike">
                <a:solidFill>
                  <a:srgbClr val="333333"/>
                </a:solidFill>
                <a:latin typeface="Helvetica Neue"/>
                <a:ea typeface="Helvetica Neue"/>
                <a:cs typeface="Helvetica Neue"/>
                <a:sym typeface="Helvetica Neue"/>
              </a:rPr>
              <a:t>Discrete events </a:t>
            </a:r>
            <a:r>
              <a:rPr b="0" i="0" lang="en" sz="2000" u="none" cap="none" strike="noStrike">
                <a:solidFill>
                  <a:srgbClr val="333333"/>
                </a:solidFill>
                <a:latin typeface="Helvetica Neue"/>
                <a:ea typeface="Helvetica Neue"/>
                <a:cs typeface="Helvetica Neue"/>
                <a:sym typeface="Helvetica Neue"/>
              </a:rPr>
              <a:t>sampled out of a large pool with low probability are usually modeled with Poisson distribution</a:t>
            </a:r>
            <a:endParaRPr b="0" i="0" sz="2000" u="none" cap="none" strike="noStrike">
              <a:solidFill>
                <a:schemeClr val="dk1"/>
              </a:solidFill>
              <a:latin typeface="Helvetica Neue"/>
              <a:ea typeface="Helvetica Neue"/>
              <a:cs typeface="Helvetica Neue"/>
              <a:sym typeface="Helvetica Neue"/>
            </a:endParaRPr>
          </a:p>
        </p:txBody>
      </p:sp>
      <p:sp>
        <p:nvSpPr>
          <p:cNvPr id="1336" name="Google Shape;1336;p181"/>
          <p:cNvSpPr txBox="1"/>
          <p:nvPr/>
        </p:nvSpPr>
        <p:spPr>
          <a:xfrm>
            <a:off x="181336" y="137151"/>
            <a:ext cx="8962800"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2700"/>
              <a:buFont typeface="Helvetica Neue"/>
              <a:buNone/>
            </a:pPr>
            <a:r>
              <a:rPr b="1" i="0" lang="en" sz="2700" u="none" cap="none" strike="noStrike">
                <a:solidFill>
                  <a:srgbClr val="0066CC"/>
                </a:solidFill>
                <a:latin typeface="Helvetica Neue"/>
                <a:ea typeface="Helvetica Neue"/>
                <a:cs typeface="Helvetica Neue"/>
                <a:sym typeface="Helvetica Neue"/>
              </a:rPr>
              <a:t>How to </a:t>
            </a:r>
            <a:r>
              <a:rPr b="1" lang="en" sz="2700">
                <a:solidFill>
                  <a:srgbClr val="F76912"/>
                </a:solidFill>
                <a:latin typeface="Helvetica Neue"/>
                <a:ea typeface="Helvetica Neue"/>
                <a:cs typeface="Helvetica Neue"/>
                <a:sym typeface="Helvetica Neue"/>
              </a:rPr>
              <a:t>fit the model</a:t>
            </a:r>
            <a:r>
              <a:rPr b="1" lang="en" sz="2700">
                <a:solidFill>
                  <a:srgbClr val="0066CC"/>
                </a:solidFill>
                <a:latin typeface="Helvetica Neue"/>
                <a:ea typeface="Helvetica Neue"/>
                <a:cs typeface="Helvetica Neue"/>
                <a:sym typeface="Helvetica Neue"/>
              </a:rPr>
              <a:t> using</a:t>
            </a:r>
            <a:r>
              <a:rPr b="1" i="0" lang="en" sz="2700" u="none" cap="none" strike="noStrike">
                <a:solidFill>
                  <a:srgbClr val="0066CC"/>
                </a:solidFill>
                <a:latin typeface="Helvetica Neue"/>
                <a:ea typeface="Helvetica Neue"/>
                <a:cs typeface="Helvetica Neue"/>
                <a:sym typeface="Helvetica Neue"/>
              </a:rPr>
              <a:t> the normalized RNA-seq red counts  </a:t>
            </a:r>
            <a:endParaRPr b="0" i="0" sz="2700" u="none" cap="none" strike="noStrike">
              <a:solidFill>
                <a:srgbClr val="0066CC"/>
              </a:solidFill>
              <a:latin typeface="Helvetica Neue"/>
              <a:ea typeface="Helvetica Neue"/>
              <a:cs typeface="Helvetica Neue"/>
              <a:sym typeface="Helvetica Neue"/>
            </a:endParaRPr>
          </a:p>
        </p:txBody>
      </p:sp>
      <p:sp>
        <p:nvSpPr>
          <p:cNvPr id="1337" name="Google Shape;1337;p181"/>
          <p:cNvSpPr txBox="1"/>
          <p:nvPr/>
        </p:nvSpPr>
        <p:spPr>
          <a:xfrm>
            <a:off x="167300" y="760675"/>
            <a:ext cx="88095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latin typeface="Helvetica Neue"/>
                <a:ea typeface="Helvetica Neue"/>
                <a:cs typeface="Helvetica Neue"/>
                <a:sym typeface="Helvetica Neue"/>
              </a:rPr>
              <a:t>Model the read mapped to a given gene (Y) and estimate the differences between the two groups/conditions.</a:t>
            </a:r>
            <a:endParaRPr sz="21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7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 sz="2100">
                <a:solidFill>
                  <a:srgbClr val="F76912"/>
                </a:solidFill>
                <a:latin typeface="Helvetica Neue"/>
                <a:ea typeface="Helvetica Neue"/>
                <a:cs typeface="Helvetica Neue"/>
                <a:sym typeface="Helvetica Neue"/>
              </a:rPr>
              <a:t>Y ~ group (B.Lactating vs B.Pregnant mice)</a:t>
            </a:r>
            <a:endParaRPr sz="2100">
              <a:solidFill>
                <a:srgbClr val="F76912"/>
              </a:solidFill>
              <a:latin typeface="Helvetica Neue"/>
              <a:ea typeface="Helvetica Neue"/>
              <a:cs typeface="Helvetica Neue"/>
              <a:sym typeface="Helvetica Neue"/>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2" name="Shape 1342"/>
        <p:cNvGrpSpPr/>
        <p:nvPr/>
      </p:nvGrpSpPr>
      <p:grpSpPr>
        <a:xfrm>
          <a:off x="0" y="0"/>
          <a:ext cx="0" cy="0"/>
          <a:chOff x="0" y="0"/>
          <a:chExt cx="0" cy="0"/>
        </a:xfrm>
      </p:grpSpPr>
      <p:sp>
        <p:nvSpPr>
          <p:cNvPr id="1343" name="Google Shape;1343;p182"/>
          <p:cNvSpPr txBox="1"/>
          <p:nvPr/>
        </p:nvSpPr>
        <p:spPr>
          <a:xfrm>
            <a:off x="181336" y="137151"/>
            <a:ext cx="8962663"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2700"/>
              <a:buFont typeface="Helvetica Neue"/>
              <a:buNone/>
            </a:pPr>
            <a:r>
              <a:rPr b="1" lang="en" sz="2700">
                <a:solidFill>
                  <a:srgbClr val="0066CC"/>
                </a:solidFill>
                <a:latin typeface="Helvetica Neue"/>
                <a:ea typeface="Helvetica Neue"/>
                <a:cs typeface="Helvetica Neue"/>
                <a:sym typeface="Helvetica Neue"/>
              </a:rPr>
              <a:t>Modeling the</a:t>
            </a:r>
            <a:r>
              <a:rPr b="1" i="0" lang="en" sz="2700" u="none" cap="none" strike="noStrike">
                <a:solidFill>
                  <a:srgbClr val="0066CC"/>
                </a:solidFill>
                <a:latin typeface="Helvetica Neue"/>
                <a:ea typeface="Helvetica Neue"/>
                <a:cs typeface="Helvetica Neue"/>
                <a:sym typeface="Helvetica Neue"/>
              </a:rPr>
              <a:t> read counts mapped to a gene </a:t>
            </a:r>
            <a:endParaRPr b="0" i="0" sz="2700" u="none" cap="none" strike="noStrike">
              <a:solidFill>
                <a:srgbClr val="0066CC"/>
              </a:solidFill>
              <a:latin typeface="Helvetica Neue"/>
              <a:ea typeface="Helvetica Neue"/>
              <a:cs typeface="Helvetica Neue"/>
              <a:sym typeface="Helvetica Neue"/>
            </a:endParaRPr>
          </a:p>
        </p:txBody>
      </p:sp>
      <p:sp>
        <p:nvSpPr>
          <p:cNvPr id="1344" name="Google Shape;1344;p182"/>
          <p:cNvSpPr/>
          <p:nvPr/>
        </p:nvSpPr>
        <p:spPr>
          <a:xfrm>
            <a:off x="218896" y="1127752"/>
            <a:ext cx="4353000" cy="2562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2B42"/>
                </a:solidFill>
                <a:latin typeface="Arial"/>
                <a:ea typeface="Arial"/>
                <a:cs typeface="Arial"/>
                <a:sym typeface="Arial"/>
              </a:rPr>
              <a:t>The number of reads mapped </a:t>
            </a:r>
            <a:r>
              <a:rPr lang="en" sz="1800">
                <a:solidFill>
                  <a:srgbClr val="002B42"/>
                </a:solidFill>
              </a:rPr>
              <a:t>to</a:t>
            </a:r>
            <a:r>
              <a:rPr b="0" i="0" lang="en" sz="1800" u="none" cap="none" strike="noStrike">
                <a:solidFill>
                  <a:srgbClr val="002B42"/>
                </a:solidFill>
                <a:latin typeface="Arial"/>
                <a:ea typeface="Arial"/>
                <a:cs typeface="Arial"/>
                <a:sym typeface="Arial"/>
              </a:rPr>
              <a:t> a gene was first modeled using a </a:t>
            </a:r>
            <a:r>
              <a:rPr b="1" i="0" lang="en" sz="1800" u="none" cap="none" strike="noStrike">
                <a:solidFill>
                  <a:srgbClr val="002B42"/>
                </a:solidFill>
              </a:rPr>
              <a:t>Poisson distribution </a:t>
            </a:r>
            <a:r>
              <a:rPr i="0" lang="en" sz="1700" u="none" cap="none" strike="noStrike">
                <a:solidFill>
                  <a:schemeClr val="dk1"/>
                </a:solidFill>
                <a:latin typeface="Helvetica Neue"/>
                <a:ea typeface="Helvetica Neue"/>
                <a:cs typeface="Helvetica Neue"/>
                <a:sym typeface="Helvetica Neue"/>
              </a:rPr>
              <a:t>(</a:t>
            </a:r>
            <a:r>
              <a:rPr lang="en" sz="1700">
                <a:solidFill>
                  <a:schemeClr val="dk1"/>
                </a:solidFill>
                <a:highlight>
                  <a:srgbClr val="FFFFFF"/>
                </a:highlight>
                <a:uFill>
                  <a:noFill/>
                </a:uFill>
                <a:latin typeface="Helvetica Neue"/>
                <a:ea typeface="Helvetica Neue"/>
                <a:cs typeface="Helvetica Neue"/>
                <a:sym typeface="Helvetica Neue"/>
                <a:hlinkClick r:id="rId3">
                  <a:extLst>
                    <a:ext uri="{A12FA001-AC4F-418D-AE19-62706E023703}">
                      <ahyp:hlinkClr val="tx"/>
                    </a:ext>
                  </a:extLst>
                </a:hlinkClick>
              </a:rPr>
              <a:t>Marioni </a:t>
            </a:r>
            <a:r>
              <a:rPr i="1" lang="en" sz="1700">
                <a:solidFill>
                  <a:schemeClr val="dk1"/>
                </a:solidFill>
                <a:highlight>
                  <a:srgbClr val="FFFFFF"/>
                </a:highlight>
                <a:uFill>
                  <a:noFill/>
                </a:uFill>
                <a:latin typeface="Helvetica Neue"/>
                <a:ea typeface="Helvetica Neue"/>
                <a:cs typeface="Helvetica Neue"/>
                <a:sym typeface="Helvetica Neue"/>
                <a:hlinkClick r:id="rId4">
                  <a:extLst>
                    <a:ext uri="{A12FA001-AC4F-418D-AE19-62706E023703}">
                      <ahyp:hlinkClr val="tx"/>
                    </a:ext>
                  </a:extLst>
                </a:hlinkClick>
              </a:rPr>
              <a:t>et al.</a:t>
            </a:r>
            <a:r>
              <a:rPr lang="en" sz="1700">
                <a:solidFill>
                  <a:schemeClr val="dk1"/>
                </a:solidFill>
                <a:highlight>
                  <a:srgbClr val="FFFFFF"/>
                </a:highlight>
                <a:uFill>
                  <a:noFill/>
                </a:uFill>
                <a:latin typeface="Helvetica Neue"/>
                <a:ea typeface="Helvetica Neue"/>
                <a:cs typeface="Helvetica Neue"/>
                <a:sym typeface="Helvetica Neue"/>
                <a:hlinkClick r:id="rId5">
                  <a:extLst>
                    <a:ext uri="{A12FA001-AC4F-418D-AE19-62706E023703}">
                      <ahyp:hlinkClr val="tx"/>
                    </a:ext>
                  </a:extLst>
                </a:hlinkClick>
              </a:rPr>
              <a:t> (2008</a:t>
            </a:r>
            <a:r>
              <a:rPr lang="en" sz="1700">
                <a:solidFill>
                  <a:schemeClr val="dk1"/>
                </a:solidFill>
                <a:latin typeface="Helvetica Neue"/>
                <a:ea typeface="Helvetica Neue"/>
                <a:cs typeface="Helvetica Neue"/>
                <a:sym typeface="Helvetica Neue"/>
              </a:rPr>
              <a:t>))</a:t>
            </a:r>
            <a:endParaRPr i="0" sz="1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2B42"/>
              </a:solidFill>
            </a:endParaRPr>
          </a:p>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02B42"/>
                </a:solidFill>
              </a:rPr>
              <a:t>Assumption</a:t>
            </a:r>
            <a:r>
              <a:rPr b="0" i="0" lang="en" sz="1800" u="none" cap="none" strike="noStrike">
                <a:solidFill>
                  <a:srgbClr val="002B42"/>
                </a:solidFill>
                <a:latin typeface="Arial"/>
                <a:ea typeface="Arial"/>
                <a:cs typeface="Arial"/>
                <a:sym typeface="Arial"/>
              </a:rPr>
              <a:t>: assumes that mean and variance are the same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2B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lang="en" sz="1800">
                <a:solidFill>
                  <a:srgbClr val="002B42"/>
                </a:solidFill>
              </a:rPr>
              <a:t>BUT t</a:t>
            </a:r>
            <a:r>
              <a:rPr b="0" i="0" lang="en" sz="1800" u="none" cap="none" strike="noStrike">
                <a:solidFill>
                  <a:srgbClr val="002B42"/>
                </a:solidFill>
                <a:latin typeface="Arial"/>
                <a:ea typeface="Arial"/>
                <a:cs typeface="Arial"/>
                <a:sym typeface="Arial"/>
              </a:rPr>
              <a:t>he variance grows faster than the mean in RNAseq data.</a:t>
            </a:r>
            <a:endParaRPr b="0" i="0" sz="1800" u="none" cap="none" strike="noStrike">
              <a:solidFill>
                <a:srgbClr val="002B4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sz="1800">
              <a:solidFill>
                <a:srgbClr val="002B42"/>
              </a:solidFill>
            </a:endParaRPr>
          </a:p>
          <a:p>
            <a:pPr indent="0" lvl="0" marL="0" marR="0" rtl="0" algn="l">
              <a:lnSpc>
                <a:spcPct val="100000"/>
              </a:lnSpc>
              <a:spcBef>
                <a:spcPts val="0"/>
              </a:spcBef>
              <a:spcAft>
                <a:spcPts val="0"/>
              </a:spcAft>
              <a:buClr>
                <a:srgbClr val="000000"/>
              </a:buClr>
              <a:buSzPts val="1800"/>
              <a:buFont typeface="Arial"/>
              <a:buNone/>
            </a:pPr>
            <a:r>
              <a:rPr lang="en" sz="1800">
                <a:solidFill>
                  <a:srgbClr val="002B42"/>
                </a:solidFill>
              </a:rPr>
              <a:t>Biological data show more variability than Poisson allows</a:t>
            </a:r>
            <a:endParaRPr sz="1800">
              <a:solidFill>
                <a:srgbClr val="002B42"/>
              </a:solidFill>
            </a:endParaRPr>
          </a:p>
        </p:txBody>
      </p:sp>
      <p:sp>
        <p:nvSpPr>
          <p:cNvPr id="1345" name="Google Shape;1345;p182"/>
          <p:cNvSpPr txBox="1"/>
          <p:nvPr/>
        </p:nvSpPr>
        <p:spPr>
          <a:xfrm rot="-5400000">
            <a:off x="3699478" y="2209522"/>
            <a:ext cx="2022044" cy="276999"/>
          </a:xfrm>
          <a:prstGeom prst="rect">
            <a:avLst/>
          </a:prstGeom>
          <a:solidFill>
            <a:schemeClr val="lt1"/>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Calibri"/>
                <a:ea typeface="Calibri"/>
                <a:cs typeface="Calibri"/>
                <a:sym typeface="Calibri"/>
              </a:rPr>
              <a:t>Pooled gene-level variance</a:t>
            </a:r>
            <a:endParaRPr b="0" i="0" sz="1100" u="none" cap="none" strike="noStrike">
              <a:solidFill>
                <a:srgbClr val="000000"/>
              </a:solidFill>
              <a:latin typeface="Arial"/>
              <a:ea typeface="Arial"/>
              <a:cs typeface="Arial"/>
              <a:sym typeface="Arial"/>
            </a:endParaRPr>
          </a:p>
        </p:txBody>
      </p:sp>
      <p:grpSp>
        <p:nvGrpSpPr>
          <p:cNvPr id="1346" name="Google Shape;1346;p182"/>
          <p:cNvGrpSpPr/>
          <p:nvPr/>
        </p:nvGrpSpPr>
        <p:grpSpPr>
          <a:xfrm>
            <a:off x="4507875" y="978813"/>
            <a:ext cx="4035044" cy="2318004"/>
            <a:chOff x="6096000" y="1782666"/>
            <a:chExt cx="5380059" cy="3090672"/>
          </a:xfrm>
        </p:grpSpPr>
        <p:pic>
          <p:nvPicPr>
            <p:cNvPr descr="Chart, scatter chart&#10;&#10;Description automatically generated" id="1347" name="Google Shape;1347;p182"/>
            <p:cNvPicPr preferRelativeResize="0"/>
            <p:nvPr/>
          </p:nvPicPr>
          <p:blipFill rotWithShape="1">
            <a:blip r:embed="rId6">
              <a:alphaModFix/>
            </a:blip>
            <a:srcRect b="0" l="0" r="0" t="0"/>
            <a:stretch/>
          </p:blipFill>
          <p:spPr>
            <a:xfrm>
              <a:off x="6096000" y="1782666"/>
              <a:ext cx="5380059" cy="3090672"/>
            </a:xfrm>
            <a:prstGeom prst="rect">
              <a:avLst/>
            </a:prstGeom>
            <a:noFill/>
            <a:ln>
              <a:noFill/>
            </a:ln>
          </p:spPr>
        </p:pic>
        <p:sp>
          <p:nvSpPr>
            <p:cNvPr id="1348" name="Google Shape;1348;p182"/>
            <p:cNvSpPr/>
            <p:nvPr/>
          </p:nvSpPr>
          <p:spPr>
            <a:xfrm>
              <a:off x="9692001" y="1797179"/>
              <a:ext cx="1425942" cy="379964"/>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grpSp>
      <p:sp>
        <p:nvSpPr>
          <p:cNvPr id="1349" name="Google Shape;1349;p182"/>
          <p:cNvSpPr txBox="1"/>
          <p:nvPr/>
        </p:nvSpPr>
        <p:spPr>
          <a:xfrm>
            <a:off x="4849100" y="3082100"/>
            <a:ext cx="2731500" cy="284700"/>
          </a:xfrm>
          <a:prstGeom prst="rect">
            <a:avLst/>
          </a:prstGeom>
          <a:solidFill>
            <a:schemeClr val="lt1"/>
          </a:solid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highlight>
                  <a:schemeClr val="lt1"/>
                </a:highlight>
                <a:latin typeface="Calibri"/>
                <a:ea typeface="Calibri"/>
                <a:cs typeface="Calibri"/>
                <a:sym typeface="Calibri"/>
              </a:rPr>
              <a:t>Mean gene expression level</a:t>
            </a:r>
            <a:endParaRPr b="0" i="0" sz="1100" u="none" cap="none" strike="noStrike">
              <a:solidFill>
                <a:srgbClr val="000000"/>
              </a:solidFill>
              <a:highlight>
                <a:schemeClr val="lt1"/>
              </a:highlight>
              <a:latin typeface="Arial"/>
              <a:ea typeface="Arial"/>
              <a:cs typeface="Arial"/>
              <a:sym typeface="Arial"/>
            </a:endParaRPr>
          </a:p>
        </p:txBody>
      </p:sp>
      <p:sp>
        <p:nvSpPr>
          <p:cNvPr id="1350" name="Google Shape;1350;p182"/>
          <p:cNvSpPr txBox="1"/>
          <p:nvPr/>
        </p:nvSpPr>
        <p:spPr>
          <a:xfrm>
            <a:off x="6226200" y="4242800"/>
            <a:ext cx="22596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100">
                <a:solidFill>
                  <a:schemeClr val="dk1"/>
                </a:solidFill>
                <a:latin typeface="Helvetica Neue"/>
                <a:ea typeface="Helvetica Neue"/>
                <a:cs typeface="Helvetica Neue"/>
                <a:sym typeface="Helvetica Neue"/>
              </a:rPr>
              <a:t>Why?</a:t>
            </a:r>
            <a:endParaRPr b="1" sz="2100">
              <a:solidFill>
                <a:schemeClr val="dk1"/>
              </a:solidFill>
              <a:latin typeface="Helvetica Neue"/>
              <a:ea typeface="Helvetica Neue"/>
              <a:cs typeface="Helvetica Neue"/>
              <a:sym typeface="Helvetica Neue"/>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5" name="Shape 1355"/>
        <p:cNvGrpSpPr/>
        <p:nvPr/>
      </p:nvGrpSpPr>
      <p:grpSpPr>
        <a:xfrm>
          <a:off x="0" y="0"/>
          <a:ext cx="0" cy="0"/>
          <a:chOff x="0" y="0"/>
          <a:chExt cx="0" cy="0"/>
        </a:xfrm>
      </p:grpSpPr>
      <p:sp>
        <p:nvSpPr>
          <p:cNvPr id="1356" name="Google Shape;1356;p183"/>
          <p:cNvSpPr txBox="1"/>
          <p:nvPr/>
        </p:nvSpPr>
        <p:spPr>
          <a:xfrm>
            <a:off x="181336" y="137151"/>
            <a:ext cx="8962800" cy="736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b="1" lang="en" sz="2700">
                <a:solidFill>
                  <a:srgbClr val="0066CC"/>
                </a:solidFill>
                <a:latin typeface="Helvetica Neue"/>
                <a:ea typeface="Helvetica Neue"/>
                <a:cs typeface="Helvetica Neue"/>
                <a:sym typeface="Helvetica Neue"/>
              </a:rPr>
              <a:t>Dispersion controls how much biological variability exists between replicates</a:t>
            </a:r>
            <a:endParaRPr b="1" sz="2700">
              <a:solidFill>
                <a:srgbClr val="0066CC"/>
              </a:solidFill>
              <a:latin typeface="Helvetica Neue"/>
              <a:ea typeface="Helvetica Neue"/>
              <a:cs typeface="Helvetica Neue"/>
              <a:sym typeface="Helvetica Neue"/>
            </a:endParaRPr>
          </a:p>
          <a:p>
            <a:pPr indent="0" lvl="0" marL="0" marR="0" rtl="0" algn="l">
              <a:lnSpc>
                <a:spcPct val="90000"/>
              </a:lnSpc>
              <a:spcBef>
                <a:spcPts val="1200"/>
              </a:spcBef>
              <a:spcAft>
                <a:spcPts val="0"/>
              </a:spcAft>
              <a:buClr>
                <a:schemeClr val="lt1"/>
              </a:buClr>
              <a:buSzPts val="2700"/>
              <a:buFont typeface="Helvetica Neue"/>
              <a:buNone/>
            </a:pPr>
            <a:r>
              <a:t/>
            </a:r>
            <a:endParaRPr b="1" sz="2700">
              <a:solidFill>
                <a:srgbClr val="0066CC"/>
              </a:solidFill>
              <a:latin typeface="Helvetica Neue"/>
              <a:ea typeface="Helvetica Neue"/>
              <a:cs typeface="Helvetica Neue"/>
              <a:sym typeface="Helvetica Neue"/>
            </a:endParaRPr>
          </a:p>
        </p:txBody>
      </p:sp>
      <p:sp>
        <p:nvSpPr>
          <p:cNvPr id="1357" name="Google Shape;1357;p183"/>
          <p:cNvSpPr/>
          <p:nvPr/>
        </p:nvSpPr>
        <p:spPr>
          <a:xfrm>
            <a:off x="181325" y="1151195"/>
            <a:ext cx="8515500" cy="900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700"/>
              <a:buFont typeface="Arial"/>
              <a:buNone/>
            </a:pPr>
            <a:r>
              <a:rPr lang="en" sz="1900">
                <a:solidFill>
                  <a:srgbClr val="002B42"/>
                </a:solidFill>
              </a:rPr>
              <a:t>U</a:t>
            </a:r>
            <a:r>
              <a:rPr b="0" i="0" lang="en" sz="1900" u="none" cap="none" strike="noStrike">
                <a:solidFill>
                  <a:srgbClr val="002B42"/>
                </a:solidFill>
                <a:latin typeface="Arial"/>
                <a:ea typeface="Arial"/>
                <a:cs typeface="Arial"/>
                <a:sym typeface="Arial"/>
              </a:rPr>
              <a:t>nderestimation of the biological variance increased the probability to falsely declare a gene DE when it is non-DE (type I error rate)</a:t>
            </a:r>
            <a:endParaRPr b="0" i="0" sz="1900" u="none" cap="none" strike="noStrike">
              <a:solidFill>
                <a:schemeClr val="dk1"/>
              </a:solidFill>
              <a:latin typeface="Arial"/>
              <a:ea typeface="Arial"/>
              <a:cs typeface="Arial"/>
              <a:sym typeface="Arial"/>
            </a:endParaRPr>
          </a:p>
        </p:txBody>
      </p:sp>
      <p:pic>
        <p:nvPicPr>
          <p:cNvPr id="1358" name="Google Shape;1358;p183"/>
          <p:cNvPicPr preferRelativeResize="0"/>
          <p:nvPr/>
        </p:nvPicPr>
        <p:blipFill rotWithShape="1">
          <a:blip r:embed="rId3">
            <a:alphaModFix/>
          </a:blip>
          <a:srcRect b="0" l="0" r="0" t="0"/>
          <a:stretch/>
        </p:blipFill>
        <p:spPr>
          <a:xfrm>
            <a:off x="0" y="1983775"/>
            <a:ext cx="3769426" cy="2701276"/>
          </a:xfrm>
          <a:prstGeom prst="rect">
            <a:avLst/>
          </a:prstGeom>
          <a:noFill/>
          <a:ln>
            <a:noFill/>
          </a:ln>
        </p:spPr>
      </p:pic>
      <p:sp>
        <p:nvSpPr>
          <p:cNvPr id="1359" name="Google Shape;1359;p183"/>
          <p:cNvSpPr/>
          <p:nvPr/>
        </p:nvSpPr>
        <p:spPr>
          <a:xfrm>
            <a:off x="3640325" y="2418150"/>
            <a:ext cx="5133300" cy="900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b="1" lang="en" sz="2000">
                <a:solidFill>
                  <a:srgbClr val="002B42"/>
                </a:solidFill>
              </a:rPr>
              <a:t>N</a:t>
            </a:r>
            <a:r>
              <a:rPr b="1" i="0" lang="en" sz="2000" u="none" cap="none" strike="noStrike">
                <a:solidFill>
                  <a:srgbClr val="002B42"/>
                </a:solidFill>
              </a:rPr>
              <a:t>egative binomial (NB) distribution </a:t>
            </a:r>
            <a:endParaRPr b="1" i="0" sz="2000" u="none" cap="none" strike="noStrike">
              <a:solidFill>
                <a:srgbClr val="002B42"/>
              </a:solidFill>
            </a:endParaRPr>
          </a:p>
          <a:p>
            <a:pPr indent="0" lvl="0" marL="0" marR="0" rtl="0" algn="l">
              <a:lnSpc>
                <a:spcPct val="100000"/>
              </a:lnSpc>
              <a:spcBef>
                <a:spcPts val="0"/>
              </a:spcBef>
              <a:spcAft>
                <a:spcPts val="0"/>
              </a:spcAft>
              <a:buClr>
                <a:srgbClr val="000000"/>
              </a:buClr>
              <a:buSzPts val="1800"/>
              <a:buFont typeface="Arial"/>
              <a:buNone/>
            </a:pPr>
            <a:r>
              <a:rPr lang="en" sz="2000">
                <a:solidFill>
                  <a:srgbClr val="002B42"/>
                </a:solidFill>
              </a:rPr>
              <a:t>-&gt; </a:t>
            </a:r>
            <a:r>
              <a:rPr b="0" i="0" lang="en" sz="2000" u="none" cap="none" strike="noStrike">
                <a:solidFill>
                  <a:srgbClr val="002B42"/>
                </a:solidFill>
                <a:latin typeface="Arial"/>
                <a:ea typeface="Arial"/>
                <a:cs typeface="Arial"/>
                <a:sym typeface="Arial"/>
              </a:rPr>
              <a:t>alternative to model the read counts for each gene </a:t>
            </a:r>
            <a:r>
              <a:rPr b="0" i="1" lang="en" sz="2000" u="sng" cap="none" strike="noStrike">
                <a:solidFill>
                  <a:srgbClr val="002B42"/>
                </a:solidFill>
                <a:latin typeface="Arial"/>
                <a:ea typeface="Arial"/>
                <a:cs typeface="Arial"/>
                <a:sym typeface="Arial"/>
              </a:rPr>
              <a:t>in each sample</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2000" u="none" cap="none" strike="noStrike">
              <a:solidFill>
                <a:srgbClr val="002B42"/>
              </a:solidFill>
              <a:latin typeface="Arial"/>
              <a:ea typeface="Arial"/>
              <a:cs typeface="Arial"/>
              <a:sym typeface="Arial"/>
            </a:endParaRPr>
          </a:p>
        </p:txBody>
      </p:sp>
      <p:sp>
        <p:nvSpPr>
          <p:cNvPr id="1360" name="Google Shape;1360;p183"/>
          <p:cNvSpPr/>
          <p:nvPr/>
        </p:nvSpPr>
        <p:spPr>
          <a:xfrm>
            <a:off x="3640325" y="3944100"/>
            <a:ext cx="5399100" cy="6231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2B42"/>
                </a:solidFill>
                <a:latin typeface="Arial"/>
                <a:ea typeface="Arial"/>
                <a:cs typeface="Arial"/>
                <a:sym typeface="Arial"/>
              </a:rPr>
              <a:t>The variance is always larger than the mean for the negative binomial ⇒ suitable for RNA-seq data</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5" name="Shape 1365"/>
        <p:cNvGrpSpPr/>
        <p:nvPr/>
      </p:nvGrpSpPr>
      <p:grpSpPr>
        <a:xfrm>
          <a:off x="0" y="0"/>
          <a:ext cx="0" cy="0"/>
          <a:chOff x="0" y="0"/>
          <a:chExt cx="0" cy="0"/>
        </a:xfrm>
      </p:grpSpPr>
      <p:sp>
        <p:nvSpPr>
          <p:cNvPr id="1366" name="Google Shape;1366;p184"/>
          <p:cNvSpPr txBox="1"/>
          <p:nvPr/>
        </p:nvSpPr>
        <p:spPr>
          <a:xfrm>
            <a:off x="90668" y="187991"/>
            <a:ext cx="8962800" cy="73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sz="2900">
                <a:solidFill>
                  <a:srgbClr val="0066CC"/>
                </a:solidFill>
              </a:rPr>
              <a:t>edgeR estimates 3 dispersions</a:t>
            </a:r>
            <a:endParaRPr b="1" i="0" sz="4200" u="none" cap="none" strike="noStrike">
              <a:solidFill>
                <a:srgbClr val="0066CC"/>
              </a:solidFill>
              <a:latin typeface="Helvetica Neue"/>
              <a:ea typeface="Helvetica Neue"/>
              <a:cs typeface="Helvetica Neue"/>
              <a:sym typeface="Helvetica Neue"/>
            </a:endParaRPr>
          </a:p>
        </p:txBody>
      </p:sp>
      <p:sp>
        <p:nvSpPr>
          <p:cNvPr id="1367" name="Google Shape;1367;p184"/>
          <p:cNvSpPr txBox="1"/>
          <p:nvPr/>
        </p:nvSpPr>
        <p:spPr>
          <a:xfrm>
            <a:off x="139953" y="924800"/>
            <a:ext cx="8682900" cy="255900"/>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rgbClr val="00466C"/>
              </a:buClr>
              <a:buSzPts val="2100"/>
              <a:buFont typeface="Helvetica Neue"/>
              <a:buNone/>
            </a:pPr>
            <a:r>
              <a:rPr b="0" i="0" lang="en" sz="1900" u="none" cap="none" strike="noStrike">
                <a:solidFill>
                  <a:srgbClr val="00466C"/>
                </a:solidFill>
                <a:latin typeface="Helvetica Neue"/>
                <a:ea typeface="Helvetica Neue"/>
                <a:cs typeface="Helvetica Neue"/>
                <a:sym typeface="Helvetica Neue"/>
              </a:rPr>
              <a:t>Dispersion </a:t>
            </a:r>
            <a:r>
              <a:rPr lang="en" sz="1700">
                <a:solidFill>
                  <a:srgbClr val="002B42"/>
                </a:solidFill>
              </a:rPr>
              <a:t>φ </a:t>
            </a:r>
            <a:r>
              <a:rPr b="0" i="0" lang="en" sz="1900" u="none" cap="none" strike="noStrike">
                <a:solidFill>
                  <a:srgbClr val="00466C"/>
                </a:solidFill>
                <a:latin typeface="Helvetica Neue"/>
                <a:ea typeface="Helvetica Neue"/>
                <a:cs typeface="Helvetica Neue"/>
                <a:sym typeface="Helvetica Neue"/>
              </a:rPr>
              <a:t>accounts for the variability between biological replicates </a:t>
            </a:r>
            <a:endParaRPr b="0" i="0" sz="900" u="none" cap="none" strike="noStrike">
              <a:solidFill>
                <a:srgbClr val="000000"/>
              </a:solidFill>
              <a:latin typeface="Arial"/>
              <a:ea typeface="Arial"/>
              <a:cs typeface="Arial"/>
              <a:sym typeface="Arial"/>
            </a:endParaRPr>
          </a:p>
        </p:txBody>
      </p:sp>
      <p:sp>
        <p:nvSpPr>
          <p:cNvPr id="1368" name="Google Shape;1368;p184"/>
          <p:cNvSpPr txBox="1"/>
          <p:nvPr/>
        </p:nvSpPr>
        <p:spPr>
          <a:xfrm>
            <a:off x="0" y="1534125"/>
            <a:ext cx="8962800" cy="3092100"/>
          </a:xfrm>
          <a:prstGeom prst="rect">
            <a:avLst/>
          </a:prstGeom>
          <a:noFill/>
          <a:ln>
            <a:noFill/>
          </a:ln>
        </p:spPr>
        <p:txBody>
          <a:bodyPr anchorCtr="0" anchor="t" bIns="0" lIns="137150" spcFirstLastPara="1" rIns="0" wrap="square" tIns="0">
            <a:spAutoFit/>
          </a:bodyPr>
          <a:lstStyle/>
          <a:p>
            <a:pPr indent="-381000" lvl="0" marL="342900" marR="0" rtl="0" algn="l">
              <a:lnSpc>
                <a:spcPct val="90000"/>
              </a:lnSpc>
              <a:spcBef>
                <a:spcPts val="0"/>
              </a:spcBef>
              <a:spcAft>
                <a:spcPts val="0"/>
              </a:spcAft>
              <a:buClr>
                <a:srgbClr val="002A40"/>
              </a:buClr>
              <a:buSzPts val="2000"/>
              <a:buFont typeface="Courier New"/>
              <a:buChar char="o"/>
            </a:pPr>
            <a:r>
              <a:rPr b="1" i="0" lang="en" sz="2000" u="sng" cap="none" strike="noStrike">
                <a:solidFill>
                  <a:srgbClr val="002A40"/>
                </a:solidFill>
              </a:rPr>
              <a:t>Common dispersion</a:t>
            </a:r>
            <a:r>
              <a:rPr b="0" i="0" lang="en" sz="2000" u="none" cap="none" strike="noStrike">
                <a:solidFill>
                  <a:srgbClr val="002A40"/>
                </a:solidFill>
                <a:latin typeface="Arial"/>
                <a:ea typeface="Arial"/>
                <a:cs typeface="Arial"/>
                <a:sym typeface="Arial"/>
              </a:rPr>
              <a:t>: a global dispersion estimate averaged across the genes  </a:t>
            </a:r>
            <a:endParaRPr b="0" i="0" sz="2000" u="none" cap="none" strike="noStrike">
              <a:solidFill>
                <a:srgbClr val="002A40"/>
              </a:solidFill>
              <a:latin typeface="Arial"/>
              <a:ea typeface="Arial"/>
              <a:cs typeface="Arial"/>
              <a:sym typeface="Arial"/>
            </a:endParaRPr>
          </a:p>
          <a:p>
            <a:pPr indent="0" lvl="0" marL="457200" marR="0" rtl="0" algn="l">
              <a:lnSpc>
                <a:spcPct val="90000"/>
              </a:lnSpc>
              <a:spcBef>
                <a:spcPts val="0"/>
              </a:spcBef>
              <a:spcAft>
                <a:spcPts val="0"/>
              </a:spcAft>
              <a:buNone/>
            </a:pPr>
            <a:r>
              <a:t/>
            </a:r>
            <a:endParaRPr sz="2000">
              <a:solidFill>
                <a:srgbClr val="002A40"/>
              </a:solidFill>
            </a:endParaRPr>
          </a:p>
          <a:p>
            <a:pPr indent="-381000" lvl="0" marL="342900" marR="0" rtl="0" algn="l">
              <a:lnSpc>
                <a:spcPct val="90000"/>
              </a:lnSpc>
              <a:spcBef>
                <a:spcPts val="0"/>
              </a:spcBef>
              <a:spcAft>
                <a:spcPts val="0"/>
              </a:spcAft>
              <a:buClr>
                <a:srgbClr val="002A40"/>
              </a:buClr>
              <a:buSzPts val="2000"/>
              <a:buFont typeface="Courier New"/>
              <a:buChar char="o"/>
            </a:pPr>
            <a:r>
              <a:rPr lang="en" sz="2000">
                <a:solidFill>
                  <a:srgbClr val="002A40"/>
                </a:solidFill>
              </a:rPr>
              <a:t>Assumption: every gene has the same biological variability</a:t>
            </a:r>
            <a:endParaRPr sz="2000">
              <a:solidFill>
                <a:srgbClr val="002A40"/>
              </a:solidFill>
            </a:endParaRPr>
          </a:p>
          <a:p>
            <a:pPr indent="0" lvl="0" marL="457200" marR="0" rtl="0" algn="l">
              <a:lnSpc>
                <a:spcPct val="90000"/>
              </a:lnSpc>
              <a:spcBef>
                <a:spcPts val="0"/>
              </a:spcBef>
              <a:spcAft>
                <a:spcPts val="0"/>
              </a:spcAft>
              <a:buNone/>
            </a:pPr>
            <a:r>
              <a:t/>
            </a:r>
            <a:endParaRPr sz="2000">
              <a:solidFill>
                <a:srgbClr val="002A40"/>
              </a:solidFill>
            </a:endParaRPr>
          </a:p>
          <a:p>
            <a:pPr indent="-381000" lvl="0" marL="342900" marR="0" rtl="0" algn="l">
              <a:lnSpc>
                <a:spcPct val="90000"/>
              </a:lnSpc>
              <a:spcBef>
                <a:spcPts val="0"/>
              </a:spcBef>
              <a:spcAft>
                <a:spcPts val="0"/>
              </a:spcAft>
              <a:buClr>
                <a:srgbClr val="002A40"/>
              </a:buClr>
              <a:buSzPts val="2000"/>
              <a:buFont typeface="Courier New"/>
              <a:buChar char="o"/>
            </a:pPr>
            <a:r>
              <a:rPr lang="en" sz="2000">
                <a:solidFill>
                  <a:srgbClr val="002A40"/>
                </a:solidFill>
              </a:rPr>
              <a:t>N</a:t>
            </a:r>
            <a:r>
              <a:rPr b="0" i="0" lang="en" sz="2000" u="none" cap="none" strike="noStrike">
                <a:solidFill>
                  <a:srgbClr val="002A40"/>
                </a:solidFill>
                <a:latin typeface="Arial"/>
                <a:ea typeface="Arial"/>
                <a:cs typeface="Arial"/>
                <a:sym typeface="Arial"/>
              </a:rPr>
              <a:t>ot enough </a:t>
            </a:r>
            <a:r>
              <a:rPr lang="en" sz="2000">
                <a:solidFill>
                  <a:srgbClr val="002A40"/>
                </a:solidFill>
              </a:rPr>
              <a:t>because</a:t>
            </a:r>
            <a:r>
              <a:rPr b="0" i="0" lang="en" sz="2000" u="none" cap="none" strike="noStrike">
                <a:solidFill>
                  <a:srgbClr val="002A40"/>
                </a:solidFill>
                <a:latin typeface="Arial"/>
                <a:ea typeface="Arial"/>
                <a:cs typeface="Arial"/>
                <a:sym typeface="Arial"/>
              </a:rPr>
              <a:t>:</a:t>
            </a:r>
            <a:endParaRPr b="0" i="0" sz="2000" u="none" cap="none" strike="noStrike">
              <a:solidFill>
                <a:srgbClr val="002A40"/>
              </a:solidFill>
              <a:latin typeface="Arial"/>
              <a:ea typeface="Arial"/>
              <a:cs typeface="Arial"/>
              <a:sym typeface="Arial"/>
            </a:endParaRPr>
          </a:p>
          <a:p>
            <a:pPr indent="0" lvl="0" marL="457200" marR="0" rtl="0" algn="l">
              <a:lnSpc>
                <a:spcPct val="90000"/>
              </a:lnSpc>
              <a:spcBef>
                <a:spcPts val="0"/>
              </a:spcBef>
              <a:spcAft>
                <a:spcPts val="0"/>
              </a:spcAft>
              <a:buNone/>
            </a:pPr>
            <a:r>
              <a:t/>
            </a:r>
            <a:endParaRPr sz="1800">
              <a:solidFill>
                <a:srgbClr val="002A40"/>
              </a:solidFill>
            </a:endParaRPr>
          </a:p>
          <a:p>
            <a:pPr indent="-311150" lvl="1" marL="914400" rtl="0" algn="l">
              <a:spcBef>
                <a:spcPts val="0"/>
              </a:spcBef>
              <a:spcAft>
                <a:spcPts val="0"/>
              </a:spcAft>
              <a:buClr>
                <a:srgbClr val="002A40"/>
              </a:buClr>
              <a:buSzPts val="1300"/>
              <a:buChar char="○"/>
            </a:pPr>
            <a:r>
              <a:rPr lang="en" sz="1700">
                <a:solidFill>
                  <a:srgbClr val="002B42"/>
                </a:solidFill>
              </a:rPr>
              <a:t>counts from biological replicates vary </a:t>
            </a:r>
            <a:endParaRPr sz="1700">
              <a:solidFill>
                <a:srgbClr val="002B42"/>
              </a:solidFill>
            </a:endParaRPr>
          </a:p>
          <a:p>
            <a:pPr indent="-311150" lvl="1" marL="914400" rtl="0" algn="l">
              <a:spcBef>
                <a:spcPts val="0"/>
              </a:spcBef>
              <a:spcAft>
                <a:spcPts val="0"/>
              </a:spcAft>
              <a:buClr>
                <a:srgbClr val="002A40"/>
              </a:buClr>
              <a:buSzPts val="1300"/>
              <a:buChar char="○"/>
            </a:pPr>
            <a:r>
              <a:rPr lang="en" sz="1700">
                <a:solidFill>
                  <a:srgbClr val="002B42"/>
                </a:solidFill>
              </a:rPr>
              <a:t>variance is exceeding the mean for highly expressed genes</a:t>
            </a:r>
            <a:endParaRPr sz="1700">
              <a:solidFill>
                <a:srgbClr val="002B42"/>
              </a:solidFill>
            </a:endParaRPr>
          </a:p>
          <a:p>
            <a:pPr indent="-311150" lvl="1" marL="914400" rtl="0" algn="l">
              <a:spcBef>
                <a:spcPts val="0"/>
              </a:spcBef>
              <a:spcAft>
                <a:spcPts val="0"/>
              </a:spcAft>
              <a:buClr>
                <a:srgbClr val="002A40"/>
              </a:buClr>
              <a:buSzPts val="1300"/>
              <a:buChar char="○"/>
            </a:pPr>
            <a:r>
              <a:rPr lang="en" sz="1700">
                <a:solidFill>
                  <a:srgbClr val="002B42"/>
                </a:solidFill>
              </a:rPr>
              <a:t>low counts are noisy</a:t>
            </a:r>
            <a:endParaRPr sz="1700">
              <a:solidFill>
                <a:srgbClr val="002B42"/>
              </a:solidFill>
            </a:endParaRPr>
          </a:p>
          <a:p>
            <a:pPr indent="-311150" lvl="1" marL="914400" rtl="0" algn="l">
              <a:spcBef>
                <a:spcPts val="0"/>
              </a:spcBef>
              <a:spcAft>
                <a:spcPts val="0"/>
              </a:spcAft>
              <a:buClr>
                <a:srgbClr val="002A40"/>
              </a:buClr>
              <a:buSzPts val="1300"/>
              <a:buChar char="○"/>
            </a:pPr>
            <a:r>
              <a:rPr lang="en" sz="1700">
                <a:solidFill>
                  <a:srgbClr val="002B42"/>
                </a:solidFill>
              </a:rPr>
              <a:t>some genes have stable variance</a:t>
            </a:r>
            <a:endParaRPr sz="1100" u="sng">
              <a:solidFill>
                <a:srgbClr val="002A40"/>
              </a:solidFill>
            </a:endParaRPr>
          </a:p>
          <a:p>
            <a:pPr indent="0" lvl="0" marL="0" marR="0" rtl="0" algn="l">
              <a:lnSpc>
                <a:spcPct val="90000"/>
              </a:lnSpc>
              <a:spcBef>
                <a:spcPts val="800"/>
              </a:spcBef>
              <a:spcAft>
                <a:spcPts val="0"/>
              </a:spcAft>
              <a:buClr>
                <a:srgbClr val="002A40"/>
              </a:buClr>
              <a:buSzPts val="1300"/>
              <a:buFont typeface="Arial"/>
              <a:buNone/>
            </a:pPr>
            <a:r>
              <a:rPr lang="en" sz="200"/>
              <a:t>n</a:t>
            </a:r>
            <a:endParaRPr b="0" i="0" sz="200" u="none" cap="none" strike="noStrike">
              <a:solidFill>
                <a:srgbClr val="000000"/>
              </a:solidFill>
              <a:latin typeface="Arial"/>
              <a:ea typeface="Arial"/>
              <a:cs typeface="Arial"/>
              <a:sym typeface="Arial"/>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3" name="Shape 1373"/>
        <p:cNvGrpSpPr/>
        <p:nvPr/>
      </p:nvGrpSpPr>
      <p:grpSpPr>
        <a:xfrm>
          <a:off x="0" y="0"/>
          <a:ext cx="0" cy="0"/>
          <a:chOff x="0" y="0"/>
          <a:chExt cx="0" cy="0"/>
        </a:xfrm>
      </p:grpSpPr>
      <p:sp>
        <p:nvSpPr>
          <p:cNvPr id="1374" name="Google Shape;1374;p185"/>
          <p:cNvSpPr txBox="1"/>
          <p:nvPr/>
        </p:nvSpPr>
        <p:spPr>
          <a:xfrm>
            <a:off x="90668" y="187991"/>
            <a:ext cx="8962800" cy="736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1200"/>
              </a:spcAft>
              <a:buClr>
                <a:schemeClr val="dk1"/>
              </a:buClr>
              <a:buSzPts val="1100"/>
              <a:buFont typeface="Arial"/>
              <a:buNone/>
            </a:pPr>
            <a:r>
              <a:rPr b="1" lang="en" sz="2300">
                <a:solidFill>
                  <a:srgbClr val="0066CC"/>
                </a:solidFill>
              </a:rPr>
              <a:t>Genes with similar expression tend to have similar biological variability</a:t>
            </a:r>
            <a:endParaRPr b="1" sz="2700">
              <a:solidFill>
                <a:srgbClr val="0066CC"/>
              </a:solidFill>
            </a:endParaRPr>
          </a:p>
        </p:txBody>
      </p:sp>
      <p:sp>
        <p:nvSpPr>
          <p:cNvPr id="1375" name="Google Shape;1375;p185"/>
          <p:cNvSpPr txBox="1"/>
          <p:nvPr/>
        </p:nvSpPr>
        <p:spPr>
          <a:xfrm>
            <a:off x="0" y="1246725"/>
            <a:ext cx="9053400" cy="2738700"/>
          </a:xfrm>
          <a:prstGeom prst="rect">
            <a:avLst/>
          </a:prstGeom>
          <a:noFill/>
          <a:ln>
            <a:noFill/>
          </a:ln>
        </p:spPr>
        <p:txBody>
          <a:bodyPr anchorCtr="0" anchor="t" bIns="0" lIns="137150" spcFirstLastPara="1" rIns="0" wrap="square" tIns="0">
            <a:spAutoFit/>
          </a:bodyPr>
          <a:lstStyle/>
          <a:p>
            <a:pPr indent="0" lvl="0" marL="0" marR="0" rtl="0" algn="l">
              <a:lnSpc>
                <a:spcPct val="90000"/>
              </a:lnSpc>
              <a:spcBef>
                <a:spcPts val="0"/>
              </a:spcBef>
              <a:spcAft>
                <a:spcPts val="0"/>
              </a:spcAft>
              <a:buNone/>
            </a:pPr>
            <a:r>
              <a:t/>
            </a:r>
            <a:endParaRPr b="0" i="0" u="none" cap="none" strike="noStrike">
              <a:solidFill>
                <a:srgbClr val="212121"/>
              </a:solidFill>
              <a:latin typeface="Arial"/>
              <a:ea typeface="Arial"/>
              <a:cs typeface="Arial"/>
              <a:sym typeface="Arial"/>
            </a:endParaRPr>
          </a:p>
          <a:p>
            <a:pPr indent="-361950" lvl="0" marL="342900" marR="0" rtl="0" algn="l">
              <a:lnSpc>
                <a:spcPct val="90000"/>
              </a:lnSpc>
              <a:spcBef>
                <a:spcPts val="800"/>
              </a:spcBef>
              <a:spcAft>
                <a:spcPts val="0"/>
              </a:spcAft>
              <a:buClr>
                <a:srgbClr val="212121"/>
              </a:buClr>
              <a:buSzPts val="1700"/>
              <a:buFont typeface="Courier New"/>
              <a:buChar char="o"/>
            </a:pPr>
            <a:r>
              <a:rPr b="1" i="0" lang="en" sz="2000" u="sng" cap="none" strike="noStrike">
                <a:solidFill>
                  <a:srgbClr val="212121"/>
                </a:solidFill>
              </a:rPr>
              <a:t>Trended dispersion</a:t>
            </a:r>
            <a:r>
              <a:rPr b="0" i="0" lang="en" sz="2000" u="none" cap="none" strike="noStrike">
                <a:solidFill>
                  <a:srgbClr val="212121"/>
                </a:solidFill>
                <a:latin typeface="Arial"/>
                <a:ea typeface="Arial"/>
                <a:cs typeface="Arial"/>
                <a:sym typeface="Arial"/>
              </a:rPr>
              <a:t>: dispersion of a gene is predicted from its abundance – similar abundant genes</a:t>
            </a:r>
            <a:endParaRPr b="0" i="0" sz="2000" u="none" cap="none" strike="noStrike">
              <a:solidFill>
                <a:srgbClr val="212121"/>
              </a:solidFill>
              <a:latin typeface="Arial"/>
              <a:ea typeface="Arial"/>
              <a:cs typeface="Arial"/>
              <a:sym typeface="Arial"/>
            </a:endParaRPr>
          </a:p>
          <a:p>
            <a:pPr indent="-342900" lvl="1" marL="914400" rtl="0" algn="l">
              <a:lnSpc>
                <a:spcPct val="90000"/>
              </a:lnSpc>
              <a:spcBef>
                <a:spcPts val="800"/>
              </a:spcBef>
              <a:spcAft>
                <a:spcPts val="0"/>
              </a:spcAft>
              <a:buClr>
                <a:srgbClr val="212121"/>
              </a:buClr>
              <a:buSzPts val="1800"/>
              <a:buChar char="○"/>
            </a:pPr>
            <a:r>
              <a:rPr lang="en" sz="1800">
                <a:solidFill>
                  <a:srgbClr val="212121"/>
                </a:solidFill>
              </a:rPr>
              <a:t>Low counts -&gt; high dispersion</a:t>
            </a:r>
            <a:endParaRPr sz="1800">
              <a:solidFill>
                <a:srgbClr val="212121"/>
              </a:solidFill>
            </a:endParaRPr>
          </a:p>
          <a:p>
            <a:pPr indent="-342900" lvl="1" marL="914400" rtl="0" algn="l">
              <a:lnSpc>
                <a:spcPct val="90000"/>
              </a:lnSpc>
              <a:spcBef>
                <a:spcPts val="800"/>
              </a:spcBef>
              <a:spcAft>
                <a:spcPts val="0"/>
              </a:spcAft>
              <a:buClr>
                <a:srgbClr val="212121"/>
              </a:buClr>
              <a:buSzPts val="1800"/>
              <a:buChar char="○"/>
            </a:pPr>
            <a:r>
              <a:rPr lang="en" sz="1800">
                <a:solidFill>
                  <a:srgbClr val="212121"/>
                </a:solidFill>
              </a:rPr>
              <a:t>Higher counts -&gt; lower dispersion</a:t>
            </a:r>
            <a:endParaRPr sz="1800">
              <a:solidFill>
                <a:srgbClr val="212121"/>
              </a:solidFill>
            </a:endParaRPr>
          </a:p>
          <a:p>
            <a:pPr indent="0" lvl="0" marL="0" rtl="0" algn="l">
              <a:lnSpc>
                <a:spcPct val="90000"/>
              </a:lnSpc>
              <a:spcBef>
                <a:spcPts val="800"/>
              </a:spcBef>
              <a:spcAft>
                <a:spcPts val="0"/>
              </a:spcAft>
              <a:buNone/>
            </a:pPr>
            <a:r>
              <a:t/>
            </a:r>
            <a:endParaRPr sz="1800">
              <a:solidFill>
                <a:srgbClr val="212121"/>
              </a:solidFill>
            </a:endParaRPr>
          </a:p>
          <a:p>
            <a:pPr indent="0" lvl="0" marL="0" rtl="0" algn="l">
              <a:lnSpc>
                <a:spcPct val="115000"/>
              </a:lnSpc>
              <a:spcBef>
                <a:spcPts val="1200"/>
              </a:spcBef>
              <a:spcAft>
                <a:spcPts val="0"/>
              </a:spcAft>
              <a:buNone/>
            </a:pPr>
            <a:r>
              <a:rPr lang="en" sz="2100">
                <a:solidFill>
                  <a:srgbClr val="212121"/>
                </a:solidFill>
              </a:rPr>
              <a:t>Genes with </a:t>
            </a:r>
            <a:r>
              <a:rPr b="1" lang="en" sz="2100">
                <a:solidFill>
                  <a:srgbClr val="212121"/>
                </a:solidFill>
              </a:rPr>
              <a:t>similar abundance levels</a:t>
            </a:r>
            <a:r>
              <a:rPr lang="en" sz="2100">
                <a:solidFill>
                  <a:srgbClr val="212121"/>
                </a:solidFill>
              </a:rPr>
              <a:t> get similar dispersion estimates</a:t>
            </a:r>
            <a:endParaRPr sz="2100">
              <a:solidFill>
                <a:srgbClr val="212121"/>
              </a:solidFill>
            </a:endParaRPr>
          </a:p>
          <a:p>
            <a:pPr indent="0" lvl="0" marL="0" marR="0" rtl="0" algn="l">
              <a:lnSpc>
                <a:spcPct val="90000"/>
              </a:lnSpc>
              <a:spcBef>
                <a:spcPts val="1200"/>
              </a:spcBef>
              <a:spcAft>
                <a:spcPts val="0"/>
              </a:spcAft>
              <a:buClr>
                <a:srgbClr val="002A40"/>
              </a:buClr>
              <a:buSzPts val="1300"/>
              <a:buFont typeface="Arial"/>
              <a:buNone/>
            </a:pPr>
            <a:r>
              <a:t/>
            </a:r>
            <a:endParaRPr b="0" i="0" sz="1100" u="none" cap="none" strike="noStrike">
              <a:solidFill>
                <a:srgbClr val="212121"/>
              </a:solidFill>
              <a:latin typeface="Arial"/>
              <a:ea typeface="Arial"/>
              <a:cs typeface="Arial"/>
              <a:sym typeface="Arial"/>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sp>
        <p:nvSpPr>
          <p:cNvPr id="1381" name="Google Shape;1381;p186"/>
          <p:cNvSpPr txBox="1"/>
          <p:nvPr/>
        </p:nvSpPr>
        <p:spPr>
          <a:xfrm>
            <a:off x="90668" y="187991"/>
            <a:ext cx="8962800" cy="73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sz="2400">
                <a:solidFill>
                  <a:srgbClr val="0066CC"/>
                </a:solidFill>
              </a:rPr>
              <a:t>A smooth curve summarizing variability overall</a:t>
            </a:r>
            <a:endParaRPr b="1" i="0" sz="3700" u="none" cap="none" strike="noStrike">
              <a:solidFill>
                <a:srgbClr val="0066CC"/>
              </a:solidFill>
              <a:latin typeface="Helvetica Neue"/>
              <a:ea typeface="Helvetica Neue"/>
              <a:cs typeface="Helvetica Neue"/>
              <a:sym typeface="Helvetica Neue"/>
            </a:endParaRPr>
          </a:p>
        </p:txBody>
      </p:sp>
      <p:sp>
        <p:nvSpPr>
          <p:cNvPr id="1382" name="Google Shape;1382;p186"/>
          <p:cNvSpPr txBox="1"/>
          <p:nvPr/>
        </p:nvSpPr>
        <p:spPr>
          <a:xfrm>
            <a:off x="0" y="656092"/>
            <a:ext cx="5883300" cy="4131900"/>
          </a:xfrm>
          <a:prstGeom prst="rect">
            <a:avLst/>
          </a:prstGeom>
          <a:noFill/>
          <a:ln>
            <a:noFill/>
          </a:ln>
        </p:spPr>
        <p:txBody>
          <a:bodyPr anchorCtr="0" anchor="t" bIns="0" lIns="137150" spcFirstLastPara="1" rIns="0" wrap="square" tIns="0">
            <a:spAutoFit/>
          </a:bodyPr>
          <a:lstStyle/>
          <a:p>
            <a:pPr indent="0" lvl="0" marL="0" marR="0" rtl="0" algn="l">
              <a:lnSpc>
                <a:spcPct val="90000"/>
              </a:lnSpc>
              <a:spcBef>
                <a:spcPts val="800"/>
              </a:spcBef>
              <a:spcAft>
                <a:spcPts val="0"/>
              </a:spcAft>
              <a:buNone/>
            </a:pPr>
            <a:r>
              <a:t/>
            </a:r>
            <a:endParaRPr sz="1700">
              <a:solidFill>
                <a:srgbClr val="002A40"/>
              </a:solidFill>
            </a:endParaRPr>
          </a:p>
          <a:p>
            <a:pPr indent="-342900" lvl="0" marL="342900" marR="0" rtl="0" algn="l">
              <a:lnSpc>
                <a:spcPct val="90000"/>
              </a:lnSpc>
              <a:spcBef>
                <a:spcPts val="800"/>
              </a:spcBef>
              <a:spcAft>
                <a:spcPts val="0"/>
              </a:spcAft>
              <a:buClr>
                <a:srgbClr val="002A40"/>
              </a:buClr>
              <a:buSzPts val="1400"/>
              <a:buFont typeface="Courier New"/>
              <a:buChar char="o"/>
            </a:pPr>
            <a:r>
              <a:rPr b="1" i="0" lang="en" sz="1800" u="sng" cap="none" strike="noStrike">
                <a:solidFill>
                  <a:srgbClr val="002A40"/>
                </a:solidFill>
                <a:latin typeface="Helvetica Neue"/>
                <a:ea typeface="Helvetica Neue"/>
                <a:cs typeface="Helvetica Neue"/>
                <a:sym typeface="Helvetica Neue"/>
              </a:rPr>
              <a:t>Tagwise dispersion</a:t>
            </a:r>
            <a:r>
              <a:rPr i="0" lang="en" sz="1800" u="none" cap="none" strike="noStrike">
                <a:solidFill>
                  <a:srgbClr val="002A40"/>
                </a:solidFill>
                <a:latin typeface="Helvetica Neue"/>
                <a:ea typeface="Helvetica Neue"/>
                <a:cs typeface="Helvetica Neue"/>
                <a:sym typeface="Helvetica Neue"/>
              </a:rPr>
              <a:t>: measure of the degree of consistent inter-library variation for that tag( gene)</a:t>
            </a:r>
            <a:endParaRPr sz="1800">
              <a:solidFill>
                <a:srgbClr val="002A40"/>
              </a:solidFill>
              <a:latin typeface="Helvetica Neue"/>
              <a:ea typeface="Helvetica Neue"/>
              <a:cs typeface="Helvetica Neue"/>
              <a:sym typeface="Helvetica Neue"/>
            </a:endParaRPr>
          </a:p>
          <a:p>
            <a:pPr indent="0" lvl="0" marL="457200" marR="0" rtl="0" algn="l">
              <a:lnSpc>
                <a:spcPct val="90000"/>
              </a:lnSpc>
              <a:spcBef>
                <a:spcPts val="800"/>
              </a:spcBef>
              <a:spcAft>
                <a:spcPts val="0"/>
              </a:spcAft>
              <a:buNone/>
            </a:pPr>
            <a:r>
              <a:t/>
            </a:r>
            <a:endParaRPr sz="1800">
              <a:solidFill>
                <a:srgbClr val="002A40"/>
              </a:solidFill>
              <a:latin typeface="Helvetica Neue"/>
              <a:ea typeface="Helvetica Neue"/>
              <a:cs typeface="Helvetica Neue"/>
              <a:sym typeface="Helvetica Neue"/>
            </a:endParaRPr>
          </a:p>
          <a:p>
            <a:pPr indent="-342900" lvl="0" marL="342900" marR="0" rtl="0" algn="l">
              <a:lnSpc>
                <a:spcPct val="90000"/>
              </a:lnSpc>
              <a:spcBef>
                <a:spcPts val="800"/>
              </a:spcBef>
              <a:spcAft>
                <a:spcPts val="0"/>
              </a:spcAft>
              <a:buClr>
                <a:srgbClr val="002A40"/>
              </a:buClr>
              <a:buSzPts val="1400"/>
              <a:buFont typeface="Courier New"/>
              <a:buChar char="o"/>
            </a:pPr>
            <a:r>
              <a:rPr lang="en" sz="1800">
                <a:solidFill>
                  <a:srgbClr val="002A40"/>
                </a:solidFill>
                <a:latin typeface="Helvetica Neue"/>
                <a:ea typeface="Helvetica Neue"/>
                <a:cs typeface="Helvetica Neue"/>
                <a:sym typeface="Helvetica Neue"/>
              </a:rPr>
              <a:t>Problem: Gene-specific dispersion estimates are noisy.</a:t>
            </a:r>
            <a:endParaRPr sz="1800">
              <a:solidFill>
                <a:srgbClr val="002A40"/>
              </a:solidFill>
              <a:latin typeface="Helvetica Neue"/>
              <a:ea typeface="Helvetica Neue"/>
              <a:cs typeface="Helvetica Neue"/>
              <a:sym typeface="Helvetica Neue"/>
            </a:endParaRPr>
          </a:p>
          <a:p>
            <a:pPr indent="0" lvl="0" marL="457200" marR="0" rtl="0" algn="l">
              <a:lnSpc>
                <a:spcPct val="90000"/>
              </a:lnSpc>
              <a:spcBef>
                <a:spcPts val="800"/>
              </a:spcBef>
              <a:spcAft>
                <a:spcPts val="0"/>
              </a:spcAft>
              <a:buNone/>
            </a:pPr>
            <a:r>
              <a:t/>
            </a:r>
            <a:endParaRPr sz="1800">
              <a:solidFill>
                <a:srgbClr val="333333"/>
              </a:solidFill>
              <a:highlight>
                <a:srgbClr val="FFFFFF"/>
              </a:highlight>
              <a:latin typeface="Helvetica Neue"/>
              <a:ea typeface="Helvetica Neue"/>
              <a:cs typeface="Helvetica Neue"/>
              <a:sym typeface="Helvetica Neue"/>
            </a:endParaRPr>
          </a:p>
          <a:p>
            <a:pPr indent="-342900" lvl="0" marL="342900" marR="0" rtl="0" algn="l">
              <a:lnSpc>
                <a:spcPct val="90000"/>
              </a:lnSpc>
              <a:spcBef>
                <a:spcPts val="800"/>
              </a:spcBef>
              <a:spcAft>
                <a:spcPts val="0"/>
              </a:spcAft>
              <a:buClr>
                <a:srgbClr val="002A40"/>
              </a:buClr>
              <a:buSzPts val="1400"/>
              <a:buFont typeface="Courier New"/>
              <a:buChar char="o"/>
            </a:pPr>
            <a:r>
              <a:rPr b="1" lang="en" sz="1800">
                <a:solidFill>
                  <a:srgbClr val="333333"/>
                </a:solidFill>
                <a:highlight>
                  <a:srgbClr val="FFFFFF"/>
                </a:highlight>
                <a:latin typeface="Helvetica Neue"/>
                <a:ea typeface="Helvetica Neue"/>
                <a:cs typeface="Helvetica Neue"/>
                <a:sym typeface="Helvetica Neue"/>
              </a:rPr>
              <a:t>EB shrinkage</a:t>
            </a:r>
            <a:r>
              <a:rPr lang="en" sz="1800">
                <a:solidFill>
                  <a:srgbClr val="333333"/>
                </a:solidFill>
                <a:highlight>
                  <a:srgbClr val="FFFFFF"/>
                </a:highlight>
                <a:latin typeface="Helvetica Neue"/>
                <a:ea typeface="Helvetica Neue"/>
                <a:cs typeface="Helvetica Neue"/>
                <a:sym typeface="Helvetica Neue"/>
              </a:rPr>
              <a:t> to the trended dispersion - between overall abundance trend and gene specific estimate</a:t>
            </a:r>
            <a:endParaRPr sz="1800">
              <a:solidFill>
                <a:srgbClr val="333333"/>
              </a:solidFill>
              <a:highlight>
                <a:srgbClr val="FFFFFF"/>
              </a:highlight>
              <a:latin typeface="Helvetica Neue"/>
              <a:ea typeface="Helvetica Neue"/>
              <a:cs typeface="Helvetica Neue"/>
              <a:sym typeface="Helvetica Neue"/>
            </a:endParaRPr>
          </a:p>
          <a:p>
            <a:pPr indent="0" lvl="0" marL="0" marR="0" rtl="0" algn="l">
              <a:lnSpc>
                <a:spcPct val="90000"/>
              </a:lnSpc>
              <a:spcBef>
                <a:spcPts val="800"/>
              </a:spcBef>
              <a:spcAft>
                <a:spcPts val="0"/>
              </a:spcAft>
              <a:buNone/>
            </a:pPr>
            <a:r>
              <a:t/>
            </a:r>
            <a:endParaRPr sz="1800">
              <a:solidFill>
                <a:srgbClr val="333333"/>
              </a:solidFill>
              <a:highlight>
                <a:srgbClr val="FFFFFF"/>
              </a:highlight>
              <a:latin typeface="Helvetica Neue"/>
              <a:ea typeface="Helvetica Neue"/>
              <a:cs typeface="Helvetica Neue"/>
              <a:sym typeface="Helvetica Neue"/>
            </a:endParaRPr>
          </a:p>
          <a:p>
            <a:pPr indent="0" lvl="0" marL="0" marR="0" rtl="0" algn="l">
              <a:lnSpc>
                <a:spcPct val="90000"/>
              </a:lnSpc>
              <a:spcBef>
                <a:spcPts val="800"/>
              </a:spcBef>
              <a:spcAft>
                <a:spcPts val="0"/>
              </a:spcAft>
              <a:buNone/>
            </a:pPr>
            <a:r>
              <a:t/>
            </a:r>
            <a:endParaRPr sz="1800">
              <a:solidFill>
                <a:srgbClr val="333333"/>
              </a:solidFill>
              <a:highlight>
                <a:srgbClr val="FFFFFF"/>
              </a:highlight>
              <a:latin typeface="Helvetica Neue"/>
              <a:ea typeface="Helvetica Neue"/>
              <a:cs typeface="Helvetica Neue"/>
              <a:sym typeface="Helvetica Neue"/>
            </a:endParaRPr>
          </a:p>
          <a:p>
            <a:pPr indent="0" lvl="0" marL="0" marR="0" rtl="0" algn="l">
              <a:lnSpc>
                <a:spcPct val="90000"/>
              </a:lnSpc>
              <a:spcBef>
                <a:spcPts val="800"/>
              </a:spcBef>
              <a:spcAft>
                <a:spcPts val="0"/>
              </a:spcAft>
              <a:buClr>
                <a:srgbClr val="002A40"/>
              </a:buClr>
              <a:buSzPts val="1300"/>
              <a:buFont typeface="Arial"/>
              <a:buNone/>
            </a:pPr>
            <a:r>
              <a:rPr b="0" i="0" lang="en" u="none" cap="none" strike="noStrike">
                <a:solidFill>
                  <a:srgbClr val="002A40"/>
                </a:solidFill>
                <a:latin typeface="Arial"/>
                <a:ea typeface="Arial"/>
                <a:cs typeface="Arial"/>
                <a:sym typeface="Arial"/>
              </a:rPr>
              <a:t>Empirical Bayes estimates need to be controlled for the possibility of outlier genes with exceptionally large or small individual dispersions (robust=TRUE)</a:t>
            </a:r>
            <a:endParaRPr b="0" i="0" sz="800" u="none" cap="none" strike="noStrike">
              <a:solidFill>
                <a:srgbClr val="000000"/>
              </a:solidFill>
              <a:latin typeface="Arial"/>
              <a:ea typeface="Arial"/>
              <a:cs typeface="Arial"/>
              <a:sym typeface="Arial"/>
            </a:endParaRPr>
          </a:p>
        </p:txBody>
      </p:sp>
      <p:sp>
        <p:nvSpPr>
          <p:cNvPr id="1383" name="Google Shape;1383;p186"/>
          <p:cNvSpPr txBox="1"/>
          <p:nvPr/>
        </p:nvSpPr>
        <p:spPr>
          <a:xfrm>
            <a:off x="6247325" y="3629850"/>
            <a:ext cx="2409300" cy="9312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2A40"/>
                </a:solidFill>
                <a:latin typeface="Arial"/>
                <a:ea typeface="Arial"/>
                <a:cs typeface="Arial"/>
                <a:sym typeface="Arial"/>
              </a:rPr>
              <a:t>plotBCV </a:t>
            </a:r>
            <a:endParaRPr>
              <a:solidFill>
                <a:srgbClr val="002A40"/>
              </a:solidFill>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2A40"/>
                </a:solidFill>
                <a:latin typeface="Arial"/>
                <a:ea typeface="Arial"/>
                <a:cs typeface="Arial"/>
                <a:sym typeface="Arial"/>
              </a:rPr>
              <a:t>biological coeff variation</a:t>
            </a:r>
            <a:endParaRPr>
              <a:solidFill>
                <a:srgbClr val="002A40"/>
              </a:solidFill>
            </a:endParaRPr>
          </a:p>
          <a:p>
            <a:pPr indent="0" lvl="0" marL="0" marR="0" rtl="0" algn="ctr">
              <a:lnSpc>
                <a:spcPct val="100000"/>
              </a:lnSpc>
              <a:spcBef>
                <a:spcPts val="0"/>
              </a:spcBef>
              <a:spcAft>
                <a:spcPts val="0"/>
              </a:spcAft>
              <a:buClr>
                <a:srgbClr val="000000"/>
              </a:buClr>
              <a:buSzPts val="1400"/>
              <a:buFont typeface="Arial"/>
              <a:buNone/>
            </a:pPr>
            <a:r>
              <a:rPr lang="en">
                <a:solidFill>
                  <a:srgbClr val="002A40"/>
                </a:solidFill>
              </a:rPr>
              <a:t>BCV ≈ relative variability between samples</a:t>
            </a:r>
            <a:endParaRPr>
              <a:solidFill>
                <a:srgbClr val="002A40"/>
              </a:solidFill>
            </a:endParaRPr>
          </a:p>
        </p:txBody>
      </p:sp>
      <p:sp>
        <p:nvSpPr>
          <p:cNvPr id="1384" name="Google Shape;1384;p186"/>
          <p:cNvSpPr txBox="1"/>
          <p:nvPr/>
        </p:nvSpPr>
        <p:spPr>
          <a:xfrm>
            <a:off x="5951975" y="4615700"/>
            <a:ext cx="3000000" cy="392400"/>
          </a:xfrm>
          <a:prstGeom prst="rect">
            <a:avLst/>
          </a:prstGeom>
          <a:noFill/>
          <a:ln>
            <a:noFill/>
          </a:ln>
        </p:spPr>
        <p:txBody>
          <a:bodyPr anchorCtr="0" anchor="t" bIns="91425" lIns="91425" spcFirstLastPara="1" rIns="91425" wrap="square" tIns="91425">
            <a:spAutoFit/>
          </a:bodyPr>
          <a:lstStyle/>
          <a:p>
            <a:pPr indent="0" lvl="0" marL="101600" marR="101600" rtl="0" algn="l">
              <a:lnSpc>
                <a:spcPct val="142857"/>
              </a:lnSpc>
              <a:spcBef>
                <a:spcPts val="0"/>
              </a:spcBef>
              <a:spcAft>
                <a:spcPts val="0"/>
              </a:spcAft>
              <a:buNone/>
            </a:pPr>
            <a:r>
              <a:rPr lang="en" sz="1350">
                <a:solidFill>
                  <a:srgbClr val="CD28A3"/>
                </a:solidFill>
                <a:highlight>
                  <a:schemeClr val="lt1"/>
                </a:highlight>
              </a:rPr>
              <a:t>y &lt;- estimateDisp(y, design)</a:t>
            </a:r>
            <a:endParaRPr sz="1350">
              <a:solidFill>
                <a:srgbClr val="CD28A3"/>
              </a:solidFill>
              <a:highlight>
                <a:schemeClr val="lt1"/>
              </a:highlight>
            </a:endParaRPr>
          </a:p>
        </p:txBody>
      </p:sp>
      <p:pic>
        <p:nvPicPr>
          <p:cNvPr id="1385" name="Google Shape;1385;p186"/>
          <p:cNvPicPr preferRelativeResize="0"/>
          <p:nvPr/>
        </p:nvPicPr>
        <p:blipFill>
          <a:blip r:embed="rId3">
            <a:alphaModFix/>
          </a:blip>
          <a:stretch>
            <a:fillRect/>
          </a:stretch>
        </p:blipFill>
        <p:spPr>
          <a:xfrm>
            <a:off x="5973977" y="656098"/>
            <a:ext cx="2956000" cy="2104052"/>
          </a:xfrm>
          <a:prstGeom prst="rect">
            <a:avLst/>
          </a:prstGeom>
          <a:noFill/>
          <a:ln>
            <a:noFill/>
          </a:ln>
        </p:spPr>
      </p:pic>
      <p:sp>
        <p:nvSpPr>
          <p:cNvPr id="1386" name="Google Shape;1386;p186"/>
          <p:cNvSpPr txBox="1"/>
          <p:nvPr/>
        </p:nvSpPr>
        <p:spPr>
          <a:xfrm>
            <a:off x="6218950" y="2760150"/>
            <a:ext cx="2349300" cy="869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800"/>
              </a:spcAft>
              <a:buNone/>
            </a:pPr>
            <a:r>
              <a:rPr lang="en" sz="1000">
                <a:solidFill>
                  <a:srgbClr val="333333"/>
                </a:solidFill>
                <a:highlight>
                  <a:srgbClr val="FFFFFF"/>
                </a:highlight>
                <a:latin typeface="Helvetica Neue"/>
                <a:ea typeface="Helvetica Neue"/>
                <a:cs typeface="Helvetica Neue"/>
                <a:sym typeface="Helvetica Neue"/>
              </a:rPr>
              <a:t>The tag-wise dispersions (orange dots) are the result of shrinking the gene-wise dispersion (black dots) to the trend (blue line)</a:t>
            </a:r>
            <a:endParaRPr sz="1000">
              <a:solidFill>
                <a:srgbClr val="333333"/>
              </a:solidFill>
              <a:highlight>
                <a:srgbClr val="FFFFFF"/>
              </a:highlight>
              <a:latin typeface="Helvetica Neue"/>
              <a:ea typeface="Helvetica Neue"/>
              <a:cs typeface="Helvetica Neue"/>
              <a:sym typeface="Helvetica Neue"/>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1" name="Shape 1391"/>
        <p:cNvGrpSpPr/>
        <p:nvPr/>
      </p:nvGrpSpPr>
      <p:grpSpPr>
        <a:xfrm>
          <a:off x="0" y="0"/>
          <a:ext cx="0" cy="0"/>
          <a:chOff x="0" y="0"/>
          <a:chExt cx="0" cy="0"/>
        </a:xfrm>
      </p:grpSpPr>
      <p:sp>
        <p:nvSpPr>
          <p:cNvPr id="1392" name="Google Shape;1392;p187"/>
          <p:cNvSpPr txBox="1"/>
          <p:nvPr/>
        </p:nvSpPr>
        <p:spPr>
          <a:xfrm>
            <a:off x="181336" y="137151"/>
            <a:ext cx="8962663"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2700"/>
              <a:buFont typeface="Helvetica Neue"/>
              <a:buNone/>
            </a:pPr>
            <a:r>
              <a:rPr b="1" i="0" lang="en" sz="2700" u="none" cap="none" strike="noStrike">
                <a:solidFill>
                  <a:srgbClr val="0066CC"/>
                </a:solidFill>
                <a:latin typeface="Helvetica Neue"/>
                <a:ea typeface="Helvetica Neue"/>
                <a:cs typeface="Helvetica Neue"/>
                <a:sym typeface="Helvetica Neue"/>
              </a:rPr>
              <a:t>Fitting the model</a:t>
            </a:r>
            <a:r>
              <a:rPr b="1" i="1" lang="en" sz="2700" u="none" cap="none" strike="noStrike">
                <a:solidFill>
                  <a:srgbClr val="0066CC"/>
                </a:solidFill>
                <a:latin typeface="Helvetica Neue"/>
                <a:ea typeface="Helvetica Neue"/>
                <a:cs typeface="Helvetica Neue"/>
                <a:sym typeface="Helvetica Neue"/>
              </a:rPr>
              <a:t> </a:t>
            </a:r>
            <a:r>
              <a:rPr b="1" i="1" lang="en" sz="2700" u="none" cap="none" strike="noStrike">
                <a:solidFill>
                  <a:schemeClr val="dk2"/>
                </a:solidFill>
                <a:latin typeface="Helvetica Neue"/>
                <a:ea typeface="Helvetica Neue"/>
                <a:cs typeface="Helvetica Neue"/>
                <a:sym typeface="Helvetica Neue"/>
              </a:rPr>
              <a:t>: </a:t>
            </a:r>
            <a:r>
              <a:rPr b="1" i="1" lang="en" sz="2700" u="none" cap="none" strike="noStrike">
                <a:solidFill>
                  <a:srgbClr val="F76912"/>
                </a:solidFill>
                <a:latin typeface="Helvetica Neue"/>
                <a:ea typeface="Helvetica Neue"/>
                <a:cs typeface="Helvetica Neue"/>
                <a:sym typeface="Helvetica Neue"/>
              </a:rPr>
              <a:t>glmQLFit</a:t>
            </a:r>
            <a:r>
              <a:rPr b="1" i="0" lang="en" sz="2700" u="none" cap="none" strike="noStrike">
                <a:solidFill>
                  <a:srgbClr val="F76912"/>
                </a:solidFill>
                <a:latin typeface="Helvetica Neue"/>
                <a:ea typeface="Helvetica Neue"/>
                <a:cs typeface="Helvetica Neue"/>
                <a:sym typeface="Helvetica Neue"/>
              </a:rPr>
              <a:t> </a:t>
            </a:r>
            <a:endParaRPr b="0" i="0" sz="2700" u="none" cap="none" strike="noStrike">
              <a:solidFill>
                <a:srgbClr val="F76912"/>
              </a:solidFill>
              <a:latin typeface="Helvetica Neue"/>
              <a:ea typeface="Helvetica Neue"/>
              <a:cs typeface="Helvetica Neue"/>
              <a:sym typeface="Helvetica Neue"/>
            </a:endParaRPr>
          </a:p>
        </p:txBody>
      </p:sp>
      <p:sp>
        <p:nvSpPr>
          <p:cNvPr id="1393" name="Google Shape;1393;p187"/>
          <p:cNvSpPr/>
          <p:nvPr/>
        </p:nvSpPr>
        <p:spPr>
          <a:xfrm>
            <a:off x="181337" y="745729"/>
            <a:ext cx="5610000" cy="4339500"/>
          </a:xfrm>
          <a:prstGeom prst="rect">
            <a:avLst/>
          </a:prstGeom>
          <a:noFill/>
          <a:ln>
            <a:noFill/>
          </a:ln>
        </p:spPr>
        <p:txBody>
          <a:bodyPr anchorCtr="0" anchor="t" bIns="34275" lIns="68575" spcFirstLastPara="1" rIns="68575" wrap="square" tIns="34275">
            <a:noAutofit/>
          </a:bodyPr>
          <a:lstStyle/>
          <a:p>
            <a:pPr indent="-215900" lvl="0" marL="215900" marR="0" rtl="0" algn="l">
              <a:lnSpc>
                <a:spcPct val="100000"/>
              </a:lnSpc>
              <a:spcBef>
                <a:spcPts val="0"/>
              </a:spcBef>
              <a:spcAft>
                <a:spcPts val="0"/>
              </a:spcAft>
              <a:buClr>
                <a:srgbClr val="002B42"/>
              </a:buClr>
              <a:buSzPts val="1800"/>
              <a:buFont typeface="Courier New"/>
              <a:buChar char="o"/>
            </a:pPr>
            <a:r>
              <a:rPr b="0" i="0" lang="en" sz="1800" u="none" cap="none" strike="noStrike">
                <a:solidFill>
                  <a:srgbClr val="002B42"/>
                </a:solidFill>
                <a:latin typeface="Arial"/>
                <a:ea typeface="Arial"/>
                <a:cs typeface="Arial"/>
                <a:sym typeface="Arial"/>
              </a:rPr>
              <a:t>NB dispersions - higher for genes with very low counts </a:t>
            </a:r>
            <a:r>
              <a:rPr lang="en" sz="1800">
                <a:solidFill>
                  <a:srgbClr val="002B42"/>
                </a:solidFill>
              </a:rPr>
              <a:t>- d</a:t>
            </a:r>
            <a:r>
              <a:rPr b="0" i="0" lang="en" sz="1800" u="none" cap="none" strike="noStrike">
                <a:solidFill>
                  <a:srgbClr val="002B42"/>
                </a:solidFill>
                <a:latin typeface="Arial"/>
                <a:ea typeface="Arial"/>
                <a:cs typeface="Arial"/>
                <a:sym typeface="Arial"/>
              </a:rPr>
              <a:t>ecrease smoothly with abundance and asymptotically to a constant value for genes with larger counts</a:t>
            </a:r>
            <a:endParaRPr sz="1800">
              <a:solidFill>
                <a:srgbClr val="002B42"/>
              </a:solidFill>
            </a:endParaRPr>
          </a:p>
          <a:p>
            <a:pPr indent="0" lvl="0" marL="457200" marR="0" rtl="0" algn="l">
              <a:lnSpc>
                <a:spcPct val="100000"/>
              </a:lnSpc>
              <a:spcBef>
                <a:spcPts val="0"/>
              </a:spcBef>
              <a:spcAft>
                <a:spcPts val="0"/>
              </a:spcAft>
              <a:buNone/>
            </a:pPr>
            <a:r>
              <a:t/>
            </a:r>
            <a:endParaRPr sz="1800">
              <a:solidFill>
                <a:srgbClr val="002B42"/>
              </a:solidFill>
            </a:endParaRPr>
          </a:p>
          <a:p>
            <a:pPr indent="-215900" lvl="0" marL="215900" marR="0" rtl="0" algn="l">
              <a:lnSpc>
                <a:spcPct val="100000"/>
              </a:lnSpc>
              <a:spcBef>
                <a:spcPts val="0"/>
              </a:spcBef>
              <a:spcAft>
                <a:spcPts val="0"/>
              </a:spcAft>
              <a:buClr>
                <a:srgbClr val="002B42"/>
              </a:buClr>
              <a:buSzPts val="1800"/>
              <a:buFont typeface="Courier New"/>
              <a:buChar char="o"/>
            </a:pPr>
            <a:r>
              <a:rPr b="1" lang="en" sz="1800">
                <a:solidFill>
                  <a:srgbClr val="002B42"/>
                </a:solidFill>
              </a:rPr>
              <a:t>NB dispersion trend</a:t>
            </a:r>
            <a:r>
              <a:rPr lang="en" sz="1800">
                <a:solidFill>
                  <a:srgbClr val="002B42"/>
                </a:solidFill>
              </a:rPr>
              <a:t> is used to describe the overall biological variability (fit GLM)</a:t>
            </a:r>
            <a:endParaRPr sz="1800">
              <a:solidFill>
                <a:srgbClr val="002B42"/>
              </a:solidFill>
            </a:endParaRPr>
          </a:p>
          <a:p>
            <a:pPr indent="0" lvl="0" marL="457200" marR="0" rtl="0" algn="l">
              <a:lnSpc>
                <a:spcPct val="100000"/>
              </a:lnSpc>
              <a:spcBef>
                <a:spcPts val="0"/>
              </a:spcBef>
              <a:spcAft>
                <a:spcPts val="0"/>
              </a:spcAft>
              <a:buNone/>
            </a:pPr>
            <a:r>
              <a:t/>
            </a:r>
            <a:endParaRPr sz="1800">
              <a:solidFill>
                <a:srgbClr val="002B42"/>
              </a:solidFill>
            </a:endParaRPr>
          </a:p>
          <a:p>
            <a:pPr indent="-215900" lvl="0" marL="215900" marR="0" rtl="0" algn="l">
              <a:lnSpc>
                <a:spcPct val="100000"/>
              </a:lnSpc>
              <a:spcBef>
                <a:spcPts val="0"/>
              </a:spcBef>
              <a:spcAft>
                <a:spcPts val="0"/>
              </a:spcAft>
              <a:buClr>
                <a:srgbClr val="002B42"/>
              </a:buClr>
              <a:buSzPts val="1800"/>
              <a:buFont typeface="Courier New"/>
              <a:buChar char="o"/>
            </a:pPr>
            <a:r>
              <a:rPr b="1" lang="en" sz="1800">
                <a:solidFill>
                  <a:srgbClr val="333333"/>
                </a:solidFill>
                <a:highlight>
                  <a:schemeClr val="lt1"/>
                </a:highlight>
                <a:latin typeface="Helvetica Neue"/>
                <a:ea typeface="Helvetica Neue"/>
                <a:cs typeface="Helvetica Neue"/>
                <a:sym typeface="Helvetica Neue"/>
              </a:rPr>
              <a:t>EB </a:t>
            </a:r>
            <a:r>
              <a:rPr lang="en" sz="1800">
                <a:solidFill>
                  <a:srgbClr val="333333"/>
                </a:solidFill>
                <a:highlight>
                  <a:schemeClr val="lt1"/>
                </a:highlight>
                <a:latin typeface="Helvetica Neue"/>
                <a:ea typeface="Helvetica Neue"/>
                <a:cs typeface="Helvetica Neue"/>
                <a:sym typeface="Helvetica Neue"/>
              </a:rPr>
              <a:t>shrunk to the trend </a:t>
            </a:r>
            <a:endParaRPr sz="1800">
              <a:solidFill>
                <a:srgbClr val="002B42"/>
              </a:solidFill>
            </a:endParaRPr>
          </a:p>
          <a:p>
            <a:pPr indent="0" lvl="0" marL="0" marR="0" rtl="0" algn="l">
              <a:lnSpc>
                <a:spcPct val="100000"/>
              </a:lnSpc>
              <a:spcBef>
                <a:spcPts val="0"/>
              </a:spcBef>
              <a:spcAft>
                <a:spcPts val="0"/>
              </a:spcAft>
              <a:buNone/>
            </a:pPr>
            <a:r>
              <a:t/>
            </a:r>
            <a:endParaRPr sz="1800">
              <a:solidFill>
                <a:srgbClr val="002B42"/>
              </a:solidFill>
            </a:endParaRPr>
          </a:p>
          <a:p>
            <a:pPr indent="-215900" lvl="0" marL="215900" marR="0" rtl="0" algn="l">
              <a:lnSpc>
                <a:spcPct val="100000"/>
              </a:lnSpc>
              <a:spcBef>
                <a:spcPts val="0"/>
              </a:spcBef>
              <a:spcAft>
                <a:spcPts val="0"/>
              </a:spcAft>
              <a:buClr>
                <a:srgbClr val="002B42"/>
              </a:buClr>
              <a:buSzPts val="1800"/>
              <a:buFont typeface="Courier New"/>
              <a:buChar char="o"/>
            </a:pPr>
            <a:r>
              <a:rPr b="1" lang="en" sz="1800">
                <a:solidFill>
                  <a:srgbClr val="002B42"/>
                </a:solidFill>
              </a:rPr>
              <a:t>QL e</a:t>
            </a:r>
            <a:r>
              <a:rPr b="1" i="0" lang="en" sz="1800" u="none" cap="none" strike="noStrike">
                <a:solidFill>
                  <a:srgbClr val="002B42"/>
                </a:solidFill>
              </a:rPr>
              <a:t>xten</a:t>
            </a:r>
            <a:r>
              <a:rPr b="1" lang="en" sz="1800">
                <a:solidFill>
                  <a:srgbClr val="002B42"/>
                </a:solidFill>
              </a:rPr>
              <a:t>sion</a:t>
            </a:r>
            <a:r>
              <a:rPr lang="en" sz="1800">
                <a:solidFill>
                  <a:srgbClr val="002B42"/>
                </a:solidFill>
              </a:rPr>
              <a:t> </a:t>
            </a:r>
            <a:r>
              <a:rPr b="0" i="0" lang="en" sz="1800" u="none" cap="none" strike="noStrike">
                <a:solidFill>
                  <a:srgbClr val="002B42"/>
                </a:solidFill>
                <a:latin typeface="Arial"/>
                <a:ea typeface="Arial"/>
                <a:cs typeface="Arial"/>
                <a:sym typeface="Arial"/>
              </a:rPr>
              <a:t>to account for extra gene-specific variability above and below the overall level </a:t>
            </a:r>
            <a:r>
              <a:rPr lang="en" sz="1800">
                <a:solidFill>
                  <a:srgbClr val="002B42"/>
                </a:solidFill>
              </a:rPr>
              <a:t>- reflects how much each gene deviates from the expected variability </a:t>
            </a:r>
            <a:endParaRPr sz="1800">
              <a:solidFill>
                <a:srgbClr val="002B42"/>
              </a:solidFill>
            </a:endParaRPr>
          </a:p>
        </p:txBody>
      </p:sp>
      <p:pic>
        <p:nvPicPr>
          <p:cNvPr id="1394" name="Google Shape;1394;p187" title="h3k9ac-qlplot-1.png"/>
          <p:cNvPicPr preferRelativeResize="0"/>
          <p:nvPr/>
        </p:nvPicPr>
        <p:blipFill>
          <a:blip r:embed="rId3">
            <a:alphaModFix/>
          </a:blip>
          <a:stretch>
            <a:fillRect/>
          </a:stretch>
        </p:blipFill>
        <p:spPr>
          <a:xfrm>
            <a:off x="5712900" y="2356250"/>
            <a:ext cx="3157923" cy="2255676"/>
          </a:xfrm>
          <a:prstGeom prst="rect">
            <a:avLst/>
          </a:prstGeom>
          <a:noFill/>
          <a:ln>
            <a:noFill/>
          </a:ln>
        </p:spPr>
      </p:pic>
      <p:pic>
        <p:nvPicPr>
          <p:cNvPr id="1395" name="Google Shape;1395;p187" title="h3k9ac-bcvplot-1.png"/>
          <p:cNvPicPr preferRelativeResize="0"/>
          <p:nvPr/>
        </p:nvPicPr>
        <p:blipFill>
          <a:blip r:embed="rId4">
            <a:alphaModFix/>
          </a:blip>
          <a:stretch>
            <a:fillRect/>
          </a:stretch>
        </p:blipFill>
        <p:spPr>
          <a:xfrm>
            <a:off x="5657851" y="0"/>
            <a:ext cx="3157950" cy="2255676"/>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0" name="Shape 1400"/>
        <p:cNvGrpSpPr/>
        <p:nvPr/>
      </p:nvGrpSpPr>
      <p:grpSpPr>
        <a:xfrm>
          <a:off x="0" y="0"/>
          <a:ext cx="0" cy="0"/>
          <a:chOff x="0" y="0"/>
          <a:chExt cx="0" cy="0"/>
        </a:xfrm>
      </p:grpSpPr>
      <p:sp>
        <p:nvSpPr>
          <p:cNvPr id="1401" name="Google Shape;1401;p188"/>
          <p:cNvSpPr txBox="1"/>
          <p:nvPr/>
        </p:nvSpPr>
        <p:spPr>
          <a:xfrm>
            <a:off x="181336" y="137151"/>
            <a:ext cx="8962800"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2700"/>
              <a:buFont typeface="Helvetica Neue"/>
              <a:buNone/>
            </a:pPr>
            <a:r>
              <a:rPr b="1" i="0" lang="en" sz="2700" u="none" cap="none" strike="noStrike">
                <a:solidFill>
                  <a:srgbClr val="0066CC"/>
                </a:solidFill>
                <a:latin typeface="Helvetica Neue"/>
                <a:ea typeface="Helvetica Neue"/>
                <a:cs typeface="Helvetica Neue"/>
                <a:sym typeface="Helvetica Neue"/>
              </a:rPr>
              <a:t>edgeR fitting models</a:t>
            </a:r>
            <a:endParaRPr b="0" i="0" sz="2700" u="none" cap="none" strike="noStrike">
              <a:solidFill>
                <a:srgbClr val="0066CC"/>
              </a:solidFill>
              <a:latin typeface="Helvetica Neue"/>
              <a:ea typeface="Helvetica Neue"/>
              <a:cs typeface="Helvetica Neue"/>
              <a:sym typeface="Helvetica Neue"/>
            </a:endParaRPr>
          </a:p>
        </p:txBody>
      </p:sp>
      <p:sp>
        <p:nvSpPr>
          <p:cNvPr id="1402" name="Google Shape;1402;p188"/>
          <p:cNvSpPr txBox="1"/>
          <p:nvPr/>
        </p:nvSpPr>
        <p:spPr>
          <a:xfrm>
            <a:off x="303300" y="1263000"/>
            <a:ext cx="9339300" cy="3441600"/>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800"/>
              </a:spcBef>
              <a:spcAft>
                <a:spcPts val="0"/>
              </a:spcAft>
              <a:buClr>
                <a:schemeClr val="dk1"/>
              </a:buClr>
              <a:buSzPts val="800"/>
              <a:buFont typeface="Courier New"/>
              <a:buNone/>
            </a:pPr>
            <a:r>
              <a:t/>
            </a:r>
            <a:endParaRPr b="0" i="0" sz="800" u="none" cap="none" strike="noStrike">
              <a:solidFill>
                <a:srgbClr val="002A40"/>
              </a:solidFill>
              <a:latin typeface="Helvetica Neue"/>
              <a:ea typeface="Helvetica Neue"/>
              <a:cs typeface="Helvetica Neue"/>
              <a:sym typeface="Helvetica Neue"/>
            </a:endParaRPr>
          </a:p>
          <a:p>
            <a:pPr indent="0" lvl="0" marL="0" marR="0" rtl="0" algn="l">
              <a:lnSpc>
                <a:spcPct val="90000"/>
              </a:lnSpc>
              <a:spcBef>
                <a:spcPts val="800"/>
              </a:spcBef>
              <a:spcAft>
                <a:spcPts val="0"/>
              </a:spcAft>
              <a:buNone/>
            </a:pPr>
            <a:r>
              <a:rPr b="0" i="0" lang="en" sz="2000" u="none" cap="none" strike="noStrike">
                <a:solidFill>
                  <a:srgbClr val="002A40"/>
                </a:solidFill>
                <a:latin typeface="Helvetica Neue"/>
                <a:ea typeface="Helvetica Neue"/>
                <a:cs typeface="Helvetica Neue"/>
                <a:sym typeface="Helvetica Neue"/>
              </a:rPr>
              <a:t>QL for bulk RNA-seq:</a:t>
            </a:r>
            <a:endParaRPr b="0" i="0" sz="800" u="none" cap="none" strike="noStrike">
              <a:solidFill>
                <a:srgbClr val="002A40"/>
              </a:solidFill>
              <a:latin typeface="Helvetica Neue"/>
              <a:ea typeface="Helvetica Neue"/>
              <a:cs typeface="Helvetica Neue"/>
              <a:sym typeface="Helvetica Neue"/>
            </a:endParaRPr>
          </a:p>
          <a:p>
            <a:pPr indent="0" lvl="0" marL="0" marR="0" rtl="0" algn="l">
              <a:lnSpc>
                <a:spcPct val="90000"/>
              </a:lnSpc>
              <a:spcBef>
                <a:spcPts val="800"/>
              </a:spcBef>
              <a:spcAft>
                <a:spcPts val="0"/>
              </a:spcAft>
              <a:buClr>
                <a:srgbClr val="002A40"/>
              </a:buClr>
              <a:buSzPts val="1800"/>
              <a:buFont typeface="Helvetica Neue"/>
              <a:buNone/>
            </a:pPr>
            <a:r>
              <a:rPr b="0" i="0" lang="en" sz="1800" u="none" cap="none" strike="noStrike">
                <a:solidFill>
                  <a:srgbClr val="002A40"/>
                </a:solidFill>
                <a:latin typeface="Helvetica Neue"/>
                <a:ea typeface="Helvetica Neue"/>
                <a:cs typeface="Helvetica Neue"/>
                <a:sym typeface="Helvetica Neue"/>
              </a:rPr>
              <a:t>	+ stricter error rate control (more rigorous dispersion and uncertainty)</a:t>
            </a:r>
            <a:endParaRPr b="0" i="0" sz="1100" u="none" cap="none" strike="noStrike">
              <a:solidFill>
                <a:srgbClr val="000000"/>
              </a:solidFill>
              <a:latin typeface="Arial"/>
              <a:ea typeface="Arial"/>
              <a:cs typeface="Arial"/>
              <a:sym typeface="Arial"/>
            </a:endParaRPr>
          </a:p>
          <a:p>
            <a:pPr indent="0" lvl="0" marL="0" marR="0" rtl="0" algn="l">
              <a:lnSpc>
                <a:spcPct val="90000"/>
              </a:lnSpc>
              <a:spcBef>
                <a:spcPts val="800"/>
              </a:spcBef>
              <a:spcAft>
                <a:spcPts val="0"/>
              </a:spcAft>
              <a:buClr>
                <a:srgbClr val="002A40"/>
              </a:buClr>
              <a:buSzPts val="1800"/>
              <a:buFont typeface="Helvetica Neue"/>
              <a:buNone/>
            </a:pPr>
            <a:r>
              <a:rPr b="0" i="0" lang="en" sz="1800" u="none" cap="none" strike="noStrike">
                <a:solidFill>
                  <a:srgbClr val="002A40"/>
                </a:solidFill>
                <a:latin typeface="Helvetica Neue"/>
                <a:ea typeface="Helvetica Neue"/>
                <a:cs typeface="Helvetica Neue"/>
                <a:sym typeface="Helvetica Neue"/>
              </a:rPr>
              <a:t>	+ speed improvement compared to other quasi-methods</a:t>
            </a:r>
            <a:endParaRPr b="0" i="0" sz="1100" u="none" cap="none" strike="noStrike">
              <a:solidFill>
                <a:srgbClr val="000000"/>
              </a:solidFill>
              <a:latin typeface="Arial"/>
              <a:ea typeface="Arial"/>
              <a:cs typeface="Arial"/>
              <a:sym typeface="Arial"/>
            </a:endParaRPr>
          </a:p>
          <a:p>
            <a:pPr indent="0" lvl="0" marL="0" marR="0" rtl="0" algn="l">
              <a:lnSpc>
                <a:spcPct val="90000"/>
              </a:lnSpc>
              <a:spcBef>
                <a:spcPts val="800"/>
              </a:spcBef>
              <a:spcAft>
                <a:spcPts val="0"/>
              </a:spcAft>
              <a:buClr>
                <a:srgbClr val="002A40"/>
              </a:buClr>
              <a:buSzPts val="1800"/>
              <a:buFont typeface="Helvetica Neue"/>
              <a:buNone/>
            </a:pPr>
            <a:r>
              <a:rPr b="0" i="0" lang="en" sz="1800" u="none" cap="none" strike="noStrike">
                <a:solidFill>
                  <a:srgbClr val="002A40"/>
                </a:solidFill>
                <a:latin typeface="Helvetica Neue"/>
                <a:ea typeface="Helvetica Neue"/>
                <a:cs typeface="Helvetica Neue"/>
                <a:sym typeface="Helvetica Neue"/>
              </a:rPr>
              <a:t>	+ for multiple treatment factors and with small # of biological</a:t>
            </a:r>
            <a:r>
              <a:rPr lang="en" sz="1800">
                <a:solidFill>
                  <a:srgbClr val="002A40"/>
                </a:solidFill>
                <a:latin typeface="Helvetica Neue"/>
                <a:ea typeface="Helvetica Neue"/>
                <a:cs typeface="Helvetica Neue"/>
                <a:sym typeface="Helvetica Neue"/>
              </a:rPr>
              <a:t> </a:t>
            </a:r>
            <a:r>
              <a:rPr b="0" i="0" lang="en" sz="1800" u="none" cap="none" strike="noStrike">
                <a:solidFill>
                  <a:srgbClr val="002A40"/>
                </a:solidFill>
                <a:latin typeface="Helvetica Neue"/>
                <a:ea typeface="Helvetica Neue"/>
                <a:cs typeface="Helvetica Neue"/>
                <a:sym typeface="Helvetica Neue"/>
              </a:rPr>
              <a:t>replicates</a:t>
            </a:r>
            <a:endParaRPr b="0" i="0" sz="1100" u="none" cap="none" strike="noStrike">
              <a:solidFill>
                <a:srgbClr val="000000"/>
              </a:solidFill>
              <a:latin typeface="Arial"/>
              <a:ea typeface="Arial"/>
              <a:cs typeface="Arial"/>
              <a:sym typeface="Arial"/>
            </a:endParaRPr>
          </a:p>
          <a:p>
            <a:pPr indent="0" lvl="0" marL="0" marR="0" rtl="0" algn="l">
              <a:lnSpc>
                <a:spcPct val="90000"/>
              </a:lnSpc>
              <a:spcBef>
                <a:spcPts val="800"/>
              </a:spcBef>
              <a:spcAft>
                <a:spcPts val="0"/>
              </a:spcAft>
              <a:buClr>
                <a:srgbClr val="002A40"/>
              </a:buClr>
              <a:buSzPts val="1800"/>
              <a:buFont typeface="Helvetica Neue"/>
              <a:buNone/>
            </a:pPr>
            <a:r>
              <a:rPr b="0" i="0" lang="en" sz="1800" u="none" cap="none" strike="noStrike">
                <a:solidFill>
                  <a:srgbClr val="002A40"/>
                </a:solidFill>
                <a:latin typeface="Helvetica Neue"/>
                <a:ea typeface="Helvetica Neue"/>
                <a:cs typeface="Helvetica Neue"/>
                <a:sym typeface="Helvetica Neue"/>
              </a:rPr>
              <a:t>	+ relative changes in expression levels between conditions (not absolute)</a:t>
            </a:r>
            <a:endParaRPr b="0" i="0" sz="1100" u="none" cap="none" strike="noStrike">
              <a:solidFill>
                <a:srgbClr val="000000"/>
              </a:solidFill>
              <a:latin typeface="Arial"/>
              <a:ea typeface="Arial"/>
              <a:cs typeface="Arial"/>
              <a:sym typeface="Arial"/>
            </a:endParaRPr>
          </a:p>
          <a:p>
            <a:pPr indent="0" lvl="0" marL="0" marR="0" rtl="0" algn="l">
              <a:lnSpc>
                <a:spcPct val="90000"/>
              </a:lnSpc>
              <a:spcBef>
                <a:spcPts val="800"/>
              </a:spcBef>
              <a:spcAft>
                <a:spcPts val="0"/>
              </a:spcAft>
              <a:buClr>
                <a:schemeClr val="dk1"/>
              </a:buClr>
              <a:buSzPts val="800"/>
              <a:buFont typeface="Helvetica Neue"/>
              <a:buNone/>
            </a:pPr>
            <a:r>
              <a:t/>
            </a:r>
            <a:endParaRPr b="0" i="0" sz="800" u="none" cap="none" strike="noStrike">
              <a:solidFill>
                <a:srgbClr val="002A40"/>
              </a:solidFill>
              <a:latin typeface="Helvetica Neue"/>
              <a:ea typeface="Helvetica Neue"/>
              <a:cs typeface="Helvetica Neue"/>
              <a:sym typeface="Helvetica Neue"/>
            </a:endParaRPr>
          </a:p>
          <a:p>
            <a:pPr indent="0" lvl="0" marL="0" marR="0" rtl="0" algn="l">
              <a:lnSpc>
                <a:spcPct val="90000"/>
              </a:lnSpc>
              <a:spcBef>
                <a:spcPts val="800"/>
              </a:spcBef>
              <a:spcAft>
                <a:spcPts val="0"/>
              </a:spcAft>
              <a:buClr>
                <a:srgbClr val="002A40"/>
              </a:buClr>
              <a:buSzPts val="2100"/>
              <a:buFont typeface="Helvetica Neue"/>
              <a:buNone/>
            </a:pPr>
            <a:r>
              <a:rPr b="0" i="0" lang="en" sz="2100" u="none" cap="none" strike="noStrike">
                <a:solidFill>
                  <a:srgbClr val="002A40"/>
                </a:solidFill>
                <a:latin typeface="Helvetica Neue"/>
                <a:ea typeface="Helvetica Neue"/>
                <a:cs typeface="Helvetica Neue"/>
                <a:sym typeface="Helvetica Neue"/>
              </a:rPr>
              <a:t>Limma package for large scale datasets – high overlap across methods</a:t>
            </a:r>
            <a:endParaRPr b="0" i="0" sz="1100" u="none" cap="none" strike="noStrike">
              <a:solidFill>
                <a:srgbClr val="000000"/>
              </a:solidFill>
              <a:latin typeface="Arial"/>
              <a:ea typeface="Arial"/>
              <a:cs typeface="Arial"/>
              <a:sym typeface="Arial"/>
            </a:endParaRPr>
          </a:p>
          <a:p>
            <a:pPr indent="0" lvl="0" marL="0" marR="0" rtl="0" algn="l">
              <a:lnSpc>
                <a:spcPct val="90000"/>
              </a:lnSpc>
              <a:spcBef>
                <a:spcPts val="800"/>
              </a:spcBef>
              <a:spcAft>
                <a:spcPts val="0"/>
              </a:spcAft>
              <a:buClr>
                <a:schemeClr val="dk1"/>
              </a:buClr>
              <a:buSzPts val="2100"/>
              <a:buFont typeface="Helvetica Neue"/>
              <a:buNone/>
            </a:pPr>
            <a:r>
              <a:t/>
            </a:r>
            <a:endParaRPr b="0" i="0" sz="2100" u="none" cap="none" strike="noStrike">
              <a:solidFill>
                <a:srgbClr val="002A40"/>
              </a:solidFill>
              <a:latin typeface="Helvetica Neue"/>
              <a:ea typeface="Helvetica Neue"/>
              <a:cs typeface="Helvetica Neue"/>
              <a:sym typeface="Helvetica Neue"/>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189"/>
          <p:cNvSpPr txBox="1"/>
          <p:nvPr/>
        </p:nvSpPr>
        <p:spPr>
          <a:xfrm>
            <a:off x="181337" y="218893"/>
            <a:ext cx="8962800"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2B42"/>
              </a:buClr>
              <a:buSzPts val="3000"/>
              <a:buFont typeface="Helvetica Neue"/>
              <a:buNone/>
            </a:pPr>
            <a:r>
              <a:rPr b="1" lang="en" sz="3000">
                <a:solidFill>
                  <a:srgbClr val="0066CC"/>
                </a:solidFill>
                <a:latin typeface="Helvetica Neue"/>
                <a:ea typeface="Helvetica Neue"/>
                <a:cs typeface="Helvetica Neue"/>
                <a:sym typeface="Helvetica Neue"/>
              </a:rPr>
              <a:t>Poll 7</a:t>
            </a:r>
            <a:endParaRPr b="1" i="0" sz="3000" u="none" cap="none" strike="noStrike">
              <a:solidFill>
                <a:srgbClr val="0066CC"/>
              </a:solidFill>
              <a:latin typeface="Helvetica Neue"/>
              <a:ea typeface="Helvetica Neue"/>
              <a:cs typeface="Helvetica Neue"/>
              <a:sym typeface="Helvetica Neue"/>
            </a:endParaRPr>
          </a:p>
        </p:txBody>
      </p:sp>
      <p:sp>
        <p:nvSpPr>
          <p:cNvPr id="1409" name="Google Shape;1409;p189"/>
          <p:cNvSpPr txBox="1"/>
          <p:nvPr/>
        </p:nvSpPr>
        <p:spPr>
          <a:xfrm>
            <a:off x="181322" y="1114450"/>
            <a:ext cx="8628600" cy="3232500"/>
          </a:xfrm>
          <a:prstGeom prst="rect">
            <a:avLst/>
          </a:prstGeom>
          <a:noFill/>
          <a:ln>
            <a:noFill/>
          </a:ln>
        </p:spPr>
        <p:txBody>
          <a:bodyPr anchorCtr="0" anchor="t" bIns="34275" lIns="68575" spcFirstLastPara="1" rIns="68575" wrap="square" tIns="34275">
            <a:spAutoFit/>
          </a:bodyPr>
          <a:lstStyle/>
          <a:p>
            <a:pPr indent="0" lvl="0" marL="0" rtl="0" algn="l">
              <a:lnSpc>
                <a:spcPct val="150000"/>
              </a:lnSpc>
              <a:spcBef>
                <a:spcPts val="0"/>
              </a:spcBef>
              <a:spcAft>
                <a:spcPts val="0"/>
              </a:spcAft>
              <a:buClr>
                <a:schemeClr val="dk1"/>
              </a:buClr>
              <a:buSzPts val="2300"/>
              <a:buFont typeface="Arial"/>
              <a:buNone/>
            </a:pPr>
            <a:r>
              <a:rPr b="1" lang="en" sz="2500">
                <a:solidFill>
                  <a:schemeClr val="dk2"/>
                </a:solidFill>
              </a:rPr>
              <a:t>Why is RNA-seq count data modeled using a Negative Binomial distribution instead of Poisson?</a:t>
            </a:r>
            <a:endParaRPr b="1" i="1" sz="2500" u="sng">
              <a:solidFill>
                <a:schemeClr val="dk2"/>
              </a:solidFil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2A40"/>
              </a:solidFill>
              <a:latin typeface="Arial"/>
              <a:ea typeface="Arial"/>
              <a:cs typeface="Arial"/>
              <a:sym typeface="Arial"/>
            </a:endParaRPr>
          </a:p>
          <a:p>
            <a:pPr indent="-241300" lvl="0" marL="254000" marR="0" rtl="0" algn="l">
              <a:lnSpc>
                <a:spcPct val="150000"/>
              </a:lnSpc>
              <a:spcBef>
                <a:spcPts val="0"/>
              </a:spcBef>
              <a:spcAft>
                <a:spcPts val="0"/>
              </a:spcAft>
              <a:buClr>
                <a:srgbClr val="002A40"/>
              </a:buClr>
              <a:buSzPts val="2100"/>
              <a:buFont typeface="Arial"/>
              <a:buAutoNum type="arabicPeriod"/>
            </a:pPr>
            <a:r>
              <a:rPr lang="en" sz="2100">
                <a:solidFill>
                  <a:schemeClr val="dk1"/>
                </a:solidFill>
              </a:rPr>
              <a:t>NB is faster than Poisson  </a:t>
            </a:r>
            <a:endParaRPr sz="2100">
              <a:solidFill>
                <a:schemeClr val="dk1"/>
              </a:solidFill>
            </a:endParaRPr>
          </a:p>
          <a:p>
            <a:pPr indent="-241300" lvl="0" marL="254000" marR="0" rtl="0" algn="l">
              <a:lnSpc>
                <a:spcPct val="150000"/>
              </a:lnSpc>
              <a:spcBef>
                <a:spcPts val="0"/>
              </a:spcBef>
              <a:spcAft>
                <a:spcPts val="0"/>
              </a:spcAft>
              <a:buClr>
                <a:srgbClr val="002A40"/>
              </a:buClr>
              <a:buSzPts val="2100"/>
              <a:buFont typeface="Arial"/>
              <a:buAutoNum type="arabicPeriod"/>
            </a:pPr>
            <a:r>
              <a:rPr lang="en" sz="2100">
                <a:solidFill>
                  <a:schemeClr val="dk1"/>
                </a:solidFill>
              </a:rPr>
              <a:t>The variability between biological replicates is larger than expected according to a Poisson model</a:t>
            </a:r>
            <a:endParaRPr sz="2100">
              <a:solidFill>
                <a:schemeClr val="dk1"/>
              </a:solidFill>
            </a:endParaRPr>
          </a:p>
          <a:p>
            <a:pPr indent="-241300" lvl="0" marL="254000" marR="0" rtl="0" algn="l">
              <a:lnSpc>
                <a:spcPct val="150000"/>
              </a:lnSpc>
              <a:spcBef>
                <a:spcPts val="0"/>
              </a:spcBef>
              <a:spcAft>
                <a:spcPts val="0"/>
              </a:spcAft>
              <a:buClr>
                <a:schemeClr val="dk1"/>
              </a:buClr>
              <a:buSzPts val="2100"/>
              <a:buAutoNum type="arabicPeriod"/>
            </a:pPr>
            <a:r>
              <a:rPr lang="en" sz="2100">
                <a:solidFill>
                  <a:schemeClr val="dk1"/>
                </a:solidFill>
              </a:rPr>
              <a:t> Poisson cannot model fold changes</a:t>
            </a:r>
            <a:endParaRPr sz="2100">
              <a:solidFill>
                <a:schemeClr val="dk1"/>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3" name="Shape 1413"/>
        <p:cNvGrpSpPr/>
        <p:nvPr/>
      </p:nvGrpSpPr>
      <p:grpSpPr>
        <a:xfrm>
          <a:off x="0" y="0"/>
          <a:ext cx="0" cy="0"/>
          <a:chOff x="0" y="0"/>
          <a:chExt cx="0" cy="0"/>
        </a:xfrm>
      </p:grpSpPr>
      <p:sp>
        <p:nvSpPr>
          <p:cNvPr id="1414" name="Google Shape;1414;p190"/>
          <p:cNvSpPr/>
          <p:nvPr/>
        </p:nvSpPr>
        <p:spPr>
          <a:xfrm>
            <a:off x="3316325" y="1763438"/>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Filtering low counts genes</a:t>
            </a:r>
            <a:endParaRPr b="1" sz="900"/>
          </a:p>
        </p:txBody>
      </p:sp>
      <p:sp>
        <p:nvSpPr>
          <p:cNvPr id="1415" name="Google Shape;1415;p190"/>
          <p:cNvSpPr/>
          <p:nvPr/>
        </p:nvSpPr>
        <p:spPr>
          <a:xfrm>
            <a:off x="3316325" y="2882500"/>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Normalization </a:t>
            </a:r>
            <a:endParaRPr/>
          </a:p>
        </p:txBody>
      </p:sp>
      <p:sp>
        <p:nvSpPr>
          <p:cNvPr id="1416" name="Google Shape;1416;p190"/>
          <p:cNvSpPr/>
          <p:nvPr/>
        </p:nvSpPr>
        <p:spPr>
          <a:xfrm>
            <a:off x="3316325" y="3436875"/>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Fit the model</a:t>
            </a:r>
            <a:endParaRPr b="1"/>
          </a:p>
        </p:txBody>
      </p:sp>
      <p:sp>
        <p:nvSpPr>
          <p:cNvPr id="1417" name="Google Shape;1417;p190"/>
          <p:cNvSpPr/>
          <p:nvPr/>
        </p:nvSpPr>
        <p:spPr>
          <a:xfrm>
            <a:off x="3316325" y="2328124"/>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Dimensionality reduction</a:t>
            </a:r>
            <a:endParaRPr b="1"/>
          </a:p>
        </p:txBody>
      </p:sp>
      <p:sp>
        <p:nvSpPr>
          <p:cNvPr id="1418" name="Google Shape;1418;p190"/>
          <p:cNvSpPr/>
          <p:nvPr/>
        </p:nvSpPr>
        <p:spPr>
          <a:xfrm>
            <a:off x="3316325" y="592375"/>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Count matrix</a:t>
            </a:r>
            <a:endParaRPr b="1"/>
          </a:p>
        </p:txBody>
      </p:sp>
      <p:sp>
        <p:nvSpPr>
          <p:cNvPr id="1419" name="Google Shape;1419;p190"/>
          <p:cNvSpPr/>
          <p:nvPr/>
        </p:nvSpPr>
        <p:spPr>
          <a:xfrm>
            <a:off x="3316325" y="1178313"/>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Source of variability</a:t>
            </a:r>
            <a:endParaRPr b="1">
              <a:solidFill>
                <a:schemeClr val="accent2"/>
              </a:solidFill>
            </a:endParaRPr>
          </a:p>
        </p:txBody>
      </p:sp>
      <p:sp>
        <p:nvSpPr>
          <p:cNvPr id="1420" name="Google Shape;1420;p190"/>
          <p:cNvSpPr txBox="1"/>
          <p:nvPr/>
        </p:nvSpPr>
        <p:spPr>
          <a:xfrm>
            <a:off x="3471100" y="4586663"/>
            <a:ext cx="156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76912"/>
                </a:solidFill>
                <a:latin typeface="Helvetica Neue"/>
                <a:ea typeface="Helvetica Neue"/>
                <a:cs typeface="Helvetica Neue"/>
                <a:sym typeface="Helvetica Neue"/>
              </a:rPr>
              <a:t>Session 3 Demo</a:t>
            </a:r>
            <a:endParaRPr b="1">
              <a:solidFill>
                <a:srgbClr val="F76912"/>
              </a:solidFill>
              <a:latin typeface="Helvetica Neue"/>
              <a:ea typeface="Helvetica Neue"/>
              <a:cs typeface="Helvetica Neue"/>
              <a:sym typeface="Helvetica Neue"/>
            </a:endParaRPr>
          </a:p>
        </p:txBody>
      </p:sp>
      <p:sp>
        <p:nvSpPr>
          <p:cNvPr id="1421" name="Google Shape;1421;p190"/>
          <p:cNvSpPr/>
          <p:nvPr/>
        </p:nvSpPr>
        <p:spPr>
          <a:xfrm>
            <a:off x="3316325" y="3991250"/>
            <a:ext cx="1993500" cy="493800"/>
          </a:xfrm>
          <a:prstGeom prst="roundRect">
            <a:avLst>
              <a:gd fmla="val 16667" name="adj"/>
            </a:avLst>
          </a:prstGeom>
          <a:solidFill>
            <a:srgbClr val="C27BA0"/>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DEG and visualization</a:t>
            </a:r>
            <a:endParaRPr b="1"/>
          </a:p>
        </p:txBody>
      </p:sp>
      <p:sp>
        <p:nvSpPr>
          <p:cNvPr id="1422" name="Google Shape;1422;p190"/>
          <p:cNvSpPr txBox="1"/>
          <p:nvPr/>
        </p:nvSpPr>
        <p:spPr>
          <a:xfrm>
            <a:off x="54700" y="2474075"/>
            <a:ext cx="312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741B47"/>
                </a:solidFill>
                <a:latin typeface="Helvetica Neue"/>
                <a:ea typeface="Helvetica Neue"/>
                <a:cs typeface="Helvetica Neue"/>
                <a:sym typeface="Helvetica Neue"/>
              </a:rPr>
              <a:t>Session 3 Concepts: </a:t>
            </a:r>
            <a:endParaRPr b="1" sz="1200">
              <a:solidFill>
                <a:srgbClr val="741B47"/>
              </a:solidFill>
              <a:highlight>
                <a:srgbClr val="F7F6F3"/>
              </a:highlight>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7" name="Shape 1427"/>
        <p:cNvGrpSpPr/>
        <p:nvPr/>
      </p:nvGrpSpPr>
      <p:grpSpPr>
        <a:xfrm>
          <a:off x="0" y="0"/>
          <a:ext cx="0" cy="0"/>
          <a:chOff x="0" y="0"/>
          <a:chExt cx="0" cy="0"/>
        </a:xfrm>
      </p:grpSpPr>
      <p:sp>
        <p:nvSpPr>
          <p:cNvPr id="1428" name="Google Shape;1428;p191"/>
          <p:cNvSpPr txBox="1"/>
          <p:nvPr/>
        </p:nvSpPr>
        <p:spPr>
          <a:xfrm>
            <a:off x="181336" y="137151"/>
            <a:ext cx="8962663"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2700"/>
              <a:buFont typeface="Helvetica Neue"/>
              <a:buNone/>
            </a:pPr>
            <a:r>
              <a:rPr b="1" i="0" lang="en" sz="2700" u="none" cap="none" strike="noStrike">
                <a:solidFill>
                  <a:srgbClr val="0066CC"/>
                </a:solidFill>
                <a:latin typeface="Helvetica Neue"/>
                <a:ea typeface="Helvetica Neue"/>
                <a:cs typeface="Helvetica Neue"/>
                <a:sym typeface="Helvetica Neue"/>
              </a:rPr>
              <a:t>Get the DE genes - </a:t>
            </a:r>
            <a:r>
              <a:rPr b="1" i="1" lang="en" sz="2700" u="none" cap="none" strike="noStrike">
                <a:solidFill>
                  <a:srgbClr val="F76912"/>
                </a:solidFill>
                <a:latin typeface="Helvetica Neue"/>
                <a:ea typeface="Helvetica Neue"/>
                <a:cs typeface="Helvetica Neue"/>
                <a:sym typeface="Helvetica Neue"/>
              </a:rPr>
              <a:t>glmQLFTest </a:t>
            </a:r>
            <a:r>
              <a:rPr b="1" lang="en" sz="2700" u="none" cap="none" strike="noStrike">
                <a:solidFill>
                  <a:srgbClr val="0066CC"/>
                </a:solidFill>
                <a:latin typeface="Helvetica Neue"/>
                <a:ea typeface="Helvetica Neue"/>
                <a:cs typeface="Helvetica Neue"/>
                <a:sym typeface="Helvetica Neue"/>
              </a:rPr>
              <a:t>and</a:t>
            </a:r>
            <a:r>
              <a:rPr b="1" i="1" lang="en" sz="2700" u="none" cap="none" strike="noStrike">
                <a:solidFill>
                  <a:srgbClr val="0066CC"/>
                </a:solidFill>
                <a:latin typeface="Helvetica Neue"/>
                <a:ea typeface="Helvetica Neue"/>
                <a:cs typeface="Helvetica Neue"/>
                <a:sym typeface="Helvetica Neue"/>
              </a:rPr>
              <a:t> </a:t>
            </a:r>
            <a:r>
              <a:rPr b="1" i="1" lang="en" sz="2700" u="none" cap="none" strike="noStrike">
                <a:solidFill>
                  <a:srgbClr val="F76912"/>
                </a:solidFill>
                <a:latin typeface="Helvetica Neue"/>
                <a:ea typeface="Helvetica Neue"/>
                <a:cs typeface="Helvetica Neue"/>
                <a:sym typeface="Helvetica Neue"/>
              </a:rPr>
              <a:t>glmTreat</a:t>
            </a:r>
            <a:endParaRPr b="0" i="1" sz="2700" u="none" cap="none" strike="noStrike">
              <a:solidFill>
                <a:srgbClr val="F76912"/>
              </a:solidFill>
              <a:latin typeface="Helvetica Neue"/>
              <a:ea typeface="Helvetica Neue"/>
              <a:cs typeface="Helvetica Neue"/>
              <a:sym typeface="Helvetica Neue"/>
            </a:endParaRPr>
          </a:p>
        </p:txBody>
      </p:sp>
      <p:sp>
        <p:nvSpPr>
          <p:cNvPr id="1429" name="Google Shape;1429;p191"/>
          <p:cNvSpPr txBox="1"/>
          <p:nvPr/>
        </p:nvSpPr>
        <p:spPr>
          <a:xfrm>
            <a:off x="181324" y="873950"/>
            <a:ext cx="8835900" cy="3781800"/>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rgbClr val="002A40"/>
              </a:buClr>
              <a:buSzPts val="1800"/>
              <a:buFont typeface="Courier New"/>
              <a:buChar char="o"/>
            </a:pPr>
            <a:r>
              <a:rPr b="0" i="0" lang="en" sz="1800" u="none" cap="none" strike="noStrike">
                <a:solidFill>
                  <a:srgbClr val="002A40"/>
                </a:solidFill>
                <a:latin typeface="Helvetica Neue"/>
                <a:ea typeface="Helvetica Neue"/>
                <a:cs typeface="Helvetica Neue"/>
                <a:sym typeface="Helvetica Neue"/>
              </a:rPr>
              <a:t> Identifies differential expression based on statistical significance regardless of how small the difference might be -&gt; </a:t>
            </a:r>
            <a:r>
              <a:rPr b="0" i="0" lang="en" sz="1700" u="none" cap="none" strike="noStrike">
                <a:solidFill>
                  <a:srgbClr val="002A40"/>
                </a:solidFill>
                <a:latin typeface="Helvetica Neue"/>
                <a:ea typeface="Helvetica Neue"/>
                <a:cs typeface="Helvetica Neue"/>
                <a:sym typeface="Helvetica Neue"/>
              </a:rPr>
              <a:t>5000 DE genes between condition and control groups</a:t>
            </a:r>
            <a:endParaRPr b="0" i="0" sz="1100" u="none" cap="none" strike="noStrike">
              <a:solidFill>
                <a:srgbClr val="000000"/>
              </a:solidFill>
              <a:latin typeface="Arial"/>
              <a:ea typeface="Arial"/>
              <a:cs typeface="Arial"/>
              <a:sym typeface="Arial"/>
            </a:endParaRPr>
          </a:p>
          <a:p>
            <a:pPr indent="0" lvl="0" marL="0" marR="0" rtl="0" algn="l">
              <a:lnSpc>
                <a:spcPct val="90000"/>
              </a:lnSpc>
              <a:spcBef>
                <a:spcPts val="800"/>
              </a:spcBef>
              <a:spcAft>
                <a:spcPts val="0"/>
              </a:spcAft>
              <a:buClr>
                <a:schemeClr val="dk1"/>
              </a:buClr>
              <a:buSzPts val="400"/>
              <a:buFont typeface="Courier New"/>
              <a:buNone/>
            </a:pPr>
            <a:r>
              <a:t/>
            </a:r>
            <a:endParaRPr b="0" i="0" sz="400" u="none" cap="none" strike="noStrike">
              <a:solidFill>
                <a:srgbClr val="002A40"/>
              </a:solidFill>
              <a:latin typeface="Helvetica Neue"/>
              <a:ea typeface="Helvetica Neue"/>
              <a:cs typeface="Helvetica Neue"/>
              <a:sym typeface="Helvetica Neue"/>
            </a:endParaRPr>
          </a:p>
          <a:p>
            <a:pPr indent="0" lvl="0" marL="0" marR="0" rtl="0" algn="l">
              <a:lnSpc>
                <a:spcPct val="90000"/>
              </a:lnSpc>
              <a:spcBef>
                <a:spcPts val="800"/>
              </a:spcBef>
              <a:spcAft>
                <a:spcPts val="0"/>
              </a:spcAft>
              <a:buClr>
                <a:srgbClr val="002A40"/>
              </a:buClr>
              <a:buSzPts val="1800"/>
              <a:buFont typeface="Courier New"/>
              <a:buChar char="o"/>
            </a:pPr>
            <a:r>
              <a:rPr b="0" i="0" lang="en" sz="1800" u="none" cap="none" strike="noStrike">
                <a:solidFill>
                  <a:srgbClr val="002A40"/>
                </a:solidFill>
                <a:latin typeface="Helvetica Neue"/>
                <a:ea typeface="Helvetica Neue"/>
                <a:cs typeface="Helvetica Neue"/>
                <a:sym typeface="Helvetica Neue"/>
              </a:rPr>
              <a:t> Interested only in genes with large expression changes -&gt; </a:t>
            </a:r>
            <a:r>
              <a:rPr b="0" i="0" lang="en" sz="1700" u="none" cap="none" strike="noStrike">
                <a:solidFill>
                  <a:srgbClr val="002A40"/>
                </a:solidFill>
                <a:latin typeface="Helvetica Neue"/>
                <a:ea typeface="Helvetica Neue"/>
                <a:cs typeface="Helvetica Neue"/>
                <a:sym typeface="Helvetica Neue"/>
              </a:rPr>
              <a:t>subset of genes more biologically meaningful.</a:t>
            </a:r>
            <a:endParaRPr b="0" i="0" sz="1100" u="none" cap="none" strike="noStrike">
              <a:solidFill>
                <a:srgbClr val="000000"/>
              </a:solidFill>
              <a:latin typeface="Arial"/>
              <a:ea typeface="Arial"/>
              <a:cs typeface="Arial"/>
              <a:sym typeface="Arial"/>
            </a:endParaRPr>
          </a:p>
          <a:p>
            <a:pPr indent="0" lvl="0" marL="0" marR="0" rtl="0" algn="l">
              <a:lnSpc>
                <a:spcPct val="90000"/>
              </a:lnSpc>
              <a:spcBef>
                <a:spcPts val="800"/>
              </a:spcBef>
              <a:spcAft>
                <a:spcPts val="0"/>
              </a:spcAft>
              <a:buClr>
                <a:schemeClr val="dk1"/>
              </a:buClr>
              <a:buSzPts val="400"/>
              <a:buFont typeface="Courier New"/>
              <a:buNone/>
            </a:pPr>
            <a:r>
              <a:t/>
            </a:r>
            <a:endParaRPr b="0" i="0" sz="400" u="none" cap="none" strike="noStrike">
              <a:solidFill>
                <a:srgbClr val="002A40"/>
              </a:solidFill>
              <a:latin typeface="Helvetica Neue"/>
              <a:ea typeface="Helvetica Neue"/>
              <a:cs typeface="Helvetica Neue"/>
              <a:sym typeface="Helvetica Neue"/>
            </a:endParaRPr>
          </a:p>
          <a:p>
            <a:pPr indent="0" lvl="0" marL="0" marR="0" rtl="0" algn="l">
              <a:lnSpc>
                <a:spcPct val="90000"/>
              </a:lnSpc>
              <a:spcBef>
                <a:spcPts val="800"/>
              </a:spcBef>
              <a:spcAft>
                <a:spcPts val="0"/>
              </a:spcAft>
              <a:buClr>
                <a:srgbClr val="002A40"/>
              </a:buClr>
              <a:buSzPts val="1800"/>
              <a:buFont typeface="Courier New"/>
              <a:buChar char="o"/>
            </a:pPr>
            <a:r>
              <a:rPr b="0" i="0" lang="en" sz="1800" u="none" cap="none" strike="noStrike">
                <a:solidFill>
                  <a:srgbClr val="002A40"/>
                </a:solidFill>
                <a:latin typeface="Helvetica Neue"/>
                <a:ea typeface="Helvetica Neue"/>
                <a:cs typeface="Helvetica Neue"/>
                <a:sym typeface="Helvetica Neue"/>
              </a:rPr>
              <a:t> Modify the statistical test to evaluate variability as well as the magnitude of change of expression values </a:t>
            </a:r>
            <a:r>
              <a:rPr b="0" i="0" lang="en" sz="1700" u="none" cap="none" strike="noStrike">
                <a:solidFill>
                  <a:srgbClr val="002A40"/>
                </a:solidFill>
                <a:latin typeface="Helvetica Neue"/>
                <a:ea typeface="Helvetica Neue"/>
                <a:cs typeface="Helvetica Neue"/>
                <a:sym typeface="Helvetica Neue"/>
              </a:rPr>
              <a:t>-&gt; expression changes greater than a specified threshold</a:t>
            </a:r>
            <a:endParaRPr sz="1700">
              <a:solidFill>
                <a:srgbClr val="002A40"/>
              </a:solidFill>
              <a:latin typeface="Helvetica Neue"/>
              <a:ea typeface="Helvetica Neue"/>
              <a:cs typeface="Helvetica Neue"/>
              <a:sym typeface="Helvetica Neue"/>
            </a:endParaRPr>
          </a:p>
          <a:p>
            <a:pPr indent="0" lvl="0" marL="0" marR="0" rtl="0" algn="l">
              <a:lnSpc>
                <a:spcPct val="90000"/>
              </a:lnSpc>
              <a:spcBef>
                <a:spcPts val="800"/>
              </a:spcBef>
              <a:spcAft>
                <a:spcPts val="0"/>
              </a:spcAft>
              <a:buClr>
                <a:schemeClr val="dk1"/>
              </a:buClr>
              <a:buSzPts val="400"/>
              <a:buFont typeface="Courier New"/>
              <a:buNone/>
            </a:pPr>
            <a:r>
              <a:t/>
            </a:r>
            <a:endParaRPr b="0" i="0" sz="400" u="none" cap="none" strike="noStrike">
              <a:solidFill>
                <a:srgbClr val="002A40"/>
              </a:solidFill>
              <a:latin typeface="Helvetica Neue"/>
              <a:ea typeface="Helvetica Neue"/>
              <a:cs typeface="Helvetica Neue"/>
              <a:sym typeface="Helvetica Neue"/>
            </a:endParaRPr>
          </a:p>
          <a:p>
            <a:pPr indent="0" lvl="0" marL="0" marR="0" rtl="0" algn="l">
              <a:lnSpc>
                <a:spcPct val="90000"/>
              </a:lnSpc>
              <a:spcBef>
                <a:spcPts val="800"/>
              </a:spcBef>
              <a:spcAft>
                <a:spcPts val="0"/>
              </a:spcAft>
              <a:buClr>
                <a:srgbClr val="002A40"/>
              </a:buClr>
              <a:buSzPts val="1800"/>
              <a:buFont typeface="Courier New"/>
              <a:buChar char="o"/>
            </a:pPr>
            <a:r>
              <a:rPr b="0" i="0" lang="en" sz="1800" u="none" cap="none" strike="noStrike">
                <a:solidFill>
                  <a:srgbClr val="002A40"/>
                </a:solidFill>
                <a:latin typeface="Helvetica Neue"/>
                <a:ea typeface="Helvetica Neue"/>
                <a:cs typeface="Helvetica Neue"/>
                <a:sym typeface="Helvetica Neue"/>
              </a:rPr>
              <a:t> Not equivalent to a simple fold change cutoff : “the fold-change below which we are definitely not interested in the gene”</a:t>
            </a:r>
            <a:endParaRPr b="0" i="0" sz="1100" u="none" cap="none" strike="noStrike">
              <a:solidFill>
                <a:srgbClr val="000000"/>
              </a:solidFill>
              <a:latin typeface="Arial"/>
              <a:ea typeface="Arial"/>
              <a:cs typeface="Arial"/>
              <a:sym typeface="Arial"/>
            </a:endParaRPr>
          </a:p>
          <a:p>
            <a:pPr indent="0" lvl="0" marL="0" marR="0" rtl="0" algn="l">
              <a:lnSpc>
                <a:spcPct val="90000"/>
              </a:lnSpc>
              <a:spcBef>
                <a:spcPts val="800"/>
              </a:spcBef>
              <a:spcAft>
                <a:spcPts val="0"/>
              </a:spcAft>
              <a:buClr>
                <a:schemeClr val="dk1"/>
              </a:buClr>
              <a:buSzPts val="1800"/>
              <a:buFont typeface="Courier New"/>
              <a:buNone/>
            </a:pPr>
            <a:r>
              <a:t/>
            </a:r>
            <a:endParaRPr b="0" i="0" sz="1800" u="none" cap="none" strike="noStrike">
              <a:solidFill>
                <a:srgbClr val="002A40"/>
              </a:solidFill>
              <a:latin typeface="Helvetica Neue"/>
              <a:ea typeface="Helvetica Neue"/>
              <a:cs typeface="Helvetica Neue"/>
              <a:sym typeface="Helvetica Neue"/>
            </a:endParaRPr>
          </a:p>
          <a:p>
            <a:pPr indent="0" lvl="0" marL="0" marR="0" rtl="0" algn="l">
              <a:lnSpc>
                <a:spcPct val="90000"/>
              </a:lnSpc>
              <a:spcBef>
                <a:spcPts val="800"/>
              </a:spcBef>
              <a:spcAft>
                <a:spcPts val="0"/>
              </a:spcAft>
              <a:buClr>
                <a:srgbClr val="002A40"/>
              </a:buClr>
              <a:buSzPts val="1800"/>
              <a:buFont typeface="Courier New"/>
              <a:buChar char="o"/>
            </a:pPr>
            <a:r>
              <a:rPr b="0" i="0" lang="en" sz="1800" u="none" cap="none" strike="noStrike">
                <a:solidFill>
                  <a:srgbClr val="002A40"/>
                </a:solidFill>
                <a:latin typeface="Helvetica Neue"/>
                <a:ea typeface="Helvetica Neue"/>
                <a:cs typeface="Helvetica Neue"/>
                <a:sym typeface="Helvetica Neue"/>
              </a:rPr>
              <a:t> The total number of DE genes identified at an FDR of 5% can be shown with </a:t>
            </a:r>
            <a:r>
              <a:rPr b="0" i="1" lang="en" sz="1800" u="none" cap="none" strike="noStrike">
                <a:solidFill>
                  <a:srgbClr val="002A40"/>
                </a:solidFill>
                <a:latin typeface="Helvetica Neue"/>
                <a:ea typeface="Helvetica Neue"/>
                <a:cs typeface="Helvetica Neue"/>
                <a:sym typeface="Helvetica Neue"/>
              </a:rPr>
              <a:t>decideTest() – set cutoff</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4" name="Shape 1434"/>
        <p:cNvGrpSpPr/>
        <p:nvPr/>
      </p:nvGrpSpPr>
      <p:grpSpPr>
        <a:xfrm>
          <a:off x="0" y="0"/>
          <a:ext cx="0" cy="0"/>
          <a:chOff x="0" y="0"/>
          <a:chExt cx="0" cy="0"/>
        </a:xfrm>
      </p:grpSpPr>
      <p:sp>
        <p:nvSpPr>
          <p:cNvPr id="1435" name="Google Shape;1435;p192"/>
          <p:cNvSpPr txBox="1"/>
          <p:nvPr/>
        </p:nvSpPr>
        <p:spPr>
          <a:xfrm>
            <a:off x="181336" y="137151"/>
            <a:ext cx="8962663"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2700"/>
              <a:buFont typeface="Helvetica Neue"/>
              <a:buNone/>
            </a:pPr>
            <a:r>
              <a:rPr b="1" i="0" lang="en" sz="2700" u="none" cap="none" strike="noStrike">
                <a:solidFill>
                  <a:srgbClr val="0066CC"/>
                </a:solidFill>
                <a:latin typeface="Helvetica Neue"/>
                <a:ea typeface="Helvetica Neue"/>
                <a:cs typeface="Helvetica Neue"/>
                <a:sym typeface="Helvetica Neue"/>
              </a:rPr>
              <a:t>Get the DE genes - </a:t>
            </a:r>
            <a:r>
              <a:rPr b="1" i="1" lang="en" sz="2700">
                <a:solidFill>
                  <a:srgbClr val="F76912"/>
                </a:solidFill>
                <a:latin typeface="Helvetica Neue"/>
                <a:ea typeface="Helvetica Neue"/>
                <a:cs typeface="Helvetica Neue"/>
                <a:sym typeface="Helvetica Neue"/>
              </a:rPr>
              <a:t>glmQLFTest </a:t>
            </a:r>
            <a:r>
              <a:rPr b="1" lang="en" sz="2700">
                <a:solidFill>
                  <a:srgbClr val="0066CC"/>
                </a:solidFill>
                <a:latin typeface="Helvetica Neue"/>
                <a:ea typeface="Helvetica Neue"/>
                <a:cs typeface="Helvetica Neue"/>
                <a:sym typeface="Helvetica Neue"/>
              </a:rPr>
              <a:t>and</a:t>
            </a:r>
            <a:r>
              <a:rPr b="1" i="1" lang="en" sz="2700">
                <a:solidFill>
                  <a:srgbClr val="F76912"/>
                </a:solidFill>
                <a:latin typeface="Helvetica Neue"/>
                <a:ea typeface="Helvetica Neue"/>
                <a:cs typeface="Helvetica Neue"/>
                <a:sym typeface="Helvetica Neue"/>
              </a:rPr>
              <a:t> glmTreat</a:t>
            </a:r>
            <a:endParaRPr b="0" i="1" sz="2700" u="none" cap="none" strike="noStrike">
              <a:solidFill>
                <a:srgbClr val="F76912"/>
              </a:solidFill>
              <a:latin typeface="Helvetica Neue"/>
              <a:ea typeface="Helvetica Neue"/>
              <a:cs typeface="Helvetica Neue"/>
              <a:sym typeface="Helvetica Neue"/>
            </a:endParaRPr>
          </a:p>
        </p:txBody>
      </p:sp>
      <p:sp>
        <p:nvSpPr>
          <p:cNvPr id="1436" name="Google Shape;1436;p192"/>
          <p:cNvSpPr/>
          <p:nvPr/>
        </p:nvSpPr>
        <p:spPr>
          <a:xfrm>
            <a:off x="821695" y="3248570"/>
            <a:ext cx="8068766" cy="1269578"/>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002B42"/>
                </a:solidFill>
                <a:latin typeface="Arial"/>
                <a:ea typeface="Arial"/>
                <a:cs typeface="Arial"/>
                <a:sym typeface="Arial"/>
              </a:rPr>
              <a:t>Complicated contrasts  </a:t>
            </a:r>
            <a:r>
              <a:rPr b="0" i="0" lang="en" sz="2000" u="none" cap="none" strike="noStrike">
                <a:solidFill>
                  <a:srgbClr val="002B42"/>
                </a:solidFill>
                <a:latin typeface="Arial"/>
                <a:ea typeface="Arial"/>
                <a:cs typeface="Arial"/>
                <a:sym typeface="Arial"/>
              </a:rPr>
              <a:t>- </a:t>
            </a:r>
            <a:r>
              <a:rPr b="1" i="1" lang="en" sz="2000" u="none" cap="none" strike="noStrike">
                <a:solidFill>
                  <a:srgbClr val="F76912"/>
                </a:solidFill>
              </a:rPr>
              <a:t>makeContrasts()</a:t>
            </a:r>
            <a:endParaRPr b="1" i="0" sz="1100" u="none" cap="none" strike="noStrike">
              <a:solidFill>
                <a:srgbClr val="F76912"/>
              </a:solidFill>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2B42"/>
                </a:solidFill>
                <a:latin typeface="Arial"/>
                <a:ea typeface="Arial"/>
                <a:cs typeface="Arial"/>
                <a:sym typeface="Arial"/>
              </a:rPr>
              <a:t>	- between lactating and pregnant mice is the same for basal cells 	as it is for luminal cells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2B42"/>
                </a:solidFill>
                <a:latin typeface="Arial"/>
                <a:ea typeface="Arial"/>
                <a:cs typeface="Arial"/>
                <a:sym typeface="Arial"/>
              </a:rPr>
              <a:t> 	- the interaction effect between mouse status and cell type</a:t>
            </a:r>
            <a:endParaRPr b="0" i="0" sz="1100" u="none" cap="none" strike="noStrike">
              <a:solidFill>
                <a:srgbClr val="000000"/>
              </a:solidFill>
              <a:latin typeface="Arial"/>
              <a:ea typeface="Arial"/>
              <a:cs typeface="Arial"/>
              <a:sym typeface="Arial"/>
            </a:endParaRPr>
          </a:p>
        </p:txBody>
      </p:sp>
      <p:pic>
        <p:nvPicPr>
          <p:cNvPr descr="Table&#10;&#10;Description automatically generated" id="1437" name="Google Shape;1437;p192"/>
          <p:cNvPicPr preferRelativeResize="0"/>
          <p:nvPr/>
        </p:nvPicPr>
        <p:blipFill rotWithShape="1">
          <a:blip r:embed="rId3">
            <a:alphaModFix/>
          </a:blip>
          <a:srcRect b="0" l="0" r="0" t="0"/>
          <a:stretch/>
        </p:blipFill>
        <p:spPr>
          <a:xfrm>
            <a:off x="633106" y="833231"/>
            <a:ext cx="7388657" cy="2123398"/>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2" name="Shape 1442"/>
        <p:cNvGrpSpPr/>
        <p:nvPr/>
      </p:nvGrpSpPr>
      <p:grpSpPr>
        <a:xfrm>
          <a:off x="0" y="0"/>
          <a:ext cx="0" cy="0"/>
          <a:chOff x="0" y="0"/>
          <a:chExt cx="0" cy="0"/>
        </a:xfrm>
      </p:grpSpPr>
      <p:sp>
        <p:nvSpPr>
          <p:cNvPr id="1443" name="Google Shape;1443;p193"/>
          <p:cNvSpPr txBox="1"/>
          <p:nvPr/>
        </p:nvSpPr>
        <p:spPr>
          <a:xfrm>
            <a:off x="122074" y="6"/>
            <a:ext cx="8732100" cy="7368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lt1"/>
              </a:buClr>
              <a:buSzPts val="3300"/>
              <a:buFont typeface="Helvetica Neue"/>
              <a:buNone/>
            </a:pPr>
            <a:r>
              <a:rPr b="1" lang="en" sz="3300">
                <a:solidFill>
                  <a:srgbClr val="0066CC"/>
                </a:solidFill>
                <a:latin typeface="Helvetica Neue"/>
                <a:ea typeface="Helvetica Neue"/>
                <a:cs typeface="Helvetica Neue"/>
                <a:sym typeface="Helvetica Neue"/>
              </a:rPr>
              <a:t>Visualization</a:t>
            </a:r>
            <a:endParaRPr b="0" i="0" sz="1100" u="none" cap="none" strike="noStrike">
              <a:solidFill>
                <a:srgbClr val="0066CC"/>
              </a:solidFill>
              <a:latin typeface="Arial"/>
              <a:ea typeface="Arial"/>
              <a:cs typeface="Arial"/>
              <a:sym typeface="Arial"/>
            </a:endParaRPr>
          </a:p>
        </p:txBody>
      </p:sp>
      <p:sp>
        <p:nvSpPr>
          <p:cNvPr id="1444" name="Google Shape;1444;p193"/>
          <p:cNvSpPr/>
          <p:nvPr/>
        </p:nvSpPr>
        <p:spPr>
          <a:xfrm>
            <a:off x="487817" y="4213449"/>
            <a:ext cx="8168400" cy="7155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rgbClr val="0070C0"/>
                </a:solidFill>
                <a:latin typeface="Arial"/>
                <a:ea typeface="Arial"/>
                <a:cs typeface="Arial"/>
                <a:sym typeface="Arial"/>
              </a:rPr>
              <a:t>Identify genes (and molecular pathways) that are differentially expressed (DE) between two or more biological conditions</a:t>
            </a:r>
            <a:endParaRPr b="0" i="0" sz="1100" u="none" cap="none" strike="noStrike">
              <a:solidFill>
                <a:srgbClr val="000000"/>
              </a:solidFill>
              <a:latin typeface="Arial"/>
              <a:ea typeface="Arial"/>
              <a:cs typeface="Arial"/>
              <a:sym typeface="Arial"/>
            </a:endParaRPr>
          </a:p>
        </p:txBody>
      </p:sp>
      <p:pic>
        <p:nvPicPr>
          <p:cNvPr id="1445" name="Google Shape;1445;p193"/>
          <p:cNvPicPr preferRelativeResize="0"/>
          <p:nvPr/>
        </p:nvPicPr>
        <p:blipFill rotWithShape="1">
          <a:blip r:embed="rId3">
            <a:alphaModFix/>
          </a:blip>
          <a:srcRect b="0" l="0" r="0" t="0"/>
          <a:stretch/>
        </p:blipFill>
        <p:spPr>
          <a:xfrm>
            <a:off x="302456" y="629591"/>
            <a:ext cx="1524850" cy="3583859"/>
          </a:xfrm>
          <a:prstGeom prst="rect">
            <a:avLst/>
          </a:prstGeom>
          <a:noFill/>
          <a:ln>
            <a:noFill/>
          </a:ln>
        </p:spPr>
      </p:pic>
      <p:pic>
        <p:nvPicPr>
          <p:cNvPr id="1446" name="Google Shape;1446;p193"/>
          <p:cNvPicPr preferRelativeResize="0"/>
          <p:nvPr/>
        </p:nvPicPr>
        <p:blipFill rotWithShape="1">
          <a:blip r:embed="rId4">
            <a:alphaModFix/>
          </a:blip>
          <a:srcRect b="0" l="0" r="3063" t="0"/>
          <a:stretch/>
        </p:blipFill>
        <p:spPr>
          <a:xfrm>
            <a:off x="2697202" y="1412796"/>
            <a:ext cx="2511529" cy="2405818"/>
          </a:xfrm>
          <a:prstGeom prst="rect">
            <a:avLst/>
          </a:prstGeom>
          <a:noFill/>
          <a:ln>
            <a:noFill/>
          </a:ln>
        </p:spPr>
      </p:pic>
      <p:sp>
        <p:nvSpPr>
          <p:cNvPr id="1447" name="Google Shape;1447;p193"/>
          <p:cNvSpPr txBox="1"/>
          <p:nvPr/>
        </p:nvSpPr>
        <p:spPr>
          <a:xfrm>
            <a:off x="2586294" y="1103525"/>
            <a:ext cx="19857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Helvetica Neue"/>
                <a:ea typeface="Helvetica Neue"/>
                <a:cs typeface="Helvetica Neue"/>
                <a:sym typeface="Helvetica Neue"/>
              </a:rPr>
              <a:t>Volcano plot</a:t>
            </a:r>
            <a:endParaRPr b="0" i="0" sz="1100" u="none" cap="none" strike="noStrike">
              <a:solidFill>
                <a:srgbClr val="000000"/>
              </a:solidFill>
              <a:latin typeface="Arial"/>
              <a:ea typeface="Arial"/>
              <a:cs typeface="Arial"/>
              <a:sym typeface="Arial"/>
            </a:endParaRPr>
          </a:p>
        </p:txBody>
      </p:sp>
      <p:sp>
        <p:nvSpPr>
          <p:cNvPr id="1448" name="Google Shape;1448;p193"/>
          <p:cNvSpPr txBox="1"/>
          <p:nvPr/>
        </p:nvSpPr>
        <p:spPr>
          <a:xfrm>
            <a:off x="1856606" y="3770200"/>
            <a:ext cx="12294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Helvetica Neue"/>
                <a:ea typeface="Helvetica Neue"/>
                <a:cs typeface="Helvetica Neue"/>
                <a:sym typeface="Helvetica Neue"/>
              </a:rPr>
              <a:t>Heatmap</a:t>
            </a:r>
            <a:endParaRPr b="0" i="0" sz="1100" u="none" cap="none" strike="noStrike">
              <a:solidFill>
                <a:srgbClr val="000000"/>
              </a:solidFill>
              <a:latin typeface="Arial"/>
              <a:ea typeface="Arial"/>
              <a:cs typeface="Arial"/>
              <a:sym typeface="Arial"/>
            </a:endParaRPr>
          </a:p>
        </p:txBody>
      </p:sp>
      <p:sp>
        <p:nvSpPr>
          <p:cNvPr id="1449" name="Google Shape;1449;p193"/>
          <p:cNvSpPr txBox="1"/>
          <p:nvPr/>
        </p:nvSpPr>
        <p:spPr>
          <a:xfrm rot="-5400000">
            <a:off x="4615829" y="1984069"/>
            <a:ext cx="1584900" cy="408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Helvetica Neue"/>
                <a:ea typeface="Helvetica Neue"/>
                <a:cs typeface="Helvetica Neue"/>
                <a:sym typeface="Helvetica Neue"/>
              </a:rPr>
              <a:t>From Barham et al 2013</a:t>
            </a:r>
            <a:endParaRPr b="0" i="0" sz="1100" u="none" cap="none" strike="noStrike">
              <a:solidFill>
                <a:srgbClr val="000000"/>
              </a:solidFill>
              <a:latin typeface="Arial"/>
              <a:ea typeface="Arial"/>
              <a:cs typeface="Arial"/>
              <a:sym typeface="Arial"/>
            </a:endParaRPr>
          </a:p>
        </p:txBody>
      </p:sp>
      <p:sp>
        <p:nvSpPr>
          <p:cNvPr id="1450" name="Google Shape;1450;p193"/>
          <p:cNvSpPr txBox="1"/>
          <p:nvPr/>
        </p:nvSpPr>
        <p:spPr>
          <a:xfrm rot="-5400000">
            <a:off x="1175945" y="1135643"/>
            <a:ext cx="1584900" cy="408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Helvetica Neue"/>
                <a:ea typeface="Helvetica Neue"/>
                <a:cs typeface="Helvetica Neue"/>
                <a:sym typeface="Helvetica Neue"/>
              </a:rPr>
              <a:t>From Barham et al 2013</a:t>
            </a:r>
            <a:endParaRPr b="0" i="0" sz="1100" u="none" cap="none" strike="noStrike">
              <a:solidFill>
                <a:srgbClr val="000000"/>
              </a:solidFill>
              <a:latin typeface="Arial"/>
              <a:ea typeface="Arial"/>
              <a:cs typeface="Arial"/>
              <a:sym typeface="Arial"/>
            </a:endParaRPr>
          </a:p>
        </p:txBody>
      </p:sp>
      <p:sp>
        <p:nvSpPr>
          <p:cNvPr id="1451" name="Google Shape;1451;p193"/>
          <p:cNvSpPr txBox="1"/>
          <p:nvPr/>
        </p:nvSpPr>
        <p:spPr>
          <a:xfrm>
            <a:off x="5799320" y="1113596"/>
            <a:ext cx="27057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111111"/>
                </a:solidFill>
                <a:latin typeface="Helvetica Neue"/>
                <a:ea typeface="Helvetica Neue"/>
                <a:cs typeface="Helvetica Neue"/>
                <a:sym typeface="Helvetica Neue"/>
              </a:rPr>
              <a:t>MA (mean-difference) plot</a:t>
            </a:r>
            <a:endParaRPr b="0" i="0" sz="1100" u="none" cap="none" strike="noStrike">
              <a:solidFill>
                <a:srgbClr val="000000"/>
              </a:solidFill>
              <a:latin typeface="Arial"/>
              <a:ea typeface="Arial"/>
              <a:cs typeface="Arial"/>
              <a:sym typeface="Arial"/>
            </a:endParaRPr>
          </a:p>
        </p:txBody>
      </p:sp>
      <p:sp>
        <p:nvSpPr>
          <p:cNvPr id="1452" name="Google Shape;1452;p193"/>
          <p:cNvSpPr/>
          <p:nvPr/>
        </p:nvSpPr>
        <p:spPr>
          <a:xfrm>
            <a:off x="381000" y="1197428"/>
            <a:ext cx="106800" cy="4137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pic>
        <p:nvPicPr>
          <p:cNvPr id="1453" name="Google Shape;1453;p193"/>
          <p:cNvPicPr preferRelativeResize="0"/>
          <p:nvPr/>
        </p:nvPicPr>
        <p:blipFill rotWithShape="1">
          <a:blip r:embed="rId5">
            <a:alphaModFix/>
          </a:blip>
          <a:srcRect b="0" l="0" r="0" t="0"/>
          <a:stretch/>
        </p:blipFill>
        <p:spPr>
          <a:xfrm>
            <a:off x="5799320" y="1412796"/>
            <a:ext cx="2817033" cy="1766821"/>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7" name="Shape 1457"/>
        <p:cNvGrpSpPr/>
        <p:nvPr/>
      </p:nvGrpSpPr>
      <p:grpSpPr>
        <a:xfrm>
          <a:off x="0" y="0"/>
          <a:ext cx="0" cy="0"/>
          <a:chOff x="0" y="0"/>
          <a:chExt cx="0" cy="0"/>
        </a:xfrm>
      </p:grpSpPr>
      <p:sp>
        <p:nvSpPr>
          <p:cNvPr id="1458" name="Google Shape;1458;p194"/>
          <p:cNvSpPr/>
          <p:nvPr/>
        </p:nvSpPr>
        <p:spPr>
          <a:xfrm>
            <a:off x="3316325" y="1763438"/>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Filtering low counts genes</a:t>
            </a:r>
            <a:endParaRPr b="1" sz="900"/>
          </a:p>
        </p:txBody>
      </p:sp>
      <p:sp>
        <p:nvSpPr>
          <p:cNvPr id="1459" name="Google Shape;1459;p194"/>
          <p:cNvSpPr/>
          <p:nvPr/>
        </p:nvSpPr>
        <p:spPr>
          <a:xfrm>
            <a:off x="3316325" y="2882500"/>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Normalization </a:t>
            </a:r>
            <a:endParaRPr/>
          </a:p>
        </p:txBody>
      </p:sp>
      <p:sp>
        <p:nvSpPr>
          <p:cNvPr id="1460" name="Google Shape;1460;p194"/>
          <p:cNvSpPr/>
          <p:nvPr/>
        </p:nvSpPr>
        <p:spPr>
          <a:xfrm>
            <a:off x="3316325" y="3436875"/>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Fit the model</a:t>
            </a:r>
            <a:endParaRPr b="1"/>
          </a:p>
        </p:txBody>
      </p:sp>
      <p:sp>
        <p:nvSpPr>
          <p:cNvPr id="1461" name="Google Shape;1461;p194"/>
          <p:cNvSpPr/>
          <p:nvPr/>
        </p:nvSpPr>
        <p:spPr>
          <a:xfrm>
            <a:off x="3316325" y="2328124"/>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Helvetica Neue"/>
                <a:ea typeface="Helvetica Neue"/>
                <a:cs typeface="Helvetica Neue"/>
                <a:sym typeface="Helvetica Neue"/>
              </a:rPr>
              <a:t>Dimensionality reduction</a:t>
            </a:r>
            <a:endParaRPr b="1"/>
          </a:p>
        </p:txBody>
      </p:sp>
      <p:sp>
        <p:nvSpPr>
          <p:cNvPr id="1462" name="Google Shape;1462;p194"/>
          <p:cNvSpPr/>
          <p:nvPr/>
        </p:nvSpPr>
        <p:spPr>
          <a:xfrm>
            <a:off x="3316325" y="592375"/>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Count matrix</a:t>
            </a:r>
            <a:endParaRPr b="1"/>
          </a:p>
        </p:txBody>
      </p:sp>
      <p:sp>
        <p:nvSpPr>
          <p:cNvPr id="1463" name="Google Shape;1463;p194"/>
          <p:cNvSpPr/>
          <p:nvPr/>
        </p:nvSpPr>
        <p:spPr>
          <a:xfrm>
            <a:off x="3316325" y="1178313"/>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Source of variability</a:t>
            </a:r>
            <a:endParaRPr b="1">
              <a:solidFill>
                <a:schemeClr val="accent2"/>
              </a:solidFill>
            </a:endParaRPr>
          </a:p>
        </p:txBody>
      </p:sp>
      <p:sp>
        <p:nvSpPr>
          <p:cNvPr id="1464" name="Google Shape;1464;p194"/>
          <p:cNvSpPr txBox="1"/>
          <p:nvPr/>
        </p:nvSpPr>
        <p:spPr>
          <a:xfrm>
            <a:off x="3316325" y="4545625"/>
            <a:ext cx="22191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F76912"/>
                </a:solidFill>
                <a:latin typeface="Helvetica Neue"/>
                <a:ea typeface="Helvetica Neue"/>
                <a:cs typeface="Helvetica Neue"/>
                <a:sym typeface="Helvetica Neue"/>
              </a:rPr>
              <a:t>Session 3 Demo</a:t>
            </a:r>
            <a:endParaRPr b="1" sz="1700">
              <a:solidFill>
                <a:srgbClr val="F76912"/>
              </a:solidFill>
              <a:latin typeface="Helvetica Neue"/>
              <a:ea typeface="Helvetica Neue"/>
              <a:cs typeface="Helvetica Neue"/>
              <a:sym typeface="Helvetica Neue"/>
            </a:endParaRPr>
          </a:p>
        </p:txBody>
      </p:sp>
      <p:sp>
        <p:nvSpPr>
          <p:cNvPr id="1465" name="Google Shape;1465;p194"/>
          <p:cNvSpPr/>
          <p:nvPr/>
        </p:nvSpPr>
        <p:spPr>
          <a:xfrm>
            <a:off x="3316325" y="3991250"/>
            <a:ext cx="1993500" cy="493800"/>
          </a:xfrm>
          <a:prstGeom prst="roundRect">
            <a:avLst>
              <a:gd fmla="val 16667" name="adj"/>
            </a:avLst>
          </a:prstGeom>
          <a:solidFill>
            <a:srgbClr val="CCCCCC"/>
          </a:solidFill>
          <a:ln cap="flat" cmpd="sng" w="28575">
            <a:solidFill>
              <a:srgbClr val="741B4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rPr>
              <a:t>DEG and visualization</a:t>
            </a:r>
            <a:endParaRPr b="1"/>
          </a:p>
        </p:txBody>
      </p:sp>
      <p:sp>
        <p:nvSpPr>
          <p:cNvPr id="1466" name="Google Shape;1466;p194"/>
          <p:cNvSpPr txBox="1"/>
          <p:nvPr/>
        </p:nvSpPr>
        <p:spPr>
          <a:xfrm>
            <a:off x="54700" y="2474075"/>
            <a:ext cx="312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741B47"/>
                </a:solidFill>
                <a:latin typeface="Helvetica Neue"/>
                <a:ea typeface="Helvetica Neue"/>
                <a:cs typeface="Helvetica Neue"/>
                <a:sym typeface="Helvetica Neue"/>
              </a:rPr>
              <a:t>Session 3 Concepts: </a:t>
            </a:r>
            <a:endParaRPr b="1" sz="1200">
              <a:solidFill>
                <a:srgbClr val="741B47"/>
              </a:solidFill>
              <a:highlight>
                <a:srgbClr val="F7F6F3"/>
              </a:highlight>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1" name="Shape 1471"/>
        <p:cNvGrpSpPr/>
        <p:nvPr/>
      </p:nvGrpSpPr>
      <p:grpSpPr>
        <a:xfrm>
          <a:off x="0" y="0"/>
          <a:ext cx="0" cy="0"/>
          <a:chOff x="0" y="0"/>
          <a:chExt cx="0" cy="0"/>
        </a:xfrm>
      </p:grpSpPr>
      <p:sp>
        <p:nvSpPr>
          <p:cNvPr id="1472" name="Google Shape;1472;p195"/>
          <p:cNvSpPr txBox="1"/>
          <p:nvPr/>
        </p:nvSpPr>
        <p:spPr>
          <a:xfrm>
            <a:off x="109449" y="200456"/>
            <a:ext cx="8732100" cy="7368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lt1"/>
              </a:buClr>
              <a:buSzPts val="3300"/>
              <a:buFont typeface="Helvetica Neue"/>
              <a:buNone/>
            </a:pPr>
            <a:r>
              <a:rPr b="1" i="0" lang="en" sz="3300" u="none" cap="none" strike="noStrike">
                <a:solidFill>
                  <a:srgbClr val="F76912"/>
                </a:solidFill>
                <a:latin typeface="Helvetica Neue"/>
                <a:ea typeface="Helvetica Neue"/>
                <a:cs typeface="Helvetica Neue"/>
                <a:sym typeface="Helvetica Neue"/>
              </a:rPr>
              <a:t>Dataset</a:t>
            </a:r>
            <a:endParaRPr b="0" i="0" sz="1100" u="none" cap="none" strike="noStrike">
              <a:solidFill>
                <a:srgbClr val="F76912"/>
              </a:solidFill>
              <a:latin typeface="Arial"/>
              <a:ea typeface="Arial"/>
              <a:cs typeface="Arial"/>
              <a:sym typeface="Arial"/>
            </a:endParaRPr>
          </a:p>
        </p:txBody>
      </p:sp>
      <p:sp>
        <p:nvSpPr>
          <p:cNvPr id="1473" name="Google Shape;1473;p195"/>
          <p:cNvSpPr txBox="1"/>
          <p:nvPr/>
        </p:nvSpPr>
        <p:spPr>
          <a:xfrm>
            <a:off x="5871518" y="4812376"/>
            <a:ext cx="46569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https://www.ncbi.nlm.nih.gov/geo/</a:t>
            </a:r>
            <a:endParaRPr b="0" i="0" sz="1100" u="none" cap="none" strike="noStrike">
              <a:solidFill>
                <a:srgbClr val="000000"/>
              </a:solidFill>
              <a:latin typeface="Arial"/>
              <a:ea typeface="Arial"/>
              <a:cs typeface="Arial"/>
              <a:sym typeface="Arial"/>
            </a:endParaRPr>
          </a:p>
        </p:txBody>
      </p:sp>
      <p:grpSp>
        <p:nvGrpSpPr>
          <p:cNvPr id="1474" name="Google Shape;1474;p195"/>
          <p:cNvGrpSpPr/>
          <p:nvPr/>
        </p:nvGrpSpPr>
        <p:grpSpPr>
          <a:xfrm>
            <a:off x="7277764" y="1119337"/>
            <a:ext cx="1563786" cy="1933463"/>
            <a:chOff x="7522764" y="1850462"/>
            <a:chExt cx="1563786" cy="1933463"/>
          </a:xfrm>
        </p:grpSpPr>
        <p:pic>
          <p:nvPicPr>
            <p:cNvPr id="1475" name="Google Shape;1475;p195"/>
            <p:cNvPicPr preferRelativeResize="0"/>
            <p:nvPr/>
          </p:nvPicPr>
          <p:blipFill>
            <a:blip r:embed="rId3">
              <a:alphaModFix/>
            </a:blip>
            <a:stretch>
              <a:fillRect/>
            </a:stretch>
          </p:blipFill>
          <p:spPr>
            <a:xfrm>
              <a:off x="7522764" y="1850462"/>
              <a:ext cx="1468836" cy="1579394"/>
            </a:xfrm>
            <a:prstGeom prst="rect">
              <a:avLst/>
            </a:prstGeom>
            <a:noFill/>
            <a:ln>
              <a:noFill/>
            </a:ln>
          </p:spPr>
        </p:pic>
        <p:sp>
          <p:nvSpPr>
            <p:cNvPr id="1476" name="Google Shape;1476;p195"/>
            <p:cNvSpPr/>
            <p:nvPr/>
          </p:nvSpPr>
          <p:spPr>
            <a:xfrm>
              <a:off x="8315550" y="3075400"/>
              <a:ext cx="771000" cy="480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
          <p:nvSpPr>
            <p:cNvPr id="1477" name="Google Shape;1477;p195"/>
            <p:cNvSpPr/>
            <p:nvPr/>
          </p:nvSpPr>
          <p:spPr>
            <a:xfrm>
              <a:off x="8000350" y="3303625"/>
              <a:ext cx="771000" cy="480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grpSp>
      <p:sp>
        <p:nvSpPr>
          <p:cNvPr id="1478" name="Google Shape;1478;p195"/>
          <p:cNvSpPr/>
          <p:nvPr/>
        </p:nvSpPr>
        <p:spPr>
          <a:xfrm>
            <a:off x="109449" y="729731"/>
            <a:ext cx="8848200" cy="6693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466C"/>
                </a:solidFill>
                <a:latin typeface="Arial"/>
                <a:ea typeface="Arial"/>
                <a:cs typeface="Arial"/>
                <a:sym typeface="Arial"/>
              </a:rPr>
              <a:t>Transcriptome analysis of luminal and basal cell subpopulations in the lactating versus pregnant mammary gland</a:t>
            </a:r>
            <a:endParaRPr b="0" i="0" sz="1100" u="none" cap="none" strike="noStrike">
              <a:solidFill>
                <a:srgbClr val="000000"/>
              </a:solidFill>
              <a:latin typeface="Arial"/>
              <a:ea typeface="Arial"/>
              <a:cs typeface="Arial"/>
              <a:sym typeface="Arial"/>
            </a:endParaRPr>
          </a:p>
        </p:txBody>
      </p:sp>
      <p:sp>
        <p:nvSpPr>
          <p:cNvPr id="1479" name="Google Shape;1479;p195"/>
          <p:cNvSpPr txBox="1"/>
          <p:nvPr/>
        </p:nvSpPr>
        <p:spPr>
          <a:xfrm>
            <a:off x="186400" y="1478375"/>
            <a:ext cx="8890500" cy="2363700"/>
          </a:xfrm>
          <a:prstGeom prst="rect">
            <a:avLst/>
          </a:prstGeom>
          <a:noFill/>
          <a:ln>
            <a:noFill/>
          </a:ln>
        </p:spPr>
        <p:txBody>
          <a:bodyPr anchorCtr="0" anchor="t" bIns="34275" lIns="68575" spcFirstLastPara="1" rIns="68575" wrap="square" tIns="34275">
            <a:noAutofit/>
          </a:bodyPr>
          <a:lstStyle/>
          <a:p>
            <a:pPr indent="-107950" lvl="0" marL="0" marR="0" rtl="0" algn="l">
              <a:lnSpc>
                <a:spcPct val="150000"/>
              </a:lnSpc>
              <a:spcBef>
                <a:spcPts val="0"/>
              </a:spcBef>
              <a:spcAft>
                <a:spcPts val="0"/>
              </a:spcAft>
              <a:buClr>
                <a:srgbClr val="002A40"/>
              </a:buClr>
              <a:buSzPts val="1700"/>
              <a:buFont typeface="Courier New"/>
              <a:buChar char="o"/>
            </a:pPr>
            <a:r>
              <a:rPr b="0" i="0" lang="en" sz="1700" u="none" cap="none" strike="noStrike">
                <a:solidFill>
                  <a:srgbClr val="002A40"/>
                </a:solidFill>
                <a:latin typeface="Helvetica Neue"/>
                <a:ea typeface="Helvetica Neue"/>
                <a:cs typeface="Helvetica Neue"/>
                <a:sym typeface="Helvetica Neue"/>
              </a:rPr>
              <a:t> GEO (gene expression omnibus) accession: </a:t>
            </a:r>
            <a:r>
              <a:rPr b="1" i="0" lang="en" sz="1700" u="none" cap="none" strike="noStrike">
                <a:solidFill>
                  <a:srgbClr val="0071AF"/>
                </a:solidFill>
                <a:latin typeface="Helvetica Neue"/>
                <a:ea typeface="Helvetica Neue"/>
                <a:cs typeface="Helvetica Neue"/>
                <a:sym typeface="Helvetica Neue"/>
              </a:rPr>
              <a:t>GSE60450</a:t>
            </a:r>
            <a:endParaRPr b="0" i="0" sz="1100" u="none" cap="none" strike="noStrike">
              <a:solidFill>
                <a:srgbClr val="000000"/>
              </a:solidFill>
              <a:latin typeface="Arial"/>
              <a:ea typeface="Arial"/>
              <a:cs typeface="Arial"/>
              <a:sym typeface="Arial"/>
            </a:endParaRPr>
          </a:p>
          <a:p>
            <a:pPr indent="-107950" lvl="0" marL="0" marR="0" rtl="0" algn="l">
              <a:lnSpc>
                <a:spcPct val="150000"/>
              </a:lnSpc>
              <a:spcBef>
                <a:spcPts val="800"/>
              </a:spcBef>
              <a:spcAft>
                <a:spcPts val="0"/>
              </a:spcAft>
              <a:buClr>
                <a:srgbClr val="0071AF"/>
              </a:buClr>
              <a:buSzPts val="1700"/>
              <a:buFont typeface="Courier New"/>
              <a:buChar char="o"/>
            </a:pPr>
            <a:r>
              <a:rPr b="0" i="0" lang="en" sz="1700" u="none" cap="none" strike="noStrike">
                <a:solidFill>
                  <a:srgbClr val="0071AF"/>
                </a:solidFill>
                <a:latin typeface="Helvetica Neue"/>
                <a:ea typeface="Helvetica Neue"/>
                <a:cs typeface="Helvetica Neue"/>
                <a:sym typeface="Helvetica Neue"/>
              </a:rPr>
              <a:t> Tissue of origin</a:t>
            </a:r>
            <a:r>
              <a:rPr b="0" i="0" lang="en" sz="1700" u="none" cap="none" strike="noStrike">
                <a:solidFill>
                  <a:srgbClr val="002A40"/>
                </a:solidFill>
                <a:latin typeface="Helvetica Neue"/>
                <a:ea typeface="Helvetica Neue"/>
                <a:cs typeface="Helvetica Neue"/>
                <a:sym typeface="Helvetica Neue"/>
              </a:rPr>
              <a:t>: Mammary glands of mouse</a:t>
            </a:r>
            <a:endParaRPr b="0" i="0" sz="1100" u="none" cap="none" strike="noStrike">
              <a:solidFill>
                <a:srgbClr val="000000"/>
              </a:solidFill>
              <a:latin typeface="Arial"/>
              <a:ea typeface="Arial"/>
              <a:cs typeface="Arial"/>
              <a:sym typeface="Arial"/>
            </a:endParaRPr>
          </a:p>
          <a:p>
            <a:pPr indent="-107950" lvl="0" marL="0" marR="0" rtl="0" algn="l">
              <a:lnSpc>
                <a:spcPct val="150000"/>
              </a:lnSpc>
              <a:spcBef>
                <a:spcPts val="800"/>
              </a:spcBef>
              <a:spcAft>
                <a:spcPts val="0"/>
              </a:spcAft>
              <a:buClr>
                <a:srgbClr val="002A40"/>
              </a:buClr>
              <a:buSzPts val="1700"/>
              <a:buFont typeface="Courier New"/>
              <a:buChar char="o"/>
            </a:pPr>
            <a:r>
              <a:rPr b="0" i="0" lang="en" sz="1700" u="none" cap="none" strike="noStrike">
                <a:solidFill>
                  <a:srgbClr val="002A40"/>
                </a:solidFill>
                <a:latin typeface="Helvetica Neue"/>
                <a:ea typeface="Helvetica Neue"/>
                <a:cs typeface="Helvetica Neue"/>
                <a:sym typeface="Helvetica Neue"/>
              </a:rPr>
              <a:t> </a:t>
            </a:r>
            <a:r>
              <a:rPr b="0" i="0" lang="en" sz="1700" u="none" cap="none" strike="noStrike">
                <a:solidFill>
                  <a:srgbClr val="0071AF"/>
                </a:solidFill>
                <a:latin typeface="Helvetica Neue"/>
                <a:ea typeface="Helvetica Neue"/>
                <a:cs typeface="Helvetica Neue"/>
                <a:sym typeface="Helvetica Neue"/>
              </a:rPr>
              <a:t>Cell types</a:t>
            </a:r>
            <a:r>
              <a:rPr b="0" i="0" lang="en" sz="1700" u="none" cap="none" strike="noStrike">
                <a:solidFill>
                  <a:srgbClr val="002A40"/>
                </a:solidFill>
                <a:latin typeface="Helvetica Neue"/>
                <a:ea typeface="Helvetica Neue"/>
                <a:cs typeface="Helvetica Neue"/>
                <a:sym typeface="Helvetica Neue"/>
              </a:rPr>
              <a:t>: Basal stem-cell enriched cells (B) and committed luminal cells (L)</a:t>
            </a:r>
            <a:endParaRPr b="0" i="0" sz="1100" u="none" cap="none" strike="noStrike">
              <a:solidFill>
                <a:srgbClr val="000000"/>
              </a:solidFill>
              <a:latin typeface="Arial"/>
              <a:ea typeface="Arial"/>
              <a:cs typeface="Arial"/>
              <a:sym typeface="Arial"/>
            </a:endParaRPr>
          </a:p>
          <a:p>
            <a:pPr indent="-107950" lvl="0" marL="0" marR="0" rtl="0" algn="l">
              <a:lnSpc>
                <a:spcPct val="150000"/>
              </a:lnSpc>
              <a:spcBef>
                <a:spcPts val="800"/>
              </a:spcBef>
              <a:spcAft>
                <a:spcPts val="0"/>
              </a:spcAft>
              <a:buClr>
                <a:srgbClr val="002A40"/>
              </a:buClr>
              <a:buSzPts val="1700"/>
              <a:buFont typeface="Courier New"/>
              <a:buChar char="o"/>
            </a:pPr>
            <a:r>
              <a:rPr b="0" i="0" lang="en" sz="1700" u="none" cap="none" strike="noStrike">
                <a:solidFill>
                  <a:srgbClr val="002A40"/>
                </a:solidFill>
                <a:latin typeface="Helvetica Neue"/>
                <a:ea typeface="Helvetica Neue"/>
                <a:cs typeface="Helvetica Neue"/>
                <a:sym typeface="Helvetica Neue"/>
              </a:rPr>
              <a:t> </a:t>
            </a:r>
            <a:r>
              <a:rPr b="0" i="0" lang="en" sz="1700" u="none" cap="none" strike="noStrike">
                <a:solidFill>
                  <a:srgbClr val="0071AF"/>
                </a:solidFill>
                <a:latin typeface="Helvetica Neue"/>
                <a:ea typeface="Helvetica Neue"/>
                <a:cs typeface="Helvetica Neue"/>
                <a:sym typeface="Helvetica Neue"/>
              </a:rPr>
              <a:t>Biological conditions</a:t>
            </a:r>
            <a:r>
              <a:rPr b="0" i="0" lang="en" sz="1700" u="none" cap="none" strike="noStrike">
                <a:solidFill>
                  <a:srgbClr val="002A40"/>
                </a:solidFill>
                <a:latin typeface="Helvetica Neue"/>
                <a:ea typeface="Helvetica Neue"/>
                <a:cs typeface="Helvetica Neue"/>
                <a:sym typeface="Helvetica Neue"/>
              </a:rPr>
              <a:t>: Virgin, Lactating (2 day) and Pregnant (18.5 day)</a:t>
            </a:r>
            <a:endParaRPr b="0" i="0" sz="1100" u="none" cap="none" strike="noStrike">
              <a:solidFill>
                <a:srgbClr val="000000"/>
              </a:solidFill>
              <a:latin typeface="Arial"/>
              <a:ea typeface="Arial"/>
              <a:cs typeface="Arial"/>
              <a:sym typeface="Arial"/>
            </a:endParaRPr>
          </a:p>
          <a:p>
            <a:pPr indent="-107950" lvl="0" marL="0" marR="0" rtl="0" algn="l">
              <a:lnSpc>
                <a:spcPct val="150000"/>
              </a:lnSpc>
              <a:spcBef>
                <a:spcPts val="800"/>
              </a:spcBef>
              <a:spcAft>
                <a:spcPts val="0"/>
              </a:spcAft>
              <a:buClr>
                <a:srgbClr val="002A40"/>
              </a:buClr>
              <a:buSzPts val="1700"/>
              <a:buFont typeface="Courier New"/>
              <a:buChar char="o"/>
            </a:pPr>
            <a:r>
              <a:rPr b="0" i="0" lang="en" sz="1700" u="none" cap="none" strike="noStrike">
                <a:solidFill>
                  <a:srgbClr val="002A40"/>
                </a:solidFill>
                <a:latin typeface="Helvetica Neue"/>
                <a:ea typeface="Helvetica Neue"/>
                <a:cs typeface="Helvetica Neue"/>
                <a:sym typeface="Helvetica Neue"/>
              </a:rPr>
              <a:t> </a:t>
            </a:r>
            <a:r>
              <a:rPr b="0" i="0" lang="en" sz="1700" u="none" cap="none" strike="noStrike">
                <a:solidFill>
                  <a:srgbClr val="0071AF"/>
                </a:solidFill>
                <a:latin typeface="Helvetica Neue"/>
                <a:ea typeface="Helvetica Neue"/>
                <a:cs typeface="Helvetica Neue"/>
                <a:sym typeface="Helvetica Neue"/>
              </a:rPr>
              <a:t># of groups</a:t>
            </a:r>
            <a:r>
              <a:rPr b="0" i="0" lang="en" sz="1700" u="none" cap="none" strike="noStrike">
                <a:solidFill>
                  <a:srgbClr val="002A40"/>
                </a:solidFill>
                <a:latin typeface="Helvetica Neue"/>
                <a:ea typeface="Helvetica Neue"/>
                <a:cs typeface="Helvetica Neue"/>
                <a:sym typeface="Helvetica Neue"/>
              </a:rPr>
              <a:t>: 2 cell types (B/L)  x 3 conditions (V/L/P) = 6 groups</a:t>
            </a:r>
            <a:endParaRPr b="0" i="0" sz="1100" u="none" cap="none" strike="noStrike">
              <a:solidFill>
                <a:srgbClr val="000000"/>
              </a:solidFill>
              <a:latin typeface="Arial"/>
              <a:ea typeface="Arial"/>
              <a:cs typeface="Arial"/>
              <a:sym typeface="Arial"/>
            </a:endParaRPr>
          </a:p>
          <a:p>
            <a:pPr indent="-107950" lvl="0" marL="0" marR="0" rtl="0" algn="l">
              <a:lnSpc>
                <a:spcPct val="150000"/>
              </a:lnSpc>
              <a:spcBef>
                <a:spcPts val="800"/>
              </a:spcBef>
              <a:spcAft>
                <a:spcPts val="0"/>
              </a:spcAft>
              <a:buClr>
                <a:srgbClr val="002A40"/>
              </a:buClr>
              <a:buSzPts val="1700"/>
              <a:buFont typeface="Courier New"/>
              <a:buChar char="o"/>
            </a:pPr>
            <a:r>
              <a:rPr b="0" i="0" lang="en" sz="1700" u="none" cap="none" strike="noStrike">
                <a:solidFill>
                  <a:srgbClr val="002A40"/>
                </a:solidFill>
                <a:latin typeface="Helvetica Neue"/>
                <a:ea typeface="Helvetica Neue"/>
                <a:cs typeface="Helvetica Neue"/>
                <a:sym typeface="Helvetica Neue"/>
              </a:rPr>
              <a:t> </a:t>
            </a:r>
            <a:r>
              <a:rPr b="0" i="0" lang="en" sz="1700" u="none" cap="none" strike="noStrike">
                <a:solidFill>
                  <a:srgbClr val="0071AF"/>
                </a:solidFill>
                <a:latin typeface="Helvetica Neue"/>
                <a:ea typeface="Helvetica Neue"/>
                <a:cs typeface="Helvetica Neue"/>
                <a:sym typeface="Helvetica Neue"/>
              </a:rPr>
              <a:t># of replicates</a:t>
            </a:r>
            <a:r>
              <a:rPr b="0" i="0" lang="en" sz="1700" u="none" cap="none" strike="noStrike">
                <a:solidFill>
                  <a:srgbClr val="002A40"/>
                </a:solidFill>
                <a:latin typeface="Helvetica Neue"/>
                <a:ea typeface="Helvetica Neue"/>
                <a:cs typeface="Helvetica Neue"/>
                <a:sym typeface="Helvetica Neue"/>
              </a:rPr>
              <a:t>: 2 of each group</a:t>
            </a:r>
            <a:endParaRPr b="0" i="0" sz="1100" u="none" cap="none" strike="noStrike">
              <a:solidFill>
                <a:srgbClr val="000000"/>
              </a:solidFill>
              <a:latin typeface="Arial"/>
              <a:ea typeface="Arial"/>
              <a:cs typeface="Arial"/>
              <a:sym typeface="Arial"/>
            </a:endParaRPr>
          </a:p>
          <a:p>
            <a:pPr indent="-107950" lvl="0" marL="0" marR="0" rtl="0" algn="l">
              <a:lnSpc>
                <a:spcPct val="150000"/>
              </a:lnSpc>
              <a:spcBef>
                <a:spcPts val="800"/>
              </a:spcBef>
              <a:spcAft>
                <a:spcPts val="0"/>
              </a:spcAft>
              <a:buClr>
                <a:srgbClr val="002A40"/>
              </a:buClr>
              <a:buSzPts val="1700"/>
              <a:buFont typeface="Courier New"/>
              <a:buChar char="o"/>
            </a:pPr>
            <a:r>
              <a:rPr b="0" i="0" lang="en" sz="1700" u="none" cap="none" strike="noStrike">
                <a:solidFill>
                  <a:srgbClr val="002A40"/>
                </a:solidFill>
                <a:latin typeface="Helvetica Neue"/>
                <a:ea typeface="Helvetica Neue"/>
                <a:cs typeface="Helvetica Neue"/>
                <a:sym typeface="Helvetica Neue"/>
              </a:rPr>
              <a:t> Illumina Hiseq sequencer - about 30 million 100bp single-end reads for each sample.</a:t>
            </a:r>
            <a:endParaRPr b="0" i="0" sz="1100" u="none" cap="none" strike="noStrike">
              <a:solidFill>
                <a:srgbClr val="000000"/>
              </a:solidFill>
              <a:latin typeface="Arial"/>
              <a:ea typeface="Arial"/>
              <a:cs typeface="Arial"/>
              <a:sym typeface="Arial"/>
            </a:endParaRPr>
          </a:p>
          <a:p>
            <a:pPr indent="0" lvl="0" marL="0" marR="0" rtl="0" algn="l">
              <a:lnSpc>
                <a:spcPct val="150000"/>
              </a:lnSpc>
              <a:spcBef>
                <a:spcPts val="800"/>
              </a:spcBef>
              <a:spcAft>
                <a:spcPts val="0"/>
              </a:spcAft>
              <a:buClr>
                <a:schemeClr val="dk1"/>
              </a:buClr>
              <a:buSzPts val="1700"/>
              <a:buFont typeface="Helvetica Neue"/>
              <a:buNone/>
            </a:pPr>
            <a:r>
              <a:t/>
            </a:r>
            <a:endParaRPr b="0" i="0" sz="1700" u="none" cap="none" strike="noStrike">
              <a:solidFill>
                <a:srgbClr val="002A40"/>
              </a:solidFill>
              <a:latin typeface="Helvetica Neue"/>
              <a:ea typeface="Helvetica Neue"/>
              <a:cs typeface="Helvetica Neue"/>
              <a:sym typeface="Helvetica Neue"/>
            </a:endParaRPr>
          </a:p>
          <a:p>
            <a:pPr indent="0" lvl="0" marL="0" marR="0" rtl="0" algn="l">
              <a:lnSpc>
                <a:spcPct val="150000"/>
              </a:lnSpc>
              <a:spcBef>
                <a:spcPts val="800"/>
              </a:spcBef>
              <a:spcAft>
                <a:spcPts val="0"/>
              </a:spcAft>
              <a:buClr>
                <a:schemeClr val="dk1"/>
              </a:buClr>
              <a:buSzPts val="1700"/>
              <a:buFont typeface="Courier New"/>
              <a:buNone/>
            </a:pPr>
            <a:r>
              <a:t/>
            </a:r>
            <a:endParaRPr b="0" i="0" sz="1700" u="none" cap="none" strike="noStrike">
              <a:solidFill>
                <a:srgbClr val="002A40"/>
              </a:solidFill>
              <a:latin typeface="Helvetica Neue"/>
              <a:ea typeface="Helvetica Neue"/>
              <a:cs typeface="Helvetica Neue"/>
              <a:sym typeface="Helvetica Neue"/>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4" name="Shape 1484"/>
        <p:cNvGrpSpPr/>
        <p:nvPr/>
      </p:nvGrpSpPr>
      <p:grpSpPr>
        <a:xfrm>
          <a:off x="0" y="0"/>
          <a:ext cx="0" cy="0"/>
          <a:chOff x="0" y="0"/>
          <a:chExt cx="0" cy="0"/>
        </a:xfrm>
      </p:grpSpPr>
      <p:sp>
        <p:nvSpPr>
          <p:cNvPr id="1485" name="Google Shape;1485;p196"/>
          <p:cNvSpPr txBox="1"/>
          <p:nvPr/>
        </p:nvSpPr>
        <p:spPr>
          <a:xfrm>
            <a:off x="109449" y="200456"/>
            <a:ext cx="8732100" cy="7368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lt1"/>
              </a:buClr>
              <a:buSzPts val="3300"/>
              <a:buFont typeface="Helvetica Neue"/>
              <a:buNone/>
            </a:pPr>
            <a:r>
              <a:rPr b="1" i="0" lang="en" sz="3300" u="none" cap="none" strike="noStrike">
                <a:solidFill>
                  <a:srgbClr val="0066CC"/>
                </a:solidFill>
                <a:latin typeface="Helvetica Neue"/>
                <a:ea typeface="Helvetica Neue"/>
                <a:cs typeface="Helvetica Neue"/>
                <a:sym typeface="Helvetica Neue"/>
              </a:rPr>
              <a:t>Files for the hands-on session</a:t>
            </a:r>
            <a:endParaRPr b="0" i="0" sz="1100" u="none" cap="none" strike="noStrike">
              <a:solidFill>
                <a:srgbClr val="0066CC"/>
              </a:solidFill>
              <a:latin typeface="Arial"/>
              <a:ea typeface="Arial"/>
              <a:cs typeface="Arial"/>
              <a:sym typeface="Arial"/>
            </a:endParaRPr>
          </a:p>
        </p:txBody>
      </p:sp>
      <p:pic>
        <p:nvPicPr>
          <p:cNvPr descr="Table&#10;&#10;Description automatically generated" id="1486" name="Google Shape;1486;p196"/>
          <p:cNvPicPr preferRelativeResize="0"/>
          <p:nvPr/>
        </p:nvPicPr>
        <p:blipFill rotWithShape="1">
          <a:blip r:embed="rId3">
            <a:alphaModFix/>
          </a:blip>
          <a:srcRect b="40062" l="0" r="0" t="5867"/>
          <a:stretch/>
        </p:blipFill>
        <p:spPr>
          <a:xfrm>
            <a:off x="109449" y="863027"/>
            <a:ext cx="4949370" cy="1449906"/>
          </a:xfrm>
          <a:prstGeom prst="rect">
            <a:avLst/>
          </a:prstGeom>
          <a:noFill/>
          <a:ln>
            <a:noFill/>
          </a:ln>
        </p:spPr>
      </p:pic>
      <p:pic>
        <p:nvPicPr>
          <p:cNvPr descr="Table&#10;&#10;Description automatically generated" id="1487" name="Google Shape;1487;p196"/>
          <p:cNvPicPr preferRelativeResize="0"/>
          <p:nvPr/>
        </p:nvPicPr>
        <p:blipFill rotWithShape="1">
          <a:blip r:embed="rId4">
            <a:alphaModFix/>
          </a:blip>
          <a:srcRect b="0" l="0" r="0" t="0"/>
          <a:stretch/>
        </p:blipFill>
        <p:spPr>
          <a:xfrm>
            <a:off x="390764" y="3678896"/>
            <a:ext cx="6899650" cy="1264148"/>
          </a:xfrm>
          <a:prstGeom prst="rect">
            <a:avLst/>
          </a:prstGeom>
          <a:noFill/>
          <a:ln>
            <a:noFill/>
          </a:ln>
        </p:spPr>
      </p:pic>
      <p:sp>
        <p:nvSpPr>
          <p:cNvPr id="1488" name="Google Shape;1488;p196"/>
          <p:cNvSpPr/>
          <p:nvPr/>
        </p:nvSpPr>
        <p:spPr>
          <a:xfrm>
            <a:off x="182500" y="2571475"/>
            <a:ext cx="8192100" cy="816300"/>
          </a:xfrm>
          <a:prstGeom prst="rect">
            <a:avLst/>
          </a:prstGeom>
          <a:noFill/>
          <a:ln>
            <a:noFill/>
          </a:ln>
        </p:spPr>
        <p:txBody>
          <a:bodyPr anchorCtr="0" anchor="t" bIns="34275" lIns="68575" spcFirstLastPara="1" rIns="68575" wrap="square" tIns="34275">
            <a:noAutofit/>
          </a:bodyPr>
          <a:lstStyle/>
          <a:p>
            <a:pPr indent="-215900" lvl="0" marL="215900" marR="0" rtl="0" algn="l">
              <a:lnSpc>
                <a:spcPct val="150000"/>
              </a:lnSpc>
              <a:spcBef>
                <a:spcPts val="0"/>
              </a:spcBef>
              <a:spcAft>
                <a:spcPts val="0"/>
              </a:spcAft>
              <a:buClr>
                <a:srgbClr val="0070C0"/>
              </a:buClr>
              <a:buSzPts val="1800"/>
              <a:buFont typeface="Courier New"/>
              <a:buChar char="o"/>
            </a:pPr>
            <a:r>
              <a:rPr b="0" i="0" lang="en" sz="1800" u="none" cap="none" strike="noStrike">
                <a:solidFill>
                  <a:srgbClr val="0070C0"/>
                </a:solidFill>
                <a:latin typeface="Arial"/>
                <a:ea typeface="Arial"/>
                <a:cs typeface="Arial"/>
                <a:sym typeface="Arial"/>
              </a:rPr>
              <a:t>GSE60450_Lactation-GenewiseCounts.txt.gz</a:t>
            </a:r>
            <a:endParaRPr b="0" i="0" sz="11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700"/>
              <a:buFont typeface="Arial"/>
              <a:buNone/>
            </a:pPr>
            <a:r>
              <a:rPr b="0" i="0" lang="en" sz="1700" u="none" cap="none" strike="noStrike">
                <a:solidFill>
                  <a:schemeClr val="dk1"/>
                </a:solidFill>
                <a:latin typeface="Helvetica Neue Light"/>
                <a:ea typeface="Helvetica Neue Light"/>
                <a:cs typeface="Helvetica Neue Light"/>
                <a:sym typeface="Helvetica Neue Light"/>
              </a:rPr>
              <a:t>    Counts for each sample for each gene (Entrez Gene Identifiers)</a:t>
            </a:r>
            <a:endParaRPr b="0" i="0" sz="1100" u="none" cap="none" strike="noStrike">
              <a:solidFill>
                <a:srgbClr val="000000"/>
              </a:solidFill>
              <a:latin typeface="Arial"/>
              <a:ea typeface="Arial"/>
              <a:cs typeface="Arial"/>
              <a:sym typeface="Arial"/>
            </a:endParaRPr>
          </a:p>
        </p:txBody>
      </p:sp>
      <p:sp>
        <p:nvSpPr>
          <p:cNvPr id="1489" name="Google Shape;1489;p196"/>
          <p:cNvSpPr/>
          <p:nvPr/>
        </p:nvSpPr>
        <p:spPr>
          <a:xfrm>
            <a:off x="5154978" y="1158321"/>
            <a:ext cx="1795200" cy="849000"/>
          </a:xfrm>
          <a:prstGeom prst="rect">
            <a:avLst/>
          </a:prstGeom>
          <a:noFill/>
          <a:ln>
            <a:noFill/>
          </a:ln>
        </p:spPr>
        <p:txBody>
          <a:bodyPr anchorCtr="0" anchor="t" bIns="34275" lIns="68575" spcFirstLastPara="1" rIns="68575" wrap="square" tIns="34275">
            <a:noAutofit/>
          </a:bodyPr>
          <a:lstStyle/>
          <a:p>
            <a:pPr indent="-215900" lvl="0" marL="215900" marR="0" rtl="0" algn="l">
              <a:lnSpc>
                <a:spcPct val="150000"/>
              </a:lnSpc>
              <a:spcBef>
                <a:spcPts val="0"/>
              </a:spcBef>
              <a:spcAft>
                <a:spcPts val="0"/>
              </a:spcAft>
              <a:buClr>
                <a:srgbClr val="0070C0"/>
              </a:buClr>
              <a:buSzPts val="1800"/>
              <a:buFont typeface="Courier New"/>
              <a:buChar char="o"/>
            </a:pPr>
            <a:r>
              <a:rPr b="0" i="0" lang="en" sz="1800" u="none" cap="none" strike="noStrike">
                <a:solidFill>
                  <a:srgbClr val="0070C0"/>
                </a:solidFill>
                <a:latin typeface="Arial"/>
                <a:ea typeface="Arial"/>
                <a:cs typeface="Arial"/>
                <a:sym typeface="Arial"/>
              </a:rPr>
              <a:t>targets.txt</a:t>
            </a:r>
            <a:endParaRPr b="0" i="0" sz="1800" u="none" cap="none" strike="noStrike">
              <a:solidFill>
                <a:srgbClr val="0070C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 sz="1800" u="none" cap="none" strike="noStrike">
                <a:solidFill>
                  <a:srgbClr val="0070C0"/>
                </a:solidFill>
                <a:latin typeface="Arial"/>
                <a:ea typeface="Arial"/>
                <a:cs typeface="Arial"/>
                <a:sym typeface="Arial"/>
              </a:rPr>
              <a:t>	</a:t>
            </a:r>
            <a:r>
              <a:rPr b="0" i="0" lang="en" sz="1800" u="none" cap="none" strike="noStrike">
                <a:solidFill>
                  <a:schemeClr val="dk1"/>
                </a:solidFill>
                <a:latin typeface="Arial"/>
                <a:ea typeface="Arial"/>
                <a:cs typeface="Arial"/>
                <a:sym typeface="Arial"/>
              </a:rPr>
              <a:t>Phenofile</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4" name="Shape 1494"/>
        <p:cNvGrpSpPr/>
        <p:nvPr/>
      </p:nvGrpSpPr>
      <p:grpSpPr>
        <a:xfrm>
          <a:off x="0" y="0"/>
          <a:ext cx="0" cy="0"/>
          <a:chOff x="0" y="0"/>
          <a:chExt cx="0" cy="0"/>
        </a:xfrm>
      </p:grpSpPr>
      <p:sp>
        <p:nvSpPr>
          <p:cNvPr id="1495" name="Google Shape;1495;p197"/>
          <p:cNvSpPr txBox="1"/>
          <p:nvPr/>
        </p:nvSpPr>
        <p:spPr>
          <a:xfrm>
            <a:off x="181336" y="137151"/>
            <a:ext cx="8962800"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2700"/>
              <a:buFont typeface="Helvetica Neue"/>
              <a:buNone/>
            </a:pPr>
            <a:r>
              <a:rPr b="1" lang="en" sz="2700">
                <a:solidFill>
                  <a:srgbClr val="0066CC"/>
                </a:solidFill>
                <a:latin typeface="Helvetica Neue"/>
                <a:ea typeface="Helvetica Neue"/>
                <a:cs typeface="Helvetica Neue"/>
                <a:sym typeface="Helvetica Neue"/>
              </a:rPr>
              <a:t>Demo </a:t>
            </a:r>
            <a:endParaRPr b="0" i="0" sz="2700" u="none" cap="none" strike="noStrike">
              <a:solidFill>
                <a:srgbClr val="0066CC"/>
              </a:solidFill>
              <a:latin typeface="Helvetica Neue"/>
              <a:ea typeface="Helvetica Neue"/>
              <a:cs typeface="Helvetica Neue"/>
              <a:sym typeface="Helvetica Neue"/>
            </a:endParaRPr>
          </a:p>
        </p:txBody>
      </p:sp>
      <p:sp>
        <p:nvSpPr>
          <p:cNvPr id="1496" name="Google Shape;1496;p197"/>
          <p:cNvSpPr txBox="1"/>
          <p:nvPr/>
        </p:nvSpPr>
        <p:spPr>
          <a:xfrm>
            <a:off x="181336" y="571167"/>
            <a:ext cx="7886700" cy="3387000"/>
          </a:xfrm>
          <a:prstGeom prst="rect">
            <a:avLst/>
          </a:prstGeom>
          <a:noFill/>
          <a:ln>
            <a:noFill/>
          </a:ln>
        </p:spPr>
        <p:txBody>
          <a:bodyPr anchorCtr="0" anchor="t" bIns="34275" lIns="68575" spcFirstLastPara="1" rIns="68575" wrap="square" tIns="34275">
            <a:noAutofit/>
          </a:bodyPr>
          <a:lstStyle/>
          <a:p>
            <a:pPr indent="-114300" lvl="0" marL="0" marR="0" rtl="0" algn="l">
              <a:lnSpc>
                <a:spcPct val="115000"/>
              </a:lnSpc>
              <a:spcBef>
                <a:spcPts val="0"/>
              </a:spcBef>
              <a:spcAft>
                <a:spcPts val="0"/>
              </a:spcAft>
              <a:buClr>
                <a:srgbClr val="212121"/>
              </a:buClr>
              <a:buSzPts val="1800"/>
              <a:buFont typeface="Helvetica Neue"/>
              <a:buChar char="o"/>
            </a:pPr>
            <a:r>
              <a:rPr lang="en" sz="2100">
                <a:solidFill>
                  <a:srgbClr val="212121"/>
                </a:solidFill>
                <a:latin typeface="Helvetica Neue"/>
                <a:ea typeface="Helvetica Neue"/>
                <a:cs typeface="Helvetica Neue"/>
                <a:sym typeface="Helvetica Neue"/>
              </a:rPr>
              <a:t> </a:t>
            </a:r>
            <a:r>
              <a:rPr b="0" i="0" lang="en" sz="2100" u="none" cap="none" strike="noStrike">
                <a:solidFill>
                  <a:srgbClr val="212121"/>
                </a:solidFill>
                <a:latin typeface="Helvetica Neue"/>
                <a:ea typeface="Helvetica Neue"/>
                <a:cs typeface="Helvetica Neue"/>
                <a:sym typeface="Helvetica Neue"/>
              </a:rPr>
              <a:t>Load and reformat the data</a:t>
            </a:r>
            <a:endParaRPr b="0" i="0" sz="1100" u="none" cap="none" strike="noStrike">
              <a:solidFill>
                <a:srgbClr val="212121"/>
              </a:solidFill>
              <a:latin typeface="Arial"/>
              <a:ea typeface="Arial"/>
              <a:cs typeface="Arial"/>
              <a:sym typeface="Arial"/>
            </a:endParaRPr>
          </a:p>
          <a:p>
            <a:pPr indent="-114300" lvl="0" marL="0" marR="0" rtl="0" algn="l">
              <a:lnSpc>
                <a:spcPct val="115000"/>
              </a:lnSpc>
              <a:spcBef>
                <a:spcPts val="800"/>
              </a:spcBef>
              <a:spcAft>
                <a:spcPts val="0"/>
              </a:spcAft>
              <a:buClr>
                <a:srgbClr val="212121"/>
              </a:buClr>
              <a:buSzPts val="1800"/>
              <a:buFont typeface="Helvetica Neue"/>
              <a:buChar char="o"/>
            </a:pPr>
            <a:r>
              <a:rPr lang="en" sz="2100">
                <a:solidFill>
                  <a:srgbClr val="212121"/>
                </a:solidFill>
                <a:latin typeface="Helvetica Neue"/>
                <a:ea typeface="Helvetica Neue"/>
                <a:cs typeface="Helvetica Neue"/>
                <a:sym typeface="Helvetica Neue"/>
              </a:rPr>
              <a:t> </a:t>
            </a:r>
            <a:r>
              <a:rPr b="0" i="0" lang="en" sz="2100" u="none" cap="none" strike="noStrike">
                <a:solidFill>
                  <a:srgbClr val="212121"/>
                </a:solidFill>
                <a:latin typeface="Helvetica Neue"/>
                <a:ea typeface="Helvetica Neue"/>
                <a:cs typeface="Helvetica Neue"/>
                <a:sym typeface="Helvetica Neue"/>
              </a:rPr>
              <a:t>Exploratory visualization : MA plot</a:t>
            </a:r>
            <a:endParaRPr b="0" i="0" sz="1100" u="none" cap="none" strike="noStrike">
              <a:solidFill>
                <a:srgbClr val="212121"/>
              </a:solidFill>
              <a:latin typeface="Arial"/>
              <a:ea typeface="Arial"/>
              <a:cs typeface="Arial"/>
              <a:sym typeface="Arial"/>
            </a:endParaRPr>
          </a:p>
          <a:p>
            <a:pPr indent="-114300" lvl="0" marL="0" marR="0" rtl="0" algn="l">
              <a:lnSpc>
                <a:spcPct val="115000"/>
              </a:lnSpc>
              <a:spcBef>
                <a:spcPts val="800"/>
              </a:spcBef>
              <a:spcAft>
                <a:spcPts val="0"/>
              </a:spcAft>
              <a:buClr>
                <a:srgbClr val="212121"/>
              </a:buClr>
              <a:buSzPts val="1800"/>
              <a:buFont typeface="Helvetica Neue"/>
              <a:buChar char="o"/>
            </a:pPr>
            <a:r>
              <a:rPr lang="en" sz="2100">
                <a:solidFill>
                  <a:srgbClr val="212121"/>
                </a:solidFill>
                <a:latin typeface="Helvetica Neue"/>
                <a:ea typeface="Helvetica Neue"/>
                <a:cs typeface="Helvetica Neue"/>
                <a:sym typeface="Helvetica Neue"/>
              </a:rPr>
              <a:t> </a:t>
            </a:r>
            <a:r>
              <a:rPr b="0" i="0" lang="en" sz="2100" u="none" cap="none" strike="noStrike">
                <a:solidFill>
                  <a:srgbClr val="212121"/>
                </a:solidFill>
                <a:latin typeface="Helvetica Neue"/>
                <a:ea typeface="Helvetica Neue"/>
                <a:cs typeface="Helvetica Neue"/>
                <a:sym typeface="Helvetica Neue"/>
              </a:rPr>
              <a:t>Create DGElist object and retrieve gene symbols</a:t>
            </a:r>
            <a:endParaRPr b="0" i="0" sz="1100" u="none" cap="none" strike="noStrike">
              <a:solidFill>
                <a:srgbClr val="212121"/>
              </a:solidFill>
              <a:latin typeface="Arial"/>
              <a:ea typeface="Arial"/>
              <a:cs typeface="Arial"/>
              <a:sym typeface="Arial"/>
            </a:endParaRPr>
          </a:p>
          <a:p>
            <a:pPr indent="-114300" lvl="0" marL="0" marR="0" rtl="0" algn="l">
              <a:lnSpc>
                <a:spcPct val="115000"/>
              </a:lnSpc>
              <a:spcBef>
                <a:spcPts val="800"/>
              </a:spcBef>
              <a:spcAft>
                <a:spcPts val="0"/>
              </a:spcAft>
              <a:buClr>
                <a:srgbClr val="212121"/>
              </a:buClr>
              <a:buSzPts val="1800"/>
              <a:buFont typeface="Helvetica Neue"/>
              <a:buChar char="o"/>
            </a:pPr>
            <a:r>
              <a:rPr lang="en" sz="2100">
                <a:solidFill>
                  <a:srgbClr val="212121"/>
                </a:solidFill>
                <a:latin typeface="Helvetica Neue"/>
                <a:ea typeface="Helvetica Neue"/>
                <a:cs typeface="Helvetica Neue"/>
                <a:sym typeface="Helvetica Neue"/>
              </a:rPr>
              <a:t> </a:t>
            </a:r>
            <a:r>
              <a:rPr b="0" i="0" lang="en" sz="2100" u="none" cap="none" strike="noStrike">
                <a:solidFill>
                  <a:srgbClr val="212121"/>
                </a:solidFill>
                <a:latin typeface="Helvetica Neue"/>
                <a:ea typeface="Helvetica Neue"/>
                <a:cs typeface="Helvetica Neue"/>
                <a:sym typeface="Helvetica Neue"/>
              </a:rPr>
              <a:t>Filter genes with inadequate information</a:t>
            </a:r>
            <a:endParaRPr sz="2100">
              <a:solidFill>
                <a:srgbClr val="212121"/>
              </a:solidFill>
              <a:latin typeface="Helvetica Neue"/>
              <a:ea typeface="Helvetica Neue"/>
              <a:cs typeface="Helvetica Neue"/>
              <a:sym typeface="Helvetica Neue"/>
            </a:endParaRPr>
          </a:p>
          <a:p>
            <a:pPr indent="-114300" lvl="0" marL="0" marR="0" rtl="0" algn="l">
              <a:lnSpc>
                <a:spcPct val="115000"/>
              </a:lnSpc>
              <a:spcBef>
                <a:spcPts val="800"/>
              </a:spcBef>
              <a:spcAft>
                <a:spcPts val="0"/>
              </a:spcAft>
              <a:buClr>
                <a:srgbClr val="212121"/>
              </a:buClr>
              <a:buSzPts val="1800"/>
              <a:buFont typeface="Helvetica Neue"/>
              <a:buChar char="o"/>
            </a:pPr>
            <a:r>
              <a:rPr lang="en" sz="2100">
                <a:solidFill>
                  <a:srgbClr val="212121"/>
                </a:solidFill>
                <a:latin typeface="Helvetica Neue"/>
                <a:ea typeface="Helvetica Neue"/>
                <a:cs typeface="Helvetica Neue"/>
                <a:sym typeface="Helvetica Neue"/>
              </a:rPr>
              <a:t> Normalization</a:t>
            </a:r>
            <a:endParaRPr sz="2100">
              <a:solidFill>
                <a:srgbClr val="212121"/>
              </a:solidFill>
              <a:latin typeface="Helvetica Neue"/>
              <a:ea typeface="Helvetica Neue"/>
              <a:cs typeface="Helvetica Neue"/>
              <a:sym typeface="Helvetica Neue"/>
            </a:endParaRPr>
          </a:p>
          <a:p>
            <a:pPr indent="-114300" lvl="0" marL="0" marR="0" rtl="0" algn="l">
              <a:lnSpc>
                <a:spcPct val="115000"/>
              </a:lnSpc>
              <a:spcBef>
                <a:spcPts val="800"/>
              </a:spcBef>
              <a:spcAft>
                <a:spcPts val="0"/>
              </a:spcAft>
              <a:buClr>
                <a:srgbClr val="212121"/>
              </a:buClr>
              <a:buSzPts val="1800"/>
              <a:buFont typeface="Helvetica Neue"/>
              <a:buChar char="o"/>
            </a:pPr>
            <a:r>
              <a:rPr lang="en" sz="2100">
                <a:solidFill>
                  <a:srgbClr val="212121"/>
                </a:solidFill>
                <a:latin typeface="Helvetica Neue"/>
                <a:ea typeface="Helvetica Neue"/>
                <a:cs typeface="Helvetica Neue"/>
                <a:sym typeface="Helvetica Neue"/>
              </a:rPr>
              <a:t> Exploratory visualization : MDS and PCA plots</a:t>
            </a:r>
            <a:endParaRPr sz="2100">
              <a:solidFill>
                <a:srgbClr val="212121"/>
              </a:solidFill>
              <a:latin typeface="Helvetica Neue"/>
              <a:ea typeface="Helvetica Neue"/>
              <a:cs typeface="Helvetica Neue"/>
              <a:sym typeface="Helvetica Neue"/>
            </a:endParaRPr>
          </a:p>
          <a:p>
            <a:pPr indent="-114300" lvl="0" marL="0" marR="0" rtl="0" algn="l">
              <a:lnSpc>
                <a:spcPct val="115000"/>
              </a:lnSpc>
              <a:spcBef>
                <a:spcPts val="800"/>
              </a:spcBef>
              <a:spcAft>
                <a:spcPts val="0"/>
              </a:spcAft>
              <a:buClr>
                <a:srgbClr val="212121"/>
              </a:buClr>
              <a:buSzPts val="1800"/>
              <a:buFont typeface="Helvetica Neue"/>
              <a:buChar char="o"/>
            </a:pPr>
            <a:r>
              <a:rPr lang="en" sz="2100">
                <a:solidFill>
                  <a:srgbClr val="212121"/>
                </a:solidFill>
                <a:latin typeface="Helvetica Neue"/>
                <a:ea typeface="Helvetica Neue"/>
                <a:cs typeface="Helvetica Neue"/>
                <a:sym typeface="Helvetica Neue"/>
              </a:rPr>
              <a:t> </a:t>
            </a:r>
            <a:r>
              <a:rPr lang="en" sz="2100">
                <a:solidFill>
                  <a:srgbClr val="212121"/>
                </a:solidFill>
                <a:latin typeface="Helvetica Neue"/>
                <a:ea typeface="Helvetica Neue"/>
                <a:cs typeface="Helvetica Neue"/>
                <a:sym typeface="Helvetica Neue"/>
              </a:rPr>
              <a:t>Define and fit a model</a:t>
            </a:r>
            <a:endParaRPr sz="1100">
              <a:solidFill>
                <a:srgbClr val="212121"/>
              </a:solidFill>
            </a:endParaRPr>
          </a:p>
          <a:p>
            <a:pPr indent="-114300" lvl="0" marL="0" marR="0" rtl="0" algn="l">
              <a:lnSpc>
                <a:spcPct val="115000"/>
              </a:lnSpc>
              <a:spcBef>
                <a:spcPts val="800"/>
              </a:spcBef>
              <a:spcAft>
                <a:spcPts val="0"/>
              </a:spcAft>
              <a:buClr>
                <a:srgbClr val="212121"/>
              </a:buClr>
              <a:buSzPts val="1800"/>
              <a:buFont typeface="Helvetica Neue"/>
              <a:buChar char="o"/>
            </a:pPr>
            <a:r>
              <a:rPr lang="en" sz="1100">
                <a:solidFill>
                  <a:srgbClr val="212121"/>
                </a:solidFill>
              </a:rPr>
              <a:t> </a:t>
            </a:r>
            <a:r>
              <a:rPr lang="en" sz="2100">
                <a:solidFill>
                  <a:srgbClr val="212121"/>
                </a:solidFill>
                <a:latin typeface="Helvetica Neue"/>
                <a:ea typeface="Helvetica Neue"/>
                <a:cs typeface="Helvetica Neue"/>
                <a:sym typeface="Helvetica Neue"/>
              </a:rPr>
              <a:t>Hypothesis testing (four comparisons)</a:t>
            </a:r>
            <a:endParaRPr sz="1100">
              <a:solidFill>
                <a:srgbClr val="212121"/>
              </a:solidFill>
            </a:endParaRPr>
          </a:p>
          <a:p>
            <a:pPr indent="-114300" lvl="0" marL="0" marR="0" rtl="0" algn="l">
              <a:lnSpc>
                <a:spcPct val="115000"/>
              </a:lnSpc>
              <a:spcBef>
                <a:spcPts val="800"/>
              </a:spcBef>
              <a:spcAft>
                <a:spcPts val="0"/>
              </a:spcAft>
              <a:buClr>
                <a:srgbClr val="212121"/>
              </a:buClr>
              <a:buSzPts val="1800"/>
              <a:buFont typeface="Helvetica Neue"/>
              <a:buChar char="o"/>
            </a:pPr>
            <a:r>
              <a:rPr lang="en" sz="1100">
                <a:solidFill>
                  <a:srgbClr val="212121"/>
                </a:solidFill>
              </a:rPr>
              <a:t> </a:t>
            </a:r>
            <a:r>
              <a:rPr lang="en" sz="2100">
                <a:solidFill>
                  <a:srgbClr val="212121"/>
                </a:solidFill>
                <a:latin typeface="Helvetica Neue"/>
                <a:ea typeface="Helvetica Neue"/>
                <a:cs typeface="Helvetica Neue"/>
                <a:sym typeface="Helvetica Neue"/>
              </a:rPr>
              <a:t>Save results as a table (open in Excel)</a:t>
            </a:r>
            <a:endParaRPr sz="2100">
              <a:solidFill>
                <a:srgbClr val="212121"/>
              </a:solidFill>
              <a:latin typeface="Helvetica Neue"/>
              <a:ea typeface="Helvetica Neue"/>
              <a:cs typeface="Helvetica Neue"/>
              <a:sym typeface="Helvetica Neue"/>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1" name="Shape 1501"/>
        <p:cNvGrpSpPr/>
        <p:nvPr/>
      </p:nvGrpSpPr>
      <p:grpSpPr>
        <a:xfrm>
          <a:off x="0" y="0"/>
          <a:ext cx="0" cy="0"/>
          <a:chOff x="0" y="0"/>
          <a:chExt cx="0" cy="0"/>
        </a:xfrm>
      </p:grpSpPr>
      <p:sp>
        <p:nvSpPr>
          <p:cNvPr id="1502" name="Google Shape;1502;p198"/>
          <p:cNvSpPr/>
          <p:nvPr/>
        </p:nvSpPr>
        <p:spPr>
          <a:xfrm>
            <a:off x="310450" y="1499650"/>
            <a:ext cx="8732100" cy="3399600"/>
          </a:xfrm>
          <a:prstGeom prst="rect">
            <a:avLst/>
          </a:prstGeom>
          <a:noFill/>
          <a:ln>
            <a:noFill/>
          </a:ln>
        </p:spPr>
        <p:txBody>
          <a:bodyPr anchorCtr="0" anchor="t" bIns="34275" lIns="68575" spcFirstLastPara="1" rIns="68575" wrap="square" tIns="34275">
            <a:noAutofit/>
          </a:bodyPr>
          <a:lstStyle/>
          <a:p>
            <a:pPr indent="-133350" lvl="0" marL="0" marR="0" rtl="0" algn="l">
              <a:lnSpc>
                <a:spcPct val="150000"/>
              </a:lnSpc>
              <a:spcBef>
                <a:spcPts val="0"/>
              </a:spcBef>
              <a:spcAft>
                <a:spcPts val="0"/>
              </a:spcAft>
              <a:buClr>
                <a:srgbClr val="0071AF"/>
              </a:buClr>
              <a:buSzPts val="2100"/>
              <a:buFont typeface="Courier New"/>
              <a:buChar char="o"/>
            </a:pPr>
            <a:r>
              <a:rPr b="0" i="0" lang="en" sz="2100" u="none" cap="none" strike="noStrike">
                <a:solidFill>
                  <a:srgbClr val="002B42"/>
                </a:solidFill>
                <a:latin typeface="Helvetica Neue Light"/>
                <a:ea typeface="Helvetica Neue Light"/>
                <a:cs typeface="Helvetica Neue Light"/>
                <a:sym typeface="Helvetica Neue Light"/>
              </a:rPr>
              <a:t> Raw counts are not comparable across samples/genes within a sample</a:t>
            </a:r>
            <a:endParaRPr b="0" i="0" sz="1100" u="none" cap="none" strike="noStrike">
              <a:solidFill>
                <a:srgbClr val="000000"/>
              </a:solidFill>
              <a:latin typeface="Arial"/>
              <a:ea typeface="Arial"/>
              <a:cs typeface="Arial"/>
              <a:sym typeface="Arial"/>
            </a:endParaRPr>
          </a:p>
          <a:p>
            <a:pPr indent="-133350" lvl="0" marL="0" marR="0" rtl="0" algn="l">
              <a:lnSpc>
                <a:spcPct val="150000"/>
              </a:lnSpc>
              <a:spcBef>
                <a:spcPts val="0"/>
              </a:spcBef>
              <a:spcAft>
                <a:spcPts val="0"/>
              </a:spcAft>
              <a:buClr>
                <a:srgbClr val="0071AF"/>
              </a:buClr>
              <a:buSzPts val="2100"/>
              <a:buFont typeface="Courier New"/>
              <a:buChar char="o"/>
            </a:pPr>
            <a:r>
              <a:rPr b="0" i="0" lang="en" sz="2100" u="none" cap="none" strike="noStrike">
                <a:solidFill>
                  <a:srgbClr val="002B42"/>
                </a:solidFill>
                <a:latin typeface="Helvetica Neue Light"/>
                <a:ea typeface="Helvetica Neue Light"/>
                <a:cs typeface="Helvetica Neue Light"/>
                <a:sym typeface="Helvetica Neue Light"/>
              </a:rPr>
              <a:t> Several normalization methods: some more suitable for DEG</a:t>
            </a:r>
            <a:endParaRPr b="0" i="0" sz="1100" u="none" cap="none" strike="noStrike">
              <a:solidFill>
                <a:srgbClr val="000000"/>
              </a:solidFill>
              <a:latin typeface="Arial"/>
              <a:ea typeface="Arial"/>
              <a:cs typeface="Arial"/>
              <a:sym typeface="Arial"/>
            </a:endParaRPr>
          </a:p>
          <a:p>
            <a:pPr indent="-133350" lvl="0" marL="0" marR="0" rtl="0" algn="l">
              <a:lnSpc>
                <a:spcPct val="150000"/>
              </a:lnSpc>
              <a:spcBef>
                <a:spcPts val="0"/>
              </a:spcBef>
              <a:spcAft>
                <a:spcPts val="0"/>
              </a:spcAft>
              <a:buClr>
                <a:srgbClr val="0071AF"/>
              </a:buClr>
              <a:buSzPts val="2100"/>
              <a:buFont typeface="Courier New"/>
              <a:buChar char="o"/>
            </a:pPr>
            <a:r>
              <a:rPr b="0" i="0" lang="en" sz="2100" u="none" cap="none" strike="noStrike">
                <a:solidFill>
                  <a:srgbClr val="002B42"/>
                </a:solidFill>
                <a:latin typeface="Helvetica Neue Light"/>
                <a:ea typeface="Helvetica Neue Light"/>
                <a:cs typeface="Helvetica Neue Light"/>
                <a:sym typeface="Helvetica Neue Light"/>
              </a:rPr>
              <a:t> Estimate the dispersion, visualize the technical variability </a:t>
            </a:r>
            <a:endParaRPr b="0" i="0" sz="1100" u="none" cap="none" strike="noStrike">
              <a:solidFill>
                <a:srgbClr val="000000"/>
              </a:solidFill>
              <a:latin typeface="Arial"/>
              <a:ea typeface="Arial"/>
              <a:cs typeface="Arial"/>
              <a:sym typeface="Arial"/>
            </a:endParaRPr>
          </a:p>
          <a:p>
            <a:pPr indent="-133350" lvl="0" marL="0" marR="0" rtl="0" algn="l">
              <a:lnSpc>
                <a:spcPct val="150000"/>
              </a:lnSpc>
              <a:spcBef>
                <a:spcPts val="0"/>
              </a:spcBef>
              <a:spcAft>
                <a:spcPts val="0"/>
              </a:spcAft>
              <a:buClr>
                <a:srgbClr val="0071AF"/>
              </a:buClr>
              <a:buSzPts val="2100"/>
              <a:buFont typeface="Courier New"/>
              <a:buChar char="o"/>
            </a:pPr>
            <a:r>
              <a:rPr b="0" i="0" lang="en" sz="2100" u="none" cap="none" strike="noStrike">
                <a:solidFill>
                  <a:srgbClr val="002B42"/>
                </a:solidFill>
                <a:latin typeface="Helvetica Neue Light"/>
                <a:ea typeface="Helvetica Neue Light"/>
                <a:cs typeface="Helvetica Neue Light"/>
                <a:sym typeface="Helvetica Neue Light"/>
              </a:rPr>
              <a:t> Fit the model:  counts variance exceeding the mean </a:t>
            </a:r>
            <a:endParaRPr b="0" i="0" sz="1100" u="none" cap="none" strike="noStrike">
              <a:solidFill>
                <a:schemeClr val="dk1"/>
              </a:solidFill>
              <a:latin typeface="Arial"/>
              <a:ea typeface="Arial"/>
              <a:cs typeface="Arial"/>
              <a:sym typeface="Arial"/>
            </a:endParaRPr>
          </a:p>
          <a:p>
            <a:pPr indent="-133350" lvl="0" marL="0" marR="0" rtl="0" algn="l">
              <a:lnSpc>
                <a:spcPct val="150000"/>
              </a:lnSpc>
              <a:spcBef>
                <a:spcPts val="0"/>
              </a:spcBef>
              <a:spcAft>
                <a:spcPts val="0"/>
              </a:spcAft>
              <a:buClr>
                <a:srgbClr val="0071AF"/>
              </a:buClr>
              <a:buSzPts val="2100"/>
              <a:buFont typeface="Courier New"/>
              <a:buChar char="o"/>
            </a:pPr>
            <a:r>
              <a:rPr b="0" i="0" lang="en" sz="2100" u="none" cap="none" strike="noStrike">
                <a:solidFill>
                  <a:srgbClr val="002B42"/>
                </a:solidFill>
                <a:latin typeface="Helvetica Neue Light"/>
                <a:ea typeface="Helvetica Neue Light"/>
                <a:cs typeface="Helvetica Neue Light"/>
                <a:sym typeface="Helvetica Neue Light"/>
              </a:rPr>
              <a:t> Make all the comparisons that you wish using compl</a:t>
            </a:r>
            <a:r>
              <a:rPr lang="en" sz="2100">
                <a:solidFill>
                  <a:srgbClr val="002B42"/>
                </a:solidFill>
                <a:latin typeface="Helvetica Neue Light"/>
                <a:ea typeface="Helvetica Neue Light"/>
                <a:cs typeface="Helvetica Neue Light"/>
                <a:sym typeface="Helvetica Neue Light"/>
              </a:rPr>
              <a:t>icated</a:t>
            </a:r>
            <a:r>
              <a:rPr b="0" i="0" lang="en" sz="2100" u="none" cap="none" strike="noStrike">
                <a:solidFill>
                  <a:srgbClr val="002B42"/>
                </a:solidFill>
                <a:latin typeface="Helvetica Neue Light"/>
                <a:ea typeface="Helvetica Neue Light"/>
                <a:cs typeface="Helvetica Neue Light"/>
                <a:sym typeface="Helvetica Neue Light"/>
              </a:rPr>
              <a:t> contrasts</a:t>
            </a:r>
            <a:endParaRPr b="0" i="0" sz="2100" u="none" cap="none" strike="noStrike">
              <a:solidFill>
                <a:srgbClr val="002B42"/>
              </a:solidFill>
              <a:latin typeface="Helvetica Neue Light"/>
              <a:ea typeface="Helvetica Neue Light"/>
              <a:cs typeface="Helvetica Neue Light"/>
              <a:sym typeface="Helvetica Neue Light"/>
            </a:endParaRPr>
          </a:p>
          <a:p>
            <a:pPr indent="-133350" lvl="0" marL="0" marR="0" rtl="0" algn="l">
              <a:lnSpc>
                <a:spcPct val="150000"/>
              </a:lnSpc>
              <a:spcBef>
                <a:spcPts val="0"/>
              </a:spcBef>
              <a:spcAft>
                <a:spcPts val="0"/>
              </a:spcAft>
              <a:buClr>
                <a:srgbClr val="0071AF"/>
              </a:buClr>
              <a:buSzPts val="2100"/>
              <a:buFont typeface="Courier New"/>
              <a:buChar char="o"/>
            </a:pPr>
            <a:r>
              <a:rPr b="0" i="0" lang="en" sz="2100" u="none" cap="none" strike="noStrike">
                <a:solidFill>
                  <a:srgbClr val="002B42"/>
                </a:solidFill>
                <a:latin typeface="Helvetica Neue Light"/>
                <a:ea typeface="Helvetica Neue Light"/>
                <a:cs typeface="Helvetica Neue Light"/>
                <a:sym typeface="Helvetica Neue Light"/>
              </a:rPr>
              <a:t> Visualize the DEG and get a list for pathway analysis</a:t>
            </a:r>
            <a:endParaRPr b="0" i="0" sz="1100" u="none" cap="none" strike="noStrike">
              <a:solidFill>
                <a:srgbClr val="000000"/>
              </a:solidFill>
              <a:latin typeface="Arial"/>
              <a:ea typeface="Arial"/>
              <a:cs typeface="Arial"/>
              <a:sym typeface="Arial"/>
            </a:endParaRPr>
          </a:p>
        </p:txBody>
      </p:sp>
      <p:sp>
        <p:nvSpPr>
          <p:cNvPr id="1503" name="Google Shape;1503;p198"/>
          <p:cNvSpPr txBox="1"/>
          <p:nvPr>
            <p:ph idx="4294967295" type="title"/>
          </p:nvPr>
        </p:nvSpPr>
        <p:spPr>
          <a:xfrm>
            <a:off x="156000" y="128191"/>
            <a:ext cx="7886700" cy="9144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solidFill>
                  <a:srgbClr val="F76912"/>
                </a:solidFill>
              </a:rPr>
              <a:t>Session III</a:t>
            </a:r>
            <a:endParaRPr/>
          </a:p>
          <a:p>
            <a:pPr indent="0" lvl="0" marL="0" rtl="0" algn="l">
              <a:spcBef>
                <a:spcPts val="0"/>
              </a:spcBef>
              <a:spcAft>
                <a:spcPts val="0"/>
              </a:spcAft>
              <a:buNone/>
            </a:pPr>
            <a:r>
              <a:rPr lang="en">
                <a:solidFill>
                  <a:srgbClr val="0070C0"/>
                </a:solidFill>
              </a:rPr>
              <a:t>Take-home messages</a:t>
            </a:r>
            <a:endParaRPr>
              <a:solidFill>
                <a:srgbClr val="0070C0"/>
              </a:solidFill>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8" name="Shape 1508"/>
        <p:cNvGrpSpPr/>
        <p:nvPr/>
      </p:nvGrpSpPr>
      <p:grpSpPr>
        <a:xfrm>
          <a:off x="0" y="0"/>
          <a:ext cx="0" cy="0"/>
          <a:chOff x="0" y="0"/>
          <a:chExt cx="0" cy="0"/>
        </a:xfrm>
      </p:grpSpPr>
      <p:sp>
        <p:nvSpPr>
          <p:cNvPr id="1509" name="Google Shape;1509;p199"/>
          <p:cNvSpPr/>
          <p:nvPr/>
        </p:nvSpPr>
        <p:spPr>
          <a:xfrm>
            <a:off x="57699" y="2282200"/>
            <a:ext cx="8835600" cy="729000"/>
          </a:xfrm>
          <a:prstGeom prst="rect">
            <a:avLst/>
          </a:prstGeom>
          <a:noFill/>
          <a:ln>
            <a:noFill/>
          </a:ln>
        </p:spPr>
        <p:txBody>
          <a:bodyPr anchorCtr="0" anchor="t" bIns="34275" lIns="68575" spcFirstLastPara="1" rIns="68575" wrap="square" tIns="34275">
            <a:noAutofit/>
          </a:bodyPr>
          <a:lstStyle/>
          <a:p>
            <a:pPr indent="0" lvl="0" marL="101600" marR="0" rtl="0" algn="l">
              <a:lnSpc>
                <a:spcPct val="100000"/>
              </a:lnSpc>
              <a:spcBef>
                <a:spcPts val="0"/>
              </a:spcBef>
              <a:spcAft>
                <a:spcPts val="0"/>
              </a:spcAft>
              <a:buClr>
                <a:srgbClr val="000000"/>
              </a:buClr>
              <a:buSzPts val="1800"/>
              <a:buFont typeface="Arial"/>
              <a:buNone/>
            </a:pPr>
            <a:r>
              <a:rPr b="0" i="0" lang="en" sz="2100" u="none" cap="none" strike="noStrike">
                <a:solidFill>
                  <a:schemeClr val="dk1"/>
                </a:solidFill>
                <a:latin typeface="Arial"/>
                <a:ea typeface="Arial"/>
                <a:cs typeface="Arial"/>
                <a:sym typeface="Arial"/>
              </a:rPr>
              <a:t>Real data might need additional analyses choices that need experience</a:t>
            </a:r>
            <a:endParaRPr b="0" i="0" sz="2100" u="none" cap="none" strike="noStrike">
              <a:solidFill>
                <a:schemeClr val="dk1"/>
              </a:solidFill>
              <a:latin typeface="Arial"/>
              <a:ea typeface="Arial"/>
              <a:cs typeface="Arial"/>
              <a:sym typeface="Arial"/>
            </a:endParaRPr>
          </a:p>
          <a:p>
            <a:pPr indent="0" lvl="0" marL="101600" marR="0" rtl="0" algn="l">
              <a:lnSpc>
                <a:spcPct val="100000"/>
              </a:lnSpc>
              <a:spcBef>
                <a:spcPts val="0"/>
              </a:spcBef>
              <a:spcAft>
                <a:spcPts val="0"/>
              </a:spcAft>
              <a:buClr>
                <a:srgbClr val="000000"/>
              </a:buClr>
              <a:buSzPts val="1800"/>
              <a:buFont typeface="Arial"/>
              <a:buNone/>
            </a:pPr>
            <a:r>
              <a:rPr b="1" lang="en" sz="2100">
                <a:solidFill>
                  <a:schemeClr val="dk1"/>
                </a:solidFill>
              </a:rPr>
              <a:t>AI - </a:t>
            </a:r>
            <a:r>
              <a:rPr b="1" lang="en" sz="2100" u="sng">
                <a:solidFill>
                  <a:srgbClr val="F76912"/>
                </a:solidFill>
                <a:hlinkClick r:id="rId3">
                  <a:extLst>
                    <a:ext uri="{A12FA001-AC4F-418D-AE19-62706E023703}">
                      <ahyp:hlinkClr val="tx"/>
                    </a:ext>
                  </a:extLst>
                </a:hlinkClick>
              </a:rPr>
              <a:t>Core position paper</a:t>
            </a:r>
            <a:endParaRPr b="1" sz="2100">
              <a:solidFill>
                <a:srgbClr val="F76912"/>
              </a:solidFill>
            </a:endParaRPr>
          </a:p>
          <a:p>
            <a:pPr indent="0" lvl="0" marL="101600" marR="0" rtl="0" algn="l">
              <a:lnSpc>
                <a:spcPct val="100000"/>
              </a:lnSpc>
              <a:spcBef>
                <a:spcPts val="0"/>
              </a:spcBef>
              <a:spcAft>
                <a:spcPts val="0"/>
              </a:spcAft>
              <a:buClr>
                <a:srgbClr val="000000"/>
              </a:buClr>
              <a:buSzPts val="1800"/>
              <a:buFont typeface="Arial"/>
              <a:buNone/>
            </a:pPr>
            <a:r>
              <a:t/>
            </a:r>
            <a:endParaRPr b="1" sz="2100">
              <a:solidFill>
                <a:schemeClr val="dk1"/>
              </a:solidFill>
            </a:endParaRPr>
          </a:p>
          <a:p>
            <a:pPr indent="0" lvl="0" marL="101600" marR="0" rtl="0" algn="l">
              <a:lnSpc>
                <a:spcPct val="100000"/>
              </a:lnSpc>
              <a:spcBef>
                <a:spcPts val="800"/>
              </a:spcBef>
              <a:spcAft>
                <a:spcPts val="0"/>
              </a:spcAft>
              <a:buClr>
                <a:srgbClr val="000000"/>
              </a:buClr>
              <a:buSzPts val="1800"/>
              <a:buFont typeface="Arial"/>
              <a:buNone/>
            </a:pPr>
            <a:r>
              <a:rPr b="0" i="0" lang="en" sz="2000" u="none" cap="none" strike="noStrike">
                <a:solidFill>
                  <a:schemeClr val="dk1"/>
                </a:solidFill>
                <a:latin typeface="Arial"/>
                <a:ea typeface="Arial"/>
                <a:cs typeface="Arial"/>
                <a:sym typeface="Arial"/>
              </a:rPr>
              <a:t>Consult with the </a:t>
            </a:r>
            <a:r>
              <a:rPr b="0" i="0" lang="en" sz="2000" u="sng" cap="none" strike="noStrike">
                <a:solidFill>
                  <a:srgbClr val="F76912"/>
                </a:solidFill>
                <a:latin typeface="Arial"/>
                <a:ea typeface="Arial"/>
                <a:cs typeface="Arial"/>
                <a:sym typeface="Arial"/>
                <a:hlinkClick r:id="rId4">
                  <a:extLst>
                    <a:ext uri="{A12FA001-AC4F-418D-AE19-62706E023703}">
                      <ahyp:hlinkClr val="tx"/>
                    </a:ext>
                  </a:extLst>
                </a:hlinkClick>
              </a:rPr>
              <a:t>Gladstone Bioinformatics core</a:t>
            </a:r>
            <a:r>
              <a:rPr b="0" i="0" lang="en" sz="2000" u="none" cap="none" strike="noStrike">
                <a:solidFill>
                  <a:schemeClr val="dk1"/>
                </a:solidFill>
                <a:latin typeface="Arial"/>
                <a:ea typeface="Arial"/>
                <a:cs typeface="Arial"/>
                <a:sym typeface="Arial"/>
              </a:rPr>
              <a:t> for such scenarios and data.</a:t>
            </a:r>
            <a:endParaRPr b="0" i="0" sz="1300" u="none" cap="none" strike="noStrike">
              <a:solidFill>
                <a:srgbClr val="000000"/>
              </a:solidFill>
              <a:latin typeface="Arial"/>
              <a:ea typeface="Arial"/>
              <a:cs typeface="Arial"/>
              <a:sym typeface="Arial"/>
            </a:endParaRPr>
          </a:p>
        </p:txBody>
      </p:sp>
      <p:sp>
        <p:nvSpPr>
          <p:cNvPr id="1510" name="Google Shape;1510;p199"/>
          <p:cNvSpPr txBox="1"/>
          <p:nvPr/>
        </p:nvSpPr>
        <p:spPr>
          <a:xfrm>
            <a:off x="154200" y="965225"/>
            <a:ext cx="8835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latin typeface="Helvetica Neue"/>
                <a:ea typeface="Helvetica Neue"/>
                <a:cs typeface="Helvetica Neue"/>
                <a:sym typeface="Helvetica Neue"/>
              </a:rPr>
              <a:t>Q1. Experimental design with repeated measures - alternative methods</a:t>
            </a:r>
            <a:endParaRPr sz="21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 sz="2100">
                <a:solidFill>
                  <a:schemeClr val="dk1"/>
                </a:solidFill>
                <a:latin typeface="Helvetica Neue"/>
                <a:ea typeface="Helvetica Neue"/>
                <a:cs typeface="Helvetica Neue"/>
                <a:sym typeface="Helvetica Neue"/>
              </a:rPr>
              <a:t>Q2. Batch effects in bulk </a:t>
            </a:r>
            <a:endParaRPr sz="2100">
              <a:solidFill>
                <a:schemeClr val="dk1"/>
              </a:solidFill>
              <a:latin typeface="Helvetica Neue"/>
              <a:ea typeface="Helvetica Neue"/>
              <a:cs typeface="Helvetica Neue"/>
              <a:sym typeface="Helvetica Neue"/>
            </a:endParaRPr>
          </a:p>
        </p:txBody>
      </p:sp>
      <p:sp>
        <p:nvSpPr>
          <p:cNvPr id="1511" name="Google Shape;1511;p199"/>
          <p:cNvSpPr txBox="1"/>
          <p:nvPr/>
        </p:nvSpPr>
        <p:spPr>
          <a:xfrm>
            <a:off x="109449" y="200456"/>
            <a:ext cx="8732100" cy="736800"/>
          </a:xfrm>
          <a:prstGeom prst="rect">
            <a:avLst/>
          </a:prstGeom>
          <a:noFill/>
          <a:ln>
            <a:noFill/>
          </a:ln>
        </p:spPr>
        <p:txBody>
          <a:bodyPr anchorCtr="0" anchor="t" bIns="0" lIns="0" spcFirstLastPara="1" rIns="0" wrap="square" tIns="0">
            <a:normAutofit lnSpcReduction="20000"/>
          </a:bodyPr>
          <a:lstStyle/>
          <a:p>
            <a:pPr indent="0" lvl="0" marL="0" marR="0" rtl="0" algn="l">
              <a:lnSpc>
                <a:spcPct val="90000"/>
              </a:lnSpc>
              <a:spcBef>
                <a:spcPts val="0"/>
              </a:spcBef>
              <a:spcAft>
                <a:spcPts val="0"/>
              </a:spcAft>
              <a:buClr>
                <a:schemeClr val="lt1"/>
              </a:buClr>
              <a:buSzPts val="3300"/>
              <a:buFont typeface="Helvetica Neue"/>
              <a:buNone/>
            </a:pPr>
            <a:r>
              <a:rPr b="1" lang="en" sz="3300">
                <a:solidFill>
                  <a:srgbClr val="0066CC"/>
                </a:solidFill>
                <a:latin typeface="Helvetica Neue"/>
                <a:ea typeface="Helvetica Neue"/>
                <a:cs typeface="Helvetica Neue"/>
                <a:sym typeface="Helvetica Neue"/>
              </a:rPr>
              <a:t>What if </a:t>
            </a:r>
            <a:endParaRPr b="0" i="0" sz="3300" u="none" cap="none" strike="noStrike">
              <a:solidFill>
                <a:srgbClr val="0066CC"/>
              </a:solidFill>
              <a:latin typeface="Helvetica Neue"/>
              <a:ea typeface="Helvetica Neue"/>
              <a:cs typeface="Helvetica Neue"/>
              <a:sym typeface="Helvetica Neue"/>
            </a:endParaRPr>
          </a:p>
          <a:p>
            <a:pPr indent="0" lvl="0" marL="0" marR="0" rtl="0" algn="l">
              <a:lnSpc>
                <a:spcPct val="90000"/>
              </a:lnSpc>
              <a:spcBef>
                <a:spcPts val="0"/>
              </a:spcBef>
              <a:spcAft>
                <a:spcPts val="0"/>
              </a:spcAft>
              <a:buClr>
                <a:schemeClr val="lt1"/>
              </a:buClr>
              <a:buSzPts val="3300"/>
              <a:buFont typeface="Helvetica Neue"/>
              <a:buNone/>
            </a:pPr>
            <a:r>
              <a:t/>
            </a:r>
            <a:endParaRPr b="1" i="0" sz="3300" u="none" cap="none" strike="noStrike">
              <a:solidFill>
                <a:srgbClr val="0066CC"/>
              </a:solidFill>
              <a:latin typeface="Helvetica Neue"/>
              <a:ea typeface="Helvetica Neue"/>
              <a:cs typeface="Helvetica Neue"/>
              <a:sym typeface="Helvetica Neue"/>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5" name="Shape 1515"/>
        <p:cNvGrpSpPr/>
        <p:nvPr/>
      </p:nvGrpSpPr>
      <p:grpSpPr>
        <a:xfrm>
          <a:off x="0" y="0"/>
          <a:ext cx="0" cy="0"/>
          <a:chOff x="0" y="0"/>
          <a:chExt cx="0" cy="0"/>
        </a:xfrm>
      </p:grpSpPr>
      <p:sp>
        <p:nvSpPr>
          <p:cNvPr id="1516" name="Google Shape;1516;p200"/>
          <p:cNvSpPr txBox="1"/>
          <p:nvPr>
            <p:ph type="title"/>
          </p:nvPr>
        </p:nvSpPr>
        <p:spPr>
          <a:xfrm>
            <a:off x="142100" y="142091"/>
            <a:ext cx="7886700" cy="736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0" lang="en" sz="3200" u="sng">
                <a:solidFill>
                  <a:srgbClr val="0000FF"/>
                </a:solidFill>
                <a:latin typeface="Arial"/>
                <a:ea typeface="Arial"/>
                <a:cs typeface="Arial"/>
                <a:sym typeface="Arial"/>
                <a:hlinkClick r:id="rId3">
                  <a:extLst>
                    <a:ext uri="{A12FA001-AC4F-418D-AE19-62706E023703}">
                      <ahyp:hlinkClr val="tx"/>
                    </a:ext>
                  </a:extLst>
                </a:hlinkClick>
              </a:rPr>
              <a:t>Upcoming workshops</a:t>
            </a:r>
            <a:r>
              <a:rPr b="0" lang="en" sz="3200">
                <a:solidFill>
                  <a:srgbClr val="1F497D"/>
                </a:solidFill>
                <a:latin typeface="Arial"/>
                <a:ea typeface="Arial"/>
                <a:cs typeface="Arial"/>
                <a:sym typeface="Arial"/>
              </a:rPr>
              <a:t> </a:t>
            </a:r>
            <a:r>
              <a:rPr lang="en" sz="3200">
                <a:solidFill>
                  <a:srgbClr val="0066CC"/>
                </a:solidFill>
              </a:rPr>
              <a:t> at Gladstone:</a:t>
            </a:r>
            <a:endParaRPr sz="3200">
              <a:solidFill>
                <a:srgbClr val="0066CC"/>
              </a:solidFill>
            </a:endParaRPr>
          </a:p>
        </p:txBody>
      </p:sp>
      <p:sp>
        <p:nvSpPr>
          <p:cNvPr id="1517" name="Google Shape;1517;p200"/>
          <p:cNvSpPr txBox="1"/>
          <p:nvPr>
            <p:ph idx="1" type="body"/>
          </p:nvPr>
        </p:nvSpPr>
        <p:spPr>
          <a:xfrm>
            <a:off x="142100" y="799725"/>
            <a:ext cx="6064800" cy="3738000"/>
          </a:xfrm>
          <a:prstGeom prst="rect">
            <a:avLst/>
          </a:prstGeom>
          <a:solidFill>
            <a:schemeClr val="lt1"/>
          </a:solidFill>
        </p:spPr>
        <p:txBody>
          <a:bodyPr anchorCtr="0" anchor="t" bIns="0" lIns="0" spcFirstLastPara="1" rIns="0" wrap="square" tIns="0">
            <a:noAutofit/>
          </a:bodyPr>
          <a:lstStyle/>
          <a:p>
            <a:pPr indent="0" lvl="0" marL="0" rtl="0" algn="l">
              <a:lnSpc>
                <a:spcPct val="100000"/>
              </a:lnSpc>
              <a:spcBef>
                <a:spcPts val="1000"/>
              </a:spcBef>
              <a:spcAft>
                <a:spcPts val="0"/>
              </a:spcAft>
              <a:buNone/>
            </a:pPr>
            <a:r>
              <a:t/>
            </a:r>
            <a:endParaRPr sz="1400">
              <a:solidFill>
                <a:schemeClr val="dk1"/>
              </a:solidFill>
              <a:highlight>
                <a:schemeClr val="lt1"/>
              </a:highlight>
            </a:endParaRPr>
          </a:p>
          <a:p>
            <a:pPr indent="0" lvl="0" marL="0" rtl="0" algn="l">
              <a:lnSpc>
                <a:spcPct val="100000"/>
              </a:lnSpc>
              <a:spcBef>
                <a:spcPts val="1000"/>
              </a:spcBef>
              <a:spcAft>
                <a:spcPts val="0"/>
              </a:spcAft>
              <a:buNone/>
            </a:pPr>
            <a:r>
              <a:rPr b="1" lang="en" sz="1400">
                <a:solidFill>
                  <a:schemeClr val="accent2"/>
                </a:solidFill>
                <a:highlight>
                  <a:schemeClr val="lt1"/>
                </a:highlight>
              </a:rPr>
              <a:t>AI fluency for Biologists</a:t>
            </a:r>
            <a:endParaRPr b="1" sz="1400">
              <a:solidFill>
                <a:schemeClr val="accent2"/>
              </a:solidFill>
              <a:highlight>
                <a:schemeClr val="lt1"/>
              </a:highlight>
            </a:endParaRPr>
          </a:p>
          <a:p>
            <a:pPr indent="457200" lvl="0" marL="0" rtl="0" algn="l">
              <a:lnSpc>
                <a:spcPct val="100000"/>
              </a:lnSpc>
              <a:spcBef>
                <a:spcPts val="1000"/>
              </a:spcBef>
              <a:spcAft>
                <a:spcPts val="0"/>
              </a:spcAft>
              <a:buNone/>
            </a:pPr>
            <a:r>
              <a:rPr lang="en" sz="1400">
                <a:solidFill>
                  <a:schemeClr val="dk1"/>
                </a:solidFill>
              </a:rPr>
              <a:t>October 5-6</a:t>
            </a:r>
            <a:endParaRPr sz="1400">
              <a:solidFill>
                <a:schemeClr val="dk1"/>
              </a:solidFill>
            </a:endParaRPr>
          </a:p>
          <a:p>
            <a:pPr indent="0" lvl="0" marL="0" rtl="0" algn="l">
              <a:lnSpc>
                <a:spcPct val="100000"/>
              </a:lnSpc>
              <a:spcBef>
                <a:spcPts val="1000"/>
              </a:spcBef>
              <a:spcAft>
                <a:spcPts val="0"/>
              </a:spcAft>
              <a:buNone/>
            </a:pPr>
            <a:r>
              <a:rPr b="1" lang="en" sz="1400">
                <a:solidFill>
                  <a:schemeClr val="accent2"/>
                </a:solidFill>
                <a:highlight>
                  <a:schemeClr val="lt1"/>
                </a:highlight>
              </a:rPr>
              <a:t>Single Cell RNA-Seq Analysis using R</a:t>
            </a:r>
            <a:endParaRPr b="1" sz="1400">
              <a:solidFill>
                <a:schemeClr val="dk1"/>
              </a:solidFill>
              <a:highlight>
                <a:schemeClr val="lt1"/>
              </a:highlight>
            </a:endParaRPr>
          </a:p>
          <a:p>
            <a:pPr indent="457200" lvl="0" marL="0" rtl="0" algn="l">
              <a:lnSpc>
                <a:spcPct val="100000"/>
              </a:lnSpc>
              <a:spcBef>
                <a:spcPts val="1000"/>
              </a:spcBef>
              <a:spcAft>
                <a:spcPts val="0"/>
              </a:spcAft>
              <a:buNone/>
            </a:pPr>
            <a:r>
              <a:rPr lang="en" sz="1400">
                <a:solidFill>
                  <a:schemeClr val="dk1"/>
                </a:solidFill>
                <a:highlight>
                  <a:schemeClr val="lt1"/>
                </a:highlight>
              </a:rPr>
              <a:t>October 12-13 </a:t>
            </a:r>
            <a:endParaRPr sz="1400">
              <a:solidFill>
                <a:schemeClr val="dk1"/>
              </a:solidFill>
            </a:endParaRPr>
          </a:p>
          <a:p>
            <a:pPr indent="0" lvl="0" marL="0" rtl="0" algn="l">
              <a:lnSpc>
                <a:spcPct val="100000"/>
              </a:lnSpc>
              <a:spcBef>
                <a:spcPts val="1000"/>
              </a:spcBef>
              <a:spcAft>
                <a:spcPts val="0"/>
              </a:spcAft>
              <a:buNone/>
            </a:pPr>
            <a:r>
              <a:rPr b="1" lang="en" sz="1400">
                <a:solidFill>
                  <a:schemeClr val="accent2"/>
                </a:solidFill>
              </a:rPr>
              <a:t>Introduction to Pathway Analysis</a:t>
            </a:r>
            <a:endParaRPr b="1" sz="1400">
              <a:solidFill>
                <a:schemeClr val="accent2"/>
              </a:solidFill>
            </a:endParaRPr>
          </a:p>
          <a:p>
            <a:pPr indent="457200" lvl="0" marL="0" rtl="0" algn="l">
              <a:lnSpc>
                <a:spcPct val="100000"/>
              </a:lnSpc>
              <a:spcBef>
                <a:spcPts val="1000"/>
              </a:spcBef>
              <a:spcAft>
                <a:spcPts val="0"/>
              </a:spcAft>
              <a:buNone/>
            </a:pPr>
            <a:r>
              <a:rPr lang="en" sz="1400">
                <a:solidFill>
                  <a:schemeClr val="dk1"/>
                </a:solidFill>
              </a:rPr>
              <a:t>October 15</a:t>
            </a:r>
            <a:endParaRPr sz="1400">
              <a:solidFill>
                <a:schemeClr val="dk1"/>
              </a:solidFill>
            </a:endParaRPr>
          </a:p>
          <a:p>
            <a:pPr indent="0" lvl="0" marL="0" rtl="0" algn="l">
              <a:lnSpc>
                <a:spcPct val="100000"/>
              </a:lnSpc>
              <a:spcBef>
                <a:spcPts val="1000"/>
              </a:spcBef>
              <a:spcAft>
                <a:spcPts val="0"/>
              </a:spcAft>
              <a:buClr>
                <a:schemeClr val="dk1"/>
              </a:buClr>
              <a:buSzPts val="1100"/>
              <a:buFont typeface="Arial"/>
              <a:buNone/>
            </a:pPr>
            <a:r>
              <a:rPr b="1" lang="en" sz="1400">
                <a:solidFill>
                  <a:schemeClr val="accent2"/>
                </a:solidFill>
              </a:rPr>
              <a:t>Statistics of Enrichment Analysis Methods</a:t>
            </a:r>
            <a:endParaRPr b="1" sz="1400">
              <a:solidFill>
                <a:schemeClr val="accent2"/>
              </a:solidFill>
            </a:endParaRPr>
          </a:p>
          <a:p>
            <a:pPr indent="457200" lvl="0" marL="0" rtl="0" algn="l">
              <a:lnSpc>
                <a:spcPct val="100000"/>
              </a:lnSpc>
              <a:spcBef>
                <a:spcPts val="1000"/>
              </a:spcBef>
              <a:spcAft>
                <a:spcPts val="0"/>
              </a:spcAft>
              <a:buClr>
                <a:schemeClr val="dk1"/>
              </a:buClr>
              <a:buSzPts val="1100"/>
              <a:buFont typeface="Arial"/>
              <a:buNone/>
            </a:pPr>
            <a:r>
              <a:rPr lang="en" sz="1400">
                <a:solidFill>
                  <a:schemeClr val="dk1"/>
                </a:solidFill>
              </a:rPr>
              <a:t>October 22-23</a:t>
            </a:r>
            <a:endParaRPr sz="1400">
              <a:solidFill>
                <a:schemeClr val="dk1"/>
              </a:solidFill>
            </a:endParaRPr>
          </a:p>
          <a:p>
            <a:pPr indent="0" lvl="0" marL="0" rtl="0" algn="l">
              <a:lnSpc>
                <a:spcPct val="100000"/>
              </a:lnSpc>
              <a:spcBef>
                <a:spcPts val="1000"/>
              </a:spcBef>
              <a:spcAft>
                <a:spcPts val="0"/>
              </a:spcAft>
              <a:buClr>
                <a:schemeClr val="dk1"/>
              </a:buClr>
              <a:buSzPts val="1100"/>
              <a:buFont typeface="Arial"/>
              <a:buNone/>
            </a:pPr>
            <a:r>
              <a:rPr b="1" lang="en" sz="1400">
                <a:solidFill>
                  <a:schemeClr val="accent2"/>
                </a:solidFill>
                <a:highlight>
                  <a:schemeClr val="lt1"/>
                </a:highlight>
              </a:rPr>
              <a:t>Linear Mixed Effects Models Using R</a:t>
            </a:r>
            <a:endParaRPr b="1" sz="1400">
              <a:solidFill>
                <a:schemeClr val="accent2"/>
              </a:solidFill>
              <a:highlight>
                <a:schemeClr val="lt1"/>
              </a:highlight>
            </a:endParaRPr>
          </a:p>
          <a:p>
            <a:pPr indent="457200" lvl="0" marL="0" rtl="0" algn="l">
              <a:lnSpc>
                <a:spcPct val="100000"/>
              </a:lnSpc>
              <a:spcBef>
                <a:spcPts val="1000"/>
              </a:spcBef>
              <a:spcAft>
                <a:spcPts val="1000"/>
              </a:spcAft>
              <a:buClr>
                <a:schemeClr val="dk1"/>
              </a:buClr>
              <a:buSzPts val="1100"/>
              <a:buFont typeface="Arial"/>
              <a:buNone/>
            </a:pPr>
            <a:r>
              <a:rPr lang="en" sz="1400">
                <a:solidFill>
                  <a:srgbClr val="002A40"/>
                </a:solidFill>
                <a:highlight>
                  <a:schemeClr val="lt1"/>
                </a:highlight>
              </a:rPr>
              <a:t>October 26-27</a:t>
            </a:r>
            <a:endParaRPr sz="1400">
              <a:solidFill>
                <a:schemeClr val="dk1"/>
              </a:solidFill>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2" name="Shape 1522"/>
        <p:cNvGrpSpPr/>
        <p:nvPr/>
      </p:nvGrpSpPr>
      <p:grpSpPr>
        <a:xfrm>
          <a:off x="0" y="0"/>
          <a:ext cx="0" cy="0"/>
          <a:chOff x="0" y="0"/>
          <a:chExt cx="0" cy="0"/>
        </a:xfrm>
      </p:grpSpPr>
      <p:sp>
        <p:nvSpPr>
          <p:cNvPr id="1523" name="Google Shape;1523;p201"/>
          <p:cNvSpPr txBox="1"/>
          <p:nvPr/>
        </p:nvSpPr>
        <p:spPr>
          <a:xfrm>
            <a:off x="90674" y="2495176"/>
            <a:ext cx="8962800"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2700"/>
              <a:buFont typeface="Helvetica Neue"/>
              <a:buNone/>
            </a:pPr>
            <a:r>
              <a:rPr b="1" i="0" lang="en" sz="2700" u="none" cap="none" strike="noStrike">
                <a:solidFill>
                  <a:srgbClr val="CC0000"/>
                </a:solidFill>
                <a:latin typeface="Helvetica Neue"/>
                <a:ea typeface="Helvetica Neue"/>
                <a:cs typeface="Helvetica Neue"/>
                <a:sym typeface="Helvetica Neue"/>
              </a:rPr>
              <a:t>Your feedback is important to us!</a:t>
            </a:r>
            <a:endParaRPr b="0" i="0" sz="2700" u="none" cap="none" strike="noStrike">
              <a:solidFill>
                <a:srgbClr val="CC0000"/>
              </a:solidFill>
              <a:latin typeface="Helvetica Neue"/>
              <a:ea typeface="Helvetica Neue"/>
              <a:cs typeface="Helvetica Neue"/>
              <a:sym typeface="Helvetica Neue"/>
            </a:endParaRPr>
          </a:p>
        </p:txBody>
      </p:sp>
      <p:sp>
        <p:nvSpPr>
          <p:cNvPr id="1524" name="Google Shape;1524;p201"/>
          <p:cNvSpPr txBox="1"/>
          <p:nvPr/>
        </p:nvSpPr>
        <p:spPr>
          <a:xfrm>
            <a:off x="305011" y="3114228"/>
            <a:ext cx="7886700" cy="1121700"/>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chemeClr val="dk1"/>
              </a:buClr>
              <a:buSzPts val="2100"/>
              <a:buFont typeface="Helvetica Neue"/>
              <a:buNone/>
            </a:pPr>
            <a:r>
              <a:t/>
            </a:r>
            <a:endParaRPr b="1" i="0" sz="2500" u="none" cap="none" strike="noStrike">
              <a:solidFill>
                <a:schemeClr val="dk1"/>
              </a:solidFill>
              <a:latin typeface="Helvetica Neue"/>
              <a:ea typeface="Helvetica Neue"/>
              <a:cs typeface="Helvetica Neue"/>
              <a:sym typeface="Helvetica Neue"/>
            </a:endParaRPr>
          </a:p>
          <a:p>
            <a:pPr indent="0" lvl="0" marL="0" marR="0" rtl="0" algn="l">
              <a:lnSpc>
                <a:spcPct val="90000"/>
              </a:lnSpc>
              <a:spcBef>
                <a:spcPts val="0"/>
              </a:spcBef>
              <a:spcAft>
                <a:spcPts val="0"/>
              </a:spcAft>
              <a:buClr>
                <a:srgbClr val="FFC000"/>
              </a:buClr>
              <a:buSzPts val="1800"/>
              <a:buFont typeface="Helvetica Neue"/>
              <a:buNone/>
            </a:pPr>
            <a:r>
              <a:rPr b="0" i="0" lang="en" sz="2200" u="none" cap="none" strike="noStrike">
                <a:solidFill>
                  <a:schemeClr val="dk1"/>
                </a:solidFill>
                <a:latin typeface="Helvetica Neue"/>
                <a:ea typeface="Helvetica Neue"/>
                <a:cs typeface="Helvetica Neue"/>
                <a:sym typeface="Helvetica Neue"/>
              </a:rPr>
              <a:t>Please take the survey ~3 min:</a:t>
            </a:r>
            <a:endParaRPr b="0" i="0" sz="15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accent2"/>
              </a:buClr>
              <a:buSzPts val="2100"/>
              <a:buFont typeface="Helvetica Neue"/>
              <a:buNone/>
            </a:pPr>
            <a:r>
              <a:rPr b="1" i="0" lang="en" sz="2500" u="none" cap="none" strike="noStrike">
                <a:solidFill>
                  <a:schemeClr val="accent2"/>
                </a:solidFill>
                <a:latin typeface="Helvetica Neue"/>
                <a:ea typeface="Helvetica Neue"/>
                <a:cs typeface="Helvetica Neue"/>
                <a:sym typeface="Helvetica Neue"/>
              </a:rPr>
              <a:t> </a:t>
            </a:r>
            <a:r>
              <a:rPr b="1" lang="en" sz="1900">
                <a:solidFill>
                  <a:schemeClr val="dk1"/>
                </a:solidFill>
              </a:rPr>
              <a:t>https://www.surveymonkey.com/r/bioinfo-training26</a:t>
            </a:r>
            <a:endParaRPr b="1" sz="1900">
              <a:solidFill>
                <a:schemeClr val="dk1"/>
              </a:solidFill>
            </a:endParaRPr>
          </a:p>
          <a:p>
            <a:pPr indent="0" lvl="0" marL="0" marR="0" rtl="0" algn="l">
              <a:lnSpc>
                <a:spcPct val="90000"/>
              </a:lnSpc>
              <a:spcBef>
                <a:spcPts val="0"/>
              </a:spcBef>
              <a:spcAft>
                <a:spcPts val="0"/>
              </a:spcAft>
              <a:buClr>
                <a:schemeClr val="accent2"/>
              </a:buClr>
              <a:buSzPts val="2100"/>
              <a:buFont typeface="Helvetica Neue"/>
              <a:buNone/>
            </a:pPr>
            <a:r>
              <a:t/>
            </a:r>
            <a:endParaRPr sz="2500">
              <a:solidFill>
                <a:schemeClr val="accent2"/>
              </a:solidFill>
              <a:latin typeface="Helvetica Neue"/>
              <a:ea typeface="Helvetica Neue"/>
              <a:cs typeface="Helvetica Neue"/>
              <a:sym typeface="Helvetica Neue"/>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8" name="Shape 1528"/>
        <p:cNvGrpSpPr/>
        <p:nvPr/>
      </p:nvGrpSpPr>
      <p:grpSpPr>
        <a:xfrm>
          <a:off x="0" y="0"/>
          <a:ext cx="0" cy="0"/>
          <a:chOff x="0" y="0"/>
          <a:chExt cx="0" cy="0"/>
        </a:xfrm>
      </p:grpSpPr>
      <p:pic>
        <p:nvPicPr>
          <p:cNvPr id="1529" name="Google Shape;1529;p202"/>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3" name="Shape 1533"/>
        <p:cNvGrpSpPr/>
        <p:nvPr/>
      </p:nvGrpSpPr>
      <p:grpSpPr>
        <a:xfrm>
          <a:off x="0" y="0"/>
          <a:ext cx="0" cy="0"/>
          <a:chOff x="0" y="0"/>
          <a:chExt cx="0" cy="0"/>
        </a:xfrm>
      </p:grpSpPr>
      <p:sp>
        <p:nvSpPr>
          <p:cNvPr id="1534" name="Google Shape;1534;p203"/>
          <p:cNvSpPr txBox="1"/>
          <p:nvPr/>
        </p:nvSpPr>
        <p:spPr>
          <a:xfrm>
            <a:off x="286500" y="3721150"/>
            <a:ext cx="8571000" cy="7368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None/>
            </a:pPr>
            <a:r>
              <a:rPr b="1" lang="en" sz="3300">
                <a:solidFill>
                  <a:srgbClr val="F76912"/>
                </a:solidFill>
                <a:latin typeface="Helvetica Neue"/>
                <a:ea typeface="Helvetica Neue"/>
                <a:cs typeface="Helvetica Neue"/>
                <a:sym typeface="Helvetica Neue"/>
              </a:rPr>
              <a:t>Additional resources</a:t>
            </a:r>
            <a:endParaRPr b="1" sz="3300">
              <a:solidFill>
                <a:srgbClr val="F76912"/>
              </a:solidFill>
              <a:latin typeface="Helvetica Neue"/>
              <a:ea typeface="Helvetica Neue"/>
              <a:cs typeface="Helvetica Neue"/>
              <a:sym typeface="Helvetica Neue"/>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8" name="Shape 1538"/>
        <p:cNvGrpSpPr/>
        <p:nvPr/>
      </p:nvGrpSpPr>
      <p:grpSpPr>
        <a:xfrm>
          <a:off x="0" y="0"/>
          <a:ext cx="0" cy="0"/>
          <a:chOff x="0" y="0"/>
          <a:chExt cx="0" cy="0"/>
        </a:xfrm>
      </p:grpSpPr>
      <p:sp>
        <p:nvSpPr>
          <p:cNvPr id="1539" name="Google Shape;1539;p204"/>
          <p:cNvSpPr txBox="1"/>
          <p:nvPr>
            <p:ph idx="1" type="body"/>
          </p:nvPr>
        </p:nvSpPr>
        <p:spPr>
          <a:xfrm>
            <a:off x="628650" y="1178762"/>
            <a:ext cx="7886700" cy="3504900"/>
          </a:xfrm>
          <a:prstGeom prst="rect">
            <a:avLst/>
          </a:prstGeom>
          <a:noFill/>
          <a:ln>
            <a:noFill/>
          </a:ln>
        </p:spPr>
        <p:txBody>
          <a:bodyPr anchorCtr="0" anchor="t" bIns="0" lIns="137150" spcFirstLastPara="1" rIns="0" wrap="square" tIns="0">
            <a:spAutoFit/>
          </a:bodyPr>
          <a:lstStyle/>
          <a:p>
            <a:pPr indent="-342900" lvl="0" marL="342900" rtl="0" algn="l">
              <a:lnSpc>
                <a:spcPct val="90000"/>
              </a:lnSpc>
              <a:spcBef>
                <a:spcPts val="0"/>
              </a:spcBef>
              <a:spcAft>
                <a:spcPts val="0"/>
              </a:spcAft>
              <a:buClr>
                <a:srgbClr val="002B42"/>
              </a:buClr>
              <a:buSzPts val="1600"/>
              <a:buFont typeface="Arial"/>
              <a:buChar char="●"/>
            </a:pPr>
            <a:r>
              <a:rPr lang="en" sz="2000"/>
              <a:t>Bacterial reference genome:</a:t>
            </a:r>
            <a:endParaRPr sz="2000"/>
          </a:p>
          <a:p>
            <a:pPr indent="-266700" lvl="1" marL="596900" rtl="0" algn="l">
              <a:lnSpc>
                <a:spcPct val="90000"/>
              </a:lnSpc>
              <a:spcBef>
                <a:spcPts val="0"/>
              </a:spcBef>
              <a:spcAft>
                <a:spcPts val="0"/>
              </a:spcAft>
              <a:buClr>
                <a:srgbClr val="002B42"/>
              </a:buClr>
              <a:buSzPts val="1600"/>
              <a:buFont typeface="Arial"/>
              <a:buChar char="●"/>
            </a:pPr>
            <a:r>
              <a:rPr lang="en" sz="1700" u="sng">
                <a:solidFill>
                  <a:schemeClr val="hlink"/>
                </a:solidFill>
                <a:hlinkClick r:id="rId3"/>
              </a:rPr>
              <a:t>https://bacteria.ensembl.org/index.html</a:t>
            </a:r>
            <a:r>
              <a:rPr lang="en" sz="1700"/>
              <a:t>  </a:t>
            </a:r>
            <a:endParaRPr sz="1700"/>
          </a:p>
          <a:p>
            <a:pPr indent="-266700" lvl="1" marL="596900" rtl="0" algn="l">
              <a:lnSpc>
                <a:spcPct val="90000"/>
              </a:lnSpc>
              <a:spcBef>
                <a:spcPts val="0"/>
              </a:spcBef>
              <a:spcAft>
                <a:spcPts val="0"/>
              </a:spcAft>
              <a:buClr>
                <a:srgbClr val="002B42"/>
              </a:buClr>
              <a:buSzPts val="1600"/>
              <a:buFont typeface="Arial"/>
              <a:buChar char="●"/>
            </a:pPr>
            <a:r>
              <a:rPr lang="en" sz="1700"/>
              <a:t>STAR and HISAT2 are more commonly used for eukaryotic RNA-seq. For bacterial RNA-seq data, Bowtie2 and BWA can be used as these are non-spliced reads. STAR can also be used for bacterial RNA-seq data but there some additional STAR options that should be specified when doing so.</a:t>
            </a:r>
            <a:endParaRPr sz="1700"/>
          </a:p>
          <a:p>
            <a:pPr indent="0" lvl="0" marL="596900" rtl="0" algn="l">
              <a:lnSpc>
                <a:spcPct val="90000"/>
              </a:lnSpc>
              <a:spcBef>
                <a:spcPts val="0"/>
              </a:spcBef>
              <a:spcAft>
                <a:spcPts val="0"/>
              </a:spcAft>
              <a:buNone/>
            </a:pPr>
            <a:r>
              <a:t/>
            </a:r>
            <a:endParaRPr sz="2000"/>
          </a:p>
          <a:p>
            <a:pPr indent="-342900" lvl="0" marL="342900" rtl="0" algn="l">
              <a:lnSpc>
                <a:spcPct val="90000"/>
              </a:lnSpc>
              <a:spcBef>
                <a:spcPts val="0"/>
              </a:spcBef>
              <a:spcAft>
                <a:spcPts val="0"/>
              </a:spcAft>
              <a:buClr>
                <a:srgbClr val="002B42"/>
              </a:buClr>
              <a:buSzPts val="1600"/>
              <a:buFont typeface="Arial"/>
              <a:buChar char="●"/>
            </a:pPr>
            <a:r>
              <a:rPr lang="en" sz="2000"/>
              <a:t>How to add reporter sequence to the reference: </a:t>
            </a:r>
            <a:endParaRPr sz="2000"/>
          </a:p>
          <a:p>
            <a:pPr indent="-266700" lvl="1" marL="596900" rtl="0" algn="l">
              <a:lnSpc>
                <a:spcPct val="90000"/>
              </a:lnSpc>
              <a:spcBef>
                <a:spcPts val="0"/>
              </a:spcBef>
              <a:spcAft>
                <a:spcPts val="0"/>
              </a:spcAft>
              <a:buClr>
                <a:srgbClr val="002B42"/>
              </a:buClr>
              <a:buSzPts val="1600"/>
              <a:buFont typeface="Arial"/>
              <a:buChar char="●"/>
            </a:pPr>
            <a:r>
              <a:rPr lang="en" sz="1700" u="sng">
                <a:solidFill>
                  <a:schemeClr val="hlink"/>
                </a:solidFill>
                <a:hlinkClick r:id="rId4"/>
              </a:rPr>
              <a:t>https://groups.google.com/g/rna-star/c/FGQRotrCB1Q</a:t>
            </a:r>
            <a:r>
              <a:rPr lang="en" sz="1700"/>
              <a:t> </a:t>
            </a:r>
            <a:endParaRPr sz="1700"/>
          </a:p>
          <a:p>
            <a:pPr indent="0" lvl="0" marL="0" rtl="0" algn="l">
              <a:lnSpc>
                <a:spcPct val="90000"/>
              </a:lnSpc>
              <a:spcBef>
                <a:spcPts val="0"/>
              </a:spcBef>
              <a:spcAft>
                <a:spcPts val="0"/>
              </a:spcAft>
              <a:buNone/>
            </a:pPr>
            <a:r>
              <a:t/>
            </a:r>
            <a:endParaRPr sz="1700"/>
          </a:p>
          <a:p>
            <a:pPr indent="0" lvl="0" marL="596900" rtl="0" algn="l">
              <a:lnSpc>
                <a:spcPct val="90000"/>
              </a:lnSpc>
              <a:spcBef>
                <a:spcPts val="0"/>
              </a:spcBef>
              <a:spcAft>
                <a:spcPts val="0"/>
              </a:spcAft>
              <a:buNone/>
            </a:pPr>
            <a:r>
              <a:t/>
            </a:r>
            <a:endParaRPr sz="2000"/>
          </a:p>
          <a:p>
            <a:pPr indent="-342900" lvl="0" marL="342900" rtl="0" algn="l">
              <a:lnSpc>
                <a:spcPct val="90000"/>
              </a:lnSpc>
              <a:spcBef>
                <a:spcPts val="0"/>
              </a:spcBef>
              <a:spcAft>
                <a:spcPts val="0"/>
              </a:spcAft>
              <a:buClr>
                <a:srgbClr val="002B42"/>
              </a:buClr>
              <a:buSzPts val="1600"/>
              <a:buFont typeface="Arial"/>
              <a:buChar char="●"/>
            </a:pPr>
            <a:r>
              <a:rPr lang="en" sz="2000"/>
              <a:t>Cutadapt possible adapters types:</a:t>
            </a:r>
            <a:endParaRPr sz="2000"/>
          </a:p>
          <a:p>
            <a:pPr indent="-266700" lvl="1" marL="596900" rtl="0" algn="l">
              <a:lnSpc>
                <a:spcPct val="90000"/>
              </a:lnSpc>
              <a:spcBef>
                <a:spcPts val="0"/>
              </a:spcBef>
              <a:spcAft>
                <a:spcPts val="0"/>
              </a:spcAft>
              <a:buClr>
                <a:srgbClr val="002B42"/>
              </a:buClr>
              <a:buSzPts val="1600"/>
              <a:buFont typeface="Arial"/>
              <a:buChar char="●"/>
            </a:pPr>
            <a:r>
              <a:rPr lang="en" sz="1700" u="sng">
                <a:solidFill>
                  <a:schemeClr val="hlink"/>
                </a:solidFill>
                <a:hlinkClick r:id="rId5"/>
              </a:rPr>
              <a:t>https://cutadapt.readthedocs.io/en/stable/guide.html#adapter-types</a:t>
            </a:r>
            <a:r>
              <a:rPr lang="en" sz="1700"/>
              <a:t> </a:t>
            </a:r>
            <a:endParaRPr sz="1700"/>
          </a:p>
        </p:txBody>
      </p:sp>
      <p:sp>
        <p:nvSpPr>
          <p:cNvPr id="1540" name="Google Shape;1540;p204"/>
          <p:cNvSpPr txBox="1"/>
          <p:nvPr/>
        </p:nvSpPr>
        <p:spPr>
          <a:xfrm>
            <a:off x="272400" y="152400"/>
            <a:ext cx="8571000" cy="7368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None/>
            </a:pPr>
            <a:r>
              <a:rPr b="1" lang="en" sz="3300">
                <a:solidFill>
                  <a:srgbClr val="1155CC"/>
                </a:solidFill>
                <a:latin typeface="Helvetica Neue"/>
                <a:ea typeface="Helvetica Neue"/>
                <a:cs typeface="Helvetica Neue"/>
                <a:sym typeface="Helvetica Neue"/>
              </a:rPr>
              <a:t>Helpful resources</a:t>
            </a:r>
            <a:endParaRPr b="1" sz="3300">
              <a:solidFill>
                <a:srgbClr val="1155CC"/>
              </a:solidFill>
              <a:latin typeface="Helvetica Neue"/>
              <a:ea typeface="Helvetica Neue"/>
              <a:cs typeface="Helvetica Neue"/>
              <a:sym typeface="Helvetica Neue"/>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4" name="Shape 1544"/>
        <p:cNvGrpSpPr/>
        <p:nvPr/>
      </p:nvGrpSpPr>
      <p:grpSpPr>
        <a:xfrm>
          <a:off x="0" y="0"/>
          <a:ext cx="0" cy="0"/>
          <a:chOff x="0" y="0"/>
          <a:chExt cx="0" cy="0"/>
        </a:xfrm>
      </p:grpSpPr>
      <p:sp>
        <p:nvSpPr>
          <p:cNvPr id="1545" name="Google Shape;1545;p205"/>
          <p:cNvSpPr txBox="1"/>
          <p:nvPr>
            <p:ph idx="1" type="body"/>
          </p:nvPr>
        </p:nvSpPr>
        <p:spPr>
          <a:xfrm>
            <a:off x="628650" y="1178762"/>
            <a:ext cx="7886700" cy="2581200"/>
          </a:xfrm>
          <a:prstGeom prst="rect">
            <a:avLst/>
          </a:prstGeom>
          <a:noFill/>
          <a:ln>
            <a:noFill/>
          </a:ln>
        </p:spPr>
        <p:txBody>
          <a:bodyPr anchorCtr="0" anchor="t" bIns="0" lIns="137150" spcFirstLastPara="1" rIns="0" wrap="square" tIns="0">
            <a:spAutoFit/>
          </a:bodyPr>
          <a:lstStyle/>
          <a:p>
            <a:pPr indent="-349250" lvl="0" marL="342900" rtl="0" algn="l">
              <a:lnSpc>
                <a:spcPct val="90000"/>
              </a:lnSpc>
              <a:spcBef>
                <a:spcPts val="0"/>
              </a:spcBef>
              <a:spcAft>
                <a:spcPts val="0"/>
              </a:spcAft>
              <a:buClr>
                <a:srgbClr val="002B42"/>
              </a:buClr>
              <a:buSzPts val="1700"/>
              <a:buFont typeface="Arial"/>
              <a:buChar char="●"/>
            </a:pPr>
            <a:r>
              <a:rPr lang="en"/>
              <a:t>Wynton slack channel</a:t>
            </a:r>
            <a:endParaRPr/>
          </a:p>
          <a:p>
            <a:pPr indent="-254000" lvl="1" marL="596900" rtl="0" algn="l">
              <a:lnSpc>
                <a:spcPct val="90000"/>
              </a:lnSpc>
              <a:spcBef>
                <a:spcPts val="400"/>
              </a:spcBef>
              <a:spcAft>
                <a:spcPts val="0"/>
              </a:spcAft>
              <a:buClr>
                <a:srgbClr val="002B42"/>
              </a:buClr>
              <a:buSzPts val="1400"/>
              <a:buChar char="●"/>
            </a:pPr>
            <a:r>
              <a:rPr lang="en"/>
              <a:t>ucsf-wynton.slack.com</a:t>
            </a:r>
            <a:endParaRPr/>
          </a:p>
          <a:p>
            <a:pPr indent="0" lvl="1" marL="342900" rtl="0" algn="l">
              <a:lnSpc>
                <a:spcPct val="90000"/>
              </a:lnSpc>
              <a:spcBef>
                <a:spcPts val="400"/>
              </a:spcBef>
              <a:spcAft>
                <a:spcPts val="0"/>
              </a:spcAft>
              <a:buClr>
                <a:srgbClr val="002B42"/>
              </a:buClr>
              <a:buSzPts val="1400"/>
              <a:buNone/>
            </a:pPr>
            <a:r>
              <a:t/>
            </a:r>
            <a:endParaRPr/>
          </a:p>
          <a:p>
            <a:pPr indent="-349250" lvl="0" marL="342900" rtl="0" algn="l">
              <a:lnSpc>
                <a:spcPct val="90000"/>
              </a:lnSpc>
              <a:spcBef>
                <a:spcPts val="800"/>
              </a:spcBef>
              <a:spcAft>
                <a:spcPts val="0"/>
              </a:spcAft>
              <a:buClr>
                <a:srgbClr val="002B42"/>
              </a:buClr>
              <a:buSzPts val="1700"/>
              <a:buFont typeface="Arial"/>
              <a:buChar char="●"/>
            </a:pPr>
            <a:r>
              <a:rPr lang="en"/>
              <a:t>Gladstone Bioinformatics Core slack channel (email us)</a:t>
            </a:r>
            <a:endParaRPr/>
          </a:p>
          <a:p>
            <a:pPr indent="-254000" lvl="1" marL="596900" rtl="0" algn="l">
              <a:lnSpc>
                <a:spcPct val="90000"/>
              </a:lnSpc>
              <a:spcBef>
                <a:spcPts val="400"/>
              </a:spcBef>
              <a:spcAft>
                <a:spcPts val="0"/>
              </a:spcAft>
              <a:buClr>
                <a:srgbClr val="002B42"/>
              </a:buClr>
              <a:buSzPts val="1400"/>
              <a:buChar char="●"/>
            </a:pPr>
            <a:r>
              <a:rPr lang="en" u="sng">
                <a:solidFill>
                  <a:schemeClr val="hlink"/>
                </a:solidFill>
                <a:hlinkClick r:id="rId3"/>
              </a:rPr>
              <a:t>https://gladstoneinstitutes.slack.com/archives/C0145F1L7QS</a:t>
            </a:r>
            <a:endParaRPr/>
          </a:p>
          <a:p>
            <a:pPr indent="0" lvl="1" marL="342900" rtl="0" algn="l">
              <a:lnSpc>
                <a:spcPct val="90000"/>
              </a:lnSpc>
              <a:spcBef>
                <a:spcPts val="400"/>
              </a:spcBef>
              <a:spcAft>
                <a:spcPts val="0"/>
              </a:spcAft>
              <a:buClr>
                <a:srgbClr val="002B42"/>
              </a:buClr>
              <a:buSzPts val="1400"/>
              <a:buNone/>
            </a:pPr>
            <a:r>
              <a:t/>
            </a:r>
            <a:endParaRPr/>
          </a:p>
          <a:p>
            <a:pPr indent="-349250" lvl="0" marL="342900" rtl="0" algn="l">
              <a:lnSpc>
                <a:spcPct val="90000"/>
              </a:lnSpc>
              <a:spcBef>
                <a:spcPts val="800"/>
              </a:spcBef>
              <a:spcAft>
                <a:spcPts val="0"/>
              </a:spcAft>
              <a:buClr>
                <a:srgbClr val="002B42"/>
              </a:buClr>
              <a:buSzPts val="1700"/>
              <a:buFont typeface="Arial"/>
              <a:buChar char="●"/>
            </a:pPr>
            <a:r>
              <a:rPr lang="en"/>
              <a:t>Wynton tutorials</a:t>
            </a:r>
            <a:endParaRPr/>
          </a:p>
          <a:p>
            <a:pPr indent="-254000" lvl="1" marL="596900" rtl="0" algn="l">
              <a:lnSpc>
                <a:spcPct val="90000"/>
              </a:lnSpc>
              <a:spcBef>
                <a:spcPts val="400"/>
              </a:spcBef>
              <a:spcAft>
                <a:spcPts val="0"/>
              </a:spcAft>
              <a:buClr>
                <a:srgbClr val="002B42"/>
              </a:buClr>
              <a:buSzPts val="1400"/>
              <a:buChar char="●"/>
            </a:pPr>
            <a:r>
              <a:rPr lang="en"/>
              <a:t>https://github.com/ucsf-wynton/tutorials/wiki</a:t>
            </a:r>
            <a:endParaRPr/>
          </a:p>
        </p:txBody>
      </p:sp>
      <p:sp>
        <p:nvSpPr>
          <p:cNvPr id="1546" name="Google Shape;1546;p205"/>
          <p:cNvSpPr txBox="1"/>
          <p:nvPr/>
        </p:nvSpPr>
        <p:spPr>
          <a:xfrm>
            <a:off x="272400" y="152400"/>
            <a:ext cx="8571000" cy="7368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None/>
            </a:pPr>
            <a:r>
              <a:rPr b="1" lang="en" sz="3300">
                <a:solidFill>
                  <a:srgbClr val="1155CC"/>
                </a:solidFill>
                <a:latin typeface="Helvetica Neue"/>
                <a:ea typeface="Helvetica Neue"/>
                <a:cs typeface="Helvetica Neue"/>
                <a:sym typeface="Helvetica Neue"/>
              </a:rPr>
              <a:t>Helpful resources</a:t>
            </a:r>
            <a:endParaRPr b="1" sz="3300">
              <a:solidFill>
                <a:srgbClr val="1155CC"/>
              </a:solidFill>
              <a:latin typeface="Helvetica Neue"/>
              <a:ea typeface="Helvetica Neue"/>
              <a:cs typeface="Helvetica Neue"/>
              <a:sym typeface="Helvetica Neue"/>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0" name="Shape 1550"/>
        <p:cNvGrpSpPr/>
        <p:nvPr/>
      </p:nvGrpSpPr>
      <p:grpSpPr>
        <a:xfrm>
          <a:off x="0" y="0"/>
          <a:ext cx="0" cy="0"/>
          <a:chOff x="0" y="0"/>
          <a:chExt cx="0" cy="0"/>
        </a:xfrm>
      </p:grpSpPr>
      <p:sp>
        <p:nvSpPr>
          <p:cNvPr id="1551" name="Google Shape;1551;p206"/>
          <p:cNvSpPr txBox="1"/>
          <p:nvPr>
            <p:ph idx="1" type="body"/>
          </p:nvPr>
        </p:nvSpPr>
        <p:spPr>
          <a:xfrm>
            <a:off x="628650" y="1178762"/>
            <a:ext cx="7886700" cy="3504900"/>
          </a:xfrm>
          <a:prstGeom prst="rect">
            <a:avLst/>
          </a:prstGeom>
          <a:noFill/>
          <a:ln>
            <a:noFill/>
          </a:ln>
        </p:spPr>
        <p:txBody>
          <a:bodyPr anchorCtr="0" anchor="t" bIns="0" lIns="137150" spcFirstLastPara="1" rIns="0" wrap="square" tIns="0">
            <a:spAutoFit/>
          </a:bodyPr>
          <a:lstStyle/>
          <a:p>
            <a:pPr indent="-342900" lvl="0" marL="342900" rtl="0" algn="l">
              <a:lnSpc>
                <a:spcPct val="90000"/>
              </a:lnSpc>
              <a:spcBef>
                <a:spcPts val="0"/>
              </a:spcBef>
              <a:spcAft>
                <a:spcPts val="0"/>
              </a:spcAft>
              <a:buClr>
                <a:srgbClr val="002B42"/>
              </a:buClr>
              <a:buSzPts val="1600"/>
              <a:buFont typeface="Arial"/>
              <a:buChar char="●"/>
            </a:pPr>
            <a:r>
              <a:rPr lang="en" sz="2000"/>
              <a:t>Bacterial reference genome:</a:t>
            </a:r>
            <a:endParaRPr sz="2000"/>
          </a:p>
          <a:p>
            <a:pPr indent="-266700" lvl="1" marL="596900" rtl="0" algn="l">
              <a:lnSpc>
                <a:spcPct val="90000"/>
              </a:lnSpc>
              <a:spcBef>
                <a:spcPts val="0"/>
              </a:spcBef>
              <a:spcAft>
                <a:spcPts val="0"/>
              </a:spcAft>
              <a:buClr>
                <a:srgbClr val="002B42"/>
              </a:buClr>
              <a:buSzPts val="1600"/>
              <a:buFont typeface="Arial"/>
              <a:buChar char="●"/>
            </a:pPr>
            <a:r>
              <a:rPr lang="en" sz="1700" u="sng">
                <a:solidFill>
                  <a:schemeClr val="hlink"/>
                </a:solidFill>
                <a:hlinkClick r:id="rId3"/>
              </a:rPr>
              <a:t>https://bacteria.ensembl.org/index.html</a:t>
            </a:r>
            <a:r>
              <a:rPr lang="en" sz="1700"/>
              <a:t>  </a:t>
            </a:r>
            <a:endParaRPr sz="1700"/>
          </a:p>
          <a:p>
            <a:pPr indent="-266700" lvl="1" marL="596900" rtl="0" algn="l">
              <a:lnSpc>
                <a:spcPct val="90000"/>
              </a:lnSpc>
              <a:spcBef>
                <a:spcPts val="0"/>
              </a:spcBef>
              <a:spcAft>
                <a:spcPts val="0"/>
              </a:spcAft>
              <a:buClr>
                <a:srgbClr val="002B42"/>
              </a:buClr>
              <a:buSzPts val="1600"/>
              <a:buFont typeface="Arial"/>
              <a:buChar char="●"/>
            </a:pPr>
            <a:r>
              <a:rPr lang="en" sz="1700"/>
              <a:t>STAR and HISAT2 are more commonly used for eukaryotic RNA-seq. For bacterial RNA-seq data, Bowtie2 and BWA can be used as these are non-spliced reads. STAR can also be used for bacterial RNA-seq data but there some additional STAR options that should be specified when doing so.</a:t>
            </a:r>
            <a:endParaRPr sz="1700"/>
          </a:p>
          <a:p>
            <a:pPr indent="0" lvl="0" marL="596900" rtl="0" algn="l">
              <a:lnSpc>
                <a:spcPct val="90000"/>
              </a:lnSpc>
              <a:spcBef>
                <a:spcPts val="0"/>
              </a:spcBef>
              <a:spcAft>
                <a:spcPts val="0"/>
              </a:spcAft>
              <a:buNone/>
            </a:pPr>
            <a:r>
              <a:t/>
            </a:r>
            <a:endParaRPr sz="2000"/>
          </a:p>
          <a:p>
            <a:pPr indent="-342900" lvl="0" marL="342900" rtl="0" algn="l">
              <a:lnSpc>
                <a:spcPct val="90000"/>
              </a:lnSpc>
              <a:spcBef>
                <a:spcPts val="0"/>
              </a:spcBef>
              <a:spcAft>
                <a:spcPts val="0"/>
              </a:spcAft>
              <a:buClr>
                <a:srgbClr val="002B42"/>
              </a:buClr>
              <a:buSzPts val="1600"/>
              <a:buFont typeface="Arial"/>
              <a:buChar char="●"/>
            </a:pPr>
            <a:r>
              <a:rPr lang="en" sz="2000"/>
              <a:t>How to add reporter sequence to the reference: </a:t>
            </a:r>
            <a:endParaRPr sz="2000"/>
          </a:p>
          <a:p>
            <a:pPr indent="-266700" lvl="1" marL="596900" rtl="0" algn="l">
              <a:lnSpc>
                <a:spcPct val="90000"/>
              </a:lnSpc>
              <a:spcBef>
                <a:spcPts val="0"/>
              </a:spcBef>
              <a:spcAft>
                <a:spcPts val="0"/>
              </a:spcAft>
              <a:buClr>
                <a:srgbClr val="002B42"/>
              </a:buClr>
              <a:buSzPts val="1600"/>
              <a:buFont typeface="Arial"/>
              <a:buChar char="●"/>
            </a:pPr>
            <a:r>
              <a:rPr lang="en" sz="1700" u="sng">
                <a:solidFill>
                  <a:schemeClr val="hlink"/>
                </a:solidFill>
                <a:hlinkClick r:id="rId4"/>
              </a:rPr>
              <a:t>https://groups.google.com/g/rna-star/c/FGQRotrCB1Q</a:t>
            </a:r>
            <a:r>
              <a:rPr lang="en" sz="1700"/>
              <a:t> </a:t>
            </a:r>
            <a:endParaRPr sz="1700"/>
          </a:p>
          <a:p>
            <a:pPr indent="0" lvl="0" marL="0" rtl="0" algn="l">
              <a:lnSpc>
                <a:spcPct val="90000"/>
              </a:lnSpc>
              <a:spcBef>
                <a:spcPts val="0"/>
              </a:spcBef>
              <a:spcAft>
                <a:spcPts val="0"/>
              </a:spcAft>
              <a:buNone/>
            </a:pPr>
            <a:r>
              <a:t/>
            </a:r>
            <a:endParaRPr sz="1700"/>
          </a:p>
          <a:p>
            <a:pPr indent="0" lvl="0" marL="596900" rtl="0" algn="l">
              <a:lnSpc>
                <a:spcPct val="90000"/>
              </a:lnSpc>
              <a:spcBef>
                <a:spcPts val="0"/>
              </a:spcBef>
              <a:spcAft>
                <a:spcPts val="0"/>
              </a:spcAft>
              <a:buNone/>
            </a:pPr>
            <a:r>
              <a:t/>
            </a:r>
            <a:endParaRPr sz="2000"/>
          </a:p>
          <a:p>
            <a:pPr indent="-342900" lvl="0" marL="342900" rtl="0" algn="l">
              <a:lnSpc>
                <a:spcPct val="90000"/>
              </a:lnSpc>
              <a:spcBef>
                <a:spcPts val="0"/>
              </a:spcBef>
              <a:spcAft>
                <a:spcPts val="0"/>
              </a:spcAft>
              <a:buClr>
                <a:srgbClr val="002B42"/>
              </a:buClr>
              <a:buSzPts val="1600"/>
              <a:buFont typeface="Arial"/>
              <a:buChar char="●"/>
            </a:pPr>
            <a:r>
              <a:rPr lang="en" sz="2000"/>
              <a:t>Cutadapt possible adapters types:</a:t>
            </a:r>
            <a:endParaRPr sz="2000"/>
          </a:p>
          <a:p>
            <a:pPr indent="-266700" lvl="1" marL="596900" rtl="0" algn="l">
              <a:lnSpc>
                <a:spcPct val="90000"/>
              </a:lnSpc>
              <a:spcBef>
                <a:spcPts val="0"/>
              </a:spcBef>
              <a:spcAft>
                <a:spcPts val="0"/>
              </a:spcAft>
              <a:buClr>
                <a:srgbClr val="002B42"/>
              </a:buClr>
              <a:buSzPts val="1600"/>
              <a:buFont typeface="Arial"/>
              <a:buChar char="●"/>
            </a:pPr>
            <a:r>
              <a:rPr lang="en" sz="1700" u="sng">
                <a:solidFill>
                  <a:schemeClr val="hlink"/>
                </a:solidFill>
                <a:hlinkClick r:id="rId5"/>
              </a:rPr>
              <a:t>https://cutadapt.readthedocs.io/en/stable/guide.html#adapter-types</a:t>
            </a:r>
            <a:r>
              <a:rPr lang="en" sz="1700"/>
              <a:t> </a:t>
            </a:r>
            <a:endParaRPr sz="1700"/>
          </a:p>
        </p:txBody>
      </p:sp>
      <p:sp>
        <p:nvSpPr>
          <p:cNvPr id="1552" name="Google Shape;1552;p206"/>
          <p:cNvSpPr txBox="1"/>
          <p:nvPr/>
        </p:nvSpPr>
        <p:spPr>
          <a:xfrm>
            <a:off x="272400" y="152400"/>
            <a:ext cx="8571000" cy="7368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None/>
            </a:pPr>
            <a:r>
              <a:rPr b="1" lang="en" sz="3300">
                <a:solidFill>
                  <a:srgbClr val="1155CC"/>
                </a:solidFill>
                <a:latin typeface="Helvetica Neue"/>
                <a:ea typeface="Helvetica Neue"/>
                <a:cs typeface="Helvetica Neue"/>
                <a:sym typeface="Helvetica Neue"/>
              </a:rPr>
              <a:t>Helpful resources</a:t>
            </a:r>
            <a:endParaRPr b="1" sz="3300">
              <a:solidFill>
                <a:srgbClr val="1155CC"/>
              </a:solidFill>
              <a:latin typeface="Helvetica Neue"/>
              <a:ea typeface="Helvetica Neue"/>
              <a:cs typeface="Helvetica Neue"/>
              <a:sym typeface="Helvetica Neue"/>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6" name="Shape 1556"/>
        <p:cNvGrpSpPr/>
        <p:nvPr/>
      </p:nvGrpSpPr>
      <p:grpSpPr>
        <a:xfrm>
          <a:off x="0" y="0"/>
          <a:ext cx="0" cy="0"/>
          <a:chOff x="0" y="0"/>
          <a:chExt cx="0" cy="0"/>
        </a:xfrm>
      </p:grpSpPr>
      <p:sp>
        <p:nvSpPr>
          <p:cNvPr id="1557" name="Google Shape;1557;p207"/>
          <p:cNvSpPr txBox="1"/>
          <p:nvPr>
            <p:ph idx="1" type="body"/>
          </p:nvPr>
        </p:nvSpPr>
        <p:spPr>
          <a:xfrm>
            <a:off x="628650" y="1407362"/>
            <a:ext cx="7886700" cy="3307200"/>
          </a:xfrm>
          <a:prstGeom prst="rect">
            <a:avLst/>
          </a:prstGeom>
          <a:noFill/>
          <a:ln>
            <a:noFill/>
          </a:ln>
        </p:spPr>
        <p:txBody>
          <a:bodyPr anchorCtr="0" anchor="t" bIns="0" lIns="137150" spcFirstLastPara="1" rIns="0" wrap="square" tIns="0">
            <a:spAutoFit/>
          </a:bodyPr>
          <a:lstStyle/>
          <a:p>
            <a:pPr indent="-381000" lvl="0" marL="342900" rtl="0" algn="l">
              <a:lnSpc>
                <a:spcPct val="90000"/>
              </a:lnSpc>
              <a:spcBef>
                <a:spcPts val="0"/>
              </a:spcBef>
              <a:spcAft>
                <a:spcPts val="0"/>
              </a:spcAft>
              <a:buClr>
                <a:srgbClr val="002B42"/>
              </a:buClr>
              <a:buSzPts val="2200"/>
              <a:buFont typeface="Arial"/>
              <a:buChar char="●"/>
            </a:pPr>
            <a:r>
              <a:rPr lang="en" sz="2200"/>
              <a:t>Need to sort alignment report?</a:t>
            </a:r>
            <a:endParaRPr sz="2200"/>
          </a:p>
          <a:p>
            <a:pPr indent="-304800" lvl="1" marL="596900" rtl="0" algn="l">
              <a:lnSpc>
                <a:spcPct val="90000"/>
              </a:lnSpc>
              <a:spcBef>
                <a:spcPts val="400"/>
              </a:spcBef>
              <a:spcAft>
                <a:spcPts val="0"/>
              </a:spcAft>
              <a:buClr>
                <a:srgbClr val="002B42"/>
              </a:buClr>
              <a:buSzPts val="2200"/>
              <a:buChar char="●"/>
            </a:pPr>
            <a:r>
              <a:rPr lang="en" sz="2200"/>
              <a:t>samtools</a:t>
            </a:r>
            <a:endParaRPr sz="2200"/>
          </a:p>
          <a:p>
            <a:pPr indent="-165100" lvl="1" marL="596900" rtl="0" algn="l">
              <a:lnSpc>
                <a:spcPct val="90000"/>
              </a:lnSpc>
              <a:spcBef>
                <a:spcPts val="400"/>
              </a:spcBef>
              <a:spcAft>
                <a:spcPts val="0"/>
              </a:spcAft>
              <a:buClr>
                <a:srgbClr val="002B42"/>
              </a:buClr>
              <a:buSzPts val="1400"/>
              <a:buNone/>
            </a:pPr>
            <a:r>
              <a:t/>
            </a:r>
            <a:endParaRPr sz="2200"/>
          </a:p>
          <a:p>
            <a:pPr indent="-381000" lvl="0" marL="342900" rtl="0" algn="l">
              <a:lnSpc>
                <a:spcPct val="90000"/>
              </a:lnSpc>
              <a:spcBef>
                <a:spcPts val="800"/>
              </a:spcBef>
              <a:spcAft>
                <a:spcPts val="0"/>
              </a:spcAft>
              <a:buClr>
                <a:srgbClr val="002B42"/>
              </a:buClr>
              <a:buSzPts val="2200"/>
              <a:buFont typeface="Arial"/>
              <a:buChar char="●"/>
            </a:pPr>
            <a:r>
              <a:rPr lang="en" sz="2200"/>
              <a:t>Need to convert FASTQ to FASTA?</a:t>
            </a:r>
            <a:endParaRPr sz="2200"/>
          </a:p>
          <a:p>
            <a:pPr indent="-304800" lvl="1" marL="596900" rtl="0" algn="l">
              <a:lnSpc>
                <a:spcPct val="90000"/>
              </a:lnSpc>
              <a:spcBef>
                <a:spcPts val="400"/>
              </a:spcBef>
              <a:spcAft>
                <a:spcPts val="0"/>
              </a:spcAft>
              <a:buClr>
                <a:srgbClr val="002B42"/>
              </a:buClr>
              <a:buSzPts val="2200"/>
              <a:buChar char="●"/>
            </a:pPr>
            <a:r>
              <a:rPr lang="en" sz="2200"/>
              <a:t>fastx-toolkit</a:t>
            </a:r>
            <a:endParaRPr sz="2200"/>
          </a:p>
          <a:p>
            <a:pPr indent="-165100" lvl="1" marL="596900" rtl="0" algn="l">
              <a:lnSpc>
                <a:spcPct val="90000"/>
              </a:lnSpc>
              <a:spcBef>
                <a:spcPts val="400"/>
              </a:spcBef>
              <a:spcAft>
                <a:spcPts val="0"/>
              </a:spcAft>
              <a:buClr>
                <a:srgbClr val="002B42"/>
              </a:buClr>
              <a:buSzPts val="1400"/>
              <a:buNone/>
            </a:pPr>
            <a:r>
              <a:t/>
            </a:r>
            <a:endParaRPr sz="2200"/>
          </a:p>
          <a:p>
            <a:pPr indent="-381000" lvl="0" marL="342900" rtl="0" algn="l">
              <a:lnSpc>
                <a:spcPct val="90000"/>
              </a:lnSpc>
              <a:spcBef>
                <a:spcPts val="800"/>
              </a:spcBef>
              <a:spcAft>
                <a:spcPts val="0"/>
              </a:spcAft>
              <a:buClr>
                <a:srgbClr val="002B42"/>
              </a:buClr>
              <a:buSzPts val="2200"/>
              <a:buFont typeface="Arial"/>
              <a:buChar char="●"/>
            </a:pPr>
            <a:r>
              <a:rPr lang="en" sz="2200"/>
              <a:t>…</a:t>
            </a:r>
            <a:endParaRPr sz="2200"/>
          </a:p>
          <a:p>
            <a:pPr indent="-165100" lvl="1" marL="596900" rtl="0" algn="l">
              <a:lnSpc>
                <a:spcPct val="90000"/>
              </a:lnSpc>
              <a:spcBef>
                <a:spcPts val="400"/>
              </a:spcBef>
              <a:spcAft>
                <a:spcPts val="0"/>
              </a:spcAft>
              <a:buClr>
                <a:srgbClr val="002B42"/>
              </a:buClr>
              <a:buSzPts val="1400"/>
              <a:buNone/>
            </a:pPr>
            <a:r>
              <a:t/>
            </a:r>
            <a:endParaRPr sz="2200"/>
          </a:p>
          <a:p>
            <a:pPr indent="-381000" lvl="0" marL="342900" rtl="0" algn="l">
              <a:lnSpc>
                <a:spcPct val="90000"/>
              </a:lnSpc>
              <a:spcBef>
                <a:spcPts val="800"/>
              </a:spcBef>
              <a:spcAft>
                <a:spcPts val="0"/>
              </a:spcAft>
              <a:buClr>
                <a:srgbClr val="002B42"/>
              </a:buClr>
              <a:buSzPts val="2200"/>
              <a:buFont typeface="Arial"/>
              <a:buChar char="●"/>
            </a:pPr>
            <a:r>
              <a:rPr lang="en" sz="2200"/>
              <a:t>Google!</a:t>
            </a:r>
            <a:endParaRPr sz="2200"/>
          </a:p>
        </p:txBody>
      </p:sp>
      <p:sp>
        <p:nvSpPr>
          <p:cNvPr id="1558" name="Google Shape;1558;p207"/>
          <p:cNvSpPr txBox="1"/>
          <p:nvPr>
            <p:ph idx="12" type="sldNum"/>
          </p:nvPr>
        </p:nvSpPr>
        <p:spPr>
          <a:xfrm>
            <a:off x="4843463" y="3575447"/>
            <a:ext cx="1543200" cy="2055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559" name="Google Shape;1559;p207"/>
          <p:cNvSpPr txBox="1"/>
          <p:nvPr/>
        </p:nvSpPr>
        <p:spPr>
          <a:xfrm>
            <a:off x="272400" y="152391"/>
            <a:ext cx="7886700" cy="7368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None/>
            </a:pPr>
            <a:r>
              <a:rPr b="1" lang="en" sz="3300">
                <a:solidFill>
                  <a:srgbClr val="1155CC"/>
                </a:solidFill>
                <a:latin typeface="Helvetica Neue"/>
                <a:ea typeface="Helvetica Neue"/>
                <a:cs typeface="Helvetica Neue"/>
                <a:sym typeface="Helvetica Neue"/>
              </a:rPr>
              <a:t>Tools to manipulate files are available</a:t>
            </a:r>
            <a:endParaRPr b="1" sz="3300">
              <a:solidFill>
                <a:srgbClr val="1155CC"/>
              </a:solidFill>
              <a:latin typeface="Helvetica Neue"/>
              <a:ea typeface="Helvetica Neue"/>
              <a:cs typeface="Helvetica Neue"/>
              <a:sym typeface="Helvetica Neue"/>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3" name="Shape 1563"/>
        <p:cNvGrpSpPr/>
        <p:nvPr/>
      </p:nvGrpSpPr>
      <p:grpSpPr>
        <a:xfrm>
          <a:off x="0" y="0"/>
          <a:ext cx="0" cy="0"/>
          <a:chOff x="0" y="0"/>
          <a:chExt cx="0" cy="0"/>
        </a:xfrm>
      </p:grpSpPr>
      <p:sp>
        <p:nvSpPr>
          <p:cNvPr id="1564" name="Google Shape;1564;p208"/>
          <p:cNvSpPr txBox="1"/>
          <p:nvPr>
            <p:ph idx="1" type="body"/>
          </p:nvPr>
        </p:nvSpPr>
        <p:spPr>
          <a:xfrm>
            <a:off x="628650" y="1177049"/>
            <a:ext cx="7886700" cy="2290500"/>
          </a:xfrm>
          <a:prstGeom prst="rect">
            <a:avLst/>
          </a:prstGeom>
          <a:noFill/>
          <a:ln>
            <a:noFill/>
          </a:ln>
        </p:spPr>
        <p:txBody>
          <a:bodyPr anchorCtr="0" anchor="t" bIns="0" lIns="137150" spcFirstLastPara="1" rIns="0" wrap="square" tIns="0">
            <a:spAutoFit/>
          </a:bodyPr>
          <a:lstStyle/>
          <a:p>
            <a:pPr indent="-381000" lvl="0" marL="342900" rtl="0" algn="l">
              <a:lnSpc>
                <a:spcPct val="90000"/>
              </a:lnSpc>
              <a:spcBef>
                <a:spcPts val="0"/>
              </a:spcBef>
              <a:spcAft>
                <a:spcPts val="0"/>
              </a:spcAft>
              <a:buClr>
                <a:srgbClr val="002B42"/>
              </a:buClr>
              <a:buSzPts val="2200"/>
              <a:buFont typeface="Arial"/>
              <a:buChar char="●"/>
            </a:pPr>
            <a:r>
              <a:rPr lang="en" sz="2200"/>
              <a:t>Slack channel for Wynton users</a:t>
            </a:r>
            <a:endParaRPr sz="2200"/>
          </a:p>
          <a:p>
            <a:pPr indent="-304800" lvl="1" marL="596900" rtl="0" algn="l">
              <a:lnSpc>
                <a:spcPct val="90000"/>
              </a:lnSpc>
              <a:spcBef>
                <a:spcPts val="400"/>
              </a:spcBef>
              <a:spcAft>
                <a:spcPts val="0"/>
              </a:spcAft>
              <a:buClr>
                <a:srgbClr val="002B42"/>
              </a:buClr>
              <a:buSzPts val="2200"/>
              <a:buChar char="●"/>
            </a:pPr>
            <a:r>
              <a:rPr lang="en" sz="2200"/>
              <a:t>ucsf-wynton.slack.com</a:t>
            </a:r>
            <a:endParaRPr sz="2200"/>
          </a:p>
          <a:p>
            <a:pPr indent="-381000" lvl="0" marL="342900" rtl="0" algn="l">
              <a:lnSpc>
                <a:spcPct val="90000"/>
              </a:lnSpc>
              <a:spcBef>
                <a:spcPts val="800"/>
              </a:spcBef>
              <a:spcAft>
                <a:spcPts val="0"/>
              </a:spcAft>
              <a:buClr>
                <a:srgbClr val="002B42"/>
              </a:buClr>
              <a:buSzPts val="2200"/>
              <a:buFont typeface="Arial"/>
              <a:buChar char="●"/>
            </a:pPr>
            <a:r>
              <a:rPr lang="en" sz="2200" u="sng">
                <a:solidFill>
                  <a:schemeClr val="hlink"/>
                </a:solidFill>
                <a:hlinkClick r:id="rId3"/>
              </a:rPr>
              <a:t>https://stackexchange.com/</a:t>
            </a:r>
            <a:endParaRPr sz="2200"/>
          </a:p>
          <a:p>
            <a:pPr indent="-381000" lvl="0" marL="342900" rtl="0" algn="l">
              <a:lnSpc>
                <a:spcPct val="90000"/>
              </a:lnSpc>
              <a:spcBef>
                <a:spcPts val="800"/>
              </a:spcBef>
              <a:spcAft>
                <a:spcPts val="0"/>
              </a:spcAft>
              <a:buClr>
                <a:srgbClr val="002B42"/>
              </a:buClr>
              <a:buSzPts val="2200"/>
              <a:buFont typeface="Arial"/>
              <a:buChar char="●"/>
            </a:pPr>
            <a:r>
              <a:rPr lang="en" sz="2200"/>
              <a:t>Google groups for specific tools</a:t>
            </a:r>
            <a:endParaRPr sz="2200"/>
          </a:p>
          <a:p>
            <a:pPr indent="-381000" lvl="0" marL="342900" rtl="0" algn="l">
              <a:lnSpc>
                <a:spcPct val="90000"/>
              </a:lnSpc>
              <a:spcBef>
                <a:spcPts val="800"/>
              </a:spcBef>
              <a:spcAft>
                <a:spcPts val="0"/>
              </a:spcAft>
              <a:buClr>
                <a:srgbClr val="002B42"/>
              </a:buClr>
              <a:buSzPts val="2200"/>
              <a:buFont typeface="Arial"/>
              <a:buChar char="●"/>
            </a:pPr>
            <a:r>
              <a:rPr lang="en" sz="2200"/>
              <a:t>GitHub issues</a:t>
            </a:r>
            <a:endParaRPr sz="2200"/>
          </a:p>
          <a:p>
            <a:pPr indent="-381000" lvl="0" marL="342900" rtl="0" algn="l">
              <a:lnSpc>
                <a:spcPct val="90000"/>
              </a:lnSpc>
              <a:spcBef>
                <a:spcPts val="800"/>
              </a:spcBef>
              <a:spcAft>
                <a:spcPts val="0"/>
              </a:spcAft>
              <a:buClr>
                <a:srgbClr val="002B42"/>
              </a:buClr>
              <a:buSzPts val="2200"/>
              <a:buFont typeface="Arial"/>
              <a:buChar char="●"/>
            </a:pPr>
            <a:r>
              <a:rPr lang="en" sz="2200"/>
              <a:t>…</a:t>
            </a:r>
            <a:endParaRPr sz="2200"/>
          </a:p>
        </p:txBody>
      </p:sp>
      <p:sp>
        <p:nvSpPr>
          <p:cNvPr id="1565" name="Google Shape;1565;p208"/>
          <p:cNvSpPr txBox="1"/>
          <p:nvPr/>
        </p:nvSpPr>
        <p:spPr>
          <a:xfrm>
            <a:off x="272400" y="152400"/>
            <a:ext cx="8571000" cy="736800"/>
          </a:xfrm>
          <a:prstGeom prst="rect">
            <a:avLst/>
          </a:prstGeom>
          <a:noFill/>
          <a:ln>
            <a:noFill/>
          </a:ln>
        </p:spPr>
        <p:txBody>
          <a:bodyPr anchorCtr="0" anchor="t" bIns="0" lIns="0" spcFirstLastPara="1" rIns="0" wrap="square" tIns="0">
            <a:normAutofit fontScale="77500"/>
          </a:bodyPr>
          <a:lstStyle/>
          <a:p>
            <a:pPr indent="0" lvl="0" marL="0" rtl="0" algn="l">
              <a:lnSpc>
                <a:spcPct val="90000"/>
              </a:lnSpc>
              <a:spcBef>
                <a:spcPts val="0"/>
              </a:spcBef>
              <a:spcAft>
                <a:spcPts val="0"/>
              </a:spcAft>
              <a:buNone/>
            </a:pPr>
            <a:r>
              <a:rPr b="1" lang="en" sz="3300">
                <a:solidFill>
                  <a:srgbClr val="1155CC"/>
                </a:solidFill>
                <a:latin typeface="Helvetica Neue"/>
                <a:ea typeface="Helvetica Neue"/>
                <a:cs typeface="Helvetica Neue"/>
                <a:sym typeface="Helvetica Neue"/>
              </a:rPr>
              <a:t>When I need help, which I do need on a daily basis,</a:t>
            </a:r>
            <a:endParaRPr b="1" sz="3300">
              <a:solidFill>
                <a:srgbClr val="1155CC"/>
              </a:solidFill>
              <a:latin typeface="Helvetica Neue"/>
              <a:ea typeface="Helvetica Neue"/>
              <a:cs typeface="Helvetica Neue"/>
              <a:sym typeface="Helvetica Neue"/>
            </a:endParaRPr>
          </a:p>
          <a:p>
            <a:pPr indent="0" lvl="0" marL="0" rtl="0" algn="l">
              <a:lnSpc>
                <a:spcPct val="90000"/>
              </a:lnSpc>
              <a:spcBef>
                <a:spcPts val="0"/>
              </a:spcBef>
              <a:spcAft>
                <a:spcPts val="0"/>
              </a:spcAft>
              <a:buNone/>
            </a:pPr>
            <a:r>
              <a:rPr b="1" lang="en" sz="3300">
                <a:solidFill>
                  <a:srgbClr val="1155CC"/>
                </a:solidFill>
                <a:latin typeface="Helvetica Neue"/>
                <a:ea typeface="Helvetica Neue"/>
                <a:cs typeface="Helvetica Neue"/>
                <a:sym typeface="Helvetica Neue"/>
              </a:rPr>
              <a:t>I visit:</a:t>
            </a:r>
            <a:endParaRPr b="1" sz="3300">
              <a:solidFill>
                <a:srgbClr val="1155CC"/>
              </a:solidFill>
              <a:latin typeface="Helvetica Neue"/>
              <a:ea typeface="Helvetica Neue"/>
              <a:cs typeface="Helvetica Neue"/>
              <a:sym typeface="Helvetica Neue"/>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0" name="Shape 1570"/>
        <p:cNvGrpSpPr/>
        <p:nvPr/>
      </p:nvGrpSpPr>
      <p:grpSpPr>
        <a:xfrm>
          <a:off x="0" y="0"/>
          <a:ext cx="0" cy="0"/>
          <a:chOff x="0" y="0"/>
          <a:chExt cx="0" cy="0"/>
        </a:xfrm>
      </p:grpSpPr>
      <p:sp>
        <p:nvSpPr>
          <p:cNvPr id="1571" name="Google Shape;1571;p209"/>
          <p:cNvSpPr txBox="1"/>
          <p:nvPr>
            <p:ph idx="1" type="body"/>
          </p:nvPr>
        </p:nvSpPr>
        <p:spPr>
          <a:xfrm>
            <a:off x="628650" y="1407362"/>
            <a:ext cx="7886700" cy="2920500"/>
          </a:xfrm>
          <a:prstGeom prst="rect">
            <a:avLst/>
          </a:prstGeom>
          <a:noFill/>
          <a:ln>
            <a:noFill/>
          </a:ln>
        </p:spPr>
        <p:txBody>
          <a:bodyPr anchorCtr="0" anchor="t" bIns="0" lIns="137150" spcFirstLastPara="1" rIns="0" wrap="square" tIns="0">
            <a:spAutoFit/>
          </a:bodyPr>
          <a:lstStyle/>
          <a:p>
            <a:pPr indent="0" lvl="0" marL="0" rtl="0" algn="l">
              <a:lnSpc>
                <a:spcPct val="125000"/>
              </a:lnSpc>
              <a:spcBef>
                <a:spcPts val="0"/>
              </a:spcBef>
              <a:spcAft>
                <a:spcPts val="0"/>
              </a:spcAft>
              <a:buClr>
                <a:schemeClr val="dk1"/>
              </a:buClr>
              <a:buSzPts val="1100"/>
              <a:buFont typeface="Arial"/>
              <a:buNone/>
            </a:pPr>
            <a:r>
              <a:rPr b="1" lang="en" sz="1800">
                <a:solidFill>
                  <a:srgbClr val="002A40"/>
                </a:solidFill>
                <a:highlight>
                  <a:srgbClr val="FFFFFF"/>
                </a:highlight>
              </a:rPr>
              <a:t>Tailored Training Sessions on Publishing Your Code with GitHub</a:t>
            </a:r>
            <a:endParaRPr b="1" sz="1800">
              <a:solidFill>
                <a:srgbClr val="002A40"/>
              </a:solidFill>
              <a:highlight>
                <a:srgbClr val="FFFFFF"/>
              </a:highlight>
            </a:endParaRPr>
          </a:p>
          <a:p>
            <a:pPr indent="0" lvl="0" marL="0" rtl="0" algn="l">
              <a:lnSpc>
                <a:spcPct val="125000"/>
              </a:lnSpc>
              <a:spcBef>
                <a:spcPts val="800"/>
              </a:spcBef>
              <a:spcAft>
                <a:spcPts val="0"/>
              </a:spcAft>
              <a:buClr>
                <a:schemeClr val="dk1"/>
              </a:buClr>
              <a:buSzPts val="1100"/>
              <a:buFont typeface="Arial"/>
              <a:buNone/>
            </a:pPr>
            <a:r>
              <a:rPr lang="en" sz="1800">
                <a:solidFill>
                  <a:srgbClr val="002A40"/>
                </a:solidFill>
                <a:highlight>
                  <a:srgbClr val="FFFFFF"/>
                </a:highlight>
              </a:rPr>
              <a:t>Maximize the impact of your research by mastering GitHub with </a:t>
            </a:r>
            <a:r>
              <a:rPr b="1" lang="en" sz="1800">
                <a:solidFill>
                  <a:srgbClr val="F76912"/>
                </a:solidFill>
                <a:highlight>
                  <a:srgbClr val="FFFFFF"/>
                </a:highlight>
                <a:uFill>
                  <a:noFill/>
                </a:uFill>
                <a:hlinkClick r:id="rId3">
                  <a:extLst>
                    <a:ext uri="{A12FA001-AC4F-418D-AE19-62706E023703}">
                      <ahyp:hlinkClr val="tx"/>
                    </a:ext>
                  </a:extLst>
                </a:hlinkClick>
              </a:rPr>
              <a:t>Gladstone's Bioinformatics Core training.</a:t>
            </a:r>
            <a:r>
              <a:rPr lang="en" sz="1800">
                <a:solidFill>
                  <a:srgbClr val="002A40"/>
                </a:solidFill>
                <a:highlight>
                  <a:srgbClr val="FFFFFF"/>
                </a:highlight>
              </a:rPr>
              <a:t> The team of experts will help you easily share your code, collaborate with colleagues, publish a function or library, build a website, and more. The core can tailor a training session to meet your lab’s specific needs and bring your research to the next level. </a:t>
            </a:r>
            <a:r>
              <a:rPr b="1" lang="en" sz="1800">
                <a:solidFill>
                  <a:srgbClr val="F76912"/>
                </a:solidFill>
                <a:highlight>
                  <a:srgbClr val="FFFFFF"/>
                </a:highlight>
              </a:rPr>
              <a:t>Reach out to the core</a:t>
            </a:r>
            <a:r>
              <a:rPr lang="en" sz="1800">
                <a:solidFill>
                  <a:srgbClr val="002A40"/>
                </a:solidFill>
                <a:highlight>
                  <a:srgbClr val="FFFFFF"/>
                </a:highlight>
              </a:rPr>
              <a:t> to learn more or set up a training session.</a:t>
            </a:r>
            <a:endParaRPr sz="1800"/>
          </a:p>
          <a:p>
            <a:pPr indent="0" lvl="0" marL="342900" rtl="0" algn="l">
              <a:lnSpc>
                <a:spcPct val="90000"/>
              </a:lnSpc>
              <a:spcBef>
                <a:spcPts val="800"/>
              </a:spcBef>
              <a:spcAft>
                <a:spcPts val="0"/>
              </a:spcAft>
              <a:buNone/>
            </a:pPr>
            <a:r>
              <a:t/>
            </a:r>
            <a:endParaRPr/>
          </a:p>
        </p:txBody>
      </p:sp>
      <p:sp>
        <p:nvSpPr>
          <p:cNvPr id="1572" name="Google Shape;1572;p209"/>
          <p:cNvSpPr txBox="1"/>
          <p:nvPr/>
        </p:nvSpPr>
        <p:spPr>
          <a:xfrm>
            <a:off x="272400" y="152400"/>
            <a:ext cx="8571000" cy="9762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None/>
            </a:pPr>
            <a:r>
              <a:rPr b="1" lang="en" sz="3300">
                <a:solidFill>
                  <a:srgbClr val="1155CC"/>
                </a:solidFill>
                <a:latin typeface="Helvetica Neue"/>
                <a:ea typeface="Helvetica Neue"/>
                <a:cs typeface="Helvetica Neue"/>
                <a:sym typeface="Helvetica Neue"/>
              </a:rPr>
              <a:t>How to publish your code?</a:t>
            </a:r>
            <a:endParaRPr b="1" sz="3300">
              <a:solidFill>
                <a:srgbClr val="1155CC"/>
              </a:solidFill>
              <a:latin typeface="Helvetica Neue"/>
              <a:ea typeface="Helvetica Neue"/>
              <a:cs typeface="Helvetica Neue"/>
              <a:sym typeface="Helvetica Neue"/>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7" name="Shape 1577"/>
        <p:cNvGrpSpPr/>
        <p:nvPr/>
      </p:nvGrpSpPr>
      <p:grpSpPr>
        <a:xfrm>
          <a:off x="0" y="0"/>
          <a:ext cx="0" cy="0"/>
          <a:chOff x="0" y="0"/>
          <a:chExt cx="0" cy="0"/>
        </a:xfrm>
      </p:grpSpPr>
      <p:sp>
        <p:nvSpPr>
          <p:cNvPr id="1578" name="Google Shape;1578;p210"/>
          <p:cNvSpPr txBox="1"/>
          <p:nvPr/>
        </p:nvSpPr>
        <p:spPr>
          <a:xfrm>
            <a:off x="286500" y="2944000"/>
            <a:ext cx="8571000" cy="9762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None/>
            </a:pPr>
            <a:r>
              <a:rPr b="1" lang="en" sz="3300">
                <a:solidFill>
                  <a:srgbClr val="1155CC"/>
                </a:solidFill>
                <a:latin typeface="Helvetica Neue"/>
                <a:ea typeface="Helvetica Neue"/>
                <a:cs typeface="Helvetica Neue"/>
                <a:sym typeface="Helvetica Neue"/>
              </a:rPr>
              <a:t>Session III Appendix</a:t>
            </a:r>
            <a:endParaRPr b="1" sz="3300">
              <a:solidFill>
                <a:srgbClr val="1155CC"/>
              </a:solidFill>
              <a:latin typeface="Helvetica Neue"/>
              <a:ea typeface="Helvetica Neue"/>
              <a:cs typeface="Helvetica Neue"/>
              <a:sym typeface="Helvetica Neue"/>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2" name="Shape 1582"/>
        <p:cNvGrpSpPr/>
        <p:nvPr/>
      </p:nvGrpSpPr>
      <p:grpSpPr>
        <a:xfrm>
          <a:off x="0" y="0"/>
          <a:ext cx="0" cy="0"/>
          <a:chOff x="0" y="0"/>
          <a:chExt cx="0" cy="0"/>
        </a:xfrm>
      </p:grpSpPr>
      <p:pic>
        <p:nvPicPr>
          <p:cNvPr id="1583" name="Google Shape;1583;p211"/>
          <p:cNvPicPr preferRelativeResize="0"/>
          <p:nvPr/>
        </p:nvPicPr>
        <p:blipFill>
          <a:blip r:embed="rId3">
            <a:alphaModFix/>
          </a:blip>
          <a:stretch>
            <a:fillRect/>
          </a:stretch>
        </p:blipFill>
        <p:spPr>
          <a:xfrm>
            <a:off x="244125" y="1001850"/>
            <a:ext cx="4154950" cy="3756075"/>
          </a:xfrm>
          <a:prstGeom prst="rect">
            <a:avLst/>
          </a:prstGeom>
          <a:noFill/>
          <a:ln>
            <a:noFill/>
          </a:ln>
        </p:spPr>
      </p:pic>
      <p:sp>
        <p:nvSpPr>
          <p:cNvPr id="1584" name="Google Shape;1584;p211"/>
          <p:cNvSpPr txBox="1"/>
          <p:nvPr/>
        </p:nvSpPr>
        <p:spPr>
          <a:xfrm>
            <a:off x="120000" y="0"/>
            <a:ext cx="8830200" cy="7368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Clr>
                <a:schemeClr val="dk1"/>
              </a:buClr>
              <a:buSzPts val="1100"/>
              <a:buFont typeface="Arial"/>
              <a:buNone/>
            </a:pPr>
            <a:r>
              <a:rPr b="1" lang="en" sz="2400">
                <a:solidFill>
                  <a:srgbClr val="0066CC"/>
                </a:solidFill>
                <a:latin typeface="Helvetica Neue"/>
                <a:ea typeface="Helvetica Neue"/>
                <a:cs typeface="Helvetica Neue"/>
                <a:sym typeface="Helvetica Neue"/>
              </a:rPr>
              <a:t>How to </a:t>
            </a:r>
            <a:r>
              <a:rPr b="1" lang="en" sz="2400">
                <a:solidFill>
                  <a:srgbClr val="0066CC"/>
                </a:solidFill>
                <a:latin typeface="Helvetica Neue"/>
                <a:ea typeface="Helvetica Neue"/>
                <a:cs typeface="Helvetica Neue"/>
                <a:sym typeface="Helvetica Neue"/>
              </a:rPr>
              <a:t>the expression for each gene within one sample (Sample A)</a:t>
            </a:r>
            <a:endParaRPr b="1" sz="4000">
              <a:solidFill>
                <a:srgbClr val="0066CC"/>
              </a:solidFill>
              <a:latin typeface="Helvetica Neue"/>
              <a:ea typeface="Helvetica Neue"/>
              <a:cs typeface="Helvetica Neue"/>
              <a:sym typeface="Helvetica Neue"/>
            </a:endParaRPr>
          </a:p>
        </p:txBody>
      </p:sp>
      <p:sp>
        <p:nvSpPr>
          <p:cNvPr id="1585" name="Google Shape;1585;p211"/>
          <p:cNvSpPr txBox="1"/>
          <p:nvPr/>
        </p:nvSpPr>
        <p:spPr>
          <a:xfrm>
            <a:off x="4572000" y="1085500"/>
            <a:ext cx="42033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Helvetica Neue"/>
                <a:ea typeface="Helvetica Neue"/>
                <a:cs typeface="Helvetica Neue"/>
                <a:sym typeface="Helvetica Neue"/>
              </a:rPr>
              <a:t>Get the expression for each gene within one sample (Sample A)</a:t>
            </a:r>
            <a:endParaRPr sz="1700">
              <a:solidFill>
                <a:schemeClr val="dk1"/>
              </a:solidFill>
              <a:latin typeface="Helvetica Neue"/>
              <a:ea typeface="Helvetica Neue"/>
              <a:cs typeface="Helvetica Neue"/>
              <a:sym typeface="Helvetica Neue"/>
            </a:endParaRPr>
          </a:p>
        </p:txBody>
      </p:sp>
      <p:pic>
        <p:nvPicPr>
          <p:cNvPr id="1586" name="Google Shape;1586;p211"/>
          <p:cNvPicPr preferRelativeResize="0"/>
          <p:nvPr/>
        </p:nvPicPr>
        <p:blipFill rotWithShape="1">
          <a:blip r:embed="rId4">
            <a:alphaModFix/>
          </a:blip>
          <a:srcRect b="0" l="0" r="0" t="0"/>
          <a:stretch/>
        </p:blipFill>
        <p:spPr>
          <a:xfrm>
            <a:off x="4739075" y="1878229"/>
            <a:ext cx="2252649" cy="1591674"/>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1" name="Shape 1591"/>
        <p:cNvGrpSpPr/>
        <p:nvPr/>
      </p:nvGrpSpPr>
      <p:grpSpPr>
        <a:xfrm>
          <a:off x="0" y="0"/>
          <a:ext cx="0" cy="0"/>
          <a:chOff x="0" y="0"/>
          <a:chExt cx="0" cy="0"/>
        </a:xfrm>
      </p:grpSpPr>
      <p:sp>
        <p:nvSpPr>
          <p:cNvPr id="1592" name="Google Shape;1592;p212"/>
          <p:cNvSpPr txBox="1"/>
          <p:nvPr/>
        </p:nvSpPr>
        <p:spPr>
          <a:xfrm>
            <a:off x="90611" y="120559"/>
            <a:ext cx="8962800" cy="7368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lt1"/>
              </a:buClr>
              <a:buSzPts val="3000"/>
              <a:buFont typeface="Helvetica Neue"/>
              <a:buNone/>
            </a:pPr>
            <a:r>
              <a:rPr b="1" lang="en" sz="3000">
                <a:solidFill>
                  <a:srgbClr val="0066CC"/>
                </a:solidFill>
                <a:latin typeface="Helvetica Neue"/>
                <a:ea typeface="Helvetica Neue"/>
                <a:cs typeface="Helvetica Neue"/>
                <a:sym typeface="Helvetica Neue"/>
              </a:rPr>
              <a:t>Scenario </a:t>
            </a:r>
            <a:endParaRPr b="1" sz="2900">
              <a:solidFill>
                <a:srgbClr val="0066CC"/>
              </a:solidFill>
              <a:latin typeface="Helvetica Neue"/>
              <a:ea typeface="Helvetica Neue"/>
              <a:cs typeface="Helvetica Neue"/>
              <a:sym typeface="Helvetica Neue"/>
            </a:endParaRPr>
          </a:p>
          <a:p>
            <a:pPr indent="0" lvl="0" marL="0" rtl="0" algn="l">
              <a:spcBef>
                <a:spcPts val="0"/>
              </a:spcBef>
              <a:spcAft>
                <a:spcPts val="0"/>
              </a:spcAft>
              <a:buClr>
                <a:schemeClr val="dk1"/>
              </a:buClr>
              <a:buSzPts val="1400"/>
              <a:buFont typeface="Arial"/>
              <a:buNone/>
            </a:pPr>
            <a:r>
              <a:t/>
            </a:r>
            <a:endParaRPr b="1" sz="2600">
              <a:solidFill>
                <a:srgbClr val="0066CC"/>
              </a:solidFill>
              <a:latin typeface="Helvetica Neue"/>
              <a:ea typeface="Helvetica Neue"/>
              <a:cs typeface="Helvetica Neue"/>
              <a:sym typeface="Helvetica Neue"/>
            </a:endParaRPr>
          </a:p>
        </p:txBody>
      </p:sp>
      <p:pic>
        <p:nvPicPr>
          <p:cNvPr id="1593" name="Google Shape;1593;p212"/>
          <p:cNvPicPr preferRelativeResize="0"/>
          <p:nvPr/>
        </p:nvPicPr>
        <p:blipFill rotWithShape="1">
          <a:blip r:embed="rId3">
            <a:alphaModFix/>
          </a:blip>
          <a:srcRect b="0" l="0" r="0" t="0"/>
          <a:stretch/>
        </p:blipFill>
        <p:spPr>
          <a:xfrm>
            <a:off x="90612" y="1447482"/>
            <a:ext cx="3491013" cy="2466704"/>
          </a:xfrm>
          <a:prstGeom prst="rect">
            <a:avLst/>
          </a:prstGeom>
          <a:noFill/>
          <a:ln>
            <a:noFill/>
          </a:ln>
        </p:spPr>
      </p:pic>
      <p:sp>
        <p:nvSpPr>
          <p:cNvPr id="1594" name="Google Shape;1594;p212"/>
          <p:cNvSpPr txBox="1"/>
          <p:nvPr/>
        </p:nvSpPr>
        <p:spPr>
          <a:xfrm>
            <a:off x="90600" y="688388"/>
            <a:ext cx="8649000" cy="3156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Clr>
                <a:srgbClr val="000000"/>
              </a:buClr>
              <a:buSzPts val="1400"/>
              <a:buFont typeface="Arial"/>
              <a:buNone/>
            </a:pPr>
            <a:r>
              <a:rPr b="1" lang="en" sz="1600">
                <a:solidFill>
                  <a:srgbClr val="0071AF"/>
                </a:solidFill>
              </a:rPr>
              <a:t>Which gene is more expressed in Sample A? Gene X or Gene Y?</a:t>
            </a:r>
            <a:endParaRPr b="0" i="0" sz="1300" u="none" cap="none" strike="noStrike">
              <a:solidFill>
                <a:srgbClr val="000000"/>
              </a:solidFill>
              <a:latin typeface="Arial"/>
              <a:ea typeface="Arial"/>
              <a:cs typeface="Arial"/>
              <a:sym typeface="Arial"/>
            </a:endParaRPr>
          </a:p>
        </p:txBody>
      </p:sp>
      <p:sp>
        <p:nvSpPr>
          <p:cNvPr id="1595" name="Google Shape;1595;p212"/>
          <p:cNvSpPr txBox="1"/>
          <p:nvPr/>
        </p:nvSpPr>
        <p:spPr>
          <a:xfrm>
            <a:off x="175025" y="4357638"/>
            <a:ext cx="8649000" cy="315600"/>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Clr>
                <a:srgbClr val="000000"/>
              </a:buClr>
              <a:buSzPts val="1400"/>
              <a:buFont typeface="Arial"/>
              <a:buNone/>
            </a:pPr>
            <a:r>
              <a:rPr b="1" lang="en" sz="1600">
                <a:solidFill>
                  <a:srgbClr val="0071AF"/>
                </a:solidFill>
              </a:rPr>
              <a:t>What is the source of bias when comparing Gene X and Gene Y within a sample?</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0" name="Shape 1600"/>
        <p:cNvGrpSpPr/>
        <p:nvPr/>
      </p:nvGrpSpPr>
      <p:grpSpPr>
        <a:xfrm>
          <a:off x="0" y="0"/>
          <a:ext cx="0" cy="0"/>
          <a:chOff x="0" y="0"/>
          <a:chExt cx="0" cy="0"/>
        </a:xfrm>
      </p:grpSpPr>
      <p:sp>
        <p:nvSpPr>
          <p:cNvPr id="1601" name="Google Shape;1601;p213"/>
          <p:cNvSpPr txBox="1"/>
          <p:nvPr/>
        </p:nvSpPr>
        <p:spPr>
          <a:xfrm>
            <a:off x="181336" y="137151"/>
            <a:ext cx="8962800"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3000"/>
              <a:buFont typeface="Helvetica Neue"/>
              <a:buNone/>
            </a:pPr>
            <a:r>
              <a:rPr b="1" lang="en" sz="3000">
                <a:solidFill>
                  <a:srgbClr val="0066CC"/>
                </a:solidFill>
                <a:latin typeface="Helvetica Neue"/>
                <a:ea typeface="Helvetica Neue"/>
                <a:cs typeface="Helvetica Neue"/>
                <a:sym typeface="Helvetica Neue"/>
              </a:rPr>
              <a:t>Source of bias between genes</a:t>
            </a:r>
            <a:endParaRPr b="1" i="0" sz="2900" u="none" cap="none" strike="noStrike">
              <a:solidFill>
                <a:srgbClr val="0066CC"/>
              </a:solidFill>
              <a:latin typeface="Helvetica Neue"/>
              <a:ea typeface="Helvetica Neue"/>
              <a:cs typeface="Helvetica Neue"/>
              <a:sym typeface="Helvetica Neue"/>
            </a:endParaRPr>
          </a:p>
        </p:txBody>
      </p:sp>
      <p:pic>
        <p:nvPicPr>
          <p:cNvPr descr="Icon&#10;&#10;Description automatically generated" id="1602" name="Google Shape;1602;p213"/>
          <p:cNvPicPr preferRelativeResize="0"/>
          <p:nvPr/>
        </p:nvPicPr>
        <p:blipFill rotWithShape="1">
          <a:blip r:embed="rId3">
            <a:alphaModFix/>
          </a:blip>
          <a:srcRect b="0" l="0" r="0" t="0"/>
          <a:stretch/>
        </p:blipFill>
        <p:spPr>
          <a:xfrm>
            <a:off x="1510879" y="1506796"/>
            <a:ext cx="4019550" cy="676275"/>
          </a:xfrm>
          <a:prstGeom prst="rect">
            <a:avLst/>
          </a:prstGeom>
          <a:noFill/>
          <a:ln>
            <a:noFill/>
          </a:ln>
        </p:spPr>
      </p:pic>
      <p:sp>
        <p:nvSpPr>
          <p:cNvPr id="1603" name="Google Shape;1603;p213"/>
          <p:cNvSpPr/>
          <p:nvPr/>
        </p:nvSpPr>
        <p:spPr>
          <a:xfrm>
            <a:off x="181336" y="944788"/>
            <a:ext cx="8781300" cy="3462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2B42"/>
                </a:solidFill>
                <a:latin typeface="Arial"/>
                <a:ea typeface="Arial"/>
                <a:cs typeface="Arial"/>
                <a:sym typeface="Arial"/>
              </a:rPr>
              <a:t>At the same expression level, a </a:t>
            </a:r>
            <a:r>
              <a:rPr b="0" i="0" lang="en" sz="1800" u="sng" cap="none" strike="noStrike">
                <a:solidFill>
                  <a:srgbClr val="002B42"/>
                </a:solidFill>
                <a:latin typeface="Arial"/>
                <a:ea typeface="Arial"/>
                <a:cs typeface="Arial"/>
                <a:sym typeface="Arial"/>
              </a:rPr>
              <a:t>long gene</a:t>
            </a:r>
            <a:r>
              <a:rPr lang="en" sz="1800">
                <a:solidFill>
                  <a:srgbClr val="002B42"/>
                </a:solidFill>
              </a:rPr>
              <a:t> </a:t>
            </a:r>
            <a:r>
              <a:rPr b="0" i="0" lang="en" sz="1800" u="none" cap="none" strike="noStrike">
                <a:solidFill>
                  <a:srgbClr val="002B42"/>
                </a:solidFill>
                <a:latin typeface="Arial"/>
                <a:ea typeface="Arial"/>
                <a:cs typeface="Arial"/>
                <a:sym typeface="Arial"/>
              </a:rPr>
              <a:t>will have more reads than a </a:t>
            </a:r>
            <a:r>
              <a:rPr b="0" i="0" lang="en" sz="1800" u="sng" cap="none" strike="noStrike">
                <a:solidFill>
                  <a:srgbClr val="002B42"/>
                </a:solidFill>
                <a:latin typeface="Arial"/>
                <a:ea typeface="Arial"/>
                <a:cs typeface="Arial"/>
                <a:sym typeface="Arial"/>
              </a:rPr>
              <a:t>shorter gene</a:t>
            </a:r>
            <a:endParaRPr b="0" i="0" sz="1100" u="none" cap="none" strike="noStrike">
              <a:solidFill>
                <a:srgbClr val="000000"/>
              </a:solidFill>
              <a:latin typeface="Arial"/>
              <a:ea typeface="Arial"/>
              <a:cs typeface="Arial"/>
              <a:sym typeface="Arial"/>
            </a:endParaRPr>
          </a:p>
        </p:txBody>
      </p:sp>
      <p:sp>
        <p:nvSpPr>
          <p:cNvPr id="1604" name="Google Shape;1604;p213"/>
          <p:cNvSpPr txBox="1"/>
          <p:nvPr/>
        </p:nvSpPr>
        <p:spPr>
          <a:xfrm>
            <a:off x="5530425" y="1600288"/>
            <a:ext cx="3000000" cy="447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 sz="1900">
                <a:solidFill>
                  <a:srgbClr val="A64D79"/>
                </a:solidFill>
                <a:latin typeface="Helvetica Neue"/>
                <a:ea typeface="Helvetica Neue"/>
                <a:cs typeface="Helvetica Neue"/>
                <a:sym typeface="Helvetica Neue"/>
              </a:rPr>
              <a:t>Gene-length </a:t>
            </a:r>
            <a:endParaRPr sz="300">
              <a:solidFill>
                <a:srgbClr val="A64D79"/>
              </a:solidFill>
            </a:endParaRPr>
          </a:p>
        </p:txBody>
      </p:sp>
      <p:sp>
        <p:nvSpPr>
          <p:cNvPr id="1605" name="Google Shape;1605;p213"/>
          <p:cNvSpPr txBox="1"/>
          <p:nvPr/>
        </p:nvSpPr>
        <p:spPr>
          <a:xfrm>
            <a:off x="2402250" y="1291013"/>
            <a:ext cx="1276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Helvetica Neue"/>
                <a:ea typeface="Helvetica Neue"/>
                <a:cs typeface="Helvetica Neue"/>
                <a:sym typeface="Helvetica Neue"/>
              </a:rPr>
              <a:t>N=12</a:t>
            </a:r>
            <a:endParaRPr sz="1300">
              <a:solidFill>
                <a:schemeClr val="dk1"/>
              </a:solidFill>
              <a:latin typeface="Helvetica Neue"/>
              <a:ea typeface="Helvetica Neue"/>
              <a:cs typeface="Helvetica Neue"/>
              <a:sym typeface="Helvetica Neue"/>
            </a:endParaRPr>
          </a:p>
        </p:txBody>
      </p:sp>
      <p:sp>
        <p:nvSpPr>
          <p:cNvPr id="1606" name="Google Shape;1606;p213"/>
          <p:cNvSpPr txBox="1"/>
          <p:nvPr/>
        </p:nvSpPr>
        <p:spPr>
          <a:xfrm>
            <a:off x="4462925" y="1291013"/>
            <a:ext cx="12765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Helvetica Neue"/>
                <a:ea typeface="Helvetica Neue"/>
                <a:cs typeface="Helvetica Neue"/>
                <a:sym typeface="Helvetica Neue"/>
              </a:rPr>
              <a:t>N=6</a:t>
            </a:r>
            <a:endParaRPr sz="1300">
              <a:solidFill>
                <a:schemeClr val="dk1"/>
              </a:solidFill>
              <a:latin typeface="Helvetica Neue"/>
              <a:ea typeface="Helvetica Neue"/>
              <a:cs typeface="Helvetica Neue"/>
              <a:sym typeface="Helvetica Neue"/>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1" name="Shape 1611"/>
        <p:cNvGrpSpPr/>
        <p:nvPr/>
      </p:nvGrpSpPr>
      <p:grpSpPr>
        <a:xfrm>
          <a:off x="0" y="0"/>
          <a:ext cx="0" cy="0"/>
          <a:chOff x="0" y="0"/>
          <a:chExt cx="0" cy="0"/>
        </a:xfrm>
      </p:grpSpPr>
      <p:sp>
        <p:nvSpPr>
          <p:cNvPr id="1612" name="Google Shape;1612;p214"/>
          <p:cNvSpPr txBox="1"/>
          <p:nvPr/>
        </p:nvSpPr>
        <p:spPr>
          <a:xfrm>
            <a:off x="509026" y="1178309"/>
            <a:ext cx="7886700" cy="2254500"/>
          </a:xfrm>
          <a:prstGeom prst="rect">
            <a:avLst/>
          </a:prstGeom>
          <a:noFill/>
          <a:ln>
            <a:noFill/>
          </a:ln>
        </p:spPr>
        <p:txBody>
          <a:bodyPr anchorCtr="0" anchor="t" bIns="34275" lIns="68575" spcFirstLastPara="1" rIns="68575" wrap="square" tIns="34275">
            <a:noAutofit/>
          </a:bodyPr>
          <a:lstStyle/>
          <a:p>
            <a:pPr indent="0" lvl="0" marL="0" marR="0" rtl="0" algn="l">
              <a:lnSpc>
                <a:spcPct val="150000"/>
              </a:lnSpc>
              <a:spcBef>
                <a:spcPts val="0"/>
              </a:spcBef>
              <a:spcAft>
                <a:spcPts val="0"/>
              </a:spcAft>
              <a:buClr>
                <a:schemeClr val="dk1"/>
              </a:buClr>
              <a:buSzPts val="2200"/>
              <a:buFont typeface="Helvetica Neue"/>
              <a:buNone/>
            </a:pPr>
            <a:r>
              <a:t/>
            </a:r>
            <a:endParaRPr b="0" i="0" sz="800" u="none" cap="none" strike="noStrike">
              <a:solidFill>
                <a:srgbClr val="002A40"/>
              </a:solidFill>
              <a:latin typeface="Helvetica Neue"/>
              <a:ea typeface="Helvetica Neue"/>
              <a:cs typeface="Helvetica Neue"/>
              <a:sym typeface="Helvetica Neue"/>
            </a:endParaRPr>
          </a:p>
          <a:p>
            <a:pPr indent="-120650" lvl="1" marL="342900" marR="0" rtl="0" algn="l">
              <a:lnSpc>
                <a:spcPct val="150000"/>
              </a:lnSpc>
              <a:spcBef>
                <a:spcPts val="400"/>
              </a:spcBef>
              <a:spcAft>
                <a:spcPts val="0"/>
              </a:spcAft>
              <a:buClr>
                <a:srgbClr val="002A40"/>
              </a:buClr>
              <a:buSzPts val="1900"/>
              <a:buFont typeface="Courier New"/>
              <a:buChar char="o"/>
            </a:pPr>
            <a:r>
              <a:rPr b="0" i="0" lang="en" sz="2100" u="none" cap="none" strike="noStrike">
                <a:solidFill>
                  <a:srgbClr val="002A40"/>
                </a:solidFill>
                <a:latin typeface="Helvetica Neue"/>
                <a:ea typeface="Helvetica Neue"/>
                <a:cs typeface="Helvetica Neue"/>
                <a:sym typeface="Helvetica Neue"/>
              </a:rPr>
              <a:t> </a:t>
            </a:r>
            <a:r>
              <a:rPr lang="en" sz="2100">
                <a:solidFill>
                  <a:schemeClr val="accent1"/>
                </a:solidFill>
                <a:latin typeface="Helvetica Neue"/>
                <a:ea typeface="Helvetica Neue"/>
                <a:cs typeface="Helvetica Neue"/>
                <a:sym typeface="Helvetica Neue"/>
              </a:rPr>
              <a:t> Library size or sequence depth (number of mapped reads)</a:t>
            </a:r>
            <a:endParaRPr sz="2400">
              <a:solidFill>
                <a:schemeClr val="accent1"/>
              </a:solidFill>
              <a:latin typeface="Helvetica Neue"/>
              <a:ea typeface="Helvetica Neue"/>
              <a:cs typeface="Helvetica Neue"/>
              <a:sym typeface="Helvetica Neue"/>
            </a:endParaRPr>
          </a:p>
          <a:p>
            <a:pPr indent="-120650" lvl="1" marL="342900" marR="0" rtl="0" algn="l">
              <a:lnSpc>
                <a:spcPct val="150000"/>
              </a:lnSpc>
              <a:spcBef>
                <a:spcPts val="400"/>
              </a:spcBef>
              <a:spcAft>
                <a:spcPts val="0"/>
              </a:spcAft>
              <a:buClr>
                <a:srgbClr val="002A40"/>
              </a:buClr>
              <a:buSzPts val="1900"/>
              <a:buFont typeface="Courier New"/>
              <a:buChar char="o"/>
            </a:pPr>
            <a:r>
              <a:rPr lang="en" sz="2100">
                <a:solidFill>
                  <a:srgbClr val="002A40"/>
                </a:solidFill>
                <a:latin typeface="Helvetica Neue"/>
                <a:ea typeface="Helvetica Neue"/>
                <a:cs typeface="Helvetica Neue"/>
                <a:sym typeface="Helvetica Neue"/>
              </a:rPr>
              <a:t>  </a:t>
            </a:r>
            <a:r>
              <a:rPr b="0" i="0" lang="en" sz="2100" u="none" cap="none" strike="noStrike">
                <a:solidFill>
                  <a:srgbClr val="002A40"/>
                </a:solidFill>
                <a:latin typeface="Helvetica Neue"/>
                <a:ea typeface="Helvetica Neue"/>
                <a:cs typeface="Helvetica Neue"/>
                <a:sym typeface="Helvetica Neue"/>
              </a:rPr>
              <a:t>Gene length</a:t>
            </a:r>
            <a:endParaRPr b="0" i="0" sz="2400" u="none" cap="none" strike="noStrike">
              <a:solidFill>
                <a:srgbClr val="002A40"/>
              </a:solidFill>
              <a:latin typeface="Helvetica Neue"/>
              <a:ea typeface="Helvetica Neue"/>
              <a:cs typeface="Helvetica Neue"/>
              <a:sym typeface="Helvetica Neue"/>
            </a:endParaRPr>
          </a:p>
        </p:txBody>
      </p:sp>
      <p:sp>
        <p:nvSpPr>
          <p:cNvPr id="1613" name="Google Shape;1613;p214"/>
          <p:cNvSpPr/>
          <p:nvPr/>
        </p:nvSpPr>
        <p:spPr>
          <a:xfrm>
            <a:off x="181199" y="185600"/>
            <a:ext cx="8962800" cy="992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2400"/>
              <a:buFont typeface="Arial"/>
              <a:buNone/>
            </a:pPr>
            <a:r>
              <a:rPr b="1" i="0" lang="en" sz="2500" cap="none" strike="noStrike">
                <a:solidFill>
                  <a:srgbClr val="0066CC"/>
                </a:solidFill>
              </a:rPr>
              <a:t>Identify and correct technical biases removing the least possible biological sign</a:t>
            </a:r>
            <a:r>
              <a:rPr b="1" lang="en" sz="2500">
                <a:solidFill>
                  <a:srgbClr val="0066CC"/>
                </a:solidFill>
              </a:rPr>
              <a:t>al </a:t>
            </a:r>
            <a:endParaRPr b="1" i="0" sz="1600" cap="none" strike="noStrike">
              <a:solidFill>
                <a:srgbClr val="0066CC"/>
              </a:solidFill>
            </a:endParaRPr>
          </a:p>
        </p:txBody>
      </p:sp>
      <p:sp>
        <p:nvSpPr>
          <p:cNvPr id="1614" name="Google Shape;1614;p214"/>
          <p:cNvSpPr txBox="1"/>
          <p:nvPr/>
        </p:nvSpPr>
        <p:spPr>
          <a:xfrm>
            <a:off x="101993" y="2940933"/>
            <a:ext cx="7886700" cy="21030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2A40"/>
              </a:buClr>
              <a:buSzPts val="2100"/>
              <a:buFont typeface="Arial"/>
              <a:buNone/>
            </a:pPr>
            <a:r>
              <a:rPr b="0" i="0" lang="en" sz="2100" u="none" cap="none" strike="noStrike">
                <a:solidFill>
                  <a:srgbClr val="002A40"/>
                </a:solidFill>
                <a:latin typeface="Arial"/>
                <a:ea typeface="Arial"/>
                <a:cs typeface="Arial"/>
                <a:sym typeface="Arial"/>
              </a:rPr>
              <a:t>Commonly used normalization method that includes </a:t>
            </a:r>
            <a:r>
              <a:rPr b="0" i="0" lang="en" sz="2100" u="sng" cap="none" strike="noStrike">
                <a:solidFill>
                  <a:srgbClr val="002A40"/>
                </a:solidFill>
                <a:latin typeface="Arial"/>
                <a:ea typeface="Arial"/>
                <a:cs typeface="Arial"/>
                <a:sym typeface="Arial"/>
              </a:rPr>
              <a:t>sequence depth and gene length</a:t>
            </a:r>
            <a:r>
              <a:rPr b="0" i="0" lang="en" sz="2100" u="none" cap="none" strike="noStrike">
                <a:solidFill>
                  <a:srgbClr val="002A40"/>
                </a:solidFill>
                <a:latin typeface="Arial"/>
                <a:ea typeface="Arial"/>
                <a:cs typeface="Arial"/>
                <a:sym typeface="Arial"/>
              </a:rPr>
              <a:t> correction:</a:t>
            </a:r>
            <a:endParaRPr b="0" i="0" sz="2100" u="none" cap="none" strike="noStrike">
              <a:solidFill>
                <a:srgbClr val="002A40"/>
              </a:solidFill>
              <a:latin typeface="Arial"/>
              <a:ea typeface="Arial"/>
              <a:cs typeface="Arial"/>
              <a:sym typeface="Arial"/>
            </a:endParaRPr>
          </a:p>
          <a:p>
            <a:pPr indent="0" lvl="0" marL="0" marR="0" rtl="0" algn="l">
              <a:lnSpc>
                <a:spcPct val="100000"/>
              </a:lnSpc>
              <a:spcBef>
                <a:spcPts val="0"/>
              </a:spcBef>
              <a:spcAft>
                <a:spcPts val="0"/>
              </a:spcAft>
              <a:buClr>
                <a:srgbClr val="002A40"/>
              </a:buClr>
              <a:buSzPts val="2100"/>
              <a:buFont typeface="Arial"/>
              <a:buNone/>
            </a:pPr>
            <a:r>
              <a:t/>
            </a:r>
            <a:endParaRPr b="0" i="0" sz="2100" u="none" cap="none" strike="noStrike">
              <a:solidFill>
                <a:srgbClr val="002A40"/>
              </a:solidFill>
              <a:latin typeface="Arial"/>
              <a:ea typeface="Arial"/>
              <a:cs typeface="Arial"/>
              <a:sym typeface="Arial"/>
            </a:endParaRPr>
          </a:p>
          <a:p>
            <a:pPr indent="-114300" lvl="1" marL="342900" marR="0" rtl="0" algn="l">
              <a:lnSpc>
                <a:spcPct val="150000"/>
              </a:lnSpc>
              <a:spcBef>
                <a:spcPts val="400"/>
              </a:spcBef>
              <a:spcAft>
                <a:spcPts val="0"/>
              </a:spcAft>
              <a:buClr>
                <a:srgbClr val="002A40"/>
              </a:buClr>
              <a:buSzPts val="1800"/>
              <a:buFont typeface="Courier New"/>
              <a:buChar char="o"/>
            </a:pPr>
            <a:r>
              <a:rPr b="0" i="0" lang="en" sz="1800" u="none" cap="none" strike="noStrike">
                <a:solidFill>
                  <a:srgbClr val="002A40"/>
                </a:solidFill>
                <a:latin typeface="Arial"/>
                <a:ea typeface="Arial"/>
                <a:cs typeface="Arial"/>
                <a:sym typeface="Arial"/>
              </a:rPr>
              <a:t> RPKM /FPKM (Reads/Fragments Per Kilobase per Million)</a:t>
            </a:r>
            <a:endParaRPr b="0" i="0" sz="1100" u="none" cap="none" strike="noStrike">
              <a:solidFill>
                <a:srgbClr val="000000"/>
              </a:solidFill>
              <a:latin typeface="Arial"/>
              <a:ea typeface="Arial"/>
              <a:cs typeface="Arial"/>
              <a:sym typeface="Arial"/>
            </a:endParaRPr>
          </a:p>
          <a:p>
            <a:pPr indent="-114300" lvl="1" marL="342900" marR="0" rtl="0" algn="l">
              <a:lnSpc>
                <a:spcPct val="150000"/>
              </a:lnSpc>
              <a:spcBef>
                <a:spcPts val="400"/>
              </a:spcBef>
              <a:spcAft>
                <a:spcPts val="0"/>
              </a:spcAft>
              <a:buClr>
                <a:srgbClr val="002A40"/>
              </a:buClr>
              <a:buSzPts val="1800"/>
              <a:buFont typeface="Courier New"/>
              <a:buChar char="o"/>
            </a:pPr>
            <a:r>
              <a:rPr b="0" i="0" lang="en" sz="1800" u="none" cap="none" strike="noStrike">
                <a:solidFill>
                  <a:srgbClr val="002A40"/>
                </a:solidFill>
                <a:latin typeface="Arial"/>
                <a:ea typeface="Arial"/>
                <a:cs typeface="Arial"/>
                <a:sym typeface="Arial"/>
              </a:rPr>
              <a:t> TPM (Transcripts Per kilobase Million)</a:t>
            </a:r>
            <a:endParaRPr b="0" i="0" sz="1100" u="none" cap="none" strike="noStrike">
              <a:solidFill>
                <a:srgbClr val="000000"/>
              </a:solidFill>
              <a:latin typeface="Arial"/>
              <a:ea typeface="Arial"/>
              <a:cs typeface="Arial"/>
              <a:sym typeface="Arial"/>
            </a:endParaRPr>
          </a:p>
        </p:txBody>
      </p:sp>
      <p:sp>
        <p:nvSpPr>
          <p:cNvPr id="1615" name="Google Shape;1615;p214"/>
          <p:cNvSpPr txBox="1"/>
          <p:nvPr/>
        </p:nvSpPr>
        <p:spPr>
          <a:xfrm>
            <a:off x="6275825" y="4628425"/>
            <a:ext cx="2702700" cy="415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500">
                <a:solidFill>
                  <a:schemeClr val="dk1"/>
                </a:solidFill>
                <a:latin typeface="Helvetica Neue"/>
                <a:ea typeface="Helvetica Neue"/>
                <a:cs typeface="Helvetica Neue"/>
                <a:sym typeface="Helvetica Neue"/>
              </a:rPr>
              <a:t>Slides in the Appendix</a:t>
            </a:r>
            <a:endParaRPr sz="1500">
              <a:solidFill>
                <a:schemeClr val="dk1"/>
              </a:solidFill>
              <a:latin typeface="Helvetica Neue"/>
              <a:ea typeface="Helvetica Neue"/>
              <a:cs typeface="Helvetica Neue"/>
              <a:sym typeface="Helvetica Neue"/>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0" name="Shape 1620"/>
        <p:cNvGrpSpPr/>
        <p:nvPr/>
      </p:nvGrpSpPr>
      <p:grpSpPr>
        <a:xfrm>
          <a:off x="0" y="0"/>
          <a:ext cx="0" cy="0"/>
          <a:chOff x="0" y="0"/>
          <a:chExt cx="0" cy="0"/>
        </a:xfrm>
      </p:grpSpPr>
      <p:sp>
        <p:nvSpPr>
          <p:cNvPr id="1621" name="Google Shape;1621;p215"/>
          <p:cNvSpPr txBox="1"/>
          <p:nvPr/>
        </p:nvSpPr>
        <p:spPr>
          <a:xfrm>
            <a:off x="181336" y="137151"/>
            <a:ext cx="8962800"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3000"/>
              <a:buFont typeface="Helvetica Neue"/>
              <a:buNone/>
            </a:pPr>
            <a:r>
              <a:rPr b="1" i="0" lang="en" sz="3000" u="none" cap="none" strike="noStrike">
                <a:solidFill>
                  <a:srgbClr val="0066CC"/>
                </a:solidFill>
                <a:latin typeface="Helvetica Neue"/>
                <a:ea typeface="Helvetica Neue"/>
                <a:cs typeface="Helvetica Neue"/>
                <a:sym typeface="Helvetica Neue"/>
              </a:rPr>
              <a:t>RPKM: seq depth and gene length bias</a:t>
            </a:r>
            <a:endParaRPr b="0" i="0" sz="2900" u="none" cap="none" strike="noStrike">
              <a:solidFill>
                <a:srgbClr val="0066CC"/>
              </a:solidFill>
              <a:latin typeface="Helvetica Neue"/>
              <a:ea typeface="Helvetica Neue"/>
              <a:cs typeface="Helvetica Neue"/>
              <a:sym typeface="Helvetica Neue"/>
            </a:endParaRPr>
          </a:p>
        </p:txBody>
      </p:sp>
      <p:pic>
        <p:nvPicPr>
          <p:cNvPr descr="Timeline&#10;&#10;Description automatically generated" id="1622" name="Google Shape;1622;p215"/>
          <p:cNvPicPr preferRelativeResize="0"/>
          <p:nvPr/>
        </p:nvPicPr>
        <p:blipFill rotWithShape="1">
          <a:blip r:embed="rId3">
            <a:alphaModFix/>
          </a:blip>
          <a:srcRect b="0" l="0" r="0" t="0"/>
          <a:stretch/>
        </p:blipFill>
        <p:spPr>
          <a:xfrm>
            <a:off x="0" y="610910"/>
            <a:ext cx="7063810" cy="3343427"/>
          </a:xfrm>
          <a:prstGeom prst="rect">
            <a:avLst/>
          </a:prstGeom>
          <a:noFill/>
          <a:ln>
            <a:noFill/>
          </a:ln>
        </p:spPr>
      </p:pic>
      <p:pic>
        <p:nvPicPr>
          <p:cNvPr id="1623" name="Google Shape;1623;p215"/>
          <p:cNvPicPr preferRelativeResize="0"/>
          <p:nvPr/>
        </p:nvPicPr>
        <p:blipFill rotWithShape="1">
          <a:blip r:embed="rId4">
            <a:alphaModFix/>
          </a:blip>
          <a:srcRect b="0" l="0" r="0" t="30124"/>
          <a:stretch/>
        </p:blipFill>
        <p:spPr>
          <a:xfrm>
            <a:off x="0" y="3881009"/>
            <a:ext cx="5497462" cy="618873"/>
          </a:xfrm>
          <a:prstGeom prst="rect">
            <a:avLst/>
          </a:prstGeom>
          <a:noFill/>
          <a:ln>
            <a:noFill/>
          </a:ln>
        </p:spPr>
      </p:pic>
      <p:sp>
        <p:nvSpPr>
          <p:cNvPr id="1624" name="Google Shape;1624;p215"/>
          <p:cNvSpPr txBox="1"/>
          <p:nvPr/>
        </p:nvSpPr>
        <p:spPr>
          <a:xfrm>
            <a:off x="6923551" y="2470150"/>
            <a:ext cx="2039100" cy="1177500"/>
          </a:xfrm>
          <a:prstGeom prst="rect">
            <a:avLst/>
          </a:prstGeom>
          <a:noFill/>
          <a:ln>
            <a:noFill/>
          </a:ln>
        </p:spPr>
        <p:txBody>
          <a:bodyPr anchorCtr="0" anchor="t" bIns="34275" lIns="68575" spcFirstLastPara="1" rIns="68575" wrap="square" tIns="34275">
            <a:spAutoFit/>
          </a:bodyPr>
          <a:lstStyle/>
          <a:p>
            <a:pPr indent="0" lvl="0" marL="0" marR="0" rtl="0" algn="just">
              <a:lnSpc>
                <a:spcPct val="100000"/>
              </a:lnSpc>
              <a:spcBef>
                <a:spcPts val="0"/>
              </a:spcBef>
              <a:spcAft>
                <a:spcPts val="0"/>
              </a:spcAft>
              <a:buClr>
                <a:srgbClr val="000000"/>
              </a:buClr>
              <a:buSzPts val="1200"/>
              <a:buFont typeface="Arial"/>
              <a:buNone/>
            </a:pPr>
            <a:r>
              <a:rPr b="0" i="0" lang="en" sz="1200" u="none" cap="none" strike="noStrike">
                <a:solidFill>
                  <a:srgbClr val="002A40"/>
                </a:solidFill>
                <a:latin typeface="Arial"/>
                <a:ea typeface="Arial"/>
                <a:cs typeface="Arial"/>
                <a:sym typeface="Arial"/>
              </a:rPr>
              <a:t>One library with 5 M reads</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0" i="0" lang="en" sz="1200" u="none" cap="none" strike="noStrike">
                <a:solidFill>
                  <a:srgbClr val="002A40"/>
                </a:solidFill>
                <a:latin typeface="Arial"/>
                <a:ea typeface="Arial"/>
                <a:cs typeface="Arial"/>
                <a:sym typeface="Arial"/>
              </a:rPr>
              <a:t>Total 4 M matched to the genome sequence</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0" i="0" lang="en" sz="1200" u="none" cap="none" strike="noStrike">
                <a:solidFill>
                  <a:srgbClr val="002A40"/>
                </a:solidFill>
                <a:latin typeface="Arial"/>
                <a:ea typeface="Arial"/>
                <a:cs typeface="Arial"/>
                <a:sym typeface="Arial"/>
              </a:rPr>
              <a:t>5000 reads matched to a given gene </a:t>
            </a:r>
            <a:r>
              <a:rPr b="0" i="1" lang="en" sz="1200" u="none" cap="none" strike="noStrike">
                <a:solidFill>
                  <a:srgbClr val="002A40"/>
                </a:solidFill>
                <a:latin typeface="Arial"/>
                <a:ea typeface="Arial"/>
                <a:cs typeface="Arial"/>
                <a:sym typeface="Arial"/>
              </a:rPr>
              <a:t>with a length of 2000 bp.</a:t>
            </a:r>
            <a:endParaRPr b="0" i="1" sz="1200" u="none" cap="none" strike="noStrike">
              <a:solidFill>
                <a:srgbClr val="002A40"/>
              </a:solidFill>
              <a:latin typeface="Calibri"/>
              <a:ea typeface="Calibri"/>
              <a:cs typeface="Calibri"/>
              <a:sym typeface="Calibri"/>
            </a:endParaRPr>
          </a:p>
        </p:txBody>
      </p:sp>
      <p:sp>
        <p:nvSpPr>
          <p:cNvPr id="1625" name="Google Shape;1625;p215"/>
          <p:cNvSpPr txBox="1"/>
          <p:nvPr/>
        </p:nvSpPr>
        <p:spPr>
          <a:xfrm>
            <a:off x="94852" y="735451"/>
            <a:ext cx="4610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2A40"/>
                </a:solidFill>
                <a:latin typeface="Arial"/>
                <a:ea typeface="Arial"/>
                <a:cs typeface="Arial"/>
                <a:sym typeface="Arial"/>
              </a:rPr>
              <a:t>Reads/Fragments Per Kilobase per Million</a:t>
            </a:r>
            <a:endParaRPr b="0" i="0" sz="1400" u="none" cap="none" strike="noStrike">
              <a:solidFill>
                <a:schemeClr val="dk1"/>
              </a:solidFill>
              <a:latin typeface="Calibri"/>
              <a:ea typeface="Calibri"/>
              <a:cs typeface="Calibri"/>
              <a:sym typeface="Calibri"/>
            </a:endParaRPr>
          </a:p>
        </p:txBody>
      </p:sp>
      <p:pic>
        <p:nvPicPr>
          <p:cNvPr id="1626" name="Google Shape;1626;p215"/>
          <p:cNvPicPr preferRelativeResize="0"/>
          <p:nvPr/>
        </p:nvPicPr>
        <p:blipFill rotWithShape="1">
          <a:blip r:embed="rId5">
            <a:alphaModFix/>
          </a:blip>
          <a:srcRect b="0" l="0" r="0" t="0"/>
          <a:stretch/>
        </p:blipFill>
        <p:spPr>
          <a:xfrm>
            <a:off x="7148008" y="3954337"/>
            <a:ext cx="1901142" cy="472219"/>
          </a:xfrm>
          <a:prstGeom prst="rect">
            <a:avLst/>
          </a:prstGeom>
          <a:noFill/>
          <a:ln>
            <a:noFill/>
          </a:ln>
        </p:spPr>
      </p:pic>
      <p:sp>
        <p:nvSpPr>
          <p:cNvPr id="1627" name="Google Shape;1627;p215"/>
          <p:cNvSpPr txBox="1"/>
          <p:nvPr/>
        </p:nvSpPr>
        <p:spPr>
          <a:xfrm>
            <a:off x="52568" y="4564447"/>
            <a:ext cx="9091500" cy="6234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2A40"/>
                </a:solidFill>
                <a:latin typeface="Arial"/>
                <a:ea typeface="Arial"/>
                <a:cs typeface="Arial"/>
                <a:sym typeface="Arial"/>
              </a:rPr>
              <a:t>RPKM and FPKM </a:t>
            </a:r>
            <a:r>
              <a:rPr b="0" i="1" lang="en" sz="1800" u="none" cap="none" strike="noStrike">
                <a:solidFill>
                  <a:srgbClr val="002A40"/>
                </a:solidFill>
                <a:latin typeface="Arial"/>
                <a:ea typeface="Arial"/>
                <a:cs typeface="Arial"/>
                <a:sym typeface="Arial"/>
              </a:rPr>
              <a:t>-&gt;  the sum of the normalized reads in each sample may be different</a:t>
            </a:r>
            <a:r>
              <a:rPr b="0" i="0" lang="en" sz="1800" u="none" cap="none" strike="noStrike">
                <a:solidFill>
                  <a:srgbClr val="002A40"/>
                </a:solidFill>
                <a:latin typeface="Arial"/>
                <a:ea typeface="Arial"/>
                <a:cs typeface="Arial"/>
                <a:sym typeface="Arial"/>
              </a:rPr>
              <a:t>, and this makes it harder to compare samples directly.</a:t>
            </a:r>
            <a:endParaRPr b="0" i="0" sz="1800" u="none" cap="none" strike="noStrike">
              <a:solidFill>
                <a:srgbClr val="002A4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2" name="Shape 1632"/>
        <p:cNvGrpSpPr/>
        <p:nvPr/>
      </p:nvGrpSpPr>
      <p:grpSpPr>
        <a:xfrm>
          <a:off x="0" y="0"/>
          <a:ext cx="0" cy="0"/>
          <a:chOff x="0" y="0"/>
          <a:chExt cx="0" cy="0"/>
        </a:xfrm>
      </p:grpSpPr>
      <p:sp>
        <p:nvSpPr>
          <p:cNvPr id="1633" name="Google Shape;1633;p216"/>
          <p:cNvSpPr txBox="1"/>
          <p:nvPr/>
        </p:nvSpPr>
        <p:spPr>
          <a:xfrm>
            <a:off x="181336" y="137151"/>
            <a:ext cx="8962800" cy="736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3000"/>
              <a:buFont typeface="Helvetica Neue"/>
              <a:buNone/>
            </a:pPr>
            <a:r>
              <a:rPr b="1" i="0" lang="en" sz="3000" u="none" cap="none" strike="noStrike">
                <a:solidFill>
                  <a:srgbClr val="0066CC"/>
                </a:solidFill>
                <a:latin typeface="Helvetica Neue"/>
                <a:ea typeface="Helvetica Neue"/>
                <a:cs typeface="Helvetica Neue"/>
                <a:sym typeface="Helvetica Neue"/>
              </a:rPr>
              <a:t>TPM: seq depth and gene length bias</a:t>
            </a:r>
            <a:endParaRPr b="0" i="0" sz="2900" u="none" cap="none" strike="noStrike">
              <a:solidFill>
                <a:srgbClr val="0066CC"/>
              </a:solidFill>
              <a:latin typeface="Helvetica Neue"/>
              <a:ea typeface="Helvetica Neue"/>
              <a:cs typeface="Helvetica Neue"/>
              <a:sym typeface="Helvetica Neue"/>
            </a:endParaRPr>
          </a:p>
        </p:txBody>
      </p:sp>
      <p:sp>
        <p:nvSpPr>
          <p:cNvPr id="1634" name="Google Shape;1634;p216"/>
          <p:cNvSpPr txBox="1"/>
          <p:nvPr/>
        </p:nvSpPr>
        <p:spPr>
          <a:xfrm>
            <a:off x="270245" y="608531"/>
            <a:ext cx="8692500" cy="4502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2A4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2A40"/>
                </a:solidFill>
                <a:latin typeface="Arial"/>
                <a:ea typeface="Arial"/>
                <a:cs typeface="Arial"/>
                <a:sym typeface="Arial"/>
              </a:rPr>
              <a:t>TPM: Normalize for gene length first to get the Reads Per Kilobase, sum up all the RPK in a sample (across all genes), and then normalize for sequencing depth</a:t>
            </a:r>
            <a:endParaRPr b="0" i="0" sz="1800" u="none" cap="none" strike="noStrike">
              <a:solidFill>
                <a:srgbClr val="002A4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2A4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2A4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2A4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2A4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2B42"/>
                </a:solidFill>
                <a:latin typeface="Arial"/>
                <a:ea typeface="Arial"/>
                <a:cs typeface="Arial"/>
                <a:sym typeface="Arial"/>
              </a:rPr>
              <a:t>Represent the relative abundance of a transcript among a population of sequenced transcripts </a:t>
            </a:r>
            <a:endParaRPr b="0" i="0" sz="1800" u="none" cap="none" strike="noStrike">
              <a:solidFill>
                <a:srgbClr val="002A4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2A4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1" lang="en" sz="1800" u="none" cap="none" strike="noStrike">
                <a:solidFill>
                  <a:srgbClr val="002A40"/>
                </a:solidFill>
                <a:latin typeface="Arial"/>
                <a:ea typeface="Arial"/>
                <a:cs typeface="Arial"/>
                <a:sym typeface="Arial"/>
              </a:rPr>
              <a:t>The sum of all TPMs in </a:t>
            </a:r>
            <a:r>
              <a:rPr i="1" lang="en" sz="1800">
                <a:solidFill>
                  <a:srgbClr val="002A40"/>
                </a:solidFill>
              </a:rPr>
              <a:t>each</a:t>
            </a:r>
            <a:r>
              <a:rPr b="0" i="1" lang="en" sz="1800" u="none" cap="none" strike="noStrike">
                <a:solidFill>
                  <a:srgbClr val="002A40"/>
                </a:solidFill>
                <a:latin typeface="Arial"/>
                <a:ea typeface="Arial"/>
                <a:cs typeface="Arial"/>
                <a:sym typeface="Arial"/>
              </a:rPr>
              <a:t> samples are the same </a:t>
            </a:r>
            <a:r>
              <a:rPr b="0" i="0" lang="en" sz="1800" u="none" cap="none" strike="noStrike">
                <a:solidFill>
                  <a:srgbClr val="002A40"/>
                </a:solidFill>
                <a:latin typeface="Arial"/>
                <a:ea typeface="Arial"/>
                <a:cs typeface="Arial"/>
                <a:sym typeface="Arial"/>
              </a:rPr>
              <a:t>-&gt; to compare the proportion of reads that mapped to a gene in each sample. </a:t>
            </a:r>
            <a:endParaRPr b="0" i="0" sz="1800" u="none" cap="none" strike="noStrike">
              <a:solidFill>
                <a:srgbClr val="002A4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sz="1800">
              <a:solidFill>
                <a:srgbClr val="002A40"/>
              </a:solidFill>
            </a:endParaRPr>
          </a:p>
          <a:p>
            <a:pPr indent="0" lvl="0" marL="0" marR="0" rtl="0" algn="l">
              <a:lnSpc>
                <a:spcPct val="100000"/>
              </a:lnSpc>
              <a:spcBef>
                <a:spcPts val="0"/>
              </a:spcBef>
              <a:spcAft>
                <a:spcPts val="0"/>
              </a:spcAft>
              <a:buClr>
                <a:srgbClr val="000000"/>
              </a:buClr>
              <a:buSzPts val="1800"/>
              <a:buFont typeface="Arial"/>
              <a:buNone/>
            </a:pPr>
            <a:r>
              <a:rPr lang="en" sz="1800">
                <a:solidFill>
                  <a:srgbClr val="002A40"/>
                </a:solidFill>
              </a:rPr>
              <a:t>Same denominator -&gt; comparable - NOT for RPKM (different denominator)</a:t>
            </a:r>
            <a:endParaRPr sz="1800">
              <a:solidFill>
                <a:srgbClr val="002A40"/>
              </a:solidFill>
            </a:endParaRPr>
          </a:p>
          <a:p>
            <a:pPr indent="0" lvl="0" marL="0" rtl="0" algn="l">
              <a:spcBef>
                <a:spcPts val="0"/>
              </a:spcBef>
              <a:spcAft>
                <a:spcPts val="0"/>
              </a:spcAft>
              <a:buClr>
                <a:schemeClr val="dk1"/>
              </a:buClr>
              <a:buSzPts val="1800"/>
              <a:buFont typeface="Arial"/>
              <a:buNone/>
            </a:pPr>
            <a:r>
              <a:rPr lang="en" sz="1800">
                <a:solidFill>
                  <a:schemeClr val="accent1"/>
                </a:solidFill>
              </a:rPr>
              <a:t>Sample1 - gene1 TPM=2.5</a:t>
            </a:r>
            <a:endParaRPr sz="1800">
              <a:solidFill>
                <a:schemeClr val="accent1"/>
              </a:solidFill>
            </a:endParaRPr>
          </a:p>
          <a:p>
            <a:pPr indent="0" lvl="0" marL="0" rtl="0" algn="l">
              <a:spcBef>
                <a:spcPts val="0"/>
              </a:spcBef>
              <a:spcAft>
                <a:spcPts val="0"/>
              </a:spcAft>
              <a:buClr>
                <a:schemeClr val="dk1"/>
              </a:buClr>
              <a:buSzPts val="1800"/>
              <a:buFont typeface="Arial"/>
              <a:buNone/>
            </a:pPr>
            <a:r>
              <a:rPr lang="en" sz="1800">
                <a:solidFill>
                  <a:schemeClr val="accent1"/>
                </a:solidFill>
              </a:rPr>
              <a:t>Sample2 - gene1 TPM=2.5</a:t>
            </a:r>
            <a:endParaRPr b="0" i="0" sz="1100" u="none" cap="none" strike="noStrike">
              <a:solidFill>
                <a:srgbClr val="000000"/>
              </a:solidFill>
              <a:latin typeface="Arial"/>
              <a:ea typeface="Arial"/>
              <a:cs typeface="Arial"/>
              <a:sym typeface="Arial"/>
            </a:endParaRPr>
          </a:p>
        </p:txBody>
      </p:sp>
      <p:pic>
        <p:nvPicPr>
          <p:cNvPr id="1635" name="Google Shape;1635;p216"/>
          <p:cNvPicPr preferRelativeResize="0"/>
          <p:nvPr/>
        </p:nvPicPr>
        <p:blipFill rotWithShape="1">
          <a:blip r:embed="rId3">
            <a:alphaModFix/>
          </a:blip>
          <a:srcRect b="0" l="0" r="0" t="0"/>
          <a:stretch/>
        </p:blipFill>
        <p:spPr>
          <a:xfrm>
            <a:off x="1264784" y="1606353"/>
            <a:ext cx="5829300" cy="741343"/>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0" name="Shape 1640"/>
        <p:cNvGrpSpPr/>
        <p:nvPr/>
      </p:nvGrpSpPr>
      <p:grpSpPr>
        <a:xfrm>
          <a:off x="0" y="0"/>
          <a:ext cx="0" cy="0"/>
          <a:chOff x="0" y="0"/>
          <a:chExt cx="0" cy="0"/>
        </a:xfrm>
      </p:grpSpPr>
      <p:sp>
        <p:nvSpPr>
          <p:cNvPr id="1641" name="Google Shape;1641;p217"/>
          <p:cNvSpPr txBox="1"/>
          <p:nvPr>
            <p:ph idx="4294967295" type="title"/>
          </p:nvPr>
        </p:nvSpPr>
        <p:spPr>
          <a:xfrm>
            <a:off x="109650" y="145334"/>
            <a:ext cx="8924700" cy="457200"/>
          </a:xfrm>
          <a:prstGeom prst="rect">
            <a:avLst/>
          </a:prstGeom>
          <a:noFill/>
          <a:ln>
            <a:noFill/>
          </a:ln>
        </p:spPr>
        <p:txBody>
          <a:bodyPr anchorCtr="0" anchor="ctr" bIns="0" lIns="0" spcFirstLastPara="1" rIns="0" wrap="square" tIns="0">
            <a:spAutoFit/>
          </a:bodyPr>
          <a:lstStyle/>
          <a:p>
            <a:pPr indent="0" lvl="0" marL="0" rtl="0" algn="l">
              <a:lnSpc>
                <a:spcPct val="90000"/>
              </a:lnSpc>
              <a:spcBef>
                <a:spcPts val="0"/>
              </a:spcBef>
              <a:spcAft>
                <a:spcPts val="0"/>
              </a:spcAft>
              <a:buClr>
                <a:schemeClr val="lt1"/>
              </a:buClr>
              <a:buSzPts val="3300"/>
              <a:buFont typeface="Helvetica Neue"/>
              <a:buNone/>
            </a:pPr>
            <a:r>
              <a:rPr lang="en">
                <a:solidFill>
                  <a:srgbClr val="0066CC"/>
                </a:solidFill>
              </a:rPr>
              <a:t>Main normalization approaches summary</a:t>
            </a:r>
            <a:endParaRPr>
              <a:solidFill>
                <a:srgbClr val="0066CC"/>
              </a:solidFill>
            </a:endParaRPr>
          </a:p>
        </p:txBody>
      </p:sp>
      <p:sp>
        <p:nvSpPr>
          <p:cNvPr id="1642" name="Google Shape;1642;p217"/>
          <p:cNvSpPr txBox="1"/>
          <p:nvPr/>
        </p:nvSpPr>
        <p:spPr>
          <a:xfrm>
            <a:off x="82746" y="4935608"/>
            <a:ext cx="7175400" cy="2079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Helvetica Neue"/>
                <a:ea typeface="Helvetica Neue"/>
                <a:cs typeface="Helvetica Neue"/>
                <a:sym typeface="Helvetica Neue"/>
              </a:rPr>
              <a:t>https://hbctraining.github.io/Training-modules/planning_successful_rnaseq/lessons/sample_level_QC.html</a:t>
            </a:r>
            <a:endParaRPr b="0" i="0" sz="900" u="none" cap="none" strike="noStrike">
              <a:solidFill>
                <a:schemeClr val="dk1"/>
              </a:solidFill>
              <a:latin typeface="Helvetica Neue"/>
              <a:ea typeface="Helvetica Neue"/>
              <a:cs typeface="Helvetica Neue"/>
              <a:sym typeface="Helvetica Neue"/>
            </a:endParaRPr>
          </a:p>
        </p:txBody>
      </p:sp>
      <p:grpSp>
        <p:nvGrpSpPr>
          <p:cNvPr id="1643" name="Google Shape;1643;p217"/>
          <p:cNvGrpSpPr/>
          <p:nvPr/>
        </p:nvGrpSpPr>
        <p:grpSpPr>
          <a:xfrm>
            <a:off x="651557" y="695105"/>
            <a:ext cx="6712577" cy="3462900"/>
            <a:chOff x="651513" y="695075"/>
            <a:chExt cx="5604089" cy="2891051"/>
          </a:xfrm>
        </p:grpSpPr>
        <p:pic>
          <p:nvPicPr>
            <p:cNvPr id="1644" name="Google Shape;1644;p217"/>
            <p:cNvPicPr preferRelativeResize="0"/>
            <p:nvPr/>
          </p:nvPicPr>
          <p:blipFill rotWithShape="1">
            <a:blip r:embed="rId3">
              <a:alphaModFix/>
            </a:blip>
            <a:srcRect b="91257" l="0" r="0" t="-1157"/>
            <a:stretch/>
          </p:blipFill>
          <p:spPr>
            <a:xfrm>
              <a:off x="651525" y="695075"/>
              <a:ext cx="5604076" cy="607798"/>
            </a:xfrm>
            <a:prstGeom prst="rect">
              <a:avLst/>
            </a:prstGeom>
            <a:noFill/>
            <a:ln>
              <a:noFill/>
            </a:ln>
          </p:spPr>
        </p:pic>
        <p:pic>
          <p:nvPicPr>
            <p:cNvPr id="1645" name="Google Shape;1645;p217"/>
            <p:cNvPicPr preferRelativeResize="0"/>
            <p:nvPr/>
          </p:nvPicPr>
          <p:blipFill rotWithShape="1">
            <a:blip r:embed="rId3">
              <a:alphaModFix/>
            </a:blip>
            <a:srcRect b="38278" l="0" r="0" t="26929"/>
            <a:stretch/>
          </p:blipFill>
          <p:spPr>
            <a:xfrm>
              <a:off x="651513" y="1450150"/>
              <a:ext cx="5604076" cy="2135976"/>
            </a:xfrm>
            <a:prstGeom prst="rect">
              <a:avLst/>
            </a:prstGeom>
            <a:noFill/>
            <a:ln>
              <a:noFill/>
            </a:ln>
          </p:spPr>
        </p:pic>
      </p:grpSp>
      <p:sp>
        <p:nvSpPr>
          <p:cNvPr id="1646" name="Google Shape;1646;p217"/>
          <p:cNvSpPr txBox="1"/>
          <p:nvPr/>
        </p:nvSpPr>
        <p:spPr>
          <a:xfrm>
            <a:off x="82750" y="4104300"/>
            <a:ext cx="9522300" cy="5079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400"/>
              </a:spcBef>
              <a:spcAft>
                <a:spcPts val="0"/>
              </a:spcAft>
              <a:buNone/>
            </a:pPr>
            <a:r>
              <a:rPr lang="en" sz="2100">
                <a:solidFill>
                  <a:schemeClr val="accent1"/>
                </a:solidFill>
                <a:latin typeface="Helvetica Neue"/>
                <a:ea typeface="Helvetica Neue"/>
                <a:cs typeface="Helvetica Neue"/>
                <a:sym typeface="Helvetica Neue"/>
              </a:rPr>
              <a:t>Still not enough to perform DEG analysis</a:t>
            </a:r>
            <a:endParaRPr sz="1100">
              <a:solidFill>
                <a:schemeClr val="dk1"/>
              </a:solidFill>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0" name="Shape 1650"/>
        <p:cNvGrpSpPr/>
        <p:nvPr/>
      </p:nvGrpSpPr>
      <p:grpSpPr>
        <a:xfrm>
          <a:off x="0" y="0"/>
          <a:ext cx="0" cy="0"/>
          <a:chOff x="0" y="0"/>
          <a:chExt cx="0" cy="0"/>
        </a:xfrm>
      </p:grpSpPr>
      <p:pic>
        <p:nvPicPr>
          <p:cNvPr id="1651" name="Google Shape;1651;p218"/>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Gladstone">
      <a:dk1>
        <a:srgbClr val="000000"/>
      </a:dk1>
      <a:lt1>
        <a:srgbClr val="FFFFFF"/>
      </a:lt1>
      <a:dk2>
        <a:srgbClr val="44546A"/>
      </a:dk2>
      <a:lt2>
        <a:srgbClr val="E7E6E6"/>
      </a:lt2>
      <a:accent1>
        <a:srgbClr val="002A40"/>
      </a:accent1>
      <a:accent2>
        <a:srgbClr val="E5E1D5"/>
      </a:accent2>
      <a:accent3>
        <a:srgbClr val="96938C"/>
      </a:accent3>
      <a:accent4>
        <a:srgbClr val="F76912"/>
      </a:accent4>
      <a:accent5>
        <a:srgbClr val="FAA308"/>
      </a:accent5>
      <a:accent6>
        <a:srgbClr val="00D3E6"/>
      </a:accent6>
      <a:hlink>
        <a:srgbClr val="CC28A3"/>
      </a:hlink>
      <a:folHlink>
        <a:srgbClr val="CC28A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ladstone Microscopy">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Gladstone">
      <a:dk1>
        <a:srgbClr val="000000"/>
      </a:dk1>
      <a:lt1>
        <a:srgbClr val="FFFFFF"/>
      </a:lt1>
      <a:dk2>
        <a:srgbClr val="44546A"/>
      </a:dk2>
      <a:lt2>
        <a:srgbClr val="E7E6E6"/>
      </a:lt2>
      <a:accent1>
        <a:srgbClr val="002A40"/>
      </a:accent1>
      <a:accent2>
        <a:srgbClr val="E5E1D5"/>
      </a:accent2>
      <a:accent3>
        <a:srgbClr val="96938C"/>
      </a:accent3>
      <a:accent4>
        <a:srgbClr val="F76912"/>
      </a:accent4>
      <a:accent5>
        <a:srgbClr val="FAA308"/>
      </a:accent5>
      <a:accent6>
        <a:srgbClr val="00D3E6"/>
      </a:accent6>
      <a:hlink>
        <a:srgbClr val="CC28A3"/>
      </a:hlink>
      <a:folHlink>
        <a:srgbClr val="CC28A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