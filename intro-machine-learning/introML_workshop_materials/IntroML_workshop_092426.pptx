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y="6858000" cx="12192000"/>
  <p:notesSz cx="12192000" cy="6858000"/>
  <p:embeddedFontLst>
    <p:embeddedFont>
      <p:font typeface="Helvetica Neue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88" roundtripDataSignature="AMtx7mg9h7oli7CWUOainuXkHOjKHl114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hela Tragli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HelveticaNeue-regular.fntdata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font" Target="fonts/HelveticaNeue-italic.fntdata"/><Relationship Id="rId41" Type="http://schemas.openxmlformats.org/officeDocument/2006/relationships/slide" Target="slides/slide35.xml"/><Relationship Id="rId85" Type="http://schemas.openxmlformats.org/officeDocument/2006/relationships/font" Target="fonts/HelveticaNeue-bold.fntdata"/><Relationship Id="rId44" Type="http://schemas.openxmlformats.org/officeDocument/2006/relationships/slide" Target="slides/slide38.xml"/><Relationship Id="rId88" Type="http://customschemas.google.com/relationships/presentationmetadata" Target="metadata"/><Relationship Id="rId43" Type="http://schemas.openxmlformats.org/officeDocument/2006/relationships/slide" Target="slides/slide37.xml"/><Relationship Id="rId87" Type="http://schemas.openxmlformats.org/officeDocument/2006/relationships/font" Target="fonts/HelveticaNeue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03T19:56:55.499">
    <p:pos x="88" y="830"/>
    <p:text>to be changed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gfBpJk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ecpolley/SuperLearner" TargetMode="External"/><Relationship Id="rId3" Type="http://schemas.openxmlformats.org/officeDocument/2006/relationships/hyperlink" Target="https://rdrr.io/cran/SuperLearner/f/vignettes/Guide-to-SuperLearner.Rmd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aea9bcb710_0_9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aea9bcb710_0_9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ea9bcb710_0_8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g3aea9bcb710_0_8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a9bcb710_0_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aea9bcb710_0_2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c63b7a7a_0_16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b0c63b7a7a_0_16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ea9bcb710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g3aea9bcb710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7931a3ff4_0_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https://www.nature.com/articles/s41592-020-0958-x</a:t>
            </a:r>
            <a:endParaRPr/>
          </a:p>
        </p:txBody>
      </p:sp>
      <p:sp>
        <p:nvSpPr>
          <p:cNvPr id="87" name="Google Shape;87;g3b7931a3ff4_0_3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f3dc6a87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https://alphafold.com/</a:t>
            </a:r>
            <a:endParaRPr/>
          </a:p>
        </p:txBody>
      </p:sp>
      <p:sp>
        <p:nvSpPr>
          <p:cNvPr id="96" name="Google Shape;96;g3b6f3dc6a87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ec88105ea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ec88105ea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ae1b3eb4_0_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faae1b3eb4_0_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ea9bcb710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aea9bcb710_0_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c88105ea_0_16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ec88105ea_0_16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ec88105ea_0_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8ec88105ea_0_1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ec88105ea_0_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8ec88105ea_0_1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a9bcb710_0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aea9bcb710_0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ec88105ea_0_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ec88105ea_0_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0c63b7a7a_0_7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b0c63b7a7a_0_7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7931a3ff4_0_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b7931a3ff4_0_6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7931a3ff4_0_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b7931a3ff4_0_5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c63b7a7a_0_7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b0c63b7a7a_0_7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0c63b7a7a_0_10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b0c63b7a7a_0_10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0c63b7a7a_0_9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b0c63b7a7a_0_9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a9bcb710_0_1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aea9bcb710_0_12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ea9bcb710_0_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aea9bcb710_0_1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ea9bcb710_0_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aea9bcb710_0_5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a9bcb710_0_1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aea9bcb710_0_11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0c63b7a7a_0_14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b0c63b7a7a_0_14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ea9bcb710_0_10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aea9bcb710_0_10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ea9bcb710_0_2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aea9bcb710_0_25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ec88105ea_0_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8ec88105ea_0_4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0c63b7a7a_0_98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b0c63b7a7a_0_98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0c63b7a7a_0_64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b0c63b7a7a_0_64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0c63b7a7a_0_6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g3b0c63b7a7a_0_65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0c63b7a7a_0_65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https://github.com/ecpolley/SuperLearner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https://rdrr.io/cran/SuperLearner/f/vignettes/Guide-to-SuperLearner.Rmd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b0c63b7a7a_0_65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0c63b7a7a_0_8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b0c63b7a7a_0_8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0c63b7a7a_0_7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b0c63b7a7a_0_76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2627f4309_0_9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b2627f4309_0_9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2b1bcb1fb_0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g3b2b1bcb1fb_0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8ec88105ea_0_10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g38ec88105ea_0_10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b0c63b7a7a_0_7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3b0c63b7a7a_0_71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8322e3b59_0_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3b8322e3b59_0_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ea9bcb710_0_2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g3aea9bcb710_0_22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ea9bcb710_0_20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g3aea9bcb710_0_20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b0c63b7a7a_0_2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g3b0c63b7a7a_0_21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0c63b7a7a_0_2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g3b0c63b7a7a_0_22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b0c63b7a7a_0_24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g3b0c63b7a7a_0_24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ea9bcb710_0_2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g3aea9bcb710_0_21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b2627f4309_0_1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g3b2627f4309_0_1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b0c63b7a7a_0_108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5" name="Google Shape;575;g3b0c63b7a7a_0_108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aea9bcb710_0_24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g3aea9bcb710_0_24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2627f4309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g3b2627f4309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b0c63b7a7a_0_7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2" name="Google Shape;642;g3b0c63b7a7a_0_7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b0c63b7a7a_0_73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g3b0c63b7a7a_0_73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ea9bcb710_0_8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1" name="Google Shape;661;g3aea9bcb710_0_8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b0c63b7a7a_0_7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7" name="Google Shape;667;g3b0c63b7a7a_0_71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0c63b7a7a_0_98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4" name="Google Shape;674;g3b0c63b7a7a_0_98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b0c63b7a7a_0_5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1" name="Google Shape;681;g3b0c63b7a7a_0_51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b0c63b7a7a_0_58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6" name="Google Shape;756;g3b0c63b7a7a_0_58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b0c63b7a7a_0_5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0" name="Google Shape;770;g3b0c63b7a7a_0_59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7" name="Google Shape;777;p6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b5933a7c43_0_3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g3b5933a7c43_0_3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b2627f4309_0_4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2" name="Google Shape;802;g3b2627f4309_0_4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b2627f4309_0_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3" name="Google Shape;813;g3b2627f4309_0_2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b2627f4309_0_7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1" name="Google Shape;831;g3b2627f4309_0_7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fb1c6c0bc7_1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fb1c6c0bc7_1_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b1c6c0bc7_1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fb1c6c0bc7_1_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fb1c6c0bc7_1_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3fb1c6c0bc7_1_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b7931a3ff4_0_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g3b7931a3ff4_0_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b0c63b7a7a_0_100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7" name="Google Shape;877;g3b0c63b7a7a_0_100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faae1b3eb4_0_86:notes"/>
          <p:cNvSpPr/>
          <p:nvPr>
            <p:ph idx="2" type="sldImg"/>
          </p:nvPr>
        </p:nvSpPr>
        <p:spPr>
          <a:xfrm>
            <a:off x="1219200" y="857250"/>
            <a:ext cx="97536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g3faae1b3eb4_0_86:notes"/>
          <p:cNvSpPr txBox="1"/>
          <p:nvPr>
            <p:ph idx="1" type="body"/>
          </p:nvPr>
        </p:nvSpPr>
        <p:spPr>
          <a:xfrm>
            <a:off x="1219200" y="3300412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884" name="Google Shape;884;g3faae1b3eb4_0_86:notes"/>
          <p:cNvSpPr txBox="1"/>
          <p:nvPr>
            <p:ph idx="12" type="sldNum"/>
          </p:nvPr>
        </p:nvSpPr>
        <p:spPr>
          <a:xfrm>
            <a:off x="6905979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faae1b3eb4_0_16:notes"/>
          <p:cNvSpPr/>
          <p:nvPr>
            <p:ph idx="2" type="sldImg"/>
          </p:nvPr>
        </p:nvSpPr>
        <p:spPr>
          <a:xfrm>
            <a:off x="1219200" y="857250"/>
            <a:ext cx="97536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3faae1b3eb4_0_16:notes"/>
          <p:cNvSpPr txBox="1"/>
          <p:nvPr>
            <p:ph idx="1" type="body"/>
          </p:nvPr>
        </p:nvSpPr>
        <p:spPr>
          <a:xfrm>
            <a:off x="1219200" y="3300412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891" name="Google Shape;891;g3faae1b3eb4_0_16:notes"/>
          <p:cNvSpPr txBox="1"/>
          <p:nvPr>
            <p:ph idx="12" type="sldNum"/>
          </p:nvPr>
        </p:nvSpPr>
        <p:spPr>
          <a:xfrm>
            <a:off x="6905979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faae1b3eb4_0_211:notes"/>
          <p:cNvSpPr/>
          <p:nvPr>
            <p:ph idx="2" type="sldImg"/>
          </p:nvPr>
        </p:nvSpPr>
        <p:spPr>
          <a:xfrm>
            <a:off x="677867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faae1b3eb4_0_2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8ec88105ea_0_1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3" name="Google Shape;903;g38ec88105ea_0_15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aea9bcb710_0_1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9" name="Google Shape;909;g3aea9bcb710_0_15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7" name="Google Shape;917;p6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8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8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7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7"/>
          <p:cNvSpPr txBox="1"/>
          <p:nvPr>
            <p:ph idx="1" type="body"/>
          </p:nvPr>
        </p:nvSpPr>
        <p:spPr>
          <a:xfrm>
            <a:off x="916939" y="1088643"/>
            <a:ext cx="10134600" cy="2957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9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0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0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0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0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1"/>
          <p:cNvSpPr txBox="1"/>
          <p:nvPr>
            <p:ph type="ctrTitle"/>
          </p:nvPr>
        </p:nvSpPr>
        <p:spPr>
          <a:xfrm>
            <a:off x="2870993" y="308355"/>
            <a:ext cx="645001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1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1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6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6"/>
          <p:cNvSpPr txBox="1"/>
          <p:nvPr>
            <p:ph idx="1" type="body"/>
          </p:nvPr>
        </p:nvSpPr>
        <p:spPr>
          <a:xfrm>
            <a:off x="916939" y="1088643"/>
            <a:ext cx="10134600" cy="2957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6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hyperlink" Target="https://github.com/gladstone-institutes/Bioinformatics-Workshops/blob/master/intro-machine-learning/introML_workshop_materials.zip?raw=tru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hyperlink" Target="https://www.dropbox.com/scl/fi/hyk0n0egz3rlxonuai6t7/Bioinformatics-Core-AI-Position-Paper-v1.0.pdf?rlkey=1gq3icconjym6jejm6aayrvup&amp;dl=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27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Relationship Id="rId4" Type="http://schemas.openxmlformats.org/officeDocument/2006/relationships/image" Target="../media/image3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2.png"/><Relationship Id="rId4" Type="http://schemas.openxmlformats.org/officeDocument/2006/relationships/image" Target="../media/image1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0.jpg"/><Relationship Id="rId4" Type="http://schemas.openxmlformats.org/officeDocument/2006/relationships/image" Target="../media/image4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0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Relationship Id="rId5" Type="http://schemas.openxmlformats.org/officeDocument/2006/relationships/image" Target="../media/image4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1.png"/><Relationship Id="rId7" Type="http://schemas.openxmlformats.org/officeDocument/2006/relationships/image" Target="../media/image5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5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4.png"/><Relationship Id="rId4" Type="http://schemas.openxmlformats.org/officeDocument/2006/relationships/image" Target="../media/image5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www.rdocumentation.org/packages/stats/versions/3.6.2/topics/kmeans" TargetMode="External"/><Relationship Id="rId4" Type="http://schemas.openxmlformats.org/officeDocument/2006/relationships/hyperlink" Target="https://www.rdocumentation.org/packages/randomForest/versions/4.7-1.2/topics/randomForest" TargetMode="External"/><Relationship Id="rId5" Type="http://schemas.openxmlformats.org/officeDocument/2006/relationships/hyperlink" Target="https://cran.r-project.org/web/packages/xgboost/index.html" TargetMode="External"/><Relationship Id="rId6" Type="http://schemas.openxmlformats.org/officeDocument/2006/relationships/hyperlink" Target="https://scikit-learn.org/stable/index.html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gladstone.org/events?series=data-science-training-program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6.png"/><Relationship Id="rId4" Type="http://schemas.openxmlformats.org/officeDocument/2006/relationships/hyperlink" Target="https://covidclinicaldata.org/" TargetMode="Externa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ea9bcb710_0_93"/>
          <p:cNvSpPr txBox="1"/>
          <p:nvPr>
            <p:ph type="title"/>
          </p:nvPr>
        </p:nvSpPr>
        <p:spPr>
          <a:xfrm>
            <a:off x="140756" y="4257760"/>
            <a:ext cx="6326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We start at 1.05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45" name="Google Shape;45;g3aea9bcb710_0_9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ea9bcb710_0_88"/>
          <p:cNvSpPr txBox="1"/>
          <p:nvPr>
            <p:ph type="title"/>
          </p:nvPr>
        </p:nvSpPr>
        <p:spPr>
          <a:xfrm>
            <a:off x="140756" y="83610"/>
            <a:ext cx="6326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Material for this workshop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1" name="Google Shape;51;g3aea9bcb710_0_8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3aea9bcb710_0_88"/>
          <p:cNvSpPr txBox="1"/>
          <p:nvPr/>
        </p:nvSpPr>
        <p:spPr>
          <a:xfrm>
            <a:off x="140750" y="1318800"/>
            <a:ext cx="11665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Workshop materials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Hands-on data and scripts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drop your questions in the chat (to everyone) or unmute yourself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8" name="Google Shape;5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83329" y="662965"/>
              <a:ext cx="3025339" cy="8250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1"/>
          <p:cNvSpPr txBox="1"/>
          <p:nvPr/>
        </p:nvSpPr>
        <p:spPr>
          <a:xfrm>
            <a:off x="4460250" y="5799825"/>
            <a:ext cx="327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FFFF"/>
                </a:solidFill>
              </a:rPr>
              <a:t>September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FFFFFF"/>
                </a:solidFill>
              </a:rPr>
              <a:t>24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th, 2026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>
            <p:ph idx="1" type="body"/>
          </p:nvPr>
        </p:nvSpPr>
        <p:spPr>
          <a:xfrm>
            <a:off x="451350" y="1422750"/>
            <a:ext cx="11289300" cy="22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6600">
            <a:spAutoFit/>
          </a:bodyPr>
          <a:lstStyle/>
          <a:p>
            <a:pPr indent="203200" lvl="0" marL="986789" marR="5080" rtl="0" algn="l">
              <a:lnSpc>
                <a:spcPct val="10681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Machine Learning </a:t>
            </a:r>
            <a:r>
              <a:rPr b="1" lang="en-US" sz="6000">
                <a:solidFill>
                  <a:srgbClr val="FFFFFF"/>
                </a:solidFill>
              </a:rPr>
              <a:t>using R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203450" y="4639647"/>
            <a:ext cx="37851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Michela Traglia</a:t>
            </a:r>
            <a:endParaRPr b="0" i="0" sz="36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Ayushi Agrawal</a:t>
            </a:r>
            <a:endParaRPr b="0" i="0" sz="36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663940" y="6386846"/>
            <a:ext cx="20510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a9bcb710_0_21"/>
          <p:cNvSpPr txBox="1"/>
          <p:nvPr>
            <p:ph type="title"/>
          </p:nvPr>
        </p:nvSpPr>
        <p:spPr>
          <a:xfrm>
            <a:off x="140756" y="83610"/>
            <a:ext cx="6326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Introductions</a:t>
            </a:r>
            <a:endParaRPr sz="4300">
              <a:solidFill>
                <a:srgbClr val="06D0E2"/>
              </a:solidFill>
            </a:endParaRPr>
          </a:p>
        </p:txBody>
      </p:sp>
      <p:sp>
        <p:nvSpPr>
          <p:cNvPr id="69" name="Google Shape;69;g3aea9bcb710_0_2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g3aea9bcb710_0_21"/>
          <p:cNvSpPr txBox="1"/>
          <p:nvPr/>
        </p:nvSpPr>
        <p:spPr>
          <a:xfrm>
            <a:off x="0" y="1781463"/>
            <a:ext cx="9484200" cy="29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Michela Traglia</a:t>
            </a:r>
            <a:endParaRPr b="0" i="0" sz="30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Associate Director</a:t>
            </a:r>
            <a:endParaRPr b="0" i="0" sz="23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Ayushi Agrawal</a:t>
            </a:r>
            <a:endParaRPr b="0" i="0" sz="30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Senior Bioinformatician</a:t>
            </a:r>
            <a:endParaRPr b="0" i="0" sz="23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c63b7a7a_0_16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g3b0c63b7a7a_0_166"/>
          <p:cNvSpPr txBox="1"/>
          <p:nvPr/>
        </p:nvSpPr>
        <p:spPr>
          <a:xfrm>
            <a:off x="187925" y="195525"/>
            <a:ext cx="10051500" cy="5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Poll1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Have you ever used any of these methods?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(Please select all that applies)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Principal Component Analysis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UMAP/tSNE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or logistic regression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 above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a9bcb710_0_0"/>
          <p:cNvSpPr txBox="1"/>
          <p:nvPr>
            <p:ph type="title"/>
          </p:nvPr>
        </p:nvSpPr>
        <p:spPr>
          <a:xfrm>
            <a:off x="140744" y="8360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What to expect from this workshop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2" name="Google Shape;82;g3aea9bcb710_0_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g3aea9bcb710_0_0"/>
          <p:cNvSpPr txBox="1"/>
          <p:nvPr/>
        </p:nvSpPr>
        <p:spPr>
          <a:xfrm>
            <a:off x="70350" y="2769409"/>
            <a:ext cx="12051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differences between AI, ML, DL?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are the types of machine learning?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are the steps to build a prediction model?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overfitting in ML?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can you evaluate the prediction model? Which metrics should I use?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our demo session you will practice how to work with a real dataset and two simple ML algorithms in R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aea9bcb710_0_0"/>
          <p:cNvSpPr txBox="1"/>
          <p:nvPr/>
        </p:nvSpPr>
        <p:spPr>
          <a:xfrm>
            <a:off x="177200" y="867850"/>
            <a:ext cx="12119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aim is to give a basic overview of the logic behind machine learning methods and how they work.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go over some questions that you may have: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7931a3ff4_0_31"/>
          <p:cNvSpPr txBox="1"/>
          <p:nvPr>
            <p:ph type="title"/>
          </p:nvPr>
        </p:nvSpPr>
        <p:spPr>
          <a:xfrm>
            <a:off x="154526" y="120025"/>
            <a:ext cx="121071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How Machine Learning can inform biomedical research</a:t>
            </a:r>
            <a:endParaRPr sz="3500">
              <a:solidFill>
                <a:srgbClr val="06D0E2"/>
              </a:solidFill>
            </a:endParaRPr>
          </a:p>
        </p:txBody>
      </p:sp>
      <p:sp>
        <p:nvSpPr>
          <p:cNvPr id="90" name="Google Shape;90;g3b7931a3ff4_0_3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b7931a3ff4_0_31"/>
          <p:cNvSpPr txBox="1"/>
          <p:nvPr/>
        </p:nvSpPr>
        <p:spPr>
          <a:xfrm>
            <a:off x="215100" y="4261075"/>
            <a:ext cx="11761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~1 million base pairs (1 Mb) of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DNA sequence 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based on experimental chromatin conformation capture data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Hi‑C and Micro‑C contact maps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from human cell lines - contact frequency between bp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Convolutional neural network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contact map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a matrix showing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contact frequencies between all pairs of 2,048‑bp regions within that window.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b7931a3ff4_0_31" title="Screenshot 2026-01-12 at 4.57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25" y="671725"/>
            <a:ext cx="8982401" cy="33576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b7931a3ff4_0_31"/>
          <p:cNvSpPr txBox="1"/>
          <p:nvPr/>
        </p:nvSpPr>
        <p:spPr>
          <a:xfrm>
            <a:off x="215100" y="3832300"/>
            <a:ext cx="477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https://www.nature.com/articles/s41592-020-0958-x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6f3dc6a87_0_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g3b6f3dc6a87_0_0" title="Screenshot 2026-01-13 at 11.38.03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25" y="2071175"/>
            <a:ext cx="5963402" cy="336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b6f3dc6a87_0_0"/>
          <p:cNvSpPr txBox="1"/>
          <p:nvPr>
            <p:ph type="title"/>
          </p:nvPr>
        </p:nvSpPr>
        <p:spPr>
          <a:xfrm>
            <a:off x="154526" y="120025"/>
            <a:ext cx="121071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How Machine Learning can inform biomedical research</a:t>
            </a:r>
            <a:endParaRPr sz="3500">
              <a:solidFill>
                <a:srgbClr val="06D0E2"/>
              </a:solidFill>
            </a:endParaRPr>
          </a:p>
        </p:txBody>
      </p:sp>
      <p:sp>
        <p:nvSpPr>
          <p:cNvPr id="101" name="Google Shape;101;g3b6f3dc6a87_0_0"/>
          <p:cNvSpPr txBox="1"/>
          <p:nvPr/>
        </p:nvSpPr>
        <p:spPr>
          <a:xfrm>
            <a:off x="42450" y="778175"/>
            <a:ext cx="696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learning system developed by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DeepMind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3D protein structures from amino acid sequences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on ~200,000 experimentally solved protein structures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Most recent database release contains over 200 million entries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b6f3dc6a87_0_0"/>
          <p:cNvSpPr txBox="1"/>
          <p:nvPr/>
        </p:nvSpPr>
        <p:spPr>
          <a:xfrm>
            <a:off x="154525" y="5526025"/>
            <a:ext cx="429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https://www.nature.com/articles/s41586-021-03819-2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b6f3dc6a87_0_0" title="Screenshot 2026-09-11 at 11.36.0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677" y="2071175"/>
            <a:ext cx="5769274" cy="2028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g38ec88105ea_0_0"/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pic>
          <p:nvPicPr>
            <p:cNvPr id="109" name="Google Shape;109;g38ec88105ea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g38ec88105ea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83329" y="662963"/>
              <a:ext cx="3025339" cy="8250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g38ec88105ea_0_0"/>
          <p:cNvSpPr txBox="1"/>
          <p:nvPr/>
        </p:nvSpPr>
        <p:spPr>
          <a:xfrm>
            <a:off x="1904206" y="2426297"/>
            <a:ext cx="83814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3175" lvl="0" marL="0" marR="0" rtl="0" algn="ctr">
              <a:lnSpc>
                <a:spcPct val="1068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Introductory Machine Learning for Biologists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12035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• Min-Gyoung Shin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November 1, 2021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g38ec88105ea_0_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3" name="Google Shape;113;g38ec88105ea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33306" y="0"/>
              <a:ext cx="4063587" cy="16548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g38ec88105ea_0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g38ec88105ea_0_0"/>
          <p:cNvSpPr txBox="1"/>
          <p:nvPr>
            <p:ph type="title"/>
          </p:nvPr>
        </p:nvSpPr>
        <p:spPr>
          <a:xfrm>
            <a:off x="281351" y="124450"/>
            <a:ext cx="97242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>
                <a:solidFill>
                  <a:srgbClr val="FFFFFF"/>
                </a:solidFill>
              </a:rPr>
              <a:t>Outline</a:t>
            </a:r>
            <a:endParaRPr sz="5400"/>
          </a:p>
        </p:txBody>
      </p:sp>
      <p:sp>
        <p:nvSpPr>
          <p:cNvPr id="116" name="Google Shape;116;g38ec88105ea_0_0"/>
          <p:cNvSpPr txBox="1"/>
          <p:nvPr/>
        </p:nvSpPr>
        <p:spPr>
          <a:xfrm>
            <a:off x="8663940" y="6386846"/>
            <a:ext cx="2052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8ec88105ea_0_0"/>
          <p:cNvSpPr txBox="1"/>
          <p:nvPr/>
        </p:nvSpPr>
        <p:spPr>
          <a:xfrm>
            <a:off x="215300" y="968350"/>
            <a:ext cx="10710000" cy="5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Basic concepts of AI, ML, DL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lt2"/>
                </a:solidFill>
              </a:rPr>
              <a:t>Unsupervised and Supervised </a:t>
            </a: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Machine learning definition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Supervised machine learning workflow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lang="en-US" sz="2800">
                <a:solidFill>
                  <a:schemeClr val="lt2"/>
                </a:solidFill>
              </a:rPr>
              <a:t>Features selection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Concepts of bias/variance, and over and underfitting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lang="en-US" sz="2800">
                <a:solidFill>
                  <a:schemeClr val="lt2"/>
                </a:solidFill>
              </a:rPr>
              <a:t>Hyperparameters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Algorithms overview</a:t>
            </a:r>
            <a:endParaRPr sz="28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Hands-on on supervised and unsupervised ML methods</a:t>
            </a:r>
            <a:endParaRPr b="0" i="0" sz="3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ae1b3eb4_0_1"/>
          <p:cNvSpPr txBox="1"/>
          <p:nvPr>
            <p:ph type="title"/>
          </p:nvPr>
        </p:nvSpPr>
        <p:spPr>
          <a:xfrm>
            <a:off x="429406" y="462656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6D0E2"/>
                </a:solidFill>
              </a:rPr>
              <a:t>AI universe - basics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23" name="Google Shape;123;g3faae1b3eb4_0_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ea9bcb710_0_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ec88105ea_0_164"/>
          <p:cNvSpPr txBox="1"/>
          <p:nvPr>
            <p:ph type="title"/>
          </p:nvPr>
        </p:nvSpPr>
        <p:spPr>
          <a:xfrm>
            <a:off x="154521" y="262625"/>
            <a:ext cx="10536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AI definition and examples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34" name="Google Shape;134;g38ec88105ea_0_16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g38ec88105ea_0_164"/>
          <p:cNvSpPr txBox="1"/>
          <p:nvPr/>
        </p:nvSpPr>
        <p:spPr>
          <a:xfrm>
            <a:off x="357000" y="1427975"/>
            <a:ext cx="10822500" cy="4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Task-specific algorithms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Rules-driven (IF-THEN)</a:t>
            </a:r>
            <a:endParaRPr b="1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human preset tasks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Needs clear logic - limited flexibility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chess game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 limit enforcement systems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8ec88105ea_0_164" title="Screenshot 2026-01-08 at 4.22.3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750" y="891125"/>
            <a:ext cx="3522549" cy="229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ec88105ea_0_18"/>
          <p:cNvSpPr txBox="1"/>
          <p:nvPr>
            <p:ph type="title"/>
          </p:nvPr>
        </p:nvSpPr>
        <p:spPr>
          <a:xfrm>
            <a:off x="154531" y="262635"/>
            <a:ext cx="6326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ML definition and examples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42" name="Google Shape;142;g38ec88105ea_0_1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g38ec88105ea_0_18"/>
          <p:cNvSpPr txBox="1"/>
          <p:nvPr/>
        </p:nvSpPr>
        <p:spPr>
          <a:xfrm>
            <a:off x="297625" y="987400"/>
            <a:ext cx="108225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F111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Uses algorithms trained on data sets to learns patterns -&gt; outcome and create models capable of predict outcome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</a:t>
            </a:r>
            <a:endParaRPr b="1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over time without being programmed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interpret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clinical prediction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assistant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movie recommendation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8ec88105ea_0_18" title="Screenshot 2026-01-08 at 4.25.0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9875" y="3730775"/>
            <a:ext cx="2633401" cy="26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ec88105ea_0_13"/>
          <p:cNvSpPr txBox="1"/>
          <p:nvPr>
            <p:ph type="title"/>
          </p:nvPr>
        </p:nvSpPr>
        <p:spPr>
          <a:xfrm>
            <a:off x="154519" y="262625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Deep learning definition and example 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50" name="Google Shape;150;g38ec88105ea_0_1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38ec88105ea_0_13"/>
          <p:cNvSpPr txBox="1"/>
          <p:nvPr/>
        </p:nvSpPr>
        <p:spPr>
          <a:xfrm>
            <a:off x="0" y="1286100"/>
            <a:ext cx="81840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Mimic the human brain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complex problems - more data needed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features and recognize patterns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Relationship-driven</a:t>
            </a:r>
            <a:endParaRPr b="1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 the strength of the connections based on the learning of the information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recognition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 language processing (NLP) to understand language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8ec88105ea_0_13" title="Screenshot 2026-01-05 at 2.22.57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1000" y="976300"/>
            <a:ext cx="3986543" cy="35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8ec88105ea_0_13" title="Screenshot 2026-01-08 at 4.26.58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0275" y="4657175"/>
            <a:ext cx="4051304" cy="1771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a9bcb710_0_10"/>
          <p:cNvSpPr txBox="1"/>
          <p:nvPr>
            <p:ph type="title"/>
          </p:nvPr>
        </p:nvSpPr>
        <p:spPr>
          <a:xfrm>
            <a:off x="154520" y="262625"/>
            <a:ext cx="120375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Generative AI and Large Language Model (LLM) - examples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59" name="Google Shape;159;g3aea9bcb710_0_1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g3aea9bcb710_0_10"/>
          <p:cNvSpPr txBox="1"/>
          <p:nvPr/>
        </p:nvSpPr>
        <p:spPr>
          <a:xfrm>
            <a:off x="154525" y="1506725"/>
            <a:ext cx="12037500" cy="4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Patterns -&gt; generate new content (image, text, code)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 is NLP+GenAI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neural network trained on massive amounts of text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a sentence and predict next word (human-like language)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importance of every word in relation with all the other words to build a meaningful sentence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GPT, Claude, Google gemini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aea9bcb710_0_10" title="Screenshot 2026-01-08 at 4.28.3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3450" y="5037000"/>
            <a:ext cx="5165151" cy="16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aea9bcb710_0_10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AutoNum type="arabicPeriod"/>
            </a:pPr>
            <a:r>
              <a:rPr lang="en-US" sz="2800">
                <a:solidFill>
                  <a:schemeClr val="lt2"/>
                </a:solidFill>
              </a:rPr>
              <a:t>Basic concepts of AI, ML, DL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163" name="Google Shape;163;g3aea9bcb710_0_10"/>
          <p:cNvSpPr txBox="1"/>
          <p:nvPr/>
        </p:nvSpPr>
        <p:spPr>
          <a:xfrm>
            <a:off x="154525" y="6056825"/>
            <a:ext cx="602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0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AI - </a:t>
            </a:r>
            <a:r>
              <a:rPr b="1" lang="en-US" sz="2400" u="sng">
                <a:solidFill>
                  <a:srgbClr val="F7691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Core position paper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ec88105ea_0_33"/>
          <p:cNvSpPr txBox="1"/>
          <p:nvPr>
            <p:ph type="title"/>
          </p:nvPr>
        </p:nvSpPr>
        <p:spPr>
          <a:xfrm>
            <a:off x="265806" y="457201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Machine Learning 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69" name="Google Shape;169;g38ec88105ea_0_3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0c63b7a7a_0_7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g3b0c63b7a7a_0_71"/>
          <p:cNvSpPr txBox="1"/>
          <p:nvPr>
            <p:ph type="title"/>
          </p:nvPr>
        </p:nvSpPr>
        <p:spPr>
          <a:xfrm>
            <a:off x="4902224" y="1934150"/>
            <a:ext cx="72081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dk2"/>
                </a:solidFill>
              </a:rPr>
              <a:t>Find patterns across a set of variables or </a:t>
            </a:r>
            <a:r>
              <a:rPr b="1" lang="en-US" sz="3500">
                <a:solidFill>
                  <a:schemeClr val="dk2"/>
                </a:solidFill>
              </a:rPr>
              <a:t>features</a:t>
            </a:r>
            <a:r>
              <a:rPr lang="en-US" sz="3500">
                <a:solidFill>
                  <a:schemeClr val="dk2"/>
                </a:solidFill>
              </a:rPr>
              <a:t> with the aim to </a:t>
            </a:r>
            <a:r>
              <a:rPr b="1" lang="en-US" sz="3500">
                <a:solidFill>
                  <a:schemeClr val="dk2"/>
                </a:solidFill>
              </a:rPr>
              <a:t>define groups</a:t>
            </a:r>
            <a:r>
              <a:rPr lang="en-US" sz="3500">
                <a:solidFill>
                  <a:schemeClr val="dk2"/>
                </a:solidFill>
              </a:rPr>
              <a:t> or </a:t>
            </a:r>
            <a:r>
              <a:rPr b="1" lang="en-US" sz="3500">
                <a:solidFill>
                  <a:schemeClr val="dk2"/>
                </a:solidFill>
              </a:rPr>
              <a:t>predict a label</a:t>
            </a:r>
            <a:endParaRPr b="1" sz="35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chemeClr val="dk2"/>
              </a:solidFill>
            </a:endParaRPr>
          </a:p>
        </p:txBody>
      </p:sp>
      <p:pic>
        <p:nvPicPr>
          <p:cNvPr id="176" name="Google Shape;176;g3b0c63b7a7a_0_71" title="710JbHq4++L._SL1360_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09300"/>
            <a:ext cx="4597424" cy="483939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0c63b7a7a_0_71"/>
          <p:cNvSpPr txBox="1"/>
          <p:nvPr>
            <p:ph type="title"/>
          </p:nvPr>
        </p:nvSpPr>
        <p:spPr>
          <a:xfrm>
            <a:off x="152406" y="13361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Aim of ML </a:t>
            </a:r>
            <a:endParaRPr sz="4400">
              <a:solidFill>
                <a:srgbClr val="06D0E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7931a3ff4_0_67"/>
          <p:cNvSpPr txBox="1"/>
          <p:nvPr>
            <p:ph type="title"/>
          </p:nvPr>
        </p:nvSpPr>
        <p:spPr>
          <a:xfrm>
            <a:off x="194506" y="1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Input space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83" name="Google Shape;183;g3b7931a3ff4_0_67"/>
          <p:cNvSpPr txBox="1"/>
          <p:nvPr>
            <p:ph idx="12" type="sldNum"/>
          </p:nvPr>
        </p:nvSpPr>
        <p:spPr>
          <a:xfrm>
            <a:off x="9150296" y="651447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4" name="Google Shape;184;g3b7931a3ff4_0_67"/>
          <p:cNvGrpSpPr/>
          <p:nvPr/>
        </p:nvGrpSpPr>
        <p:grpSpPr>
          <a:xfrm>
            <a:off x="413475" y="1493349"/>
            <a:ext cx="9538500" cy="3971975"/>
            <a:chOff x="755675" y="2396874"/>
            <a:chExt cx="9538500" cy="3971975"/>
          </a:xfrm>
        </p:grpSpPr>
        <p:grpSp>
          <p:nvGrpSpPr>
            <p:cNvPr id="185" name="Google Shape;185;g3b7931a3ff4_0_67"/>
            <p:cNvGrpSpPr/>
            <p:nvPr/>
          </p:nvGrpSpPr>
          <p:grpSpPr>
            <a:xfrm>
              <a:off x="942375" y="2396874"/>
              <a:ext cx="9250726" cy="3971975"/>
              <a:chOff x="942375" y="2396874"/>
              <a:chExt cx="9250726" cy="3971975"/>
            </a:xfrm>
          </p:grpSpPr>
          <p:pic>
            <p:nvPicPr>
              <p:cNvPr id="186" name="Google Shape;186;g3b7931a3ff4_0_67" title="Screenshot 2026-01-12 at 5.19.01 PM.png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46799" y="2396874"/>
                <a:ext cx="9246302" cy="3971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" name="Google Shape;187;g3b7931a3ff4_0_67" title="Screenshot 2026-01-12 at 5.19.01 PM.png"/>
              <p:cNvPicPr preferRelativeResize="0"/>
              <p:nvPr/>
            </p:nvPicPr>
            <p:blipFill rotWithShape="1">
              <a:blip r:embed="rId3">
                <a:alphaModFix/>
              </a:blip>
              <a:srcRect b="75518" l="0" r="0" t="-4953"/>
              <a:stretch/>
            </p:blipFill>
            <p:spPr>
              <a:xfrm>
                <a:off x="942375" y="2666200"/>
                <a:ext cx="9246302" cy="1169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8" name="Google Shape;188;g3b7931a3ff4_0_67"/>
            <p:cNvSpPr/>
            <p:nvPr/>
          </p:nvSpPr>
          <p:spPr>
            <a:xfrm>
              <a:off x="755675" y="2566400"/>
              <a:ext cx="9538500" cy="613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g3b7931a3ff4_0_67"/>
          <p:cNvSpPr txBox="1"/>
          <p:nvPr/>
        </p:nvSpPr>
        <p:spPr>
          <a:xfrm>
            <a:off x="85525" y="5465325"/>
            <a:ext cx="119196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space -&gt; transformed space where each </a:t>
            </a: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 corresponds to a feature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useful for learning (scaling the data, ...)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capture the underlying patterns in the data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b7931a3ff4_0_67"/>
          <p:cNvSpPr txBox="1"/>
          <p:nvPr/>
        </p:nvSpPr>
        <p:spPr>
          <a:xfrm>
            <a:off x="97200" y="618850"/>
            <a:ext cx="11997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points that we need to group or classify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Collected features, characteristics, biological measures, variables for each data point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Feature vector is an </a:t>
            </a:r>
            <a:r>
              <a:rPr b="1" i="0" lang="en-US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n-dimensional vector of values of features</a:t>
            </a:r>
            <a:r>
              <a:rPr b="0" i="0" lang="en-US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that represent the data points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931a3ff4_0_51"/>
          <p:cNvSpPr txBox="1"/>
          <p:nvPr>
            <p:ph type="title"/>
          </p:nvPr>
        </p:nvSpPr>
        <p:spPr>
          <a:xfrm>
            <a:off x="194506" y="152085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Feature space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96" name="Google Shape;196;g3b7931a3ff4_0_5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b7931a3ff4_0_51"/>
          <p:cNvSpPr txBox="1"/>
          <p:nvPr/>
        </p:nvSpPr>
        <p:spPr>
          <a:xfrm>
            <a:off x="194500" y="842075"/>
            <a:ext cx="119976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multidimensional space formed by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input features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(variables) of a dataset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 point is a vector in this space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b7931a3ff4_0_51"/>
          <p:cNvSpPr txBox="1"/>
          <p:nvPr/>
        </p:nvSpPr>
        <p:spPr>
          <a:xfrm>
            <a:off x="48600" y="3971325"/>
            <a:ext cx="120948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features -&gt; need more data to reliably learn patterns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of thumb: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size should grow exponentially with the number of features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size (10-30 times) &gt;&gt; number of features 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complex model -&gt; more samples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datasets in high-dimensional spaces -&gt; overfitting risk.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b7931a3ff4_0_51" title="Screenshot 2026-01-12 at 5.33.4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500" y="1787975"/>
            <a:ext cx="5108686" cy="22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c63b7a7a_0_76"/>
          <p:cNvSpPr txBox="1"/>
          <p:nvPr>
            <p:ph type="title"/>
          </p:nvPr>
        </p:nvSpPr>
        <p:spPr>
          <a:xfrm>
            <a:off x="134695" y="134475"/>
            <a:ext cx="119226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100">
                <a:solidFill>
                  <a:srgbClr val="06D0E2"/>
                </a:solidFill>
              </a:rPr>
              <a:t>In biomedical research we aim to </a:t>
            </a:r>
            <a:r>
              <a:rPr b="1" lang="en-US" sz="3100">
                <a:solidFill>
                  <a:srgbClr val="06D0E2"/>
                </a:solidFill>
              </a:rPr>
              <a:t>define groups</a:t>
            </a:r>
            <a:r>
              <a:rPr lang="en-US" sz="3100">
                <a:solidFill>
                  <a:srgbClr val="06D0E2"/>
                </a:solidFill>
              </a:rPr>
              <a:t> of patients, mice, etc…given some biological characteristics</a:t>
            </a:r>
            <a:endParaRPr sz="3100">
              <a:solidFill>
                <a:srgbClr val="06D0E2"/>
              </a:solidFill>
            </a:endParaRPr>
          </a:p>
        </p:txBody>
      </p:sp>
      <p:sp>
        <p:nvSpPr>
          <p:cNvPr id="205" name="Google Shape;205;g3b0c63b7a7a_0_7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g3b0c63b7a7a_0_76"/>
          <p:cNvSpPr txBox="1"/>
          <p:nvPr/>
        </p:nvSpPr>
        <p:spPr>
          <a:xfrm>
            <a:off x="154525" y="4300575"/>
            <a:ext cx="11922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across characteristics (features) -&gt; subgroups of patients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b0c63b7a7a_0_76"/>
          <p:cNvSpPr txBox="1"/>
          <p:nvPr/>
        </p:nvSpPr>
        <p:spPr>
          <a:xfrm>
            <a:off x="5340300" y="2551700"/>
            <a:ext cx="702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 = high gene1 expression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low gene1 expression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g3b0c63b7a7a_0_76"/>
          <p:cNvGrpSpPr/>
          <p:nvPr/>
        </p:nvGrpSpPr>
        <p:grpSpPr>
          <a:xfrm>
            <a:off x="347500" y="1101675"/>
            <a:ext cx="4869000" cy="3049575"/>
            <a:chOff x="427075" y="1225625"/>
            <a:chExt cx="4869000" cy="3049575"/>
          </a:xfrm>
        </p:grpSpPr>
        <p:sp>
          <p:nvSpPr>
            <p:cNvPr id="209" name="Google Shape;209;g3b0c63b7a7a_0_76"/>
            <p:cNvSpPr txBox="1"/>
            <p:nvPr/>
          </p:nvSpPr>
          <p:spPr>
            <a:xfrm>
              <a:off x="427075" y="1689200"/>
              <a:ext cx="1649400" cy="25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2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3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4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5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t/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b0c63b7a7a_0_76"/>
            <p:cNvSpPr txBox="1"/>
            <p:nvPr/>
          </p:nvSpPr>
          <p:spPr>
            <a:xfrm>
              <a:off x="21700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c1c2 c3 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g3b0c63b7a7a_0_76"/>
          <p:cNvSpPr txBox="1"/>
          <p:nvPr/>
        </p:nvSpPr>
        <p:spPr>
          <a:xfrm>
            <a:off x="3482391" y="1106750"/>
            <a:ext cx="2061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b0c63b7a7a_0_76" title="710JbHq4++L._SL1360_.jpg"/>
          <p:cNvPicPr preferRelativeResize="0"/>
          <p:nvPr/>
        </p:nvPicPr>
        <p:blipFill rotWithShape="1">
          <a:blip r:embed="rId3">
            <a:alphaModFix/>
          </a:blip>
          <a:srcRect b="80873" l="43082" r="21678" t="9015"/>
          <a:stretch/>
        </p:blipFill>
        <p:spPr>
          <a:xfrm rot="5400000">
            <a:off x="2571901" y="2881876"/>
            <a:ext cx="1270924" cy="383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g3b0c63b7a7a_0_76"/>
          <p:cNvGrpSpPr/>
          <p:nvPr/>
        </p:nvGrpSpPr>
        <p:grpSpPr>
          <a:xfrm>
            <a:off x="2090501" y="1643899"/>
            <a:ext cx="1304931" cy="2028602"/>
            <a:chOff x="2090501" y="1643900"/>
            <a:chExt cx="1304931" cy="2028602"/>
          </a:xfrm>
        </p:grpSpPr>
        <p:pic>
          <p:nvPicPr>
            <p:cNvPr id="214" name="Google Shape;214;g3b0c63b7a7a_0_76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80873" l="7281" r="33279" t="6139"/>
            <a:stretch/>
          </p:blipFill>
          <p:spPr>
            <a:xfrm rot="5400000">
              <a:off x="1316025" y="2418376"/>
              <a:ext cx="2011650" cy="462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g3b0c63b7a7a_0_76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68483" l="8859" r="30949" t="18327"/>
            <a:stretch/>
          </p:blipFill>
          <p:spPr>
            <a:xfrm rot="5400000">
              <a:off x="1765124" y="2424250"/>
              <a:ext cx="2028602" cy="467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g3b0c63b7a7a_0_76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80872" l="43510" r="21685" t="8390"/>
            <a:stretch/>
          </p:blipFill>
          <p:spPr>
            <a:xfrm rot="5400000">
              <a:off x="2628256" y="2064639"/>
              <a:ext cx="1158226" cy="376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7" name="Google Shape;217;g3b0c63b7a7a_0_76" title="710JbHq4++L._SL1360_.jpg"/>
          <p:cNvPicPr preferRelativeResize="0"/>
          <p:nvPr/>
        </p:nvPicPr>
        <p:blipFill rotWithShape="1">
          <a:blip r:embed="rId3">
            <a:alphaModFix/>
          </a:blip>
          <a:srcRect b="82084" l="42437" r="44842" t="7499"/>
          <a:stretch/>
        </p:blipFill>
        <p:spPr>
          <a:xfrm rot="5400000">
            <a:off x="9794075" y="3044400"/>
            <a:ext cx="495476" cy="4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b0c63b7a7a_0_76" title="710JbHq4++L._SL1360_.jpg"/>
          <p:cNvPicPr preferRelativeResize="0"/>
          <p:nvPr/>
        </p:nvPicPr>
        <p:blipFill rotWithShape="1">
          <a:blip r:embed="rId3">
            <a:alphaModFix/>
          </a:blip>
          <a:srcRect b="80722" l="7281" r="79491" t="6138"/>
          <a:stretch/>
        </p:blipFill>
        <p:spPr>
          <a:xfrm rot="5400000">
            <a:off x="9850439" y="3503464"/>
            <a:ext cx="400100" cy="41837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b0c63b7a7a_0_76"/>
          <p:cNvSpPr/>
          <p:nvPr/>
        </p:nvSpPr>
        <p:spPr>
          <a:xfrm>
            <a:off x="2090500" y="1655250"/>
            <a:ext cx="1392000" cy="400200"/>
          </a:xfrm>
          <a:prstGeom prst="rect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b0c63b7a7a_0_76"/>
          <p:cNvSpPr txBox="1"/>
          <p:nvPr/>
        </p:nvSpPr>
        <p:spPr>
          <a:xfrm>
            <a:off x="5340300" y="1518875"/>
            <a:ext cx="668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c1, c2, c3 are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(ex.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expression of 3 genes)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b0c63b7a7a_0_76"/>
          <p:cNvSpPr/>
          <p:nvPr/>
        </p:nvSpPr>
        <p:spPr>
          <a:xfrm>
            <a:off x="2090500" y="1178363"/>
            <a:ext cx="1392000" cy="400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b0c63b7a7a_0_76"/>
          <p:cNvSpPr txBox="1"/>
          <p:nvPr/>
        </p:nvSpPr>
        <p:spPr>
          <a:xfrm>
            <a:off x="347500" y="10706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0c63b7a7a_0_102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" name="Google Shape;228;g3b0c63b7a7a_0_1024" title="Screenshot 2025-12-23 at 11.51.24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63711"/>
            <a:ext cx="3041700" cy="63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b0c63b7a7a_0_1024"/>
          <p:cNvSpPr txBox="1"/>
          <p:nvPr/>
        </p:nvSpPr>
        <p:spPr>
          <a:xfrm>
            <a:off x="3769325" y="2650350"/>
            <a:ext cx="840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b0c63b7a7a_0_1024"/>
          <p:cNvSpPr txBox="1"/>
          <p:nvPr/>
        </p:nvSpPr>
        <p:spPr>
          <a:xfrm>
            <a:off x="3850825" y="651300"/>
            <a:ext cx="7881300" cy="4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Analyse gene expression in control, early disease and late disease patients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within each group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between groups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Heatmap comparing gene expression changes in control, early disease and late disease groups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b0c63b7a7a_0_1024"/>
          <p:cNvSpPr/>
          <p:nvPr/>
        </p:nvSpPr>
        <p:spPr>
          <a:xfrm>
            <a:off x="258525" y="5225150"/>
            <a:ext cx="2871000" cy="1393800"/>
          </a:xfrm>
          <a:prstGeom prst="rect">
            <a:avLst/>
          </a:prstGeom>
          <a:noFill/>
          <a:ln cap="flat" cmpd="sng" w="762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b0c63b7a7a_0_1024"/>
          <p:cNvSpPr/>
          <p:nvPr/>
        </p:nvSpPr>
        <p:spPr>
          <a:xfrm>
            <a:off x="258525" y="1044000"/>
            <a:ext cx="2871000" cy="4113000"/>
          </a:xfrm>
          <a:prstGeom prst="rect">
            <a:avLst/>
          </a:prstGeom>
          <a:noFill/>
          <a:ln cap="flat" cmpd="sng" w="762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b0c63b7a7a_0_1024"/>
          <p:cNvSpPr txBox="1"/>
          <p:nvPr/>
        </p:nvSpPr>
        <p:spPr>
          <a:xfrm>
            <a:off x="4027925" y="4923525"/>
            <a:ext cx="81507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identified two main clusters of genes with opposite gene expression trends across the three groups of interest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b0c63b7a7a_0_1024"/>
          <p:cNvSpPr txBox="1"/>
          <p:nvPr/>
        </p:nvSpPr>
        <p:spPr>
          <a:xfrm>
            <a:off x="3112457" y="975975"/>
            <a:ext cx="7791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0c63b7a7a_0_1024"/>
          <p:cNvSpPr txBox="1"/>
          <p:nvPr>
            <p:ph type="title"/>
          </p:nvPr>
        </p:nvSpPr>
        <p:spPr>
          <a:xfrm>
            <a:off x="134695" y="0"/>
            <a:ext cx="1192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100">
                <a:solidFill>
                  <a:srgbClr val="06D0E2"/>
                </a:solidFill>
              </a:rPr>
              <a:t>Find </a:t>
            </a:r>
            <a:r>
              <a:rPr b="1" lang="en-US" sz="3100">
                <a:solidFill>
                  <a:srgbClr val="06D0E2"/>
                </a:solidFill>
              </a:rPr>
              <a:t>groups</a:t>
            </a:r>
            <a:r>
              <a:rPr lang="en-US" sz="3100">
                <a:solidFill>
                  <a:srgbClr val="06D0E2"/>
                </a:solidFill>
              </a:rPr>
              <a:t> of genes with similar gene expression by condition</a:t>
            </a:r>
            <a:endParaRPr sz="3100">
              <a:solidFill>
                <a:srgbClr val="06D0E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0c63b7a7a_0_94"/>
          <p:cNvSpPr txBox="1"/>
          <p:nvPr>
            <p:ph type="title"/>
          </p:nvPr>
        </p:nvSpPr>
        <p:spPr>
          <a:xfrm>
            <a:off x="83995" y="72636"/>
            <a:ext cx="120240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We want to </a:t>
            </a:r>
            <a:r>
              <a:rPr b="1" lang="en-US" sz="3500">
                <a:solidFill>
                  <a:srgbClr val="06D0E2"/>
                </a:solidFill>
              </a:rPr>
              <a:t>predict an outcome</a:t>
            </a:r>
            <a:r>
              <a:rPr lang="en-US" sz="3500">
                <a:solidFill>
                  <a:srgbClr val="06D0E2"/>
                </a:solidFill>
              </a:rPr>
              <a:t> based on a set of characteristics</a:t>
            </a:r>
            <a:endParaRPr sz="3500">
              <a:solidFill>
                <a:srgbClr val="06D0E2"/>
              </a:solidFill>
            </a:endParaRPr>
          </a:p>
        </p:txBody>
      </p:sp>
      <p:sp>
        <p:nvSpPr>
          <p:cNvPr id="241" name="Google Shape;241;g3b0c63b7a7a_0_9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g3b0c63b7a7a_0_94"/>
          <p:cNvSpPr txBox="1"/>
          <p:nvPr/>
        </p:nvSpPr>
        <p:spPr>
          <a:xfrm>
            <a:off x="154525" y="4047000"/>
            <a:ext cx="111864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across characteristics (features)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 the relationship with the label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the outcome on a new dataset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Features=Blood biomarkers levels -&gt; outcome = disease/cancer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b0c63b7a7a_0_94"/>
          <p:cNvSpPr txBox="1"/>
          <p:nvPr/>
        </p:nvSpPr>
        <p:spPr>
          <a:xfrm>
            <a:off x="5771000" y="1777400"/>
            <a:ext cx="7022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features c1, c2, and c3 can be categorical or continuous variables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 = smoking Y      smoking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3b0c63b7a7a_0_94"/>
          <p:cNvGrpSpPr/>
          <p:nvPr/>
        </p:nvGrpSpPr>
        <p:grpSpPr>
          <a:xfrm>
            <a:off x="154525" y="1101675"/>
            <a:ext cx="5095275" cy="3045375"/>
            <a:chOff x="234100" y="1225625"/>
            <a:chExt cx="5095275" cy="3045375"/>
          </a:xfrm>
        </p:grpSpPr>
        <p:sp>
          <p:nvSpPr>
            <p:cNvPr id="245" name="Google Shape;245;g3b0c63b7a7a_0_94"/>
            <p:cNvSpPr txBox="1"/>
            <p:nvPr/>
          </p:nvSpPr>
          <p:spPr>
            <a:xfrm>
              <a:off x="234100" y="1777400"/>
              <a:ext cx="1649400" cy="24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2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3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4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5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b0c63b7a7a_0_94"/>
            <p:cNvSpPr txBox="1"/>
            <p:nvPr/>
          </p:nvSpPr>
          <p:spPr>
            <a:xfrm>
              <a:off x="22033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 c2 c3 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g3b0c63b7a7a_0_94"/>
          <p:cNvSpPr txBox="1"/>
          <p:nvPr/>
        </p:nvSpPr>
        <p:spPr>
          <a:xfrm>
            <a:off x="3618045" y="1131225"/>
            <a:ext cx="1443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Disease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g3b0c63b7a7a_0_94"/>
          <p:cNvGrpSpPr/>
          <p:nvPr/>
        </p:nvGrpSpPr>
        <p:grpSpPr>
          <a:xfrm>
            <a:off x="2090501" y="1643899"/>
            <a:ext cx="1308800" cy="2065376"/>
            <a:chOff x="2090501" y="1643900"/>
            <a:chExt cx="1308800" cy="2065376"/>
          </a:xfrm>
        </p:grpSpPr>
        <p:pic>
          <p:nvPicPr>
            <p:cNvPr id="249" name="Google Shape;249;g3b0c63b7a7a_0_94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80873" l="43082" r="21678" t="9015"/>
            <a:stretch/>
          </p:blipFill>
          <p:spPr>
            <a:xfrm rot="5400000">
              <a:off x="2571901" y="2881876"/>
              <a:ext cx="1270924" cy="383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0" name="Google Shape;250;g3b0c63b7a7a_0_94"/>
            <p:cNvGrpSpPr/>
            <p:nvPr/>
          </p:nvGrpSpPr>
          <p:grpSpPr>
            <a:xfrm>
              <a:off x="2090501" y="1643899"/>
              <a:ext cx="1304931" cy="2028602"/>
              <a:chOff x="2090501" y="1643900"/>
              <a:chExt cx="1304931" cy="2028602"/>
            </a:xfrm>
          </p:grpSpPr>
          <p:pic>
            <p:nvPicPr>
              <p:cNvPr id="251" name="Google Shape;251;g3b0c63b7a7a_0_94" title="710JbHq4++L._SL1360_.jpg"/>
              <p:cNvPicPr preferRelativeResize="0"/>
              <p:nvPr/>
            </p:nvPicPr>
            <p:blipFill rotWithShape="1">
              <a:blip r:embed="rId3">
                <a:alphaModFix/>
              </a:blip>
              <a:srcRect b="80873" l="7281" r="33279" t="6139"/>
              <a:stretch/>
            </p:blipFill>
            <p:spPr>
              <a:xfrm rot="5400000">
                <a:off x="1316025" y="2418376"/>
                <a:ext cx="2011650" cy="4626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2" name="Google Shape;252;g3b0c63b7a7a_0_94" title="710JbHq4++L._SL1360_.jpg"/>
              <p:cNvPicPr preferRelativeResize="0"/>
              <p:nvPr/>
            </p:nvPicPr>
            <p:blipFill rotWithShape="1">
              <a:blip r:embed="rId3">
                <a:alphaModFix/>
              </a:blip>
              <a:srcRect b="68483" l="8859" r="30949" t="18327"/>
              <a:stretch/>
            </p:blipFill>
            <p:spPr>
              <a:xfrm rot="5400000">
                <a:off x="1765124" y="2424250"/>
                <a:ext cx="2028602" cy="467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g3b0c63b7a7a_0_94" title="710JbHq4++L._SL1360_.jpg"/>
              <p:cNvPicPr preferRelativeResize="0"/>
              <p:nvPr/>
            </p:nvPicPr>
            <p:blipFill rotWithShape="1">
              <a:blip r:embed="rId3">
                <a:alphaModFix/>
              </a:blip>
              <a:srcRect b="80872" l="43510" r="21685" t="8390"/>
              <a:stretch/>
            </p:blipFill>
            <p:spPr>
              <a:xfrm rot="5400000">
                <a:off x="2628256" y="2064639"/>
                <a:ext cx="1158226" cy="376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54" name="Google Shape;254;g3b0c63b7a7a_0_94" title="710JbHq4++L._SL1360_.jpg"/>
          <p:cNvPicPr preferRelativeResize="0"/>
          <p:nvPr/>
        </p:nvPicPr>
        <p:blipFill rotWithShape="1">
          <a:blip r:embed="rId3">
            <a:alphaModFix/>
          </a:blip>
          <a:srcRect b="82084" l="42437" r="44842" t="7499"/>
          <a:stretch/>
        </p:blipFill>
        <p:spPr>
          <a:xfrm rot="5400000">
            <a:off x="10639025" y="3093838"/>
            <a:ext cx="495476" cy="4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b0c63b7a7a_0_94" title="710JbHq4++L._SL1360_.jpg"/>
          <p:cNvPicPr preferRelativeResize="0"/>
          <p:nvPr/>
        </p:nvPicPr>
        <p:blipFill rotWithShape="1">
          <a:blip r:embed="rId3">
            <a:alphaModFix/>
          </a:blip>
          <a:srcRect b="80722" l="7281" r="79491" t="6138"/>
          <a:stretch/>
        </p:blipFill>
        <p:spPr>
          <a:xfrm rot="5400000">
            <a:off x="8348814" y="3098214"/>
            <a:ext cx="400100" cy="418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b0c63b7a7a_0_94"/>
          <p:cNvSpPr txBox="1"/>
          <p:nvPr/>
        </p:nvSpPr>
        <p:spPr>
          <a:xfrm>
            <a:off x="347500" y="10706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b0c63b7a7a_0_94"/>
          <p:cNvSpPr/>
          <p:nvPr/>
        </p:nvSpPr>
        <p:spPr>
          <a:xfrm>
            <a:off x="2090500" y="1178373"/>
            <a:ext cx="1443900" cy="400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b0c63b7a7a_0_94"/>
          <p:cNvSpPr/>
          <p:nvPr/>
        </p:nvSpPr>
        <p:spPr>
          <a:xfrm>
            <a:off x="3618050" y="1178373"/>
            <a:ext cx="1443900" cy="4002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b0c63b7a7a_0_94"/>
          <p:cNvSpPr txBox="1"/>
          <p:nvPr/>
        </p:nvSpPr>
        <p:spPr>
          <a:xfrm>
            <a:off x="5061950" y="10706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ea9bcb710_0_126"/>
          <p:cNvSpPr txBox="1"/>
          <p:nvPr>
            <p:ph type="title"/>
          </p:nvPr>
        </p:nvSpPr>
        <p:spPr>
          <a:xfrm>
            <a:off x="86770" y="206550"/>
            <a:ext cx="11838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Machine Learning categories 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265" name="Google Shape;265;g3aea9bcb710_0_12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g3aea9bcb710_0_126"/>
          <p:cNvSpPr txBox="1"/>
          <p:nvPr/>
        </p:nvSpPr>
        <p:spPr>
          <a:xfrm>
            <a:off x="0" y="869505"/>
            <a:ext cx="119256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78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●"/>
            </a:pPr>
            <a:r>
              <a:rPr b="1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of </a:t>
            </a:r>
            <a:r>
              <a:rPr b="1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unlabeled data</a:t>
            </a: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(unknown categories/outcome) and subgroup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●"/>
            </a:pPr>
            <a:r>
              <a:rPr b="1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</a:t>
            </a: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 model that maps input data to </a:t>
            </a:r>
            <a:r>
              <a:rPr b="1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labeled data</a:t>
            </a: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(known categories/outcomes) and predict outcomes in new dataset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●"/>
            </a:pPr>
            <a:r>
              <a:rPr b="1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Semi-supervised:</a:t>
            </a: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small group of labeled data (some known outcomes) to learn and to predict a large group of unlabeled data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●"/>
            </a:pPr>
            <a:r>
              <a:rPr b="1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Reinforcement Learning (RL): </a:t>
            </a:r>
            <a:endParaRPr b="1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system learn how to interact with the environment -  observe, action, award and penalties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ea9bcb710_0_1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2" name="Google Shape;272;g3aea9bcb710_0_15" title="Screenshot 2026-01-06 at 3.00.49 PM.png"/>
          <p:cNvPicPr preferRelativeResize="0"/>
          <p:nvPr/>
        </p:nvPicPr>
        <p:blipFill rotWithShape="1">
          <a:blip r:embed="rId3">
            <a:alphaModFix/>
          </a:blip>
          <a:srcRect b="32065" l="0" r="0" t="0"/>
          <a:stretch/>
        </p:blipFill>
        <p:spPr>
          <a:xfrm>
            <a:off x="508650" y="1243775"/>
            <a:ext cx="9507300" cy="474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aea9bcb710_0_15"/>
          <p:cNvSpPr txBox="1"/>
          <p:nvPr/>
        </p:nvSpPr>
        <p:spPr>
          <a:xfrm>
            <a:off x="0" y="0"/>
            <a:ext cx="12053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We focus on two main Machine Learning approaches  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ea9bcb710_0_54"/>
          <p:cNvSpPr txBox="1"/>
          <p:nvPr/>
        </p:nvSpPr>
        <p:spPr>
          <a:xfrm>
            <a:off x="-74450" y="5526300"/>
            <a:ext cx="119232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is provided with the features of unlabeled data in order to identify relevant patterns that could discriminate the 3 different animals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aea9bcb710_0_54"/>
          <p:cNvSpPr txBox="1"/>
          <p:nvPr>
            <p:ph type="title"/>
          </p:nvPr>
        </p:nvSpPr>
        <p:spPr>
          <a:xfrm>
            <a:off x="3511676" y="113093"/>
            <a:ext cx="2150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3282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g3aea9bcb710_0_54" title="Screenshot 2025-12-17 at 10.08.47 AM.png"/>
          <p:cNvPicPr preferRelativeResize="0"/>
          <p:nvPr/>
        </p:nvPicPr>
        <p:blipFill rotWithShape="1">
          <a:blip r:embed="rId3">
            <a:alphaModFix/>
          </a:blip>
          <a:srcRect b="0" l="0" r="0" t="14104"/>
          <a:stretch/>
        </p:blipFill>
        <p:spPr>
          <a:xfrm>
            <a:off x="1036838" y="1495612"/>
            <a:ext cx="8866426" cy="36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aea9bcb710_0_54"/>
          <p:cNvSpPr txBox="1"/>
          <p:nvPr/>
        </p:nvSpPr>
        <p:spPr>
          <a:xfrm>
            <a:off x="4868650" y="6357925"/>
            <a:ext cx="69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from https://www.geeksforgeeks.org/machine-learning/unsupervised-learning/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aea9bcb710_0_54"/>
          <p:cNvSpPr txBox="1"/>
          <p:nvPr/>
        </p:nvSpPr>
        <p:spPr>
          <a:xfrm>
            <a:off x="0" y="0"/>
            <a:ext cx="9507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Unsupervised Learning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aea9bcb710_0_54"/>
          <p:cNvSpPr txBox="1"/>
          <p:nvPr/>
        </p:nvSpPr>
        <p:spPr>
          <a:xfrm>
            <a:off x="0" y="828625"/>
            <a:ext cx="1094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approaches: Dimensionality reduction and clustering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aea9bcb710_0_54"/>
          <p:cNvSpPr txBox="1"/>
          <p:nvPr/>
        </p:nvSpPr>
        <p:spPr>
          <a:xfrm>
            <a:off x="413450" y="4572000"/>
            <a:ext cx="3835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 for each animal: color, weight,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ea9bcb710_0_11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g3aea9bcb710_0_111"/>
          <p:cNvSpPr txBox="1"/>
          <p:nvPr/>
        </p:nvSpPr>
        <p:spPr>
          <a:xfrm>
            <a:off x="289175" y="96400"/>
            <a:ext cx="1183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Unsupervised methods</a:t>
            </a:r>
            <a:r>
              <a:rPr b="0" i="0" lang="en-US" sz="27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: the machine finds the hidden structure of the data</a:t>
            </a:r>
            <a:endParaRPr b="0" i="0" sz="27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3aea9bcb710_0_111" title="Screenshot 2025-12-08 at 1.47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900" y="1237025"/>
            <a:ext cx="3704425" cy="288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aea9bcb710_0_111"/>
          <p:cNvSpPr txBox="1"/>
          <p:nvPr/>
        </p:nvSpPr>
        <p:spPr>
          <a:xfrm>
            <a:off x="426900" y="698225"/>
            <a:ext cx="7932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PCA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genetic ancestry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aea9bcb710_0_111"/>
          <p:cNvSpPr txBox="1"/>
          <p:nvPr/>
        </p:nvSpPr>
        <p:spPr>
          <a:xfrm>
            <a:off x="4653700" y="698225"/>
            <a:ext cx="793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K-means clustering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patients showing similar symptoms of SARS-COVID19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g3aea9bcb710_0_111" title="Screenshot 2025-12-08 at 1.52.20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775" y="4173662"/>
            <a:ext cx="2748676" cy="237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aea9bcb710_0_111" title="Screenshot 2025-12-08 at 2.00.4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2000" y="1237020"/>
            <a:ext cx="3704424" cy="249227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aea9bcb710_0_111"/>
          <p:cNvSpPr txBox="1"/>
          <p:nvPr/>
        </p:nvSpPr>
        <p:spPr>
          <a:xfrm>
            <a:off x="289175" y="4119125"/>
            <a:ext cx="3580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clustering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 heatmap of DEGs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aea9bcb710_0_111" title="Screenshot 2025-12-23 at 10.54.24 AM.png"/>
          <p:cNvPicPr preferRelativeResize="0"/>
          <p:nvPr/>
        </p:nvPicPr>
        <p:blipFill rotWithShape="1">
          <a:blip r:embed="rId6">
            <a:alphaModFix/>
          </a:blip>
          <a:srcRect b="10444" l="0" r="0" t="6464"/>
          <a:stretch/>
        </p:blipFill>
        <p:spPr>
          <a:xfrm>
            <a:off x="6706700" y="4626914"/>
            <a:ext cx="3704426" cy="19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aea9bcb710_0_111"/>
          <p:cNvSpPr txBox="1"/>
          <p:nvPr/>
        </p:nvSpPr>
        <p:spPr>
          <a:xfrm>
            <a:off x="6270725" y="3850039"/>
            <a:ext cx="59079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Association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find co-occurrence of gene expression and define groups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aea9bcb710_0_111"/>
          <p:cNvSpPr txBox="1"/>
          <p:nvPr/>
        </p:nvSpPr>
        <p:spPr>
          <a:xfrm>
            <a:off x="10356725" y="4977925"/>
            <a:ext cx="18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3+6= D1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3+11=D2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aea9bcb710_0_111"/>
          <p:cNvSpPr txBox="1"/>
          <p:nvPr/>
        </p:nvSpPr>
        <p:spPr>
          <a:xfrm>
            <a:off x="3428578" y="6367328"/>
            <a:ext cx="2337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50" lIns="113050" spcFirstLastPara="1" rIns="113050" wrap="square" tIns="11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3"/>
              <a:buFont typeface="Arial"/>
              <a:buNone/>
            </a:pPr>
            <a:r>
              <a:rPr b="0" i="0" lang="en-US" sz="247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ID</a:t>
            </a:r>
            <a:endParaRPr b="0" i="0" sz="247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aea9bcb710_0_111"/>
          <p:cNvSpPr txBox="1"/>
          <p:nvPr/>
        </p:nvSpPr>
        <p:spPr>
          <a:xfrm rot="5400000">
            <a:off x="4849650" y="5369935"/>
            <a:ext cx="2337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50" lIns="113050" spcFirstLastPara="1" rIns="113050" wrap="square" tIns="11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3"/>
              <a:buFont typeface="Arial"/>
              <a:buNone/>
            </a:pPr>
            <a:r>
              <a:rPr b="0" i="0" lang="en-US" sz="247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</a:t>
            </a:r>
            <a:endParaRPr b="0" i="0" sz="247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c63b7a7a_0_14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7" name="Google Shape;307;g3b0c63b7a7a_0_146"/>
          <p:cNvGrpSpPr/>
          <p:nvPr/>
        </p:nvGrpSpPr>
        <p:grpSpPr>
          <a:xfrm>
            <a:off x="133475" y="1356757"/>
            <a:ext cx="11074101" cy="5057600"/>
            <a:chOff x="1129598" y="1282274"/>
            <a:chExt cx="10077442" cy="4602420"/>
          </a:xfrm>
        </p:grpSpPr>
        <p:pic>
          <p:nvPicPr>
            <p:cNvPr id="308" name="Google Shape;308;g3b0c63b7a7a_0_146" title="Screenshot 2025-12-17 at 10.11.37 AM.png"/>
            <p:cNvPicPr preferRelativeResize="0"/>
            <p:nvPr/>
          </p:nvPicPr>
          <p:blipFill rotWithShape="1">
            <a:blip r:embed="rId3">
              <a:alphaModFix/>
            </a:blip>
            <a:srcRect b="0" l="0" r="0" t="16401"/>
            <a:stretch/>
          </p:blipFill>
          <p:spPr>
            <a:xfrm>
              <a:off x="1129598" y="1282274"/>
              <a:ext cx="10077442" cy="46024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g3b0c63b7a7a_0_146"/>
            <p:cNvSpPr/>
            <p:nvPr/>
          </p:nvSpPr>
          <p:spPr>
            <a:xfrm>
              <a:off x="4013600" y="1361125"/>
              <a:ext cx="3041700" cy="2670000"/>
            </a:xfrm>
            <a:prstGeom prst="rect">
              <a:avLst/>
            </a:prstGeom>
            <a:solidFill>
              <a:schemeClr val="lt1"/>
            </a:solidFill>
            <a:ln cap="flat" cmpd="sng" w="10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475" lIns="100475" spcFirstLastPara="1" rIns="100475" wrap="square" tIns="100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t/>
              </a:r>
              <a:endParaRPr b="0" i="0" sz="15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b0c63b7a7a_0_146"/>
            <p:cNvSpPr/>
            <p:nvPr/>
          </p:nvSpPr>
          <p:spPr>
            <a:xfrm>
              <a:off x="6399650" y="2286000"/>
              <a:ext cx="1662300" cy="1112100"/>
            </a:xfrm>
            <a:prstGeom prst="rect">
              <a:avLst/>
            </a:prstGeom>
            <a:solidFill>
              <a:schemeClr val="lt1"/>
            </a:solidFill>
            <a:ln cap="flat" cmpd="sng" w="10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475" lIns="100475" spcFirstLastPara="1" rIns="100475" wrap="square" tIns="100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t/>
              </a:r>
              <a:endParaRPr b="0" i="0" sz="15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g3b0c63b7a7a_0_146"/>
          <p:cNvSpPr txBox="1"/>
          <p:nvPr/>
        </p:nvSpPr>
        <p:spPr>
          <a:xfrm>
            <a:off x="3085900" y="1433331"/>
            <a:ext cx="896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color=grey and weight=5000 kg -&gt; elephant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b0c63b7a7a_0_146"/>
          <p:cNvSpPr txBox="1"/>
          <p:nvPr/>
        </p:nvSpPr>
        <p:spPr>
          <a:xfrm>
            <a:off x="3085900" y="1895607"/>
            <a:ext cx="76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color=tan and weight=1000 kg -&gt; camel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b0c63b7a7a_0_146"/>
          <p:cNvSpPr txBox="1"/>
          <p:nvPr/>
        </p:nvSpPr>
        <p:spPr>
          <a:xfrm>
            <a:off x="3085900" y="2799831"/>
            <a:ext cx="11973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color=light brown and weight=1000 kg -&gt; cow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b0c63b7a7a_0_146"/>
          <p:cNvSpPr txBox="1"/>
          <p:nvPr/>
        </p:nvSpPr>
        <p:spPr>
          <a:xfrm>
            <a:off x="3106331" y="2381095"/>
            <a:ext cx="1137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color=spotted white and black and weight=1000 kg -&gt; cow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b0c63b7a7a_0_146"/>
          <p:cNvSpPr txBox="1"/>
          <p:nvPr/>
        </p:nvSpPr>
        <p:spPr>
          <a:xfrm>
            <a:off x="6131725" y="6239175"/>
            <a:ext cx="4864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color=brown and weight~1000 kg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b0c63b7a7a_0_146"/>
          <p:cNvSpPr txBox="1"/>
          <p:nvPr/>
        </p:nvSpPr>
        <p:spPr>
          <a:xfrm>
            <a:off x="8364125" y="5669775"/>
            <a:ext cx="3406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Cow or camel?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b0c63b7a7a_0_146"/>
          <p:cNvSpPr txBox="1"/>
          <p:nvPr/>
        </p:nvSpPr>
        <p:spPr>
          <a:xfrm>
            <a:off x="0" y="0"/>
            <a:ext cx="9507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Supervised Learning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ea9bcb710_0_10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g3aea9bcb710_0_104"/>
          <p:cNvSpPr txBox="1"/>
          <p:nvPr/>
        </p:nvSpPr>
        <p:spPr>
          <a:xfrm>
            <a:off x="137700" y="137725"/>
            <a:ext cx="793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Supervised learning approaches</a:t>
            </a:r>
            <a:endParaRPr b="0" i="0" sz="36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aea9bcb710_0_104"/>
          <p:cNvSpPr txBox="1"/>
          <p:nvPr/>
        </p:nvSpPr>
        <p:spPr>
          <a:xfrm>
            <a:off x="400300" y="845725"/>
            <a:ext cx="1179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Model features to best predict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categorical outcomes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(disease affected  vs unaffected or disease subtypes)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aea9bcb710_0_104"/>
          <p:cNvSpPr txBox="1"/>
          <p:nvPr/>
        </p:nvSpPr>
        <p:spPr>
          <a:xfrm>
            <a:off x="400300" y="3703019"/>
            <a:ext cx="11682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Model features to best predict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traits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(human biomarker levels, mice histological measures)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g3aea9bcb710_0_104" title="Screenshot 2025-12-08 at 2.42.04 PM.png"/>
          <p:cNvPicPr preferRelativeResize="0"/>
          <p:nvPr/>
        </p:nvPicPr>
        <p:blipFill rotWithShape="1">
          <a:blip r:embed="rId3">
            <a:alphaModFix/>
          </a:blip>
          <a:srcRect b="0" l="0" r="0" t="2553"/>
          <a:stretch/>
        </p:blipFill>
        <p:spPr>
          <a:xfrm>
            <a:off x="400300" y="4668600"/>
            <a:ext cx="2374199" cy="20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aea9bcb710_0_104" title="Screenshot 2025-12-08 at 2.42.00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300" y="1714150"/>
            <a:ext cx="2287550" cy="20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ea9bcb710_0_254"/>
          <p:cNvSpPr txBox="1"/>
          <p:nvPr>
            <p:ph type="title"/>
          </p:nvPr>
        </p:nvSpPr>
        <p:spPr>
          <a:xfrm>
            <a:off x="115175" y="166525"/>
            <a:ext cx="120636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Regression models for association analysis vs ML </a:t>
            </a:r>
            <a:endParaRPr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/>
          </a:p>
        </p:txBody>
      </p:sp>
      <p:sp>
        <p:nvSpPr>
          <p:cNvPr id="333" name="Google Shape;333;g3aea9bcb710_0_25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g3aea9bcb710_0_254"/>
          <p:cNvSpPr txBox="1"/>
          <p:nvPr/>
        </p:nvSpPr>
        <p:spPr>
          <a:xfrm>
            <a:off x="0" y="1000950"/>
            <a:ext cx="10985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Association analysis: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this </a:t>
            </a:r>
            <a:r>
              <a:rPr b="0" i="1" lang="en-US" sz="23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SNP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significantly associated with </a:t>
            </a:r>
            <a:r>
              <a:rPr b="0" i="1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levels of cholesterol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0" i="1" lang="en-US" sz="23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3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associated with </a:t>
            </a:r>
            <a:r>
              <a:rPr b="0" i="1" lang="en-US" sz="23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thyroid dysfunction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aea9bcb710_0_254"/>
          <p:cNvSpPr txBox="1"/>
          <p:nvPr/>
        </p:nvSpPr>
        <p:spPr>
          <a:xfrm>
            <a:off x="0" y="2355450"/>
            <a:ext cx="11471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Response variable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(outcome/trait) and the </a:t>
            </a:r>
            <a:r>
              <a:rPr b="0" i="0" lang="en-US" sz="21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predictor variable/s</a:t>
            </a:r>
            <a:endParaRPr b="0" i="0" sz="2100" u="none" cap="none" strike="noStrike">
              <a:solidFill>
                <a:srgbClr val="C27B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association between these two variables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effect of the </a:t>
            </a:r>
            <a:r>
              <a:rPr b="0" i="0" lang="en-US" sz="21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predictor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a the </a:t>
            </a:r>
            <a:r>
              <a:rPr b="0" i="0" lang="en-US" sz="21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response 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the statistical significance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aea9bcb710_0_254"/>
          <p:cNvSpPr txBox="1"/>
          <p:nvPr/>
        </p:nvSpPr>
        <p:spPr>
          <a:xfrm>
            <a:off x="0" y="4572000"/>
            <a:ext cx="12192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analysis: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well a set of features (age, BMI) can predict the thyroid dysfunction in a independent set of patients?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best prediction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ec88105ea_0_4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g38ec88105ea_0_48"/>
          <p:cNvSpPr txBox="1"/>
          <p:nvPr/>
        </p:nvSpPr>
        <p:spPr>
          <a:xfrm>
            <a:off x="199900" y="201850"/>
            <a:ext cx="118980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Poll 2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 performed a knockout experiment. I want to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024888" rtl="0" algn="l">
              <a:lnSpc>
                <a:spcPct val="108055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genes based on gene expression similarity.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024888" rtl="0" algn="l">
              <a:lnSpc>
                <a:spcPct val="108055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024888" rtl="0" algn="l">
              <a:lnSpc>
                <a:spcPct val="108055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approach will you apply?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8ec88105ea_0_48"/>
          <p:cNvSpPr txBox="1"/>
          <p:nvPr/>
        </p:nvSpPr>
        <p:spPr>
          <a:xfrm>
            <a:off x="264758" y="3327900"/>
            <a:ext cx="58719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0c63b7a7a_0_98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g3b0c63b7a7a_0_988"/>
          <p:cNvSpPr txBox="1"/>
          <p:nvPr>
            <p:ph type="title"/>
          </p:nvPr>
        </p:nvSpPr>
        <p:spPr>
          <a:xfrm>
            <a:off x="161850" y="81725"/>
            <a:ext cx="11868300" cy="3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150">
            <a:spAutoFit/>
          </a:bodyPr>
          <a:lstStyle/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Poll 3</a:t>
            </a:r>
            <a:r>
              <a:rPr lang="en-US" sz="3200"/>
              <a:t>.</a:t>
            </a:r>
            <a:r>
              <a:rPr lang="en-US" sz="3600"/>
              <a:t> </a:t>
            </a:r>
            <a:r>
              <a:rPr lang="en-US" sz="3200"/>
              <a:t>We have measured the </a:t>
            </a:r>
            <a:r>
              <a:rPr i="1" lang="en-US" sz="3200"/>
              <a:t>brain volumes</a:t>
            </a:r>
            <a:r>
              <a:rPr lang="en-US" sz="3200"/>
              <a:t> and </a:t>
            </a:r>
            <a:r>
              <a:rPr i="1" lang="en-US" sz="3200"/>
              <a:t>brain gene expression</a:t>
            </a:r>
            <a:r>
              <a:rPr lang="en-US" sz="3200"/>
              <a:t> in a group of mice. </a:t>
            </a:r>
            <a:endParaRPr sz="32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2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We want to predict the </a:t>
            </a:r>
            <a:r>
              <a:rPr i="1" lang="en-US" sz="3200"/>
              <a:t>brain volume measures</a:t>
            </a:r>
            <a:r>
              <a:rPr lang="en-US" sz="3200"/>
              <a:t> using mice </a:t>
            </a:r>
            <a:r>
              <a:rPr i="1" lang="en-US" sz="3200"/>
              <a:t>gene expression</a:t>
            </a:r>
            <a:r>
              <a:rPr lang="en-US" sz="3200"/>
              <a:t> levels.</a:t>
            </a:r>
            <a:endParaRPr sz="3200"/>
          </a:p>
          <a:p>
            <a:pPr indent="0" lvl="0" marL="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0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Which model will you </a:t>
            </a:r>
            <a:r>
              <a:rPr lang="en-US" sz="3200"/>
              <a:t>apply</a:t>
            </a:r>
            <a:r>
              <a:rPr lang="en-US" sz="3000"/>
              <a:t>?</a:t>
            </a:r>
            <a:endParaRPr sz="3000"/>
          </a:p>
        </p:txBody>
      </p:sp>
      <p:sp>
        <p:nvSpPr>
          <p:cNvPr id="350" name="Google Shape;350;g3b0c63b7a7a_0_988"/>
          <p:cNvSpPr txBox="1"/>
          <p:nvPr/>
        </p:nvSpPr>
        <p:spPr>
          <a:xfrm>
            <a:off x="367725" y="4572000"/>
            <a:ext cx="77940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regression model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classification model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0c63b7a7a_0_646"/>
          <p:cNvSpPr txBox="1"/>
          <p:nvPr>
            <p:ph type="title"/>
          </p:nvPr>
        </p:nvSpPr>
        <p:spPr>
          <a:xfrm>
            <a:off x="223650" y="4931800"/>
            <a:ext cx="11968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Supervised machine learning analysis workflow 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356" name="Google Shape;356;g3b0c63b7a7a_0_64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0c63b7a7a_0_651"/>
          <p:cNvSpPr txBox="1"/>
          <p:nvPr>
            <p:ph type="title"/>
          </p:nvPr>
        </p:nvSpPr>
        <p:spPr>
          <a:xfrm>
            <a:off x="142721" y="119650"/>
            <a:ext cx="11005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1.Define your biological question and what you want to predict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362" name="Google Shape;362;g3b0c63b7a7a_0_65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g3b0c63b7a7a_0_651"/>
          <p:cNvSpPr txBox="1"/>
          <p:nvPr/>
        </p:nvSpPr>
        <p:spPr>
          <a:xfrm>
            <a:off x="142725" y="1775513"/>
            <a:ext cx="121920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Classify individuals with a disease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Classify patients with a disease subtype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important? What would you like to minimize in your prediction?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individuals wrongly classified as affected / wrongly classified as non affected?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patients wrongly assigned to one disease subtype?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Costs, invasive diagnosis, therapies…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0c63b7a7a_0_656"/>
          <p:cNvSpPr txBox="1"/>
          <p:nvPr>
            <p:ph type="title"/>
          </p:nvPr>
        </p:nvSpPr>
        <p:spPr>
          <a:xfrm>
            <a:off x="142721" y="223575"/>
            <a:ext cx="11005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2. Which algorithm works best for my question and type of data?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369" name="Google Shape;369;g3b0c63b7a7a_0_65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0" name="Google Shape;370;g3b0c63b7a7a_0_656"/>
          <p:cNvSpPr txBox="1"/>
          <p:nvPr/>
        </p:nvSpPr>
        <p:spPr>
          <a:xfrm>
            <a:off x="142725" y="4640850"/>
            <a:ext cx="1193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b0c63b7a7a_0_656"/>
          <p:cNvSpPr txBox="1"/>
          <p:nvPr/>
        </p:nvSpPr>
        <p:spPr>
          <a:xfrm>
            <a:off x="142775" y="2165725"/>
            <a:ext cx="119346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●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algorithm fits the data in a different way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●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model may work best depending on your questions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●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apply more than one method and compare (e.g. </a:t>
            </a:r>
            <a:r>
              <a:rPr b="0" i="1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SuperLearner 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in R applies multiple approaches)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0c63b7a7a_0_82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7" name="Google Shape;377;g3b0c63b7a7a_0_824"/>
          <p:cNvSpPr txBox="1"/>
          <p:nvPr/>
        </p:nvSpPr>
        <p:spPr>
          <a:xfrm>
            <a:off x="36750" y="5083436"/>
            <a:ext cx="12118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Training 70% - Test 30% or Training 80% - Test 20%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careful when splitting </a:t>
            </a: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imbalanced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case/controls data sets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careful with missing data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g3b0c63b7a7a_0_824" title="Screenshot 2025-12-12 at 12.53.42 PM.png"/>
          <p:cNvPicPr preferRelativeResize="0"/>
          <p:nvPr/>
        </p:nvPicPr>
        <p:blipFill rotWithShape="1">
          <a:blip r:embed="rId3">
            <a:alphaModFix/>
          </a:blip>
          <a:srcRect b="82211" l="0" r="0" t="0"/>
          <a:stretch/>
        </p:blipFill>
        <p:spPr>
          <a:xfrm>
            <a:off x="5764428" y="2107240"/>
            <a:ext cx="2860376" cy="30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b0c63b7a7a_0_824"/>
          <p:cNvSpPr txBox="1"/>
          <p:nvPr/>
        </p:nvSpPr>
        <p:spPr>
          <a:xfrm>
            <a:off x="8758400" y="914724"/>
            <a:ext cx="2561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b0c63b7a7a_0_824"/>
          <p:cNvSpPr txBox="1"/>
          <p:nvPr/>
        </p:nvSpPr>
        <p:spPr>
          <a:xfrm>
            <a:off x="8915303" y="2362982"/>
            <a:ext cx="2561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b0c63b7a7a_0_824"/>
          <p:cNvSpPr/>
          <p:nvPr/>
        </p:nvSpPr>
        <p:spPr>
          <a:xfrm>
            <a:off x="7486403" y="3122221"/>
            <a:ext cx="272100" cy="272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b0c63b7a7a_0_824"/>
          <p:cNvSpPr txBox="1"/>
          <p:nvPr/>
        </p:nvSpPr>
        <p:spPr>
          <a:xfrm>
            <a:off x="7323128" y="3326339"/>
            <a:ext cx="1601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b0c63b7a7a_0_824"/>
          <p:cNvSpPr txBox="1"/>
          <p:nvPr>
            <p:ph type="title"/>
          </p:nvPr>
        </p:nvSpPr>
        <p:spPr>
          <a:xfrm>
            <a:off x="36750" y="0"/>
            <a:ext cx="12118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How much of the data to train the model?</a:t>
            </a:r>
            <a:endParaRPr>
              <a:solidFill>
                <a:srgbClr val="06D0E2"/>
              </a:solidFill>
            </a:endParaRPr>
          </a:p>
        </p:txBody>
      </p:sp>
      <p:grpSp>
        <p:nvGrpSpPr>
          <p:cNvPr id="384" name="Google Shape;384;g3b0c63b7a7a_0_824"/>
          <p:cNvGrpSpPr/>
          <p:nvPr/>
        </p:nvGrpSpPr>
        <p:grpSpPr>
          <a:xfrm>
            <a:off x="154525" y="760259"/>
            <a:ext cx="5095275" cy="3045375"/>
            <a:chOff x="234100" y="1225625"/>
            <a:chExt cx="5095275" cy="3045375"/>
          </a:xfrm>
        </p:grpSpPr>
        <p:sp>
          <p:nvSpPr>
            <p:cNvPr id="385" name="Google Shape;385;g3b0c63b7a7a_0_824"/>
            <p:cNvSpPr txBox="1"/>
            <p:nvPr/>
          </p:nvSpPr>
          <p:spPr>
            <a:xfrm>
              <a:off x="234100" y="1777400"/>
              <a:ext cx="1649400" cy="24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2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3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4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5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b0c63b7a7a_0_824"/>
            <p:cNvSpPr txBox="1"/>
            <p:nvPr/>
          </p:nvSpPr>
          <p:spPr>
            <a:xfrm>
              <a:off x="22033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 c2 c3 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g3b0c63b7a7a_0_824"/>
          <p:cNvSpPr txBox="1"/>
          <p:nvPr/>
        </p:nvSpPr>
        <p:spPr>
          <a:xfrm>
            <a:off x="3618057" y="789804"/>
            <a:ext cx="852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" name="Google Shape;388;g3b0c63b7a7a_0_824"/>
          <p:cNvGrpSpPr/>
          <p:nvPr/>
        </p:nvGrpSpPr>
        <p:grpSpPr>
          <a:xfrm>
            <a:off x="2090501" y="1302484"/>
            <a:ext cx="1308800" cy="2065375"/>
            <a:chOff x="2090501" y="1643900"/>
            <a:chExt cx="1308800" cy="2065376"/>
          </a:xfrm>
        </p:grpSpPr>
        <p:pic>
          <p:nvPicPr>
            <p:cNvPr id="389" name="Google Shape;389;g3b0c63b7a7a_0_824" title="710JbHq4++L._SL1360_.jpg"/>
            <p:cNvPicPr preferRelativeResize="0"/>
            <p:nvPr/>
          </p:nvPicPr>
          <p:blipFill rotWithShape="1">
            <a:blip r:embed="rId4">
              <a:alphaModFix/>
            </a:blip>
            <a:srcRect b="80873" l="43082" r="21678" t="9015"/>
            <a:stretch/>
          </p:blipFill>
          <p:spPr>
            <a:xfrm rot="5400000">
              <a:off x="2571901" y="2881876"/>
              <a:ext cx="1270924" cy="383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0" name="Google Shape;390;g3b0c63b7a7a_0_824"/>
            <p:cNvGrpSpPr/>
            <p:nvPr/>
          </p:nvGrpSpPr>
          <p:grpSpPr>
            <a:xfrm>
              <a:off x="2090501" y="1643899"/>
              <a:ext cx="1304931" cy="2028602"/>
              <a:chOff x="2090501" y="1643900"/>
              <a:chExt cx="1304931" cy="2028602"/>
            </a:xfrm>
          </p:grpSpPr>
          <p:pic>
            <p:nvPicPr>
              <p:cNvPr id="391" name="Google Shape;391;g3b0c63b7a7a_0_824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80873" l="7281" r="33279" t="6139"/>
              <a:stretch/>
            </p:blipFill>
            <p:spPr>
              <a:xfrm rot="5400000">
                <a:off x="1316025" y="2418376"/>
                <a:ext cx="2011650" cy="4626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2" name="Google Shape;392;g3b0c63b7a7a_0_824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68483" l="8859" r="30949" t="18327"/>
              <a:stretch/>
            </p:blipFill>
            <p:spPr>
              <a:xfrm rot="5400000">
                <a:off x="1765124" y="2424250"/>
                <a:ext cx="2028602" cy="467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3" name="Google Shape;393;g3b0c63b7a7a_0_824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80872" l="43510" r="21685" t="8390"/>
              <a:stretch/>
            </p:blipFill>
            <p:spPr>
              <a:xfrm rot="5400000">
                <a:off x="2628256" y="2064639"/>
                <a:ext cx="1158226" cy="376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94" name="Google Shape;394;g3b0c63b7a7a_0_824" title="Screenshot 2026-01-06 at 3.30.47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7546" y="2452534"/>
            <a:ext cx="2375453" cy="6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b0c63b7a7a_0_824" title="Screenshot 2026-01-06 at 3.30.26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9163" y="601362"/>
            <a:ext cx="2860375" cy="125525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b0c63b7a7a_0_824"/>
          <p:cNvSpPr/>
          <p:nvPr/>
        </p:nvSpPr>
        <p:spPr>
          <a:xfrm>
            <a:off x="6978450" y="962284"/>
            <a:ext cx="1601100" cy="340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g3b0c63b7a7a_0_824" title="Screenshot 2026-01-06 at 3.31.56 P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0228" y="2452541"/>
            <a:ext cx="544707" cy="62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b0c63b7a7a_0_824"/>
          <p:cNvSpPr txBox="1"/>
          <p:nvPr/>
        </p:nvSpPr>
        <p:spPr>
          <a:xfrm>
            <a:off x="72757" y="3697388"/>
            <a:ext cx="105336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dataset? -&gt; how to evaluate the prediction on new data? 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b0c63b7a7a_0_824"/>
          <p:cNvSpPr txBox="1"/>
          <p:nvPr/>
        </p:nvSpPr>
        <p:spPr>
          <a:xfrm>
            <a:off x="72750" y="4101100"/>
            <a:ext cx="120465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will be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two sets - training (majority of the samples) and test dataset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Important! No same subjects in the training and test set or model overestimation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b0c63b7a7a_0_824"/>
          <p:cNvSpPr txBox="1"/>
          <p:nvPr/>
        </p:nvSpPr>
        <p:spPr>
          <a:xfrm>
            <a:off x="72750" y="6280550"/>
            <a:ext cx="1204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learn on the training set -&gt; save the model -&gt; predict the outcome of the labeled test set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b0c63b7a7a_0_824"/>
          <p:cNvSpPr/>
          <p:nvPr/>
        </p:nvSpPr>
        <p:spPr>
          <a:xfrm>
            <a:off x="2133275" y="864400"/>
            <a:ext cx="1484700" cy="4290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b0c63b7a7a_0_824"/>
          <p:cNvSpPr txBox="1"/>
          <p:nvPr/>
        </p:nvSpPr>
        <p:spPr>
          <a:xfrm>
            <a:off x="390273" y="785519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b0c63b7a7a_0_824"/>
          <p:cNvSpPr/>
          <p:nvPr/>
        </p:nvSpPr>
        <p:spPr>
          <a:xfrm>
            <a:off x="3618050" y="878949"/>
            <a:ext cx="813000" cy="4290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b0c63b7a7a_0_824"/>
          <p:cNvSpPr txBox="1"/>
          <p:nvPr/>
        </p:nvSpPr>
        <p:spPr>
          <a:xfrm>
            <a:off x="4470950" y="759027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b0c63b7a7a_0_824"/>
          <p:cNvSpPr/>
          <p:nvPr/>
        </p:nvSpPr>
        <p:spPr>
          <a:xfrm>
            <a:off x="9324600" y="1599350"/>
            <a:ext cx="627300" cy="507900"/>
          </a:xfrm>
          <a:prstGeom prst="mathNotEqual">
            <a:avLst>
              <a:gd fmla="val 23520" name="adj1"/>
              <a:gd fmla="val 6600000" name="adj2"/>
              <a:gd fmla="val 1176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0c63b7a7a_0_767"/>
          <p:cNvSpPr txBox="1"/>
          <p:nvPr>
            <p:ph type="title"/>
          </p:nvPr>
        </p:nvSpPr>
        <p:spPr>
          <a:xfrm>
            <a:off x="152076" y="115575"/>
            <a:ext cx="118647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11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How can we generate a prediction model that is ‘good enough’? How can we evaluate ‘good enough’?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411" name="Google Shape;411;g3b0c63b7a7a_0_767"/>
          <p:cNvSpPr txBox="1"/>
          <p:nvPr/>
        </p:nvSpPr>
        <p:spPr>
          <a:xfrm>
            <a:off x="0" y="1620125"/>
            <a:ext cx="11652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right set of features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Fitting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right model on the training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algorithm parameters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model performance based on your expectation -&gt; change the model accordingly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2627f4309_0_9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g3b2627f4309_0_93"/>
          <p:cNvSpPr txBox="1"/>
          <p:nvPr>
            <p:ph type="title"/>
          </p:nvPr>
        </p:nvSpPr>
        <p:spPr>
          <a:xfrm>
            <a:off x="141845" y="234100"/>
            <a:ext cx="11480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4. Feature selection 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418" name="Google Shape;418;g3b2627f4309_0_93"/>
          <p:cNvSpPr txBox="1"/>
          <p:nvPr/>
        </p:nvSpPr>
        <p:spPr>
          <a:xfrm>
            <a:off x="249200" y="1292500"/>
            <a:ext cx="114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Biological question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 want to predict IVF success rate (label) 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b2627f4309_0_93"/>
          <p:cNvSpPr txBox="1"/>
          <p:nvPr/>
        </p:nvSpPr>
        <p:spPr>
          <a:xfrm>
            <a:off x="302100" y="2276500"/>
            <a:ext cx="875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features may be the most useful?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b2627f4309_0_93"/>
          <p:cNvSpPr txBox="1"/>
          <p:nvPr/>
        </p:nvSpPr>
        <p:spPr>
          <a:xfrm>
            <a:off x="378125" y="34369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mother 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b2627f4309_0_93"/>
          <p:cNvSpPr txBox="1"/>
          <p:nvPr/>
        </p:nvSpPr>
        <p:spPr>
          <a:xfrm>
            <a:off x="3181500" y="3956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sperm motility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b2627f4309_0_93"/>
          <p:cNvSpPr txBox="1"/>
          <p:nvPr/>
        </p:nvSpPr>
        <p:spPr>
          <a:xfrm>
            <a:off x="440950" y="6083175"/>
            <a:ext cx="368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alcohol consumption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b2627f4309_0_93"/>
          <p:cNvSpPr txBox="1"/>
          <p:nvPr/>
        </p:nvSpPr>
        <p:spPr>
          <a:xfrm>
            <a:off x="4622675" y="4836575"/>
            <a:ext cx="333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donor/partner 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b2627f4309_0_93"/>
          <p:cNvSpPr txBox="1"/>
          <p:nvPr/>
        </p:nvSpPr>
        <p:spPr>
          <a:xfrm>
            <a:off x="7359725" y="3260500"/>
            <a:ext cx="481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baseline follicles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b2627f4309_0_93"/>
          <p:cNvSpPr txBox="1"/>
          <p:nvPr/>
        </p:nvSpPr>
        <p:spPr>
          <a:xfrm>
            <a:off x="8044400" y="4988325"/>
            <a:ext cx="36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b2627f4309_0_93"/>
          <p:cNvSpPr txBox="1"/>
          <p:nvPr/>
        </p:nvSpPr>
        <p:spPr>
          <a:xfrm>
            <a:off x="7831850" y="5388513"/>
            <a:ext cx="368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maternal ancestry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b2627f4309_0_93"/>
          <p:cNvSpPr/>
          <p:nvPr/>
        </p:nvSpPr>
        <p:spPr>
          <a:xfrm>
            <a:off x="3102075" y="3984025"/>
            <a:ext cx="2880000" cy="6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b2627f4309_0_93"/>
          <p:cNvSpPr/>
          <p:nvPr/>
        </p:nvSpPr>
        <p:spPr>
          <a:xfrm>
            <a:off x="7831850" y="4572000"/>
            <a:ext cx="3963300" cy="549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b2627f4309_0_93"/>
          <p:cNvSpPr/>
          <p:nvPr/>
        </p:nvSpPr>
        <p:spPr>
          <a:xfrm>
            <a:off x="7359725" y="3322550"/>
            <a:ext cx="4530300" cy="6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b2627f4309_0_93"/>
          <p:cNvSpPr txBox="1"/>
          <p:nvPr/>
        </p:nvSpPr>
        <p:spPr>
          <a:xfrm>
            <a:off x="7905200" y="4572000"/>
            <a:ext cx="396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mother </a:t>
            </a:r>
            <a:r>
              <a:rPr lang="en-US" sz="2800">
                <a:solidFill>
                  <a:schemeClr val="dk1"/>
                </a:solidFill>
              </a:rPr>
              <a:t>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b2627f4309_0_93"/>
          <p:cNvSpPr/>
          <p:nvPr/>
        </p:nvSpPr>
        <p:spPr>
          <a:xfrm>
            <a:off x="7831850" y="5352600"/>
            <a:ext cx="3041700" cy="6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2b1bcb1fb_0_1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" name="Google Shape;437;g3b2b1bcb1fb_0_10"/>
          <p:cNvSpPr txBox="1"/>
          <p:nvPr>
            <p:ph type="title"/>
          </p:nvPr>
        </p:nvSpPr>
        <p:spPr>
          <a:xfrm>
            <a:off x="141845" y="234100"/>
            <a:ext cx="11480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Data leakage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438" name="Google Shape;438;g3b2b1bcb1fb_0_10"/>
          <p:cNvSpPr txBox="1"/>
          <p:nvPr/>
        </p:nvSpPr>
        <p:spPr>
          <a:xfrm>
            <a:off x="195750" y="3264125"/>
            <a:ext cx="118005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from outside the training data accidentally influences the model during training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Incorrect use data that are related to the outcome to predict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1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if a student pass the exam</a:t>
            </a:r>
            <a:endParaRPr b="0" i="1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</a:t>
            </a:r>
            <a:r>
              <a:rPr b="0" i="0" lang="en-US" sz="27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‘hours of study per day’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2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‘grade’</a:t>
            </a:r>
            <a:endParaRPr b="0" i="0" sz="27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b2b1bcb1fb_0_10"/>
          <p:cNvSpPr txBox="1"/>
          <p:nvPr/>
        </p:nvSpPr>
        <p:spPr>
          <a:xfrm>
            <a:off x="249200" y="2278313"/>
            <a:ext cx="1071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predictive model, can I use the feature ‘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 born date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b2b1bcb1fb_0_10"/>
          <p:cNvSpPr txBox="1"/>
          <p:nvPr/>
        </p:nvSpPr>
        <p:spPr>
          <a:xfrm>
            <a:off x="249200" y="1292500"/>
            <a:ext cx="114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Biological question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 want to predict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IVF success rate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(label) 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8ec88105ea_0_106"/>
          <p:cNvSpPr txBox="1"/>
          <p:nvPr>
            <p:ph type="title"/>
          </p:nvPr>
        </p:nvSpPr>
        <p:spPr>
          <a:xfrm>
            <a:off x="60071" y="13445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Feature selection methods  and advantages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446" name="Google Shape;446;g38ec88105ea_0_10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7" name="Google Shape;447;g38ec88105ea_0_106" title="Screenshot 2026-01-02 at 3.47.1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5" y="957725"/>
            <a:ext cx="5900601" cy="299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8ec88105ea_0_106" title="Screenshot 2026-01-02 at 3.47.13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75" y="3936400"/>
            <a:ext cx="5900611" cy="283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8ec88105ea_0_106" title="Screenshot 2026-01-02 at 3.47.18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5830" y="957750"/>
            <a:ext cx="6012569" cy="283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8ec88105ea_0_106"/>
          <p:cNvSpPr txBox="1"/>
          <p:nvPr/>
        </p:nvSpPr>
        <p:spPr>
          <a:xfrm>
            <a:off x="5959025" y="4070700"/>
            <a:ext cx="6219600" cy="1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Learn on only important features</a:t>
            </a:r>
            <a:endParaRPr b="0" i="0" sz="20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Reduce computation time</a:t>
            </a:r>
            <a:endParaRPr b="0" i="0" sz="20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Easier understanding of the model behavior </a:t>
            </a:r>
            <a:endParaRPr b="0" i="0" sz="20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Reduces complexity with high-dimensional data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0c63b7a7a_0_712"/>
          <p:cNvSpPr txBox="1"/>
          <p:nvPr>
            <p:ph type="title"/>
          </p:nvPr>
        </p:nvSpPr>
        <p:spPr>
          <a:xfrm>
            <a:off x="849271" y="2141450"/>
            <a:ext cx="110058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100">
                <a:solidFill>
                  <a:srgbClr val="06D0E2"/>
                </a:solidFill>
              </a:rPr>
              <a:t>Break</a:t>
            </a:r>
            <a:endParaRPr sz="5100">
              <a:solidFill>
                <a:srgbClr val="06D0E2"/>
              </a:solidFill>
            </a:endParaRPr>
          </a:p>
        </p:txBody>
      </p:sp>
      <p:sp>
        <p:nvSpPr>
          <p:cNvPr id="456" name="Google Shape;456;g3b0c63b7a7a_0_71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g3b0c63b7a7a_0_712"/>
          <p:cNvSpPr txBox="1"/>
          <p:nvPr/>
        </p:nvSpPr>
        <p:spPr>
          <a:xfrm>
            <a:off x="849275" y="3279325"/>
            <a:ext cx="749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See you in 5 minutes</a:t>
            </a:r>
            <a:endParaRPr b="0" i="0" sz="3500" u="none" cap="none" strike="noStrike">
              <a:solidFill>
                <a:srgbClr val="0563C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563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"/>
          <p:cNvSpPr txBox="1"/>
          <p:nvPr>
            <p:ph type="title"/>
          </p:nvPr>
        </p:nvSpPr>
        <p:spPr>
          <a:xfrm>
            <a:off x="110176" y="34025"/>
            <a:ext cx="120819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395603" lvl="0" marL="407668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5. Fitting the Training model </a:t>
            </a:r>
            <a:endParaRPr>
              <a:solidFill>
                <a:srgbClr val="06D0E2"/>
              </a:solidFill>
            </a:endParaRPr>
          </a:p>
          <a:p>
            <a:pPr indent="-395603" lvl="0" marL="407668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>
                <a:solidFill>
                  <a:schemeClr val="dk2"/>
                </a:solidFill>
              </a:rPr>
              <a:t>Good prediction model = good fitting of your data</a:t>
            </a:r>
            <a:endParaRPr sz="3400">
              <a:solidFill>
                <a:schemeClr val="dk2"/>
              </a:solidFill>
            </a:endParaRPr>
          </a:p>
          <a:p>
            <a:pPr indent="-395604" lvl="0" marL="407669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900">
                <a:solidFill>
                  <a:schemeClr val="dk2"/>
                </a:solidFill>
              </a:rPr>
              <a:t>Balance of Bias and Variance</a:t>
            </a:r>
            <a:endParaRPr sz="2900">
              <a:solidFill>
                <a:schemeClr val="dk2"/>
              </a:solidFill>
            </a:endParaRPr>
          </a:p>
        </p:txBody>
      </p:sp>
      <p:grpSp>
        <p:nvGrpSpPr>
          <p:cNvPr id="463" name="Google Shape;463;p15"/>
          <p:cNvGrpSpPr/>
          <p:nvPr/>
        </p:nvGrpSpPr>
        <p:grpSpPr>
          <a:xfrm>
            <a:off x="517120" y="1940966"/>
            <a:ext cx="11037038" cy="3145625"/>
            <a:chOff x="971550" y="1968500"/>
            <a:chExt cx="10248898" cy="2921000"/>
          </a:xfrm>
        </p:grpSpPr>
        <p:pic>
          <p:nvPicPr>
            <p:cNvPr id="464" name="Google Shape;46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84450" y="2343796"/>
              <a:ext cx="6972300" cy="12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1550" y="1968500"/>
              <a:ext cx="10248898" cy="292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6" name="Google Shape;466;p15"/>
          <p:cNvSpPr txBox="1"/>
          <p:nvPr/>
        </p:nvSpPr>
        <p:spPr>
          <a:xfrm>
            <a:off x="3078252" y="2026268"/>
            <a:ext cx="117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75">
            <a:spAutoFit/>
          </a:bodyPr>
          <a:lstStyle/>
          <a:p>
            <a:pPr indent="0" lvl="0" marL="1367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85"/>
              <a:buFont typeface="Arial"/>
              <a:buNone/>
            </a:pPr>
            <a:r>
              <a:rPr b="0" i="0" lang="en-US" sz="258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b="0" i="0" sz="25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5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p15"/>
          <p:cNvSpPr txBox="1"/>
          <p:nvPr/>
        </p:nvSpPr>
        <p:spPr>
          <a:xfrm>
            <a:off x="10079628" y="3654300"/>
            <a:ext cx="147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75">
            <a:spAutoFit/>
          </a:bodyPr>
          <a:lstStyle/>
          <a:p>
            <a:pPr indent="0" lvl="0" marL="1367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85"/>
              <a:buFont typeface="Arial"/>
              <a:buNone/>
            </a:pPr>
            <a:r>
              <a:rPr b="0" i="0" lang="en-US" sz="258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b="0" i="0" sz="25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190050" y="5487975"/>
            <a:ext cx="1179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Bias: model fails to capture the true relationship between input and output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Variance: model learns noise from the data and fails to generalize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8322e3b59_0_1"/>
          <p:cNvSpPr txBox="1"/>
          <p:nvPr>
            <p:ph type="title"/>
          </p:nvPr>
        </p:nvSpPr>
        <p:spPr>
          <a:xfrm>
            <a:off x="261640" y="218350"/>
            <a:ext cx="7571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Good fitting</a:t>
            </a:r>
            <a:endParaRPr sz="4300">
              <a:solidFill>
                <a:srgbClr val="06D0E2"/>
              </a:solidFill>
            </a:endParaRPr>
          </a:p>
        </p:txBody>
      </p:sp>
      <p:pic>
        <p:nvPicPr>
          <p:cNvPr id="475" name="Google Shape;475;g3b8322e3b59_0_1" title="Screenshot 2026-01-13 at 12.07.37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650" y="1471750"/>
            <a:ext cx="506730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ea9bcb710_0_222"/>
          <p:cNvSpPr txBox="1"/>
          <p:nvPr>
            <p:ph type="title"/>
          </p:nvPr>
        </p:nvSpPr>
        <p:spPr>
          <a:xfrm>
            <a:off x="261640" y="218350"/>
            <a:ext cx="7571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High bias (low variance)</a:t>
            </a:r>
            <a:endParaRPr sz="4300">
              <a:solidFill>
                <a:srgbClr val="06D0E2"/>
              </a:solidFill>
            </a:endParaRPr>
          </a:p>
        </p:txBody>
      </p:sp>
      <p:sp>
        <p:nvSpPr>
          <p:cNvPr id="481" name="Google Shape;481;g3aea9bcb710_0_222"/>
          <p:cNvSpPr txBox="1"/>
          <p:nvPr/>
        </p:nvSpPr>
        <p:spPr>
          <a:xfrm>
            <a:off x="261650" y="893050"/>
            <a:ext cx="7932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too simple,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performance on the training and on the test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g3aea9bcb710_0_222" title="Screenshot 2025-12-08 at 4.01.5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206" y="1922966"/>
            <a:ext cx="3516444" cy="361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aea9bcb710_0_222" title="Screenshot 2025-12-08 at 4.05.54 PM.png"/>
          <p:cNvPicPr preferRelativeResize="0"/>
          <p:nvPr/>
        </p:nvPicPr>
        <p:blipFill rotWithShape="1">
          <a:blip r:embed="rId4">
            <a:alphaModFix/>
          </a:blip>
          <a:srcRect b="0" l="0" r="0" t="15881"/>
          <a:stretch/>
        </p:blipFill>
        <p:spPr>
          <a:xfrm>
            <a:off x="261650" y="1735250"/>
            <a:ext cx="3371678" cy="37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aea9bcb710_0_222"/>
          <p:cNvSpPr txBox="1"/>
          <p:nvPr/>
        </p:nvSpPr>
        <p:spPr>
          <a:xfrm>
            <a:off x="179000" y="5313650"/>
            <a:ext cx="853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Tips: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more informative features / interaction terms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complex model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ea9bcb710_0_201"/>
          <p:cNvSpPr txBox="1"/>
          <p:nvPr>
            <p:ph type="title"/>
          </p:nvPr>
        </p:nvSpPr>
        <p:spPr>
          <a:xfrm>
            <a:off x="261640" y="218350"/>
            <a:ext cx="7571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High variance (low bias)</a:t>
            </a:r>
            <a:endParaRPr sz="4300">
              <a:solidFill>
                <a:srgbClr val="06D0E2"/>
              </a:solidFill>
            </a:endParaRPr>
          </a:p>
        </p:txBody>
      </p:sp>
      <p:sp>
        <p:nvSpPr>
          <p:cNvPr id="490" name="Google Shape;490;g3aea9bcb710_0_201"/>
          <p:cNvSpPr txBox="1"/>
          <p:nvPr/>
        </p:nvSpPr>
        <p:spPr>
          <a:xfrm>
            <a:off x="261650" y="922660"/>
            <a:ext cx="11801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fit too close the data capturing noise, </a:t>
            </a: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Great performance on the training set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performance on the test/not generalizable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g3aea9bcb710_0_201" title="Screenshot 2025-12-08 at 4.06.00 PM.png"/>
          <p:cNvPicPr preferRelativeResize="0"/>
          <p:nvPr/>
        </p:nvPicPr>
        <p:blipFill rotWithShape="1">
          <a:blip r:embed="rId3">
            <a:alphaModFix/>
          </a:blip>
          <a:srcRect b="0" l="0" r="0" t="13845"/>
          <a:stretch/>
        </p:blipFill>
        <p:spPr>
          <a:xfrm>
            <a:off x="1033725" y="2244287"/>
            <a:ext cx="2580227" cy="34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3aea9bcb710_0_201" title="Screenshot 2025-12-08 at 4.01.48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7875" y="2291462"/>
            <a:ext cx="3402712" cy="334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3aea9bcb710_0_201"/>
          <p:cNvSpPr txBox="1"/>
          <p:nvPr/>
        </p:nvSpPr>
        <p:spPr>
          <a:xfrm>
            <a:off x="179000" y="5313650"/>
            <a:ext cx="853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Tips: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features from the model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 txBox="1"/>
          <p:nvPr>
            <p:ph type="title"/>
          </p:nvPr>
        </p:nvSpPr>
        <p:spPr>
          <a:xfrm>
            <a:off x="1212055" y="34035"/>
            <a:ext cx="9773400" cy="1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2939415" lvl="0" marL="2951480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How can we select a model that balances variance &amp; bias?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0" name="Google Shape;500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1975" y="167627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1" name="Google Shape;501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1975" y="402742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2" name="Google Shape;502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175" y="165882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3" name="Google Shape;503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175" y="402742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4" name="Google Shape;504;p24"/>
          <p:cNvSpPr txBox="1"/>
          <p:nvPr/>
        </p:nvSpPr>
        <p:spPr>
          <a:xfrm>
            <a:off x="7943750" y="3230550"/>
            <a:ext cx="3625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SET split in K folds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4"/>
          <p:cNvSpPr txBox="1"/>
          <p:nvPr/>
        </p:nvSpPr>
        <p:spPr>
          <a:xfrm>
            <a:off x="177000" y="1751200"/>
            <a:ext cx="3252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Cross Validation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k-Fold CV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0c63b7a7a_0_214"/>
          <p:cNvSpPr txBox="1"/>
          <p:nvPr>
            <p:ph type="title"/>
          </p:nvPr>
        </p:nvSpPr>
        <p:spPr>
          <a:xfrm>
            <a:off x="78755" y="121285"/>
            <a:ext cx="97734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2939415" lvl="0" marL="2951480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Cross validation is an iterative process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11" name="Google Shape;511;g3b0c63b7a7a_0_21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2" name="Google Shape;512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137960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3" name="Google Shape;513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4" name="Google Shape;514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13621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5" name="Google Shape;515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6" name="Google Shape;516;g3b0c63b7a7a_0_214"/>
          <p:cNvSpPr txBox="1"/>
          <p:nvPr/>
        </p:nvSpPr>
        <p:spPr>
          <a:xfrm>
            <a:off x="8653900" y="5933150"/>
            <a:ext cx="304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 folds TRAINING SET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b0c63b7a7a_0_214"/>
          <p:cNvSpPr txBox="1"/>
          <p:nvPr/>
        </p:nvSpPr>
        <p:spPr>
          <a:xfrm>
            <a:off x="10650850" y="54561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fold SET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b0c63b7a7a_0_214"/>
          <p:cNvSpPr txBox="1"/>
          <p:nvPr/>
        </p:nvSpPr>
        <p:spPr>
          <a:xfrm>
            <a:off x="8268875" y="811875"/>
            <a:ext cx="282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9" name="Google Shape;519;g3b0c63b7a7a_0_214" title="Screenshot 2025-12-17 at 10.47.44 AM.png"/>
          <p:cNvPicPr preferRelativeResize="0"/>
          <p:nvPr/>
        </p:nvPicPr>
        <p:blipFill rotWithShape="1">
          <a:blip r:embed="rId4">
            <a:alphaModFix/>
          </a:blip>
          <a:srcRect b="64320" l="0" r="31977" t="0"/>
          <a:stretch/>
        </p:blipFill>
        <p:spPr>
          <a:xfrm>
            <a:off x="204750" y="1407675"/>
            <a:ext cx="4619599" cy="14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0c63b7a7a_0_229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5" name="Google Shape;525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137960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6" name="Google Shape;526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7" name="Google Shape;527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13621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8" name="Google Shape;528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9" name="Google Shape;529;g3b0c63b7a7a_0_229"/>
          <p:cNvSpPr txBox="1"/>
          <p:nvPr/>
        </p:nvSpPr>
        <p:spPr>
          <a:xfrm>
            <a:off x="8653900" y="5933150"/>
            <a:ext cx="304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 folds TRAINING SET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b0c63b7a7a_0_229"/>
          <p:cNvSpPr txBox="1"/>
          <p:nvPr/>
        </p:nvSpPr>
        <p:spPr>
          <a:xfrm>
            <a:off x="8766200" y="54561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fold SET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b0c63b7a7a_0_229"/>
          <p:cNvSpPr txBox="1"/>
          <p:nvPr/>
        </p:nvSpPr>
        <p:spPr>
          <a:xfrm>
            <a:off x="8268875" y="811875"/>
            <a:ext cx="282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g3b0c63b7a7a_0_229" title="Screenshot 2025-12-17 at 10.47.44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50" y="1407673"/>
            <a:ext cx="6791039" cy="404266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b0c63b7a7a_0_229"/>
          <p:cNvSpPr txBox="1"/>
          <p:nvPr>
            <p:ph type="title"/>
          </p:nvPr>
        </p:nvSpPr>
        <p:spPr>
          <a:xfrm>
            <a:off x="78755" y="121285"/>
            <a:ext cx="97734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2939415" lvl="0" marL="2951480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Cross validation is an iterative process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34" name="Google Shape;534;g3b0c63b7a7a_0_229"/>
          <p:cNvSpPr txBox="1"/>
          <p:nvPr/>
        </p:nvSpPr>
        <p:spPr>
          <a:xfrm>
            <a:off x="78753" y="5834275"/>
            <a:ext cx="74424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is trained and tested on 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data splits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 and variance can be balanced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b0c63b7a7a_0_243"/>
          <p:cNvSpPr txBox="1"/>
          <p:nvPr>
            <p:ph type="title"/>
          </p:nvPr>
        </p:nvSpPr>
        <p:spPr>
          <a:xfrm>
            <a:off x="142721" y="264125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Cross validation approaches and R packages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40" name="Google Shape;540;g3b0c63b7a7a_0_24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1" name="Google Shape;541;g3b0c63b7a7a_0_243"/>
          <p:cNvSpPr txBox="1"/>
          <p:nvPr/>
        </p:nvSpPr>
        <p:spPr>
          <a:xfrm>
            <a:off x="349000" y="1467200"/>
            <a:ext cx="11142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k-Fold CV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Leave-One-Out CV - maximizing the data training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Repeated k-Fold CV - repeat n times the k folds random selection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Stratified k-Fold - keep proportion of each class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Several R packages: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rsample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SuperLearner - stratified CV 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ea9bcb710_0_212"/>
          <p:cNvSpPr txBox="1"/>
          <p:nvPr>
            <p:ph type="title"/>
          </p:nvPr>
        </p:nvSpPr>
        <p:spPr>
          <a:xfrm>
            <a:off x="160325" y="316525"/>
            <a:ext cx="12031800" cy="59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6. Hyperparameters tuning to find the best model configuration and improve the prediction on new data</a:t>
            </a:r>
            <a:endParaRPr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500"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Variables that change how the algorithm works</a:t>
            </a:r>
            <a:endParaRPr sz="2800"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Some algorithms needs hyperparameters tuning (set the number of decision trees, …) or learned from data (number of selected features, …)</a:t>
            </a:r>
            <a:endParaRPr sz="2800"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Use a range of parameters and Cross Validation to help parameters selections</a:t>
            </a:r>
            <a:endParaRPr sz="2800"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Choose the best set of parameters 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2800"/>
          </a:p>
        </p:txBody>
      </p:sp>
      <p:sp>
        <p:nvSpPr>
          <p:cNvPr id="547" name="Google Shape;547;g3aea9bcb710_0_21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b2627f4309_0_124"/>
          <p:cNvSpPr txBox="1"/>
          <p:nvPr>
            <p:ph type="title"/>
          </p:nvPr>
        </p:nvSpPr>
        <p:spPr>
          <a:xfrm>
            <a:off x="86746" y="2380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7. Performance evaluation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53" name="Google Shape;553;g3b2627f4309_0_12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4" name="Google Shape;554;g3b2627f4309_0_124"/>
          <p:cNvSpPr txBox="1"/>
          <p:nvPr/>
        </p:nvSpPr>
        <p:spPr>
          <a:xfrm>
            <a:off x="0" y="657338"/>
            <a:ext cx="11485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●"/>
            </a:pP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models output a probability/score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●"/>
            </a:pP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so, set a cutoff to transform score to labels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●"/>
            </a:pP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how well predicted labels match the actual outcome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b2627f4309_0_124"/>
          <p:cNvSpPr txBox="1"/>
          <p:nvPr/>
        </p:nvSpPr>
        <p:spPr>
          <a:xfrm>
            <a:off x="505727" y="4556783"/>
            <a:ext cx="1548900" cy="89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4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5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b2627f4309_0_124"/>
          <p:cNvSpPr txBox="1"/>
          <p:nvPr/>
        </p:nvSpPr>
        <p:spPr>
          <a:xfrm>
            <a:off x="2023700" y="4560900"/>
            <a:ext cx="1074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b2627f4309_0_124"/>
          <p:cNvSpPr txBox="1"/>
          <p:nvPr/>
        </p:nvSpPr>
        <p:spPr>
          <a:xfrm>
            <a:off x="6927625" y="3977025"/>
            <a:ext cx="188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cutoff=0.5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b2627f4309_0_124"/>
          <p:cNvSpPr txBox="1"/>
          <p:nvPr/>
        </p:nvSpPr>
        <p:spPr>
          <a:xfrm>
            <a:off x="8367488" y="4531127"/>
            <a:ext cx="9603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b2627f4309_0_124"/>
          <p:cNvSpPr txBox="1"/>
          <p:nvPr/>
        </p:nvSpPr>
        <p:spPr>
          <a:xfrm>
            <a:off x="2811800" y="4556906"/>
            <a:ext cx="5555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10% confidence that the input belongs to class YES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45% confidence that the input belongs to class YES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g3b2627f4309_0_124" title="Screenshot 2025-12-12 at 12.53.42 PM.png"/>
          <p:cNvPicPr preferRelativeResize="0"/>
          <p:nvPr/>
        </p:nvPicPr>
        <p:blipFill rotWithShape="1">
          <a:blip r:embed="rId3">
            <a:alphaModFix/>
          </a:blip>
          <a:srcRect b="82211" l="0" r="0" t="0"/>
          <a:stretch/>
        </p:blipFill>
        <p:spPr>
          <a:xfrm>
            <a:off x="362533" y="2315053"/>
            <a:ext cx="3751656" cy="398887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b2627f4309_0_124"/>
          <p:cNvSpPr txBox="1"/>
          <p:nvPr/>
        </p:nvSpPr>
        <p:spPr>
          <a:xfrm>
            <a:off x="4495206" y="2650482"/>
            <a:ext cx="33594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900" lIns="119900" spcFirstLastPara="1" rIns="119900" wrap="square" tIns="119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6"/>
              <a:buFont typeface="Arial"/>
              <a:buNone/>
            </a:pPr>
            <a:r>
              <a:rPr b="0" i="0" lang="en-US" sz="301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Labelled Test set</a:t>
            </a:r>
            <a:endParaRPr b="0" i="0" sz="301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g3b2627f4309_0_124" title="Screenshot 2026-01-06 at 3.30.47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826" y="2767937"/>
            <a:ext cx="3115613" cy="824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g3b2627f4309_0_124" title="Screenshot 2026-01-06 at 3.31.5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2716" y="4590497"/>
            <a:ext cx="714430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b2627f4309_0_124"/>
          <p:cNvSpPr txBox="1"/>
          <p:nvPr/>
        </p:nvSpPr>
        <p:spPr>
          <a:xfrm>
            <a:off x="448127" y="5828833"/>
            <a:ext cx="1548900" cy="89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4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5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b2627f4309_0_124"/>
          <p:cNvSpPr txBox="1"/>
          <p:nvPr/>
        </p:nvSpPr>
        <p:spPr>
          <a:xfrm>
            <a:off x="1873075" y="5832350"/>
            <a:ext cx="2800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0.1    0.9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0.45  0.55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b2627f4309_0_124"/>
          <p:cNvSpPr txBox="1"/>
          <p:nvPr/>
        </p:nvSpPr>
        <p:spPr>
          <a:xfrm>
            <a:off x="1773475" y="547305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   NO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b2627f4309_0_124"/>
          <p:cNvSpPr txBox="1"/>
          <p:nvPr/>
        </p:nvSpPr>
        <p:spPr>
          <a:xfrm>
            <a:off x="2136825" y="41057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b2627f4309_0_124"/>
          <p:cNvSpPr txBox="1"/>
          <p:nvPr/>
        </p:nvSpPr>
        <p:spPr>
          <a:xfrm>
            <a:off x="3531775" y="5828825"/>
            <a:ext cx="1241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9" name="Google Shape;569;g3b2627f4309_0_124" title="Screenshot 2026-01-06 at 3.31.5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191" y="5828822"/>
            <a:ext cx="714430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b2627f4309_0_124"/>
          <p:cNvSpPr txBox="1"/>
          <p:nvPr/>
        </p:nvSpPr>
        <p:spPr>
          <a:xfrm>
            <a:off x="4011150" y="547305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labels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b2627f4309_0_124"/>
          <p:cNvSpPr txBox="1"/>
          <p:nvPr/>
        </p:nvSpPr>
        <p:spPr>
          <a:xfrm>
            <a:off x="9062725" y="4170725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labels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2" name="Google Shape;572;g3b2627f4309_0_124" title="Screenshot 2026-01-06 at 3.31.5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92" y="2767935"/>
            <a:ext cx="714430" cy="824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0c63b7a7a_0_1081"/>
          <p:cNvSpPr txBox="1"/>
          <p:nvPr>
            <p:ph type="title"/>
          </p:nvPr>
        </p:nvSpPr>
        <p:spPr>
          <a:xfrm>
            <a:off x="86746" y="2380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Count predicted and actual labels and evaluate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78" name="Google Shape;578;g3b0c63b7a7a_0_108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9" name="Google Shape;579;g3b0c63b7a7a_0_1081" title="Screenshot 2025-12-17 at 4.10.20 PM.png"/>
          <p:cNvPicPr preferRelativeResize="0"/>
          <p:nvPr/>
        </p:nvPicPr>
        <p:blipFill rotWithShape="1">
          <a:blip r:embed="rId3">
            <a:alphaModFix/>
          </a:blip>
          <a:srcRect b="6950" l="5793" r="0" t="0"/>
          <a:stretch/>
        </p:blipFill>
        <p:spPr>
          <a:xfrm>
            <a:off x="5085900" y="2127575"/>
            <a:ext cx="3265125" cy="32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3b0c63b7a7a_0_1081"/>
          <p:cNvSpPr txBox="1"/>
          <p:nvPr/>
        </p:nvSpPr>
        <p:spPr>
          <a:xfrm>
            <a:off x="505727" y="4556783"/>
            <a:ext cx="1548900" cy="230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6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7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8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9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10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b0c63b7a7a_0_1081"/>
          <p:cNvSpPr txBox="1"/>
          <p:nvPr/>
        </p:nvSpPr>
        <p:spPr>
          <a:xfrm>
            <a:off x="3374313" y="4560900"/>
            <a:ext cx="9603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b0c63b7a7a_0_1081"/>
          <p:cNvSpPr txBox="1"/>
          <p:nvPr/>
        </p:nvSpPr>
        <p:spPr>
          <a:xfrm>
            <a:off x="11092550" y="3959750"/>
            <a:ext cx="693900" cy="57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3" name="Google Shape;583;g3b0c63b7a7a_0_1081"/>
          <p:cNvGrpSpPr/>
          <p:nvPr/>
        </p:nvGrpSpPr>
        <p:grpSpPr>
          <a:xfrm>
            <a:off x="8875900" y="2127575"/>
            <a:ext cx="3265125" cy="3225000"/>
            <a:chOff x="8875900" y="2127575"/>
            <a:chExt cx="3265125" cy="3225000"/>
          </a:xfrm>
        </p:grpSpPr>
        <p:pic>
          <p:nvPicPr>
            <p:cNvPr id="584" name="Google Shape;584;g3b0c63b7a7a_0_1081" title="Screenshot 2025-12-17 at 4.10.20 PM.png"/>
            <p:cNvPicPr preferRelativeResize="0"/>
            <p:nvPr/>
          </p:nvPicPr>
          <p:blipFill rotWithShape="1">
            <a:blip r:embed="rId3">
              <a:alphaModFix/>
            </a:blip>
            <a:srcRect b="6950" l="5793" r="0" t="0"/>
            <a:stretch/>
          </p:blipFill>
          <p:spPr>
            <a:xfrm>
              <a:off x="8875900" y="2127575"/>
              <a:ext cx="3265125" cy="322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g3b0c63b7a7a_0_1081"/>
            <p:cNvSpPr txBox="1"/>
            <p:nvPr/>
          </p:nvSpPr>
          <p:spPr>
            <a:xfrm>
              <a:off x="9742725" y="2612575"/>
              <a:ext cx="693900" cy="5715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b0c63b7a7a_0_1081"/>
            <p:cNvSpPr txBox="1"/>
            <p:nvPr/>
          </p:nvSpPr>
          <p:spPr>
            <a:xfrm>
              <a:off x="11035600" y="2612575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3b0c63b7a7a_0_1081"/>
            <p:cNvSpPr txBox="1"/>
            <p:nvPr/>
          </p:nvSpPr>
          <p:spPr>
            <a:xfrm>
              <a:off x="9664000" y="3959750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g3b0c63b7a7a_0_1081"/>
          <p:cNvSpPr txBox="1"/>
          <p:nvPr/>
        </p:nvSpPr>
        <p:spPr>
          <a:xfrm>
            <a:off x="11035600" y="3959750"/>
            <a:ext cx="693900" cy="57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b0c63b7a7a_0_1081"/>
          <p:cNvSpPr txBox="1"/>
          <p:nvPr/>
        </p:nvSpPr>
        <p:spPr>
          <a:xfrm>
            <a:off x="5778362" y="3823250"/>
            <a:ext cx="836400" cy="7080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b0c63b7a7a_0_1081"/>
          <p:cNvSpPr txBox="1"/>
          <p:nvPr/>
        </p:nvSpPr>
        <p:spPr>
          <a:xfrm>
            <a:off x="7116862" y="2557500"/>
            <a:ext cx="836400" cy="7080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b0c63b7a7a_0_1081"/>
          <p:cNvSpPr txBox="1"/>
          <p:nvPr/>
        </p:nvSpPr>
        <p:spPr>
          <a:xfrm>
            <a:off x="5870287" y="2557500"/>
            <a:ext cx="836400" cy="708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b0c63b7a7a_0_1081"/>
          <p:cNvSpPr txBox="1"/>
          <p:nvPr/>
        </p:nvSpPr>
        <p:spPr>
          <a:xfrm>
            <a:off x="7116862" y="3823250"/>
            <a:ext cx="836400" cy="708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b0c63b7a7a_0_1081"/>
          <p:cNvSpPr txBox="1"/>
          <p:nvPr/>
        </p:nvSpPr>
        <p:spPr>
          <a:xfrm>
            <a:off x="5702325" y="5210226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b0c63b7a7a_0_1081"/>
          <p:cNvSpPr txBox="1"/>
          <p:nvPr/>
        </p:nvSpPr>
        <p:spPr>
          <a:xfrm rot="-5400000">
            <a:off x="3554788" y="3246600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b0c63b7a7a_0_1081"/>
          <p:cNvSpPr txBox="1"/>
          <p:nvPr/>
        </p:nvSpPr>
        <p:spPr>
          <a:xfrm>
            <a:off x="9419525" y="5297688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b0c63b7a7a_0_1081"/>
          <p:cNvSpPr txBox="1"/>
          <p:nvPr/>
        </p:nvSpPr>
        <p:spPr>
          <a:xfrm rot="-5400000">
            <a:off x="7364013" y="3345075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b0c63b7a7a_0_1081"/>
          <p:cNvSpPr txBox="1"/>
          <p:nvPr/>
        </p:nvSpPr>
        <p:spPr>
          <a:xfrm>
            <a:off x="2023700" y="4560900"/>
            <a:ext cx="10746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0.55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b0c63b7a7a_0_1081"/>
          <p:cNvSpPr txBox="1"/>
          <p:nvPr/>
        </p:nvSpPr>
        <p:spPr>
          <a:xfrm>
            <a:off x="3151150" y="4211625"/>
            <a:ext cx="188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cutoff=0.5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g3b0c63b7a7a_0_1081"/>
          <p:cNvGrpSpPr/>
          <p:nvPr/>
        </p:nvGrpSpPr>
        <p:grpSpPr>
          <a:xfrm>
            <a:off x="154525" y="1101675"/>
            <a:ext cx="5095275" cy="3045375"/>
            <a:chOff x="234100" y="1225625"/>
            <a:chExt cx="5095275" cy="3045375"/>
          </a:xfrm>
        </p:grpSpPr>
        <p:sp>
          <p:nvSpPr>
            <p:cNvPr id="600" name="Google Shape;600;g3b0c63b7a7a_0_1081"/>
            <p:cNvSpPr txBox="1"/>
            <p:nvPr/>
          </p:nvSpPr>
          <p:spPr>
            <a:xfrm>
              <a:off x="234100" y="1777400"/>
              <a:ext cx="1649400" cy="24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6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7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8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9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10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3b0c63b7a7a_0_1081"/>
            <p:cNvSpPr txBox="1"/>
            <p:nvPr/>
          </p:nvSpPr>
          <p:spPr>
            <a:xfrm>
              <a:off x="22033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 c2 c3 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g3b0c63b7a7a_0_1081"/>
          <p:cNvSpPr txBox="1"/>
          <p:nvPr/>
        </p:nvSpPr>
        <p:spPr>
          <a:xfrm>
            <a:off x="3618057" y="1131219"/>
            <a:ext cx="852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3" name="Google Shape;603;g3b0c63b7a7a_0_1081"/>
          <p:cNvGrpSpPr/>
          <p:nvPr/>
        </p:nvGrpSpPr>
        <p:grpSpPr>
          <a:xfrm>
            <a:off x="2090501" y="1643899"/>
            <a:ext cx="1308800" cy="2065376"/>
            <a:chOff x="2090501" y="1643900"/>
            <a:chExt cx="1308800" cy="2065376"/>
          </a:xfrm>
        </p:grpSpPr>
        <p:pic>
          <p:nvPicPr>
            <p:cNvPr id="604" name="Google Shape;604;g3b0c63b7a7a_0_1081" title="710JbHq4++L._SL1360_.jpg"/>
            <p:cNvPicPr preferRelativeResize="0"/>
            <p:nvPr/>
          </p:nvPicPr>
          <p:blipFill rotWithShape="1">
            <a:blip r:embed="rId4">
              <a:alphaModFix/>
            </a:blip>
            <a:srcRect b="80873" l="43082" r="21678" t="9015"/>
            <a:stretch/>
          </p:blipFill>
          <p:spPr>
            <a:xfrm rot="5400000">
              <a:off x="2571901" y="2881876"/>
              <a:ext cx="1270924" cy="383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05" name="Google Shape;605;g3b0c63b7a7a_0_1081"/>
            <p:cNvGrpSpPr/>
            <p:nvPr/>
          </p:nvGrpSpPr>
          <p:grpSpPr>
            <a:xfrm>
              <a:off x="2090501" y="1643899"/>
              <a:ext cx="1304931" cy="2028602"/>
              <a:chOff x="2090501" y="1643900"/>
              <a:chExt cx="1304931" cy="2028602"/>
            </a:xfrm>
          </p:grpSpPr>
          <p:pic>
            <p:nvPicPr>
              <p:cNvPr id="606" name="Google Shape;606;g3b0c63b7a7a_0_1081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80873" l="7281" r="33279" t="6139"/>
              <a:stretch/>
            </p:blipFill>
            <p:spPr>
              <a:xfrm rot="5400000">
                <a:off x="1316025" y="2418376"/>
                <a:ext cx="2011650" cy="4626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7" name="Google Shape;607;g3b0c63b7a7a_0_1081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68483" l="8859" r="30949" t="18327"/>
              <a:stretch/>
            </p:blipFill>
            <p:spPr>
              <a:xfrm rot="5400000">
                <a:off x="1765124" y="2424250"/>
                <a:ext cx="2028602" cy="467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8" name="Google Shape;608;g3b0c63b7a7a_0_1081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80872" l="43510" r="21685" t="8390"/>
              <a:stretch/>
            </p:blipFill>
            <p:spPr>
              <a:xfrm rot="5400000">
                <a:off x="2628256" y="2064639"/>
                <a:ext cx="1158226" cy="376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09" name="Google Shape;609;g3b0c63b7a7a_0_1081"/>
          <p:cNvSpPr txBox="1"/>
          <p:nvPr/>
        </p:nvSpPr>
        <p:spPr>
          <a:xfrm>
            <a:off x="2136825" y="41057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b0c63b7a7a_0_1081"/>
          <p:cNvSpPr txBox="1"/>
          <p:nvPr/>
        </p:nvSpPr>
        <p:spPr>
          <a:xfrm>
            <a:off x="5520625" y="5920175"/>
            <a:ext cx="662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 True; F: False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P: Positive; N:Negative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aea9bcb710_0_241"/>
          <p:cNvSpPr txBox="1"/>
          <p:nvPr>
            <p:ph type="title"/>
          </p:nvPr>
        </p:nvSpPr>
        <p:spPr>
          <a:xfrm>
            <a:off x="142721" y="264125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Confusion matrix and metrics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16" name="Google Shape;616;g3aea9bcb710_0_24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7" name="Google Shape;617;g3aea9bcb710_0_241" title="99666confusion matri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0450" y="1141823"/>
            <a:ext cx="6447051" cy="385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g3aea9bcb710_0_241"/>
          <p:cNvSpPr txBox="1"/>
          <p:nvPr/>
        </p:nvSpPr>
        <p:spPr>
          <a:xfrm>
            <a:off x="5143500" y="4965225"/>
            <a:ext cx="1619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outcome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correctly predicted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g3aea9bcb710_0_241"/>
          <p:cNvGrpSpPr/>
          <p:nvPr/>
        </p:nvGrpSpPr>
        <p:grpSpPr>
          <a:xfrm>
            <a:off x="598750" y="1230400"/>
            <a:ext cx="3265125" cy="3225000"/>
            <a:chOff x="8875900" y="2127575"/>
            <a:chExt cx="3265125" cy="3225000"/>
          </a:xfrm>
        </p:grpSpPr>
        <p:pic>
          <p:nvPicPr>
            <p:cNvPr id="620" name="Google Shape;620;g3aea9bcb710_0_241" title="Screenshot 2025-12-17 at 4.10.20 PM.png"/>
            <p:cNvPicPr preferRelativeResize="0"/>
            <p:nvPr/>
          </p:nvPicPr>
          <p:blipFill rotWithShape="1">
            <a:blip r:embed="rId4">
              <a:alphaModFix/>
            </a:blip>
            <a:srcRect b="6950" l="5793" r="0" t="0"/>
            <a:stretch/>
          </p:blipFill>
          <p:spPr>
            <a:xfrm>
              <a:off x="8875900" y="2127575"/>
              <a:ext cx="3265125" cy="322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g3aea9bcb710_0_241"/>
            <p:cNvSpPr txBox="1"/>
            <p:nvPr/>
          </p:nvSpPr>
          <p:spPr>
            <a:xfrm>
              <a:off x="9742725" y="2612575"/>
              <a:ext cx="693900" cy="5715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aea9bcb710_0_241"/>
            <p:cNvSpPr txBox="1"/>
            <p:nvPr/>
          </p:nvSpPr>
          <p:spPr>
            <a:xfrm>
              <a:off x="11035600" y="2612575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aea9bcb710_0_241"/>
            <p:cNvSpPr txBox="1"/>
            <p:nvPr/>
          </p:nvSpPr>
          <p:spPr>
            <a:xfrm>
              <a:off x="9664000" y="3959750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g3aea9bcb710_0_241"/>
          <p:cNvSpPr txBox="1"/>
          <p:nvPr/>
        </p:nvSpPr>
        <p:spPr>
          <a:xfrm>
            <a:off x="2758450" y="3062575"/>
            <a:ext cx="693900" cy="57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aea9bcb710_0_241"/>
          <p:cNvSpPr txBox="1"/>
          <p:nvPr/>
        </p:nvSpPr>
        <p:spPr>
          <a:xfrm>
            <a:off x="1142375" y="4400513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aea9bcb710_0_241"/>
          <p:cNvSpPr txBox="1"/>
          <p:nvPr/>
        </p:nvSpPr>
        <p:spPr>
          <a:xfrm rot="-5400000">
            <a:off x="-913137" y="2447900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aea9bcb710_0_241"/>
          <p:cNvSpPr txBox="1"/>
          <p:nvPr/>
        </p:nvSpPr>
        <p:spPr>
          <a:xfrm>
            <a:off x="10294600" y="1566250"/>
            <a:ext cx="17184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positive predictions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are actually correct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aea9bcb710_0_241"/>
          <p:cNvSpPr txBox="1"/>
          <p:nvPr/>
        </p:nvSpPr>
        <p:spPr>
          <a:xfrm>
            <a:off x="8515375" y="4862475"/>
            <a:ext cx="1718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correctly predicted overall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 yes and no)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aea9bcb710_0_241"/>
          <p:cNvSpPr txBox="1"/>
          <p:nvPr/>
        </p:nvSpPr>
        <p:spPr>
          <a:xfrm>
            <a:off x="6829438" y="4947181"/>
            <a:ext cx="1619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negative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correctly predicted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aea9bcb710_0_241"/>
          <p:cNvSpPr txBox="1"/>
          <p:nvPr/>
        </p:nvSpPr>
        <p:spPr>
          <a:xfrm>
            <a:off x="10294600" y="2843925"/>
            <a:ext cx="17184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negative predictions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are actually correct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aea9bcb710_0_241"/>
          <p:cNvSpPr txBox="1"/>
          <p:nvPr/>
        </p:nvSpPr>
        <p:spPr>
          <a:xfrm>
            <a:off x="5352582" y="6310569"/>
            <a:ext cx="12318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TPR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2627f4309_0_0"/>
          <p:cNvSpPr txBox="1"/>
          <p:nvPr>
            <p:ph type="title"/>
          </p:nvPr>
        </p:nvSpPr>
        <p:spPr>
          <a:xfrm>
            <a:off x="142721" y="264125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Metrics interpretation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37" name="Google Shape;637;g3b2627f4309_0_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8" name="Google Shape;638;g3b2627f4309_0_0"/>
          <p:cNvSpPr txBox="1"/>
          <p:nvPr/>
        </p:nvSpPr>
        <p:spPr>
          <a:xfrm>
            <a:off x="142725" y="3723750"/>
            <a:ext cx="11374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precision - when the model predicts positive is usually right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recall - only few positive outcome are missed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specificity - very few false positive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accuracy - most predictions are correct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g3b2627f4309_0_0" title="99666confusion matri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5400" y="264125"/>
            <a:ext cx="5199024" cy="31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b0c63b7a7a_0_733"/>
          <p:cNvSpPr txBox="1"/>
          <p:nvPr>
            <p:ph type="title"/>
          </p:nvPr>
        </p:nvSpPr>
        <p:spPr>
          <a:xfrm>
            <a:off x="152396" y="127275"/>
            <a:ext cx="11005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ROC (Receiver Operating Characteristic) and AUC (Area Under the ROC Curve)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45" name="Google Shape;645;g3b0c63b7a7a_0_73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6" name="Google Shape;646;g3b0c63b7a7a_0_733" title="Screenshot 2025-12-23 at 12.43.0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49650"/>
            <a:ext cx="5869249" cy="4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3b0c63b7a7a_0_733"/>
          <p:cNvSpPr txBox="1"/>
          <p:nvPr/>
        </p:nvSpPr>
        <p:spPr>
          <a:xfrm>
            <a:off x="5732750" y="4155100"/>
            <a:ext cx="635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AUC: good &gt;0.5 - 1 perfect - below 0.5 poor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well the model classify / separate positive and negative classes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b0c63b7a7a_0_733"/>
          <p:cNvSpPr txBox="1"/>
          <p:nvPr/>
        </p:nvSpPr>
        <p:spPr>
          <a:xfrm>
            <a:off x="5626625" y="2250850"/>
            <a:ext cx="559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  - performance curve of TPR vs FPR across thresholds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b0c63b7a7a_0_733"/>
          <p:cNvSpPr txBox="1"/>
          <p:nvPr/>
        </p:nvSpPr>
        <p:spPr>
          <a:xfrm>
            <a:off x="3569950" y="5448100"/>
            <a:ext cx="1841400" cy="14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negatives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incorrectly predicted as positive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b0c63b7a7a_0_733"/>
          <p:cNvSpPr txBox="1"/>
          <p:nvPr/>
        </p:nvSpPr>
        <p:spPr>
          <a:xfrm>
            <a:off x="18789" y="2863476"/>
            <a:ext cx="19707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positives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correctly predicted as positive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g3b0c63b7a7a_0_733" title="Screenshot 2026-01-12 at 9.48.37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1959" y="6259488"/>
            <a:ext cx="474452" cy="47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b0c63b7a7a_0_733" title="Screenshot 2026-01-12 at 9.48.37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75" y="4492700"/>
            <a:ext cx="552750" cy="55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0c63b7a7a_0_738"/>
          <p:cNvSpPr txBox="1"/>
          <p:nvPr>
            <p:ph type="title"/>
          </p:nvPr>
        </p:nvSpPr>
        <p:spPr>
          <a:xfrm>
            <a:off x="593096" y="1203275"/>
            <a:ext cx="110058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Break</a:t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See you in 5 minutes</a:t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900">
                <a:solidFill>
                  <a:schemeClr val="dk2"/>
                </a:solidFill>
              </a:rPr>
              <a:t>Please fill the survey</a:t>
            </a:r>
            <a:endParaRPr b="1" sz="29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900">
                <a:solidFill>
                  <a:schemeClr val="dk2"/>
                </a:solidFill>
              </a:rPr>
              <a:t>https://www.surveymonkey.com/r/bioinfo-training</a:t>
            </a:r>
            <a:endParaRPr sz="29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900">
              <a:solidFill>
                <a:srgbClr val="06D0E2"/>
              </a:solidFill>
            </a:endParaRPr>
          </a:p>
        </p:txBody>
      </p:sp>
      <p:sp>
        <p:nvSpPr>
          <p:cNvPr id="658" name="Google Shape;658;g3b0c63b7a7a_0_73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ea9bcb710_0_83"/>
          <p:cNvSpPr txBox="1"/>
          <p:nvPr>
            <p:ph type="title"/>
          </p:nvPr>
        </p:nvSpPr>
        <p:spPr>
          <a:xfrm>
            <a:off x="142721" y="425775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ML algorithms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64" name="Google Shape;664;g3aea9bcb710_0_8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0c63b7a7a_0_717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0" name="Google Shape;670;g3b0c63b7a7a_0_717"/>
          <p:cNvSpPr txBox="1"/>
          <p:nvPr>
            <p:ph type="title"/>
          </p:nvPr>
        </p:nvSpPr>
        <p:spPr>
          <a:xfrm>
            <a:off x="129600" y="172175"/>
            <a:ext cx="11932800" cy="21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150">
            <a:spAutoFit/>
          </a:bodyPr>
          <a:lstStyle/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Poll 4</a:t>
            </a:r>
            <a:r>
              <a:rPr lang="en-US" sz="3600"/>
              <a:t>. I have </a:t>
            </a:r>
            <a:r>
              <a:rPr i="1" lang="en-US" sz="3600"/>
              <a:t>behavioral measures</a:t>
            </a:r>
            <a:r>
              <a:rPr lang="en-US" sz="3600"/>
              <a:t> on a set of mice and I want to find subgroups of mice with similar behavior.</a:t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Which learning method will you </a:t>
            </a:r>
            <a:r>
              <a:rPr lang="en-US" sz="3200"/>
              <a:t>apply</a:t>
            </a:r>
            <a:r>
              <a:rPr lang="en-US" sz="3000"/>
              <a:t>?</a:t>
            </a:r>
            <a:endParaRPr sz="3600"/>
          </a:p>
        </p:txBody>
      </p:sp>
      <p:sp>
        <p:nvSpPr>
          <p:cNvPr id="671" name="Google Shape;671;g3b0c63b7a7a_0_717"/>
          <p:cNvSpPr txBox="1"/>
          <p:nvPr/>
        </p:nvSpPr>
        <p:spPr>
          <a:xfrm>
            <a:off x="368647" y="3031025"/>
            <a:ext cx="8359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b0c63b7a7a_0_98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7" name="Google Shape;677;g3b0c63b7a7a_0_982"/>
          <p:cNvSpPr txBox="1"/>
          <p:nvPr>
            <p:ph type="title"/>
          </p:nvPr>
        </p:nvSpPr>
        <p:spPr>
          <a:xfrm>
            <a:off x="155375" y="201825"/>
            <a:ext cx="11927700" cy="3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150">
            <a:spAutoFit/>
          </a:bodyPr>
          <a:lstStyle/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Poll 5</a:t>
            </a:r>
            <a:r>
              <a:rPr lang="en-US" sz="3600"/>
              <a:t>. I have a cohort of individuals with </a:t>
            </a:r>
            <a:r>
              <a:rPr i="1" lang="en-US" sz="3600"/>
              <a:t>variants information</a:t>
            </a:r>
            <a:r>
              <a:rPr lang="en-US" sz="3600"/>
              <a:t> and </a:t>
            </a:r>
            <a:r>
              <a:rPr i="1" lang="en-US" sz="3600"/>
              <a:t>disease status</a:t>
            </a:r>
            <a:r>
              <a:rPr lang="en-US" sz="3600"/>
              <a:t>. </a:t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3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300"/>
              <a:t>I want to generate a machine learning model to predict disease status.</a:t>
            </a:r>
            <a:endParaRPr sz="33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3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3000"/>
              <a:t>Which learning method will you </a:t>
            </a:r>
            <a:r>
              <a:rPr lang="en-US" sz="3200"/>
              <a:t>apply</a:t>
            </a:r>
            <a:r>
              <a:rPr lang="en-US" sz="3000"/>
              <a:t>?</a:t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300"/>
          </a:p>
        </p:txBody>
      </p:sp>
      <p:sp>
        <p:nvSpPr>
          <p:cNvPr id="678" name="Google Shape;678;g3b0c63b7a7a_0_982"/>
          <p:cNvSpPr txBox="1"/>
          <p:nvPr/>
        </p:nvSpPr>
        <p:spPr>
          <a:xfrm>
            <a:off x="428047" y="4572000"/>
            <a:ext cx="84636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0c63b7a7a_0_511"/>
          <p:cNvSpPr txBox="1"/>
          <p:nvPr>
            <p:ph type="title"/>
          </p:nvPr>
        </p:nvSpPr>
        <p:spPr>
          <a:xfrm>
            <a:off x="191950" y="308350"/>
            <a:ext cx="11793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Unsupervised ML: K-means clustering steps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84" name="Google Shape;684;g3b0c63b7a7a_0_511"/>
          <p:cNvSpPr txBox="1"/>
          <p:nvPr>
            <p:ph idx="1" type="body"/>
          </p:nvPr>
        </p:nvSpPr>
        <p:spPr>
          <a:xfrm>
            <a:off x="67900" y="2070700"/>
            <a:ext cx="11406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Decide </a:t>
            </a:r>
            <a:r>
              <a:rPr b="1" lang="en-US" sz="2400"/>
              <a:t>k </a:t>
            </a:r>
            <a:r>
              <a:rPr lang="en-US" sz="2400"/>
              <a:t>number of clusters expected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Start: Random centers (centroids)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Take the sum of the squared distance between data points and all centers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Assign a cluster membership to each data point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Compute </a:t>
            </a:r>
            <a:r>
              <a:rPr i="1" lang="en-US" sz="2400"/>
              <a:t>new centers</a:t>
            </a:r>
            <a:endParaRPr i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End: if the centers donʼt change OR meet iteration threshold</a:t>
            </a:r>
            <a:endParaRPr sz="2400"/>
          </a:p>
        </p:txBody>
      </p:sp>
      <p:grpSp>
        <p:nvGrpSpPr>
          <p:cNvPr id="685" name="Google Shape;685;g3b0c63b7a7a_0_511"/>
          <p:cNvGrpSpPr/>
          <p:nvPr/>
        </p:nvGrpSpPr>
        <p:grpSpPr>
          <a:xfrm>
            <a:off x="1371600" y="5343183"/>
            <a:ext cx="302260" cy="302260"/>
            <a:chOff x="1371600" y="5001767"/>
            <a:chExt cx="302260" cy="302260"/>
          </a:xfrm>
        </p:grpSpPr>
        <p:sp>
          <p:nvSpPr>
            <p:cNvPr id="686" name="Google Shape;686;g3b0c63b7a7a_0_511"/>
            <p:cNvSpPr/>
            <p:nvPr/>
          </p:nvSpPr>
          <p:spPr>
            <a:xfrm>
              <a:off x="1371600" y="500176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5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5" y="301751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1" y="150875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b0c63b7a7a_0_511"/>
            <p:cNvSpPr/>
            <p:nvPr/>
          </p:nvSpPr>
          <p:spPr>
            <a:xfrm>
              <a:off x="1371600" y="500176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g3b0c63b7a7a_0_511"/>
          <p:cNvGrpSpPr/>
          <p:nvPr/>
        </p:nvGrpSpPr>
        <p:grpSpPr>
          <a:xfrm>
            <a:off x="1097280" y="5885061"/>
            <a:ext cx="302259" cy="302260"/>
            <a:chOff x="1097280" y="5543645"/>
            <a:chExt cx="302259" cy="302260"/>
          </a:xfrm>
        </p:grpSpPr>
        <p:sp>
          <p:nvSpPr>
            <p:cNvPr id="689" name="Google Shape;689;g3b0c63b7a7a_0_511"/>
            <p:cNvSpPr/>
            <p:nvPr/>
          </p:nvSpPr>
          <p:spPr>
            <a:xfrm>
              <a:off x="1097280" y="5543645"/>
              <a:ext cx="302259" cy="302260"/>
            </a:xfrm>
            <a:custGeom>
              <a:rect b="b" l="l" r="r" t="t"/>
              <a:pathLst>
                <a:path extrusionOk="0" h="302260" w="302259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0" y="272641"/>
                  </a:lnTo>
                  <a:lnTo>
                    <a:pt x="103187" y="294059"/>
                  </a:lnTo>
                  <a:lnTo>
                    <a:pt x="150875" y="301751"/>
                  </a:lnTo>
                  <a:lnTo>
                    <a:pt x="198564" y="294059"/>
                  </a:lnTo>
                  <a:lnTo>
                    <a:pt x="239981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1" y="150875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b0c63b7a7a_0_511"/>
            <p:cNvSpPr/>
            <p:nvPr/>
          </p:nvSpPr>
          <p:spPr>
            <a:xfrm>
              <a:off x="1097280" y="5543645"/>
              <a:ext cx="302259" cy="302260"/>
            </a:xfrm>
            <a:custGeom>
              <a:rect b="b" l="l" r="r" t="t"/>
              <a:pathLst>
                <a:path extrusionOk="0" h="302260" w="302259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1" name="Google Shape;691;g3b0c63b7a7a_0_511"/>
          <p:cNvGrpSpPr/>
          <p:nvPr/>
        </p:nvGrpSpPr>
        <p:grpSpPr>
          <a:xfrm>
            <a:off x="3152339" y="5592453"/>
            <a:ext cx="302260" cy="302260"/>
            <a:chOff x="3152339" y="5251037"/>
            <a:chExt cx="302260" cy="302260"/>
          </a:xfrm>
        </p:grpSpPr>
        <p:sp>
          <p:nvSpPr>
            <p:cNvPr id="692" name="Google Shape;692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6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6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6" y="301752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2" y="150876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6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4" name="Google Shape;694;g3b0c63b7a7a_0_511"/>
          <p:cNvGrpSpPr/>
          <p:nvPr/>
        </p:nvGrpSpPr>
        <p:grpSpPr>
          <a:xfrm>
            <a:off x="2749295" y="5290701"/>
            <a:ext cx="302260" cy="302260"/>
            <a:chOff x="2749295" y="4949285"/>
            <a:chExt cx="302260" cy="302260"/>
          </a:xfrm>
        </p:grpSpPr>
        <p:sp>
          <p:nvSpPr>
            <p:cNvPr id="695" name="Google Shape;695;g3b0c63b7a7a_0_511"/>
            <p:cNvSpPr/>
            <p:nvPr/>
          </p:nvSpPr>
          <p:spPr>
            <a:xfrm>
              <a:off x="2749295" y="4949285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6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6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6" y="301752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2" y="150876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6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b0c63b7a7a_0_511"/>
            <p:cNvSpPr/>
            <p:nvPr/>
          </p:nvSpPr>
          <p:spPr>
            <a:xfrm>
              <a:off x="2749295" y="4949285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" name="Google Shape;697;g3b0c63b7a7a_0_511"/>
          <p:cNvGrpSpPr/>
          <p:nvPr/>
        </p:nvGrpSpPr>
        <p:grpSpPr>
          <a:xfrm>
            <a:off x="2388053" y="5782286"/>
            <a:ext cx="302260" cy="302260"/>
            <a:chOff x="2388053" y="5440870"/>
            <a:chExt cx="302260" cy="302260"/>
          </a:xfrm>
        </p:grpSpPr>
        <p:sp>
          <p:nvSpPr>
            <p:cNvPr id="698" name="Google Shape;698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6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0" y="272641"/>
                  </a:lnTo>
                  <a:lnTo>
                    <a:pt x="103187" y="294059"/>
                  </a:lnTo>
                  <a:lnTo>
                    <a:pt x="150875" y="301751"/>
                  </a:lnTo>
                  <a:lnTo>
                    <a:pt x="198564" y="294059"/>
                  </a:lnTo>
                  <a:lnTo>
                    <a:pt x="239981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5"/>
                  </a:lnTo>
                  <a:lnTo>
                    <a:pt x="294060" y="103186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0" name="Google Shape;700;g3b0c63b7a7a_0_51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1" name="Google Shape;701;g3b0c63b7a7a_0_511"/>
          <p:cNvSpPr/>
          <p:nvPr/>
        </p:nvSpPr>
        <p:spPr>
          <a:xfrm>
            <a:off x="3125033" y="5023009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ED7D31"/>
          </a:solidFill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b0c63b7a7a_0_511"/>
          <p:cNvSpPr/>
          <p:nvPr/>
        </p:nvSpPr>
        <p:spPr>
          <a:xfrm>
            <a:off x="1399546" y="5633784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0563C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" name="Google Shape;703;g3b0c63b7a7a_0_511"/>
          <p:cNvGrpSpPr/>
          <p:nvPr/>
        </p:nvGrpSpPr>
        <p:grpSpPr>
          <a:xfrm>
            <a:off x="3428989" y="5123228"/>
            <a:ext cx="302260" cy="302260"/>
            <a:chOff x="3152339" y="5251037"/>
            <a:chExt cx="302260" cy="302260"/>
          </a:xfrm>
        </p:grpSpPr>
        <p:sp>
          <p:nvSpPr>
            <p:cNvPr id="704" name="Google Shape;704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6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6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6" y="301752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2" y="150876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6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6" name="Google Shape;706;g3b0c63b7a7a_0_511"/>
          <p:cNvSpPr/>
          <p:nvPr/>
        </p:nvSpPr>
        <p:spPr>
          <a:xfrm>
            <a:off x="8270876" y="5448555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b0c63b7a7a_0_511"/>
          <p:cNvSpPr/>
          <p:nvPr/>
        </p:nvSpPr>
        <p:spPr>
          <a:xfrm>
            <a:off x="8270876" y="5448555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b0c63b7a7a_0_511"/>
          <p:cNvSpPr/>
          <p:nvPr/>
        </p:nvSpPr>
        <p:spPr>
          <a:xfrm>
            <a:off x="7996556" y="5990431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5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5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b0c63b7a7a_0_511"/>
          <p:cNvSpPr/>
          <p:nvPr/>
        </p:nvSpPr>
        <p:spPr>
          <a:xfrm>
            <a:off x="7996556" y="5990431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b0c63b7a7a_0_511"/>
          <p:cNvSpPr/>
          <p:nvPr/>
        </p:nvSpPr>
        <p:spPr>
          <a:xfrm>
            <a:off x="8557388" y="6106923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b0c63b7a7a_0_511"/>
          <p:cNvSpPr/>
          <p:nvPr/>
        </p:nvSpPr>
        <p:spPr>
          <a:xfrm>
            <a:off x="8557388" y="6106923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b0c63b7a7a_0_511"/>
          <p:cNvSpPr/>
          <p:nvPr/>
        </p:nvSpPr>
        <p:spPr>
          <a:xfrm>
            <a:off x="10051616" y="5697824"/>
            <a:ext cx="302259" cy="302260"/>
          </a:xfrm>
          <a:custGeom>
            <a:rect b="b" l="l" r="r" t="t"/>
            <a:pathLst>
              <a:path extrusionOk="0" h="302260" w="302259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0"/>
                </a:lnTo>
                <a:lnTo>
                  <a:pt x="61770" y="272641"/>
                </a:lnTo>
                <a:lnTo>
                  <a:pt x="103187" y="294059"/>
                </a:lnTo>
                <a:lnTo>
                  <a:pt x="150875" y="301751"/>
                </a:lnTo>
                <a:lnTo>
                  <a:pt x="198564" y="294059"/>
                </a:lnTo>
                <a:lnTo>
                  <a:pt x="239981" y="272641"/>
                </a:lnTo>
                <a:lnTo>
                  <a:pt x="272641" y="239980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b0c63b7a7a_0_511"/>
          <p:cNvSpPr/>
          <p:nvPr/>
        </p:nvSpPr>
        <p:spPr>
          <a:xfrm>
            <a:off x="10051616" y="5697824"/>
            <a:ext cx="302259" cy="302260"/>
          </a:xfrm>
          <a:custGeom>
            <a:rect b="b" l="l" r="r" t="t"/>
            <a:pathLst>
              <a:path extrusionOk="0" h="302260" w="302259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b0c63b7a7a_0_511"/>
          <p:cNvSpPr/>
          <p:nvPr/>
        </p:nvSpPr>
        <p:spPr>
          <a:xfrm>
            <a:off x="9648572" y="5396072"/>
            <a:ext cx="302259" cy="302260"/>
          </a:xfrm>
          <a:custGeom>
            <a:rect b="b" l="l" r="r" t="t"/>
            <a:pathLst>
              <a:path extrusionOk="0" h="302260" w="302259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5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5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b0c63b7a7a_0_511"/>
          <p:cNvSpPr/>
          <p:nvPr/>
        </p:nvSpPr>
        <p:spPr>
          <a:xfrm>
            <a:off x="9648572" y="5396072"/>
            <a:ext cx="302259" cy="302260"/>
          </a:xfrm>
          <a:custGeom>
            <a:rect b="b" l="l" r="r" t="t"/>
            <a:pathLst>
              <a:path extrusionOk="0" h="302260" w="302259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b0c63b7a7a_0_511"/>
          <p:cNvSpPr/>
          <p:nvPr/>
        </p:nvSpPr>
        <p:spPr>
          <a:xfrm>
            <a:off x="10202492" y="5343188"/>
            <a:ext cx="302259" cy="302260"/>
          </a:xfrm>
          <a:custGeom>
            <a:rect b="b" l="l" r="r" t="t"/>
            <a:pathLst>
              <a:path extrusionOk="0" h="302260" w="302259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b0c63b7a7a_0_511"/>
          <p:cNvSpPr/>
          <p:nvPr/>
        </p:nvSpPr>
        <p:spPr>
          <a:xfrm>
            <a:off x="10202492" y="5343188"/>
            <a:ext cx="302259" cy="302260"/>
          </a:xfrm>
          <a:custGeom>
            <a:rect b="b" l="l" r="r" t="t"/>
            <a:pathLst>
              <a:path extrusionOk="0" h="302260" w="302259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b0c63b7a7a_0_511"/>
          <p:cNvSpPr/>
          <p:nvPr/>
        </p:nvSpPr>
        <p:spPr>
          <a:xfrm>
            <a:off x="9235259" y="5873750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5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1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5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g3b0c63b7a7a_0_511"/>
          <p:cNvSpPr/>
          <p:nvPr/>
        </p:nvSpPr>
        <p:spPr>
          <a:xfrm>
            <a:off x="9235259" y="5873750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b0c63b7a7a_0_511"/>
          <p:cNvSpPr/>
          <p:nvPr/>
        </p:nvSpPr>
        <p:spPr>
          <a:xfrm>
            <a:off x="9845619" y="5355109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ED7D31"/>
          </a:solidFill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b0c63b7a7a_0_511"/>
          <p:cNvSpPr/>
          <p:nvPr/>
        </p:nvSpPr>
        <p:spPr>
          <a:xfrm>
            <a:off x="8588594" y="5633784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0563C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g3b0c63b7a7a_0_511"/>
          <p:cNvSpPr/>
          <p:nvPr/>
        </p:nvSpPr>
        <p:spPr>
          <a:xfrm>
            <a:off x="7889978" y="5166158"/>
            <a:ext cx="1652100" cy="1534500"/>
          </a:xfrm>
          <a:prstGeom prst="ellipse">
            <a:avLst/>
          </a:prstGeom>
          <a:noFill/>
          <a:ln cap="flat" cmpd="sng" w="38100">
            <a:solidFill>
              <a:srgbClr val="0563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b0c63b7a7a_0_511"/>
          <p:cNvSpPr/>
          <p:nvPr/>
        </p:nvSpPr>
        <p:spPr>
          <a:xfrm>
            <a:off x="9329649" y="4825553"/>
            <a:ext cx="1547100" cy="1443300"/>
          </a:xfrm>
          <a:prstGeom prst="ellipse">
            <a:avLst/>
          </a:prstGeom>
          <a:noFill/>
          <a:ln cap="flat" cmpd="sng" w="381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b0c63b7a7a_0_511"/>
          <p:cNvGrpSpPr/>
          <p:nvPr/>
        </p:nvGrpSpPr>
        <p:grpSpPr>
          <a:xfrm>
            <a:off x="4557956" y="4925066"/>
            <a:ext cx="2940322" cy="1895668"/>
            <a:chOff x="4690741" y="4431250"/>
            <a:chExt cx="2940322" cy="1895668"/>
          </a:xfrm>
        </p:grpSpPr>
        <p:grpSp>
          <p:nvGrpSpPr>
            <p:cNvPr id="725" name="Google Shape;725;g3b0c63b7a7a_0_511"/>
            <p:cNvGrpSpPr/>
            <p:nvPr/>
          </p:nvGrpSpPr>
          <p:grpSpPr>
            <a:xfrm>
              <a:off x="5025190" y="5084064"/>
              <a:ext cx="302260" cy="302260"/>
              <a:chOff x="5025190" y="5084064"/>
              <a:chExt cx="302260" cy="302260"/>
            </a:xfrm>
          </p:grpSpPr>
          <p:sp>
            <p:nvSpPr>
              <p:cNvPr id="726" name="Google Shape;726;g3b0c63b7a7a_0_511"/>
              <p:cNvSpPr/>
              <p:nvPr/>
            </p:nvSpPr>
            <p:spPr>
              <a:xfrm>
                <a:off x="5025190" y="5084064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g3b0c63b7a7a_0_511"/>
              <p:cNvSpPr/>
              <p:nvPr/>
            </p:nvSpPr>
            <p:spPr>
              <a:xfrm>
                <a:off x="5025190" y="5084064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8" name="Google Shape;728;g3b0c63b7a7a_0_511"/>
            <p:cNvGrpSpPr/>
            <p:nvPr/>
          </p:nvGrpSpPr>
          <p:grpSpPr>
            <a:xfrm>
              <a:off x="4750870" y="5625940"/>
              <a:ext cx="302260" cy="302260"/>
              <a:chOff x="4750870" y="5625940"/>
              <a:chExt cx="302260" cy="302260"/>
            </a:xfrm>
          </p:grpSpPr>
          <p:sp>
            <p:nvSpPr>
              <p:cNvPr id="729" name="Google Shape;729;g3b0c63b7a7a_0_511"/>
              <p:cNvSpPr/>
              <p:nvPr/>
            </p:nvSpPr>
            <p:spPr>
              <a:xfrm>
                <a:off x="4750870" y="5625940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5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5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g3b0c63b7a7a_0_511"/>
              <p:cNvSpPr/>
              <p:nvPr/>
            </p:nvSpPr>
            <p:spPr>
              <a:xfrm>
                <a:off x="4750870" y="5625940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1" name="Google Shape;731;g3b0c63b7a7a_0_511"/>
            <p:cNvGrpSpPr/>
            <p:nvPr/>
          </p:nvGrpSpPr>
          <p:grpSpPr>
            <a:xfrm>
              <a:off x="5311702" y="5742432"/>
              <a:ext cx="302260" cy="302260"/>
              <a:chOff x="5311702" y="5742432"/>
              <a:chExt cx="302260" cy="302260"/>
            </a:xfrm>
          </p:grpSpPr>
          <p:sp>
            <p:nvSpPr>
              <p:cNvPr id="732" name="Google Shape;732;g3b0c63b7a7a_0_511"/>
              <p:cNvSpPr/>
              <p:nvPr/>
            </p:nvSpPr>
            <p:spPr>
              <a:xfrm>
                <a:off x="5311702" y="5742432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g3b0c63b7a7a_0_511"/>
              <p:cNvSpPr/>
              <p:nvPr/>
            </p:nvSpPr>
            <p:spPr>
              <a:xfrm>
                <a:off x="5311702" y="5742432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4" name="Google Shape;734;g3b0c63b7a7a_0_511"/>
            <p:cNvGrpSpPr/>
            <p:nvPr/>
          </p:nvGrpSpPr>
          <p:grpSpPr>
            <a:xfrm>
              <a:off x="6805930" y="5333333"/>
              <a:ext cx="302259" cy="302260"/>
              <a:chOff x="6805930" y="5333333"/>
              <a:chExt cx="302259" cy="302260"/>
            </a:xfrm>
          </p:grpSpPr>
          <p:sp>
            <p:nvSpPr>
              <p:cNvPr id="735" name="Google Shape;735;g3b0c63b7a7a_0_511"/>
              <p:cNvSpPr/>
              <p:nvPr/>
            </p:nvSpPr>
            <p:spPr>
              <a:xfrm>
                <a:off x="6805930" y="5333333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0"/>
                    </a:lnTo>
                    <a:lnTo>
                      <a:pt x="61770" y="272641"/>
                    </a:lnTo>
                    <a:lnTo>
                      <a:pt x="103187" y="294059"/>
                    </a:lnTo>
                    <a:lnTo>
                      <a:pt x="150875" y="301751"/>
                    </a:lnTo>
                    <a:lnTo>
                      <a:pt x="198564" y="294059"/>
                    </a:lnTo>
                    <a:lnTo>
                      <a:pt x="239981" y="272641"/>
                    </a:lnTo>
                    <a:lnTo>
                      <a:pt x="272641" y="239980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ED7D3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g3b0c63b7a7a_0_511"/>
              <p:cNvSpPr/>
              <p:nvPr/>
            </p:nvSpPr>
            <p:spPr>
              <a:xfrm>
                <a:off x="6805930" y="5333333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AE5A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7" name="Google Shape;737;g3b0c63b7a7a_0_511"/>
            <p:cNvGrpSpPr/>
            <p:nvPr/>
          </p:nvGrpSpPr>
          <p:grpSpPr>
            <a:xfrm>
              <a:off x="6402886" y="5031581"/>
              <a:ext cx="302259" cy="302260"/>
              <a:chOff x="6402886" y="5031581"/>
              <a:chExt cx="302259" cy="302260"/>
            </a:xfrm>
          </p:grpSpPr>
          <p:sp>
            <p:nvSpPr>
              <p:cNvPr id="738" name="Google Shape;738;g3b0c63b7a7a_0_511"/>
              <p:cNvSpPr/>
              <p:nvPr/>
            </p:nvSpPr>
            <p:spPr>
              <a:xfrm>
                <a:off x="6402886" y="5031581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5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5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ED7D3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g3b0c63b7a7a_0_511"/>
              <p:cNvSpPr/>
              <p:nvPr/>
            </p:nvSpPr>
            <p:spPr>
              <a:xfrm>
                <a:off x="6402886" y="5031581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AE5A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0" name="Google Shape;740;g3b0c63b7a7a_0_511"/>
            <p:cNvGrpSpPr/>
            <p:nvPr/>
          </p:nvGrpSpPr>
          <p:grpSpPr>
            <a:xfrm>
              <a:off x="6956806" y="4949285"/>
              <a:ext cx="302259" cy="302260"/>
              <a:chOff x="6956806" y="4949285"/>
              <a:chExt cx="302259" cy="302260"/>
            </a:xfrm>
          </p:grpSpPr>
          <p:sp>
            <p:nvSpPr>
              <p:cNvPr id="741" name="Google Shape;741;g3b0c63b7a7a_0_511"/>
              <p:cNvSpPr/>
              <p:nvPr/>
            </p:nvSpPr>
            <p:spPr>
              <a:xfrm>
                <a:off x="6956806" y="4949285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ED7D3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g3b0c63b7a7a_0_511"/>
              <p:cNvSpPr/>
              <p:nvPr/>
            </p:nvSpPr>
            <p:spPr>
              <a:xfrm>
                <a:off x="6956806" y="4949285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AE5A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3" name="Google Shape;743;g3b0c63b7a7a_0_511"/>
            <p:cNvGrpSpPr/>
            <p:nvPr/>
          </p:nvGrpSpPr>
          <p:grpSpPr>
            <a:xfrm>
              <a:off x="5989573" y="5509259"/>
              <a:ext cx="302260" cy="302260"/>
              <a:chOff x="5989573" y="5509259"/>
              <a:chExt cx="302260" cy="302260"/>
            </a:xfrm>
          </p:grpSpPr>
          <p:sp>
            <p:nvSpPr>
              <p:cNvPr id="744" name="Google Shape;744;g3b0c63b7a7a_0_511"/>
              <p:cNvSpPr/>
              <p:nvPr/>
            </p:nvSpPr>
            <p:spPr>
              <a:xfrm>
                <a:off x="5989573" y="5509259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5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1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5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g3b0c63b7a7a_0_511"/>
              <p:cNvSpPr/>
              <p:nvPr/>
            </p:nvSpPr>
            <p:spPr>
              <a:xfrm>
                <a:off x="5989573" y="5509259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6" name="Google Shape;746;g3b0c63b7a7a_0_511"/>
            <p:cNvSpPr/>
            <p:nvPr/>
          </p:nvSpPr>
          <p:spPr>
            <a:xfrm>
              <a:off x="6621408" y="4699893"/>
              <a:ext cx="356870" cy="384175"/>
            </a:xfrm>
            <a:custGeom>
              <a:rect b="b" l="l" r="r" t="t"/>
              <a:pathLst>
                <a:path extrusionOk="0" h="384175" w="356870">
                  <a:moveTo>
                    <a:pt x="0" y="146693"/>
                  </a:moveTo>
                  <a:lnTo>
                    <a:pt x="136215" y="146693"/>
                  </a:lnTo>
                  <a:lnTo>
                    <a:pt x="178307" y="0"/>
                  </a:lnTo>
                  <a:lnTo>
                    <a:pt x="220399" y="146693"/>
                  </a:lnTo>
                  <a:lnTo>
                    <a:pt x="356615" y="146693"/>
                  </a:lnTo>
                  <a:lnTo>
                    <a:pt x="246414" y="237353"/>
                  </a:lnTo>
                  <a:lnTo>
                    <a:pt x="288507" y="384047"/>
                  </a:lnTo>
                  <a:lnTo>
                    <a:pt x="178307" y="293384"/>
                  </a:lnTo>
                  <a:lnTo>
                    <a:pt x="68107" y="384047"/>
                  </a:lnTo>
                  <a:lnTo>
                    <a:pt x="110201" y="237353"/>
                  </a:lnTo>
                  <a:lnTo>
                    <a:pt x="0" y="146693"/>
                  </a:lnTo>
                  <a:close/>
                </a:path>
              </a:pathLst>
            </a:custGeom>
            <a:solidFill>
              <a:srgbClr val="ED7D31"/>
            </a:solidFill>
            <a:ln cap="flat" cmpd="sng" w="12700">
              <a:solidFill>
                <a:srgbClr val="AE5A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g3b0c63b7a7a_0_511"/>
            <p:cNvSpPr/>
            <p:nvPr/>
          </p:nvSpPr>
          <p:spPr>
            <a:xfrm>
              <a:off x="5111133" y="5353993"/>
              <a:ext cx="356870" cy="384175"/>
            </a:xfrm>
            <a:custGeom>
              <a:rect b="b" l="l" r="r" t="t"/>
              <a:pathLst>
                <a:path extrusionOk="0" h="384175" w="356870">
                  <a:moveTo>
                    <a:pt x="0" y="146693"/>
                  </a:moveTo>
                  <a:lnTo>
                    <a:pt x="136215" y="146693"/>
                  </a:lnTo>
                  <a:lnTo>
                    <a:pt x="178307" y="0"/>
                  </a:lnTo>
                  <a:lnTo>
                    <a:pt x="220399" y="146693"/>
                  </a:lnTo>
                  <a:lnTo>
                    <a:pt x="356615" y="146693"/>
                  </a:lnTo>
                  <a:lnTo>
                    <a:pt x="246414" y="237353"/>
                  </a:lnTo>
                  <a:lnTo>
                    <a:pt x="288507" y="384047"/>
                  </a:lnTo>
                  <a:lnTo>
                    <a:pt x="178307" y="293384"/>
                  </a:lnTo>
                  <a:lnTo>
                    <a:pt x="68107" y="384047"/>
                  </a:lnTo>
                  <a:lnTo>
                    <a:pt x="110201" y="237353"/>
                  </a:lnTo>
                  <a:lnTo>
                    <a:pt x="0" y="146693"/>
                  </a:lnTo>
                  <a:close/>
                </a:path>
              </a:pathLst>
            </a:custGeom>
            <a:solidFill>
              <a:srgbClr val="0563C1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b0c63b7a7a_0_511"/>
            <p:cNvSpPr/>
            <p:nvPr/>
          </p:nvSpPr>
          <p:spPr>
            <a:xfrm>
              <a:off x="4690741" y="4792418"/>
              <a:ext cx="1652100" cy="1534500"/>
            </a:xfrm>
            <a:prstGeom prst="ellipse">
              <a:avLst/>
            </a:prstGeom>
            <a:noFill/>
            <a:ln cap="flat" cmpd="sng" w="38100">
              <a:solidFill>
                <a:srgbClr val="0563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b0c63b7a7a_0_511"/>
            <p:cNvSpPr/>
            <p:nvPr/>
          </p:nvSpPr>
          <p:spPr>
            <a:xfrm>
              <a:off x="6083963" y="4431250"/>
              <a:ext cx="1547100" cy="1443300"/>
            </a:xfrm>
            <a:prstGeom prst="ellipse">
              <a:avLst/>
            </a:prstGeom>
            <a:noFill/>
            <a:ln cap="flat" cmpd="sng" w="381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0" name="Google Shape;750;g3b0c63b7a7a_0_511"/>
          <p:cNvSpPr txBox="1"/>
          <p:nvPr/>
        </p:nvSpPr>
        <p:spPr>
          <a:xfrm>
            <a:off x="35313" y="995868"/>
            <a:ext cx="119856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Partitioning data into </a:t>
            </a: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clusters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minimizing the </a:t>
            </a: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within-cluster sum of squared distances (Lloyd algorithm)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1" name="Google Shape;751;g3b0c63b7a7a_0_511"/>
          <p:cNvGrpSpPr/>
          <p:nvPr/>
        </p:nvGrpSpPr>
        <p:grpSpPr>
          <a:xfrm>
            <a:off x="1590428" y="5882961"/>
            <a:ext cx="302260" cy="302260"/>
            <a:chOff x="2388053" y="5440870"/>
            <a:chExt cx="302260" cy="302260"/>
          </a:xfrm>
        </p:grpSpPr>
        <p:sp>
          <p:nvSpPr>
            <p:cNvPr id="752" name="Google Shape;752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6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0" y="272641"/>
                  </a:lnTo>
                  <a:lnTo>
                    <a:pt x="103187" y="294059"/>
                  </a:lnTo>
                  <a:lnTo>
                    <a:pt x="150875" y="301751"/>
                  </a:lnTo>
                  <a:lnTo>
                    <a:pt x="198564" y="294059"/>
                  </a:lnTo>
                  <a:lnTo>
                    <a:pt x="239981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5"/>
                  </a:lnTo>
                  <a:lnTo>
                    <a:pt x="294060" y="103186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b0c63b7a7a_0_586"/>
          <p:cNvSpPr txBox="1"/>
          <p:nvPr/>
        </p:nvSpPr>
        <p:spPr>
          <a:xfrm>
            <a:off x="222181" y="213280"/>
            <a:ext cx="8732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K-means clustering iterations </a:t>
            </a:r>
            <a:endParaRPr b="0" i="0" sz="40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9" name="Google Shape;759;g3b0c63b7a7a_0_586" title="Screenshot 2025-12-17 at 3.57.26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175" y="2783875"/>
            <a:ext cx="2793574" cy="272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g3b0c63b7a7a_0_586" title="Screenshot 2025-12-17 at 3.57.32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125" y="2783875"/>
            <a:ext cx="2727454" cy="272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g3b0c63b7a7a_0_586" title="Screenshot 2025-12-17 at 3.57.37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475" y="2740850"/>
            <a:ext cx="2793576" cy="280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g3b0c63b7a7a_0_586" title="Screenshot 2025-12-17 at 3.57.43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7325" y="2783875"/>
            <a:ext cx="2641499" cy="2808676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g3b0c63b7a7a_0_586"/>
          <p:cNvSpPr txBox="1"/>
          <p:nvPr/>
        </p:nvSpPr>
        <p:spPr>
          <a:xfrm>
            <a:off x="1064625" y="5833750"/>
            <a:ext cx="65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i=1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b0c63b7a7a_0_586"/>
          <p:cNvSpPr txBox="1"/>
          <p:nvPr/>
        </p:nvSpPr>
        <p:spPr>
          <a:xfrm>
            <a:off x="4224200" y="5833750"/>
            <a:ext cx="65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i=2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b0c63b7a7a_0_586"/>
          <p:cNvSpPr txBox="1"/>
          <p:nvPr/>
        </p:nvSpPr>
        <p:spPr>
          <a:xfrm>
            <a:off x="7057200" y="5833750"/>
            <a:ext cx="65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i=3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b0c63b7a7a_0_586"/>
          <p:cNvSpPr txBox="1"/>
          <p:nvPr/>
        </p:nvSpPr>
        <p:spPr>
          <a:xfrm>
            <a:off x="9217325" y="5833750"/>
            <a:ext cx="247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setting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g3b0c63b7a7a_0_586" title="Screenshot 2025-12-17 at 3.57.20 P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2163" y="1021324"/>
            <a:ext cx="4655126" cy="4815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b0c63b7a7a_0_595"/>
          <p:cNvSpPr txBox="1"/>
          <p:nvPr>
            <p:ph type="title"/>
          </p:nvPr>
        </p:nvSpPr>
        <p:spPr>
          <a:xfrm>
            <a:off x="107747" y="199730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K-means clustering Pros and Cons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773" name="Google Shape;773;g3b0c63b7a7a_0_595"/>
          <p:cNvSpPr txBox="1"/>
          <p:nvPr/>
        </p:nvSpPr>
        <p:spPr>
          <a:xfrm>
            <a:off x="107755" y="1497650"/>
            <a:ext cx="109851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and fast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Sensitive to the initial random selection of centers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Computationally expensive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Sensitive to the scale of data and outliers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b0c63b7a7a_0_595"/>
          <p:cNvSpPr txBox="1"/>
          <p:nvPr/>
        </p:nvSpPr>
        <p:spPr>
          <a:xfrm>
            <a:off x="11092815" y="6421628"/>
            <a:ext cx="1809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4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0" name="Google Shape;780;p64"/>
          <p:cNvSpPr txBox="1"/>
          <p:nvPr>
            <p:ph type="title"/>
          </p:nvPr>
        </p:nvSpPr>
        <p:spPr>
          <a:xfrm>
            <a:off x="-91950" y="171475"/>
            <a:ext cx="122841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700">
                <a:solidFill>
                  <a:srgbClr val="06D0E2"/>
                </a:solidFill>
              </a:rPr>
              <a:t>Supervised ML: Decision Tree </a:t>
            </a:r>
            <a:endParaRPr sz="3700">
              <a:solidFill>
                <a:srgbClr val="06D0E2"/>
              </a:solidFill>
            </a:endParaRPr>
          </a:p>
        </p:txBody>
      </p:sp>
      <p:sp>
        <p:nvSpPr>
          <p:cNvPr id="781" name="Google Shape;781;p64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4"/>
          <p:cNvSpPr txBox="1"/>
          <p:nvPr/>
        </p:nvSpPr>
        <p:spPr>
          <a:xfrm>
            <a:off x="378125" y="1094850"/>
            <a:ext cx="10859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 approach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Map of the possible outcomes of a series of related choices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Splitting data based on features 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4"/>
          <p:cNvSpPr txBox="1"/>
          <p:nvPr/>
        </p:nvSpPr>
        <p:spPr>
          <a:xfrm>
            <a:off x="456150" y="3626400"/>
            <a:ext cx="81810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decision points based on features values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 node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label - final predictions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connection between nodes - outcomes of the decision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4" name="Google Shape;784;p64" title="Screenshot 2026-01-02 at 3.12.51 PM.png"/>
          <p:cNvPicPr preferRelativeResize="0"/>
          <p:nvPr/>
        </p:nvPicPr>
        <p:blipFill rotWithShape="1">
          <a:blip r:embed="rId3">
            <a:alphaModFix/>
          </a:blip>
          <a:srcRect b="0" l="3679" r="0" t="0"/>
          <a:stretch/>
        </p:blipFill>
        <p:spPr>
          <a:xfrm>
            <a:off x="7603425" y="3113525"/>
            <a:ext cx="4375675" cy="3210949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4"/>
          <p:cNvSpPr txBox="1"/>
          <p:nvPr/>
        </p:nvSpPr>
        <p:spPr>
          <a:xfrm>
            <a:off x="8534575" y="28186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b5933a7c43_0_39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1" name="Google Shape;791;g3b5933a7c43_0_39"/>
          <p:cNvSpPr txBox="1"/>
          <p:nvPr>
            <p:ph type="title"/>
          </p:nvPr>
        </p:nvSpPr>
        <p:spPr>
          <a:xfrm>
            <a:off x="129750" y="125875"/>
            <a:ext cx="119736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6D0E2"/>
                </a:solidFill>
              </a:rPr>
              <a:t>Decision tree answer a big question by a sequence of simple questions that lead to a clear decision</a:t>
            </a:r>
            <a:endParaRPr sz="2800">
              <a:solidFill>
                <a:srgbClr val="06D0E2"/>
              </a:solidFill>
            </a:endParaRPr>
          </a:p>
        </p:txBody>
      </p:sp>
      <p:sp>
        <p:nvSpPr>
          <p:cNvPr id="792" name="Google Shape;792;g3b5933a7c43_0_39"/>
          <p:cNvSpPr txBox="1"/>
          <p:nvPr/>
        </p:nvSpPr>
        <p:spPr>
          <a:xfrm>
            <a:off x="-1521175" y="2054449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b5933a7c43_0_39"/>
          <p:cNvSpPr txBox="1"/>
          <p:nvPr/>
        </p:nvSpPr>
        <p:spPr>
          <a:xfrm>
            <a:off x="-13350" y="999411"/>
            <a:ext cx="12192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discovered a new planet - we ask the question whether would be possible to live there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b5933a7c43_0_39"/>
          <p:cNvSpPr txBox="1"/>
          <p:nvPr/>
        </p:nvSpPr>
        <p:spPr>
          <a:xfrm>
            <a:off x="294750" y="1735261"/>
            <a:ext cx="528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 of survival temperature 0-100C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b5933a7c43_0_39"/>
          <p:cNvSpPr txBox="1"/>
          <p:nvPr/>
        </p:nvSpPr>
        <p:spPr>
          <a:xfrm>
            <a:off x="294750" y="3175050"/>
            <a:ext cx="528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there water?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6" name="Google Shape;796;g3b5933a7c43_0_39" title="Screenshot 2026-01-02 at 3.21.45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0122" y="2329658"/>
            <a:ext cx="3041699" cy="1658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g3b5933a7c43_0_39" title="Screenshot 2026-01-02 at 3.21.5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0123" y="4065352"/>
            <a:ext cx="3748099" cy="2701451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g3b5933a7c43_0_39"/>
          <p:cNvSpPr txBox="1"/>
          <p:nvPr/>
        </p:nvSpPr>
        <p:spPr>
          <a:xfrm>
            <a:off x="294750" y="5182875"/>
            <a:ext cx="528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there animals/plants?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g3b5933a7c43_0_39" title="Screenshot 2026-01-02 at 3.21.38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9200" y="1385061"/>
            <a:ext cx="2555326" cy="120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b2627f4309_0_4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5" name="Google Shape;805;g3b2627f4309_0_43"/>
          <p:cNvSpPr txBox="1"/>
          <p:nvPr>
            <p:ph type="title"/>
          </p:nvPr>
        </p:nvSpPr>
        <p:spPr>
          <a:xfrm>
            <a:off x="197672" y="202830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How does a decision tree work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06" name="Google Shape;806;g3b2627f4309_0_43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b2627f4309_0_43"/>
          <p:cNvSpPr txBox="1"/>
          <p:nvPr/>
        </p:nvSpPr>
        <p:spPr>
          <a:xfrm>
            <a:off x="197675" y="1298475"/>
            <a:ext cx="95352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data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 the root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feature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split the data using metrics like: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Impurity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how impure a node is (0 pure)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the data into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recursively until: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data in a node belongs to the same class, or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depth is reached.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8" name="Google Shape;808;g3b2627f4309_0_43" title="Screenshot 2026-01-02 at 3.12.51 PM.png"/>
          <p:cNvPicPr preferRelativeResize="0"/>
          <p:nvPr/>
        </p:nvPicPr>
        <p:blipFill rotWithShape="1">
          <a:blip r:embed="rId3">
            <a:alphaModFix/>
          </a:blip>
          <a:srcRect b="0" l="3679" r="0" t="0"/>
          <a:stretch/>
        </p:blipFill>
        <p:spPr>
          <a:xfrm>
            <a:off x="9136925" y="202825"/>
            <a:ext cx="2396700" cy="175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g3b2627f4309_0_43" title="Screenshot 2026-01-06 at 4.25.2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4000" y="2385500"/>
            <a:ext cx="1940500" cy="10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g3b2627f4309_0_43"/>
          <p:cNvSpPr txBox="1"/>
          <p:nvPr/>
        </p:nvSpPr>
        <p:spPr>
          <a:xfrm>
            <a:off x="9488875" y="2707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proportion of class i in the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b2627f4309_0_29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6" name="Google Shape;816;g3b2627f4309_0_29"/>
          <p:cNvSpPr txBox="1"/>
          <p:nvPr>
            <p:ph type="title"/>
          </p:nvPr>
        </p:nvSpPr>
        <p:spPr>
          <a:xfrm>
            <a:off x="1777047" y="125880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Decision tree example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17" name="Google Shape;817;g3b2627f4309_0_29"/>
          <p:cNvSpPr txBox="1"/>
          <p:nvPr/>
        </p:nvSpPr>
        <p:spPr>
          <a:xfrm>
            <a:off x="105408" y="1403125"/>
            <a:ext cx="12192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Alzheimer’s disease and healthy individuals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b2627f4309_0_29"/>
          <p:cNvSpPr txBox="1"/>
          <p:nvPr/>
        </p:nvSpPr>
        <p:spPr>
          <a:xfrm>
            <a:off x="5314179" y="2315713"/>
            <a:ext cx="89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 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" name="Google Shape;819;g3b2627f4309_0_29" title="Screenshot 2026-01-06 at 4.24.3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6208" y="2357900"/>
            <a:ext cx="4865636" cy="40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0" name="Google Shape;820;g3b2627f4309_0_29"/>
          <p:cNvGrpSpPr/>
          <p:nvPr/>
        </p:nvGrpSpPr>
        <p:grpSpPr>
          <a:xfrm>
            <a:off x="5284444" y="2353850"/>
            <a:ext cx="3334625" cy="1485625"/>
            <a:chOff x="5195385" y="1181175"/>
            <a:chExt cx="3334625" cy="1485625"/>
          </a:xfrm>
        </p:grpSpPr>
        <p:sp>
          <p:nvSpPr>
            <p:cNvPr id="821" name="Google Shape;821;g3b2627f4309_0_29"/>
            <p:cNvSpPr txBox="1"/>
            <p:nvPr/>
          </p:nvSpPr>
          <p:spPr>
            <a:xfrm>
              <a:off x="6783450" y="2266600"/>
              <a:ext cx="890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70% 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2" name="Google Shape;822;g3b2627f4309_0_29" title="Screenshot 2026-01-02 at 3.21.38 PM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69200" y="1181175"/>
              <a:ext cx="2555326" cy="1208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3" name="Google Shape;823;g3b2627f4309_0_29"/>
            <p:cNvSpPr/>
            <p:nvPr/>
          </p:nvSpPr>
          <p:spPr>
            <a:xfrm>
              <a:off x="5997035" y="1321138"/>
              <a:ext cx="1128300" cy="2940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Patients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b2627f4309_0_29"/>
            <p:cNvSpPr/>
            <p:nvPr/>
          </p:nvSpPr>
          <p:spPr>
            <a:xfrm>
              <a:off x="7401710" y="1585413"/>
              <a:ext cx="1128300" cy="294000"/>
            </a:xfrm>
            <a:prstGeom prst="rect">
              <a:avLst/>
            </a:prstGeom>
            <a:solidFill>
              <a:srgbClr val="D5A6B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 &gt; 55yo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b2627f4309_0_29"/>
            <p:cNvSpPr/>
            <p:nvPr/>
          </p:nvSpPr>
          <p:spPr>
            <a:xfrm>
              <a:off x="5195385" y="1953088"/>
              <a:ext cx="1128300" cy="2940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Patients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g3b2627f4309_0_29"/>
            <p:cNvSpPr/>
            <p:nvPr/>
          </p:nvSpPr>
          <p:spPr>
            <a:xfrm>
              <a:off x="6659285" y="1953088"/>
              <a:ext cx="1128300" cy="2940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Patients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7" name="Google Shape;827;g3b2627f4309_0_29"/>
          <p:cNvSpPr txBox="1"/>
          <p:nvPr/>
        </p:nvSpPr>
        <p:spPr>
          <a:xfrm>
            <a:off x="5451433" y="3439275"/>
            <a:ext cx="89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 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b2627f4309_0_29"/>
          <p:cNvSpPr/>
          <p:nvPr/>
        </p:nvSpPr>
        <p:spPr>
          <a:xfrm>
            <a:off x="7401701" y="4142585"/>
            <a:ext cx="1326600" cy="5334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impairment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b2627f4309_0_7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4" name="Google Shape;834;g3b2627f4309_0_72"/>
          <p:cNvSpPr txBox="1"/>
          <p:nvPr>
            <p:ph type="title"/>
          </p:nvPr>
        </p:nvSpPr>
        <p:spPr>
          <a:xfrm>
            <a:off x="1777047" y="308355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Random Forest 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35" name="Google Shape;835;g3b2627f4309_0_72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b2627f4309_0_72"/>
          <p:cNvSpPr txBox="1"/>
          <p:nvPr/>
        </p:nvSpPr>
        <p:spPr>
          <a:xfrm>
            <a:off x="196050" y="875450"/>
            <a:ext cx="11799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i="0" lang="en-US" sz="2300" u="none" cap="none" strike="noStrike">
                <a:solidFill>
                  <a:schemeClr val="dk1"/>
                </a:solidFill>
              </a:rPr>
              <a:t>Random Forest</a:t>
            </a:r>
            <a:r>
              <a:rPr i="0" lang="en-US" sz="2300" u="none" cap="none" strike="noStrike">
                <a:solidFill>
                  <a:schemeClr val="dk1"/>
                </a:solidFill>
              </a:rPr>
              <a:t> = Ensemble of many decision trees</a:t>
            </a:r>
            <a:endParaRPr i="0" sz="2300" u="none" cap="none" strike="noStrike">
              <a:solidFill>
                <a:schemeClr val="dk1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i="0" lang="en-US" sz="2300" u="none" cap="none" strike="noStrike">
                <a:solidFill>
                  <a:schemeClr val="dk1"/>
                </a:solidFill>
              </a:rPr>
              <a:t>Uses </a:t>
            </a:r>
            <a:r>
              <a:rPr b="1" i="0" lang="en-US" sz="2300" u="none" cap="none" strike="noStrike">
                <a:solidFill>
                  <a:schemeClr val="dk1"/>
                </a:solidFill>
              </a:rPr>
              <a:t>bagging (bootstrap aggregation)</a:t>
            </a:r>
            <a:r>
              <a:rPr i="0" lang="en-US" sz="2300" u="none" cap="none" strike="noStrike">
                <a:solidFill>
                  <a:schemeClr val="dk1"/>
                </a:solidFill>
              </a:rPr>
              <a:t>: trains trees on </a:t>
            </a:r>
            <a:r>
              <a:rPr b="1" i="0" lang="en-US" sz="2300" u="none" cap="none" strike="noStrike">
                <a:solidFill>
                  <a:schemeClr val="dk1"/>
                </a:solidFill>
              </a:rPr>
              <a:t>random samples</a:t>
            </a:r>
            <a:r>
              <a:rPr i="0" lang="en-US" sz="2300" u="none" cap="none" strike="noStrike">
                <a:solidFill>
                  <a:schemeClr val="dk1"/>
                </a:solidFill>
              </a:rPr>
              <a:t> of data</a:t>
            </a:r>
            <a:endParaRPr i="0" sz="2300" u="none" cap="none" strike="noStrike">
              <a:solidFill>
                <a:schemeClr val="dk1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</a:rPr>
              <a:t>Randomly selects a subset of features at each split (</a:t>
            </a:r>
            <a:r>
              <a:rPr lang="en-US" sz="2300">
                <a:solidFill>
                  <a:srgbClr val="188038"/>
                </a:solidFill>
              </a:rPr>
              <a:t>mtry</a:t>
            </a:r>
            <a:r>
              <a:rPr lang="en-US" sz="2300">
                <a:solidFill>
                  <a:schemeClr val="dk1"/>
                </a:solidFill>
              </a:rPr>
              <a:t> in R)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i="0" lang="en-US" sz="2300" u="none" cap="none" strike="noStrike">
                <a:solidFill>
                  <a:schemeClr val="dk1"/>
                </a:solidFill>
              </a:rPr>
              <a:t>Left out ⅓ - out of b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 samples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g3b2627f4309_0_72" title="Screenshot 2026-01-02 at 3.38.3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575" y="2476261"/>
            <a:ext cx="5788711" cy="2839026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g3b2627f4309_0_72"/>
          <p:cNvSpPr txBox="1"/>
          <p:nvPr/>
        </p:nvSpPr>
        <p:spPr>
          <a:xfrm>
            <a:off x="121650" y="5594800"/>
            <a:ext cx="11465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tree votes; the majority vote is the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prediction of oob samples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oob error rate - Reduces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compared to a single tree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robust and accurate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b1c6c0bc7_1_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g3fb1c6c0bc7_1_0"/>
          <p:cNvSpPr txBox="1"/>
          <p:nvPr>
            <p:ph type="title"/>
          </p:nvPr>
        </p:nvSpPr>
        <p:spPr>
          <a:xfrm>
            <a:off x="1004047" y="308355"/>
            <a:ext cx="10410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XGBoost (Extreme Gradient Boosting)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45" name="Google Shape;845;g3fb1c6c0bc7_1_0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fb1c6c0bc7_1_0"/>
          <p:cNvSpPr txBox="1"/>
          <p:nvPr/>
        </p:nvSpPr>
        <p:spPr>
          <a:xfrm>
            <a:off x="196050" y="1255600"/>
            <a:ext cx="1179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trees built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sequentially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each one correcting the previous tree’s mistakes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each new tree fits the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errors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trees before it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7" name="Google Shape;847;g3fb1c6c0bc7_1_0" title="xgboost_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8125" y="2086900"/>
            <a:ext cx="6638102" cy="3255588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g3fb1c6c0bc7_1_0"/>
          <p:cNvSpPr txBox="1"/>
          <p:nvPr/>
        </p:nvSpPr>
        <p:spPr>
          <a:xfrm>
            <a:off x="121650" y="5594800"/>
            <a:ext cx="11465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Predictions are combined by a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sum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all trees, not a vote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Built-in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(L1/L2) and a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 control overfitting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more accurate than Random Forest, but has more parameters to tune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fb1c6c0bc7_1_1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4" name="Google Shape;854;g3fb1c6c0bc7_1_10"/>
          <p:cNvSpPr txBox="1"/>
          <p:nvPr>
            <p:ph type="title"/>
          </p:nvPr>
        </p:nvSpPr>
        <p:spPr>
          <a:xfrm>
            <a:off x="1004047" y="308355"/>
            <a:ext cx="10410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Random Forest vs XGBoost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55" name="Google Shape;855;g3fb1c6c0bc7_1_10"/>
          <p:cNvSpPr/>
          <p:nvPr/>
        </p:nvSpPr>
        <p:spPr>
          <a:xfrm>
            <a:off x="196050" y="1180000"/>
            <a:ext cx="5750000" cy="500000"/>
          </a:xfrm>
          <a:prstGeom prst="roundRect">
            <a:avLst>
              <a:gd fmla="val 16667" name="adj"/>
            </a:avLst>
          </a:prstGeom>
          <a:solidFill>
            <a:srgbClr val="D8E5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5C25"/>
                </a:solidFill>
                <a:latin typeface="Arial"/>
                <a:ea typeface="Arial"/>
                <a:cs typeface="Arial"/>
                <a:sym typeface="Arial"/>
              </a:rPr>
              <a:t>Random Forest (Bagging)</a:t>
            </a:r>
            <a:endParaRPr/>
          </a:p>
        </p:txBody>
      </p:sp>
      <p:sp>
        <p:nvSpPr>
          <p:cNvPr id="856" name="Google Shape;856;g3fb1c6c0bc7_1_10"/>
          <p:cNvSpPr/>
          <p:nvPr/>
        </p:nvSpPr>
        <p:spPr>
          <a:xfrm>
            <a:off x="6245900" y="1180000"/>
            <a:ext cx="5750000" cy="500000"/>
          </a:xfrm>
          <a:prstGeom prst="roundRect">
            <a:avLst>
              <a:gd fmla="val 16667" name="adj"/>
            </a:avLst>
          </a:prstGeom>
          <a:solidFill>
            <a:srgbClr val="06D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XGBoost (Boosting)</a:t>
            </a:r>
            <a:endParaRPr/>
          </a:p>
        </p:txBody>
      </p:sp>
      <p:sp>
        <p:nvSpPr>
          <p:cNvPr id="857" name="Google Shape;857;g3fb1c6c0bc7_1_10"/>
          <p:cNvSpPr txBox="1"/>
          <p:nvPr/>
        </p:nvSpPr>
        <p:spPr>
          <a:xfrm>
            <a:off x="196050" y="1780000"/>
            <a:ext cx="5750000" cy="4550000"/>
          </a:xfrm>
          <a:prstGeom prst="rect">
            <a:avLst/>
          </a:prstGeom>
          <a:solidFill>
            <a:srgbClr val="F2F7F0"/>
          </a:solidFill>
          <a:ln>
            <a:noFill/>
          </a:ln>
        </p:spPr>
        <p:txBody>
          <a:bodyPr anchorCtr="0" anchor="t" bIns="91425" lIns="137150" spcFirstLastPara="1" rIns="91425" wrap="square" tIns="137150">
            <a:noAutofit/>
          </a:bodyPr>
          <a:lstStyle/>
          <a:p>
            <a:pPr indent="-274650" lvl="0" marL="3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Trees trained in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independently of each other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tree trained on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bootstrap sample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by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majority vote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average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averaging over many trees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to train — trees can run in parallel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Fewer hyperparameters to tune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Great robust baseline, harder to squeeze out extra accuracy</a:t>
            </a:r>
            <a:endParaRPr/>
          </a:p>
        </p:txBody>
      </p:sp>
      <p:sp>
        <p:nvSpPr>
          <p:cNvPr id="858" name="Google Shape;858;g3fb1c6c0bc7_1_10"/>
          <p:cNvSpPr txBox="1"/>
          <p:nvPr/>
        </p:nvSpPr>
        <p:spPr>
          <a:xfrm>
            <a:off x="6245900" y="1780000"/>
            <a:ext cx="5750000" cy="4550000"/>
          </a:xfrm>
          <a:prstGeom prst="rect">
            <a:avLst/>
          </a:prstGeom>
          <a:solidFill>
            <a:srgbClr val="EAFAFC"/>
          </a:solidFill>
          <a:ln>
            <a:noFill/>
          </a:ln>
        </p:spPr>
        <p:txBody>
          <a:bodyPr anchorCtr="0" anchor="t" bIns="91425" lIns="137150" spcFirstLastPara="1" rIns="91425" wrap="square" tIns="137150">
            <a:noAutofit/>
          </a:bodyPr>
          <a:lstStyle/>
          <a:p>
            <a:pPr indent="-274650" lvl="0" marL="3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Trees trained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sequentially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each depends on the last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tree trained to fit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errors (the loss gradient — exact for regression, an approximation for classification)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by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sum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(additive model)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targeting mistakes directly; controls variance via regularization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Slower to train — trees depend on each other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hyperparameters (learning rate, depth, regularization)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wins on accuracy, needs careful tuning to avoid overfitting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b1c6c0bc7_1_19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4" name="Google Shape;864;g3fb1c6c0bc7_1_19"/>
          <p:cNvSpPr txBox="1"/>
          <p:nvPr>
            <p:ph type="title"/>
          </p:nvPr>
        </p:nvSpPr>
        <p:spPr>
          <a:xfrm>
            <a:off x="1777047" y="308355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XGBoost example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65" name="Google Shape;865;g3fb1c6c0bc7_1_19"/>
          <p:cNvSpPr txBox="1"/>
          <p:nvPr/>
        </p:nvSpPr>
        <p:spPr>
          <a:xfrm>
            <a:off x="196050" y="1130000"/>
            <a:ext cx="117999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Predicting 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IVF success rate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same dataset and features as our feature selection example</a:t>
            </a:r>
            <a:endParaRPr/>
          </a:p>
        </p:txBody>
      </p:sp>
      <p:pic>
        <p:nvPicPr>
          <p:cNvPr id="866" name="Google Shape;866;g3fb1c6c0bc7_1_19" title="xgboost_example_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000" y="1750000"/>
            <a:ext cx="10200000" cy="43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fb1c6c0bc7_1_19"/>
          <p:cNvSpPr txBox="1"/>
          <p:nvPr/>
        </p:nvSpPr>
        <p:spPr>
          <a:xfrm>
            <a:off x="196050" y="6230000"/>
            <a:ext cx="117999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new tree focuses on the patients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 trees got wrong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the final prediction is their weighted sum</a:t>
            </a:r>
            <a:endParaRPr/>
          </a:p>
        </p:txBody>
      </p:sp>
      <p:sp>
        <p:nvSpPr>
          <p:cNvPr id="868" name="Google Shape;868;g3fb1c6c0bc7_1_19"/>
          <p:cNvSpPr txBox="1"/>
          <p:nvPr/>
        </p:nvSpPr>
        <p:spPr>
          <a:xfrm>
            <a:off x="8303225" y="5249150"/>
            <a:ext cx="289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 single tree can split on multiple feature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b7931a3ff4_0_25"/>
          <p:cNvSpPr txBox="1"/>
          <p:nvPr>
            <p:ph type="title"/>
          </p:nvPr>
        </p:nvSpPr>
        <p:spPr>
          <a:xfrm>
            <a:off x="593096" y="1203275"/>
            <a:ext cx="110058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Break</a:t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See you in 5 minutes</a:t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900">
                <a:solidFill>
                  <a:schemeClr val="dk2"/>
                </a:solidFill>
              </a:rPr>
              <a:t>Please fill the survey</a:t>
            </a:r>
            <a:endParaRPr b="1" sz="29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900">
                <a:solidFill>
                  <a:schemeClr val="dk2"/>
                </a:solidFill>
              </a:rPr>
              <a:t>https://www.surveymonkey.com/r/bioinfo-training</a:t>
            </a:r>
            <a:endParaRPr sz="29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900">
              <a:solidFill>
                <a:srgbClr val="06D0E2"/>
              </a:solidFill>
            </a:endParaRPr>
          </a:p>
        </p:txBody>
      </p:sp>
      <p:sp>
        <p:nvSpPr>
          <p:cNvPr id="874" name="Google Shape;874;g3b7931a3ff4_0_2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b0c63b7a7a_0_1005"/>
          <p:cNvSpPr txBox="1"/>
          <p:nvPr>
            <p:ph type="title"/>
          </p:nvPr>
        </p:nvSpPr>
        <p:spPr>
          <a:xfrm>
            <a:off x="115175" y="112100"/>
            <a:ext cx="12076800" cy="6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06D0E2"/>
                </a:solidFill>
              </a:rPr>
              <a:t>Where to find the algorithms</a:t>
            </a:r>
            <a:r>
              <a:rPr lang="en-US" sz="3600">
                <a:solidFill>
                  <a:srgbClr val="06D0E2"/>
                </a:solidFill>
              </a:rPr>
              <a:t> in R and Python </a:t>
            </a:r>
            <a:endParaRPr sz="3600"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/>
              <a:t>Unsupervised methods:</a:t>
            </a:r>
            <a:endParaRPr sz="3800">
              <a:solidFill>
                <a:srgbClr val="06D0E2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PCA (stats::prcomp() or princomp(), FactoMineR)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 sz="2400"/>
              <a:t>k-means (</a:t>
            </a:r>
            <a:r>
              <a:rPr b="1" lang="en-US" sz="2400" u="sng">
                <a:solidFill>
                  <a:schemeClr val="hlink"/>
                </a:solidFill>
                <a:hlinkClick r:id="rId3"/>
              </a:rPr>
              <a:t>stats::kmeans()</a:t>
            </a:r>
            <a:r>
              <a:rPr b="1" lang="en-US" sz="2400"/>
              <a:t>)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UMAP/ tSNE (umap, Rtsne, Seurat, etc)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/>
              <a:t>Supervised methods: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LDA (MASS)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kNN (caret, class, …)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Naive Bayes (e1071, ..)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 sz="2400"/>
              <a:t>Random forest</a:t>
            </a:r>
            <a:r>
              <a:rPr lang="en-US" sz="2400"/>
              <a:t> </a:t>
            </a:r>
            <a:r>
              <a:rPr lang="en-US" sz="2400"/>
              <a:t>(</a:t>
            </a:r>
            <a:r>
              <a:rPr b="1" lang="en-US" sz="24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randomForest</a:t>
            </a:r>
            <a:r>
              <a:rPr lang="en-US" sz="2400"/>
              <a:t>, ranger, SuperLearner, ..)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 sz="2400"/>
              <a:t>Xgboost (</a:t>
            </a:r>
            <a:r>
              <a:rPr b="1" lang="en-US" sz="2400" u="sng">
                <a:solidFill>
                  <a:schemeClr val="hlink"/>
                </a:solidFill>
                <a:hlinkClick r:id="rId5"/>
              </a:rPr>
              <a:t>xgboost</a:t>
            </a:r>
            <a:r>
              <a:rPr b="1" lang="en-US" sz="2400"/>
              <a:t>)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Support Vector Machine (e1071, ..)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Neural Network (nnet, keras, …)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600"/>
              <a:t>Python packages and tutorials available in </a:t>
            </a:r>
            <a:r>
              <a:rPr lang="en-US" sz="2600" u="sng">
                <a:solidFill>
                  <a:schemeClr val="hlink"/>
                </a:solidFill>
                <a:hlinkClick r:id="rId6"/>
              </a:rPr>
              <a:t>scikit-learn</a:t>
            </a:r>
            <a:r>
              <a:rPr lang="en-US" sz="2600"/>
              <a:t> </a:t>
            </a:r>
            <a:endParaRPr sz="2600"/>
          </a:p>
        </p:txBody>
      </p:sp>
      <p:sp>
        <p:nvSpPr>
          <p:cNvPr id="880" name="Google Shape;880;g3b0c63b7a7a_0_100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faae1b3eb4_0_86"/>
          <p:cNvSpPr txBox="1"/>
          <p:nvPr/>
        </p:nvSpPr>
        <p:spPr>
          <a:xfrm>
            <a:off x="0" y="0"/>
            <a:ext cx="1153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D0E2"/>
                </a:solidFill>
              </a:rPr>
              <a:t>Take-home messages</a:t>
            </a:r>
            <a:endParaRPr sz="3600">
              <a:solidFill>
                <a:srgbClr val="06D0E2"/>
              </a:solidFill>
            </a:endParaRPr>
          </a:p>
        </p:txBody>
      </p:sp>
      <p:sp>
        <p:nvSpPr>
          <p:cNvPr id="887" name="Google Shape;887;g3faae1b3eb4_0_86"/>
          <p:cNvSpPr txBox="1"/>
          <p:nvPr/>
        </p:nvSpPr>
        <p:spPr>
          <a:xfrm>
            <a:off x="190875" y="1431600"/>
            <a:ext cx="11861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Building a good supervised model is a iterative process select features, manage bias/variance, tune hyperparameters, evaluate, and repe</a:t>
            </a:r>
            <a:r>
              <a:rPr lang="en-US" sz="2400"/>
              <a:t>at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right features matter more than the number of features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Balance bias and variance so that the model generalizes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Tune parameters on validation data, never on the test set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 model is only as good as its performance on data it has never seen</a:t>
            </a:r>
            <a:endParaRPr sz="2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faae1b3eb4_0_16"/>
          <p:cNvSpPr txBox="1"/>
          <p:nvPr/>
        </p:nvSpPr>
        <p:spPr>
          <a:xfrm>
            <a:off x="120898" y="3326901"/>
            <a:ext cx="119505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None/>
            </a:pPr>
            <a:r>
              <a:rPr b="1" i="0" lang="en-US" sz="3600" u="none" cap="none" strike="noStrike">
                <a:solidFill>
                  <a:srgbClr val="CC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feedback is important to us!</a:t>
            </a:r>
            <a:endParaRPr b="0" i="0" sz="3600" u="none" cap="none" strike="noStrike">
              <a:solidFill>
                <a:srgbClr val="CC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4" name="Google Shape;894;g3faae1b3eb4_0_16"/>
          <p:cNvSpPr txBox="1"/>
          <p:nvPr/>
        </p:nvSpPr>
        <p:spPr>
          <a:xfrm>
            <a:off x="406681" y="4152304"/>
            <a:ext cx="105156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t/>
            </a:r>
            <a:endParaRPr b="1" i="0" sz="3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Helvetica Neue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Please take the survey ~3 min: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Helvetica Neue"/>
              <a:buNone/>
            </a:pPr>
            <a:r>
              <a:rPr b="1" i="0" lang="en-US" sz="3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2500">
                <a:solidFill>
                  <a:schemeClr val="dk1"/>
                </a:solidFill>
              </a:rPr>
              <a:t>https://www.surveymonkey.com/r/bioinfo-training26</a:t>
            </a:r>
            <a:endParaRPr b="1"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Helvetica Neue"/>
              <a:buNone/>
            </a:pPr>
            <a:r>
              <a:t/>
            </a:r>
            <a:endParaRPr sz="3300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faae1b3eb4_0_211"/>
          <p:cNvSpPr txBox="1"/>
          <p:nvPr>
            <p:ph type="title"/>
          </p:nvPr>
        </p:nvSpPr>
        <p:spPr>
          <a:xfrm>
            <a:off x="189467" y="189454"/>
            <a:ext cx="10515600" cy="6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u="sng">
                <a:solidFill>
                  <a:schemeClr val="hlink"/>
                </a:solidFill>
                <a:hlinkClick r:id="rId3"/>
              </a:rPr>
              <a:t>Upcoming workshops</a:t>
            </a:r>
            <a:r>
              <a:rPr lang="en-US" sz="3900">
                <a:solidFill>
                  <a:schemeClr val="dk2"/>
                </a:solidFill>
              </a:rPr>
              <a:t> at Gladstone:</a:t>
            </a:r>
            <a:endParaRPr sz="3900">
              <a:solidFill>
                <a:schemeClr val="dk2"/>
              </a:solidFill>
            </a:endParaRPr>
          </a:p>
        </p:txBody>
      </p:sp>
      <p:sp>
        <p:nvSpPr>
          <p:cNvPr id="900" name="Google Shape;900;g3faae1b3eb4_0_211"/>
          <p:cNvSpPr txBox="1"/>
          <p:nvPr>
            <p:ph idx="1" type="body"/>
          </p:nvPr>
        </p:nvSpPr>
        <p:spPr>
          <a:xfrm>
            <a:off x="189467" y="1066300"/>
            <a:ext cx="8086500" cy="4983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</a:rPr>
              <a:t>Introduction to RNaseq analysis</a:t>
            </a:r>
            <a:endParaRPr b="1" sz="21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highlight>
                  <a:schemeClr val="lt1"/>
                </a:highlight>
              </a:rPr>
              <a:t>September 28-29</a:t>
            </a:r>
            <a:endParaRPr sz="21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AI fluency for Biologists</a:t>
            </a:r>
            <a:endParaRPr b="1" sz="2100">
              <a:solidFill>
                <a:schemeClr val="accent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October 5-6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Single Cell RNA-Seq Analysis using R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October 12-13 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Introduction to Pathway Analysis</a:t>
            </a:r>
            <a:endParaRPr sz="21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October 15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Statistics of Enrichment Analysis Methods</a:t>
            </a:r>
            <a:endParaRPr b="1" sz="21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October 22-23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</a:rPr>
              <a:t>Linear Mixed Effects Models Using R</a:t>
            </a:r>
            <a:endParaRPr b="1" sz="21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100">
                <a:solidFill>
                  <a:srgbClr val="002A40"/>
                </a:solidFill>
                <a:highlight>
                  <a:schemeClr val="lt1"/>
                </a:highlight>
              </a:rPr>
              <a:t>October 26-27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8ec88105ea_0_155"/>
          <p:cNvSpPr txBox="1"/>
          <p:nvPr>
            <p:ph type="title"/>
          </p:nvPr>
        </p:nvSpPr>
        <p:spPr>
          <a:xfrm>
            <a:off x="637350" y="4686452"/>
            <a:ext cx="5054700" cy="719700"/>
          </a:xfrm>
          <a:prstGeom prst="rect">
            <a:avLst/>
          </a:prstGeom>
          <a:solidFill>
            <a:srgbClr val="06D0E2"/>
          </a:solidFill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24193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FFFFFF"/>
                </a:solidFill>
              </a:rPr>
              <a:t>Hands-on</a:t>
            </a:r>
            <a:endParaRPr sz="4400"/>
          </a:p>
        </p:txBody>
      </p:sp>
      <p:sp>
        <p:nvSpPr>
          <p:cNvPr id="906" name="Google Shape;906;g38ec88105ea_0_15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aea9bcb710_0_154"/>
          <p:cNvSpPr txBox="1"/>
          <p:nvPr>
            <p:ph type="title"/>
          </p:nvPr>
        </p:nvSpPr>
        <p:spPr>
          <a:xfrm>
            <a:off x="142721" y="38685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Dataset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912" name="Google Shape;912;g3aea9bcb710_0_15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3" name="Google Shape;913;g3aea9bcb710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893600"/>
            <a:ext cx="5376727" cy="5537849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g3aea9bcb710_0_154"/>
          <p:cNvSpPr txBox="1"/>
          <p:nvPr/>
        </p:nvSpPr>
        <p:spPr>
          <a:xfrm>
            <a:off x="107752" y="1195625"/>
            <a:ext cx="6168300" cy="4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Coronavirus Disease 2019 (COVID-19) Clinical Data Repository: </a:t>
            </a: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https://covidclinicaldata.org/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COVID-19 clinical dataset to introduce machine learning concepts. The dataset contains patient symptoms, vitals, and COVID-19 test outcomes.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predictor variables (symptoms, comorbidities, vitals) to estimate the probability of an outcome variable (positive or negative COVID-19 test).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10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 note: Our focus is on building technical skills in machine learning. Although some symptoms or combinations of symptoms may correlate with test results, our goal is not to build a highly predictive model for COVID-19. Instead, we use this dataset to motivate exploration of ML techniques and concepts.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Google Shape;91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2025-07-21T22:18:23Z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LastSaved">
    <vt:filetime>2025-07-21T00:00:00Z</vt:filetime>
  </property>
  <property fmtid="{D5CDD505-2E9C-101B-9397-08002B2CF9AE}" pid="4" name="Producer">
    <vt:lpwstr>macOS Version 12.0.1 (Build 21A559) Quartz PDFContext</vt:lpwstr>
  </property>
</Properties>
</file>